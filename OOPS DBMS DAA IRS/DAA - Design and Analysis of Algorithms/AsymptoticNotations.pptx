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59" r:id="rId2"/>
  </p:sldMasterIdLst>
  <p:notesMasterIdLst>
    <p:notesMasterId r:id="rId33"/>
  </p:notesMasterIdLst>
  <p:sldIdLst>
    <p:sldId id="291" r:id="rId3"/>
    <p:sldId id="377" r:id="rId4"/>
    <p:sldId id="467" r:id="rId5"/>
    <p:sldId id="378" r:id="rId6"/>
    <p:sldId id="276" r:id="rId7"/>
    <p:sldId id="277" r:id="rId8"/>
    <p:sldId id="477" r:id="rId9"/>
    <p:sldId id="466" r:id="rId10"/>
    <p:sldId id="330" r:id="rId11"/>
    <p:sldId id="473" r:id="rId12"/>
    <p:sldId id="476" r:id="rId13"/>
    <p:sldId id="474" r:id="rId14"/>
    <p:sldId id="462" r:id="rId15"/>
    <p:sldId id="463" r:id="rId16"/>
    <p:sldId id="438" r:id="rId17"/>
    <p:sldId id="464" r:id="rId18"/>
    <p:sldId id="420" r:id="rId19"/>
    <p:sldId id="465" r:id="rId20"/>
    <p:sldId id="288" r:id="rId21"/>
    <p:sldId id="391" r:id="rId22"/>
    <p:sldId id="468" r:id="rId23"/>
    <p:sldId id="439" r:id="rId24"/>
    <p:sldId id="469" r:id="rId25"/>
    <p:sldId id="412" r:id="rId26"/>
    <p:sldId id="470" r:id="rId27"/>
    <p:sldId id="460" r:id="rId28"/>
    <p:sldId id="471" r:id="rId29"/>
    <p:sldId id="472" r:id="rId30"/>
    <p:sldId id="475" r:id="rId31"/>
    <p:sldId id="263" r:id="rId32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768">
          <p15:clr>
            <a:srgbClr val="A4A3A4"/>
          </p15:clr>
        </p15:guide>
        <p15:guide id="2" orient="horz" pos="4272">
          <p15:clr>
            <a:srgbClr val="A4A3A4"/>
          </p15:clr>
        </p15:guide>
        <p15:guide id="3" orient="horz" pos="240">
          <p15:clr>
            <a:srgbClr val="A4A3A4"/>
          </p15:clr>
        </p15:guide>
        <p15:guide id="4" orient="horz" pos="3888">
          <p15:clr>
            <a:srgbClr val="A4A3A4"/>
          </p15:clr>
        </p15:guide>
        <p15:guide id="5" orient="horz" pos="864">
          <p15:clr>
            <a:srgbClr val="A4A3A4"/>
          </p15:clr>
        </p15:guide>
        <p15:guide id="6" orient="horz" pos="3984">
          <p15:clr>
            <a:srgbClr val="A4A3A4"/>
          </p15:clr>
        </p15:guide>
        <p15:guide id="7" orient="horz" pos="96">
          <p15:clr>
            <a:srgbClr val="A4A3A4"/>
          </p15:clr>
        </p15:guide>
        <p15:guide id="8" pos="5040">
          <p15:clr>
            <a:srgbClr val="A4A3A4"/>
          </p15:clr>
        </p15:guide>
        <p15:guide id="9" pos="48">
          <p15:clr>
            <a:srgbClr val="A4A3A4"/>
          </p15:clr>
        </p15:guide>
        <p15:guide id="10" pos="5712">
          <p15:clr>
            <a:srgbClr val="A4A3A4"/>
          </p15:clr>
        </p15:guide>
        <p15:guide id="11" pos="96">
          <p15:clr>
            <a:srgbClr val="A4A3A4"/>
          </p15:clr>
        </p15:guide>
        <p15:guide id="12" pos="5568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87" autoAdjust="0"/>
    <p:restoredTop sz="94660"/>
  </p:normalViewPr>
  <p:slideViewPr>
    <p:cSldViewPr showGuides="1">
      <p:cViewPr varScale="1">
        <p:scale>
          <a:sx n="82" d="100"/>
          <a:sy n="82" d="100"/>
        </p:scale>
        <p:origin x="1459" y="58"/>
      </p:cViewPr>
      <p:guideLst>
        <p:guide orient="horz" pos="768"/>
        <p:guide orient="horz" pos="4272"/>
        <p:guide orient="horz" pos="240"/>
        <p:guide orient="horz" pos="3888"/>
        <p:guide orient="horz" pos="864"/>
        <p:guide orient="horz" pos="3984"/>
        <p:guide orient="horz" pos="96"/>
        <p:guide pos="5040"/>
        <p:guide pos="48"/>
        <p:guide pos="5712"/>
        <p:guide pos="96"/>
        <p:guide pos="5568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21" Type="http://schemas.openxmlformats.org/officeDocument/2006/relationships/slide" Target="slides/slide19.xml"/><Relationship Id="rId34" Type="http://schemas.openxmlformats.org/officeDocument/2006/relationships/presProps" Target="presProps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notesMaster" Target="notesMasters/notesMaster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slide" Target="slides/slide27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tableStyles" Target="tableStyle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theme" Target="theme/theme1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viewProps" Target="viewProps.xml"/><Relationship Id="rId8" Type="http://schemas.openxmlformats.org/officeDocument/2006/relationships/slide" Target="slides/slide6.xml"/><Relationship Id="rId3" Type="http://schemas.openxmlformats.org/officeDocument/2006/relationships/slide" Target="slides/slid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63B8F35-73A6-41C9-86E9-11CE927B6B58}" type="datetimeFigureOut">
              <a:rPr lang="en-US" smtClean="0"/>
              <a:t>4/3/2024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592A158-4768-412B-B84E-36AAF74B40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658827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6" name="Slide Image Placeholder 1">
            <a:extLst>
              <a:ext uri="{FF2B5EF4-FFF2-40B4-BE49-F238E27FC236}">
                <a16:creationId xmlns:a16="http://schemas.microsoft.com/office/drawing/2014/main" id="{2E0B08ED-558F-4B85-8F6E-C8AA75BB8FEE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2947" name="Notes Placeholder 2">
            <a:extLst>
              <a:ext uri="{FF2B5EF4-FFF2-40B4-BE49-F238E27FC236}">
                <a16:creationId xmlns:a16="http://schemas.microsoft.com/office/drawing/2014/main" id="{033E6C02-FD12-461A-8FE8-1FCAF606FDC0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tr-TR" altLang="en-US"/>
          </a:p>
        </p:txBody>
      </p:sp>
      <p:sp>
        <p:nvSpPr>
          <p:cNvPr id="82948" name="Slide Number Placeholder 3">
            <a:extLst>
              <a:ext uri="{FF2B5EF4-FFF2-40B4-BE49-F238E27FC236}">
                <a16:creationId xmlns:a16="http://schemas.microsoft.com/office/drawing/2014/main" id="{61A70B48-8D04-4BFD-A330-2DAAFA3AFC3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E97462E2-44D5-406E-827B-3C24CEBCE9CF}" type="slidenum">
              <a:rPr lang="en-US" altLang="en-US"/>
              <a:pPr eaLnBrk="1" hangingPunct="1"/>
              <a:t>9</a:t>
            </a:fld>
            <a:endParaRPr lang="en-US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8450" name="Rectangle 2">
            <a:extLst>
              <a:ext uri="{FF2B5EF4-FFF2-40B4-BE49-F238E27FC236}">
                <a16:creationId xmlns:a16="http://schemas.microsoft.com/office/drawing/2014/main" id="{F1FB0387-B708-400A-BDEA-1B7E74D5CC0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88451" name="Rectangle 3">
            <a:extLst>
              <a:ext uri="{FF2B5EF4-FFF2-40B4-BE49-F238E27FC236}">
                <a16:creationId xmlns:a16="http://schemas.microsoft.com/office/drawing/2014/main" id="{A37CD56D-E5C9-4264-B0B5-577D366326D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5442" name="Rectangle 2">
            <a:extLst>
              <a:ext uri="{FF2B5EF4-FFF2-40B4-BE49-F238E27FC236}">
                <a16:creationId xmlns:a16="http://schemas.microsoft.com/office/drawing/2014/main" id="{9B4A4D89-D6D5-43A4-B47D-18B36FA614DD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45443" name="Rectangle 3">
            <a:extLst>
              <a:ext uri="{FF2B5EF4-FFF2-40B4-BE49-F238E27FC236}">
                <a16:creationId xmlns:a16="http://schemas.microsoft.com/office/drawing/2014/main" id="{197F4005-52EA-4F76-BB8A-8F6E93549F5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8818" name="Rectangle 2">
            <a:extLst>
              <a:ext uri="{FF2B5EF4-FFF2-40B4-BE49-F238E27FC236}">
                <a16:creationId xmlns:a16="http://schemas.microsoft.com/office/drawing/2014/main" id="{5D9E4986-CDF5-4A3A-802B-CEAB3AAC41E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18819" name="Rectangle 3">
            <a:extLst>
              <a:ext uri="{FF2B5EF4-FFF2-40B4-BE49-F238E27FC236}">
                <a16:creationId xmlns:a16="http://schemas.microsoft.com/office/drawing/2014/main" id="{12ED2EC6-694B-4104-A12D-8B3B3E98FC6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8034" name="Rectangle 2">
            <a:extLst>
              <a:ext uri="{FF2B5EF4-FFF2-40B4-BE49-F238E27FC236}">
                <a16:creationId xmlns:a16="http://schemas.microsoft.com/office/drawing/2014/main" id="{36AD6C00-D4A4-481F-B1F9-D19F32F07378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28035" name="Rectangle 3">
            <a:extLst>
              <a:ext uri="{FF2B5EF4-FFF2-40B4-BE49-F238E27FC236}">
                <a16:creationId xmlns:a16="http://schemas.microsoft.com/office/drawing/2014/main" id="{D08ED6ED-6E72-474F-A252-DAD80A83FD7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7490" name="Rectangle 2">
            <a:extLst>
              <a:ext uri="{FF2B5EF4-FFF2-40B4-BE49-F238E27FC236}">
                <a16:creationId xmlns:a16="http://schemas.microsoft.com/office/drawing/2014/main" id="{12D23F75-7AB2-4C50-8535-646CC865279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47491" name="Rectangle 3">
            <a:extLst>
              <a:ext uri="{FF2B5EF4-FFF2-40B4-BE49-F238E27FC236}">
                <a16:creationId xmlns:a16="http://schemas.microsoft.com/office/drawing/2014/main" id="{42562584-460E-49EE-B78E-DFBD845E1B0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2130" name="Rectangle 2">
            <a:extLst>
              <a:ext uri="{FF2B5EF4-FFF2-40B4-BE49-F238E27FC236}">
                <a16:creationId xmlns:a16="http://schemas.microsoft.com/office/drawing/2014/main" id="{6BBA2331-D1C9-4741-BA6B-B070432B4578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32131" name="Rectangle 3">
            <a:extLst>
              <a:ext uri="{FF2B5EF4-FFF2-40B4-BE49-F238E27FC236}">
                <a16:creationId xmlns:a16="http://schemas.microsoft.com/office/drawing/2014/main" id="{7FC41EDB-E6A0-42DB-9288-BF26E76EA89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2306" name="Rectangle 2">
            <a:extLst>
              <a:ext uri="{FF2B5EF4-FFF2-40B4-BE49-F238E27FC236}">
                <a16:creationId xmlns:a16="http://schemas.microsoft.com/office/drawing/2014/main" id="{C110E4D0-5A45-47D2-96D3-1B92F31410A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82307" name="Rectangle 3">
            <a:extLst>
              <a:ext uri="{FF2B5EF4-FFF2-40B4-BE49-F238E27FC236}">
                <a16:creationId xmlns:a16="http://schemas.microsoft.com/office/drawing/2014/main" id="{D43C1FA7-C520-4887-9D6E-9FB39A1B649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04CA91-3CD2-43DC-9594-2A703B8CA092}" type="datetime4">
              <a:rPr lang="en-US" smtClean="0"/>
              <a:t>April 3, 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676400" y="6351494"/>
            <a:ext cx="5029200" cy="365125"/>
          </a:xfrm>
        </p:spPr>
        <p:txBody>
          <a:bodyPr/>
          <a:lstStyle/>
          <a:p>
            <a:r>
              <a:rPr lang="en-US"/>
              <a:t>Department of Computer Science &amp; Engineering, VNRVJIET, Hyderabad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001000" y="6340475"/>
            <a:ext cx="762000" cy="365125"/>
          </a:xfrm>
          <a:prstGeom prst="rect">
            <a:avLst/>
          </a:prstGeom>
        </p:spPr>
        <p:txBody>
          <a:bodyPr vert="horz" lIns="0" tIns="45720" rIns="91440" bIns="45720" rtlCol="0" anchor="ctr"/>
          <a:lstStyle>
            <a:lvl1pPr algn="r">
              <a:defRPr sz="1100">
                <a:solidFill>
                  <a:schemeClr val="bg1"/>
                </a:solidFill>
              </a:defRPr>
            </a:lvl1pPr>
          </a:lstStyle>
          <a:p>
            <a:fld id="{C4FA3F07-B4E9-4FEB-BC07-B9713C186F2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3404523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553200" y="6340475"/>
            <a:ext cx="1371600" cy="365125"/>
          </a:xfrm>
        </p:spPr>
        <p:txBody>
          <a:bodyPr/>
          <a:lstStyle/>
          <a:p>
            <a:fld id="{F6C643BA-ACA1-44BF-9071-763295A35907}" type="datetime4">
              <a:rPr lang="en-US" smtClean="0"/>
              <a:t>April 3, 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Computer Science &amp; Engineering, VNRVJIET, Hyderabad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FA3F07-B4E9-4FEB-BC07-B9713C186F28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8" name="Straight Connector 7"/>
          <p:cNvCxnSpPr/>
          <p:nvPr userDrawn="1"/>
        </p:nvCxnSpPr>
        <p:spPr>
          <a:xfrm>
            <a:off x="0" y="1219200"/>
            <a:ext cx="9144000" cy="0"/>
          </a:xfrm>
          <a:prstGeom prst="line">
            <a:avLst/>
          </a:prstGeom>
          <a:ln w="50800" cmpd="dbl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2632824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05BE5B-515E-412D-86C2-B1F3269CA20F}" type="datetime4">
              <a:rPr lang="en-US" smtClean="0"/>
              <a:t>April 3, 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Computer Science &amp; Engineering, VNRVJIET, Hyderabad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FA3F07-B4E9-4FEB-BC07-B9713C186F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229577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6B425-E75E-409A-BFE4-FB635A7355EA}" type="datetime4">
              <a:rPr lang="en-US" smtClean="0"/>
              <a:t>April 3, 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Computer Science &amp; Engineering, VNRVJIET, Hyderabad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FA3F07-B4E9-4FEB-BC07-B9713C186F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975008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1D5381-EE49-4A38-9972-518E5CC5FFAB}" type="datetime4">
              <a:rPr lang="en-US" smtClean="0"/>
              <a:t>April 3, 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Computer Science &amp; Engineering, VNRVJIET, Hyderabad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FA3F07-B4E9-4FEB-BC07-B9713C186F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120930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9C1254-C0BA-4195-834D-EBBB9ACEF963}" type="datetime4">
              <a:rPr lang="en-US" smtClean="0"/>
              <a:t>April 3, 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Computer Science &amp; Engineering, VNRVJIET, Hyderabad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FA3F07-B4E9-4FEB-BC07-B9713C186F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700422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1E43DD-DC4C-4B08-A97C-A1AF54666E5E}" type="datetime4">
              <a:rPr lang="en-US" smtClean="0"/>
              <a:t>April 3, 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Computer Science &amp; Engineering, VNRVJIET, Hyderabad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FA3F07-B4E9-4FEB-BC07-B9713C186F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524629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0CE188-F664-4B0D-8AC6-20A184CAFF41}" type="datetime4">
              <a:rPr lang="en-US" smtClean="0"/>
              <a:t>April 3, 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Computer Science &amp; Engineering, VNRVJIET, Hyderabad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FA3F07-B4E9-4FEB-BC07-B9713C186F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106885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CB2588-DF27-44BC-A482-328866C3420F}" type="datetime4">
              <a:rPr lang="en-US" smtClean="0"/>
              <a:t>April 3, 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Computer Science &amp; Engineering, VNRVJIET, Hyderabad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FA3F07-B4E9-4FEB-BC07-B9713C186F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89685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CF0656-30B0-415C-B71C-BB84E4142C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609600"/>
            <a:ext cx="7772400" cy="1143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FF1B419-F3AF-4057-B51B-939ABF3D8896}"/>
              </a:ext>
            </a:extLst>
          </p:cNvPr>
          <p:cNvSpPr>
            <a:spLocks noGrp="1"/>
          </p:cNvSpPr>
          <p:nvPr>
            <p:ph type="body"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2CE4B00-BFDE-4E0D-B9E7-DC75A1A5EDA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A57A59A-0985-4330-89E0-5688F01E7E5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85800" y="6248400"/>
            <a:ext cx="1905000" cy="457200"/>
          </a:xfrm>
        </p:spPr>
        <p:txBody>
          <a:bodyPr/>
          <a:lstStyle>
            <a:lvl1pPr>
              <a:defRPr/>
            </a:lvl1pPr>
          </a:lstStyle>
          <a:p>
            <a:r>
              <a:rPr lang="en-US" altLang="en-US"/>
              <a:t>Analysis of Algorithms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BC97812-2170-405C-9C24-890F4AD339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24200" y="6248400"/>
            <a:ext cx="2895600" cy="457200"/>
          </a:xfrm>
        </p:spPr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C56311E-B83C-401D-B3C5-953F623680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553200" y="6248400"/>
            <a:ext cx="1905000" cy="457200"/>
          </a:xfrm>
        </p:spPr>
        <p:txBody>
          <a:bodyPr/>
          <a:lstStyle>
            <a:lvl1pPr>
              <a:defRPr/>
            </a:lvl1pPr>
          </a:lstStyle>
          <a:p>
            <a:fld id="{74BD3F2D-1B47-4871-8448-CF31A4F867CD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99211334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E77A41-912C-7A43-A022-11B816D1C429}" type="datetimeFigureOut">
              <a:rPr lang="en-US" smtClean="0"/>
              <a:pPr/>
              <a:t>4/3/2024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06367B-7900-C844-8C5A-7A61280C440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85710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E77A41-912C-7A43-A022-11B816D1C429}" type="datetimeFigureOut">
              <a:rPr lang="en-US" smtClean="0"/>
              <a:pPr/>
              <a:t>4/3/2024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06367B-7900-C844-8C5A-7A61280C440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069405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E77A41-912C-7A43-A022-11B816D1C429}" type="datetimeFigureOut">
              <a:rPr lang="en-US" smtClean="0"/>
              <a:pPr/>
              <a:t>4/3/2024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06367B-7900-C844-8C5A-7A61280C440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033489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E77A41-912C-7A43-A022-11B816D1C429}" type="datetimeFigureOut">
              <a:rPr lang="en-US" smtClean="0"/>
              <a:pPr/>
              <a:t>4/3/2024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06367B-7900-C844-8C5A-7A61280C440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748079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E77A41-912C-7A43-A022-11B816D1C429}" type="datetimeFigureOut">
              <a:rPr lang="en-US" smtClean="0"/>
              <a:pPr/>
              <a:t>4/3/2024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06367B-7900-C844-8C5A-7A61280C440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021886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E77A41-912C-7A43-A022-11B816D1C429}" type="datetimeFigureOut">
              <a:rPr lang="en-US" smtClean="0"/>
              <a:pPr/>
              <a:t>4/3/2024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06367B-7900-C844-8C5A-7A61280C440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482379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E77A41-912C-7A43-A022-11B816D1C429}" type="datetimeFigureOut">
              <a:rPr lang="en-US" smtClean="0"/>
              <a:pPr/>
              <a:t>4/3/2024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06367B-7900-C844-8C5A-7A61280C440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9766129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E77A41-912C-7A43-A022-11B816D1C429}" type="datetimeFigureOut">
              <a:rPr lang="en-US" smtClean="0"/>
              <a:pPr/>
              <a:t>4/3/2024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06367B-7900-C844-8C5A-7A61280C440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9960810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Drag picture to placeholder or click icon to add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E77A41-912C-7A43-A022-11B816D1C429}" type="datetimeFigureOut">
              <a:rPr lang="en-US" smtClean="0"/>
              <a:pPr/>
              <a:t>4/3/2024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06367B-7900-C844-8C5A-7A61280C440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4582709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E77A41-912C-7A43-A022-11B816D1C429}" type="datetimeFigureOut">
              <a:rPr lang="en-US" smtClean="0"/>
              <a:pPr/>
              <a:t>4/3/2024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06367B-7900-C844-8C5A-7A61280C440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9874141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E77A41-912C-7A43-A022-11B816D1C429}" type="datetimeFigureOut">
              <a:rPr lang="en-US" smtClean="0"/>
              <a:pPr/>
              <a:t>4/3/2024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06367B-7900-C844-8C5A-7A61280C440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364199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13.xml"/><Relationship Id="rId7" Type="http://schemas.openxmlformats.org/officeDocument/2006/relationships/slideLayout" Target="../slideLayouts/slideLayout17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1.xml"/><Relationship Id="rId6" Type="http://schemas.openxmlformats.org/officeDocument/2006/relationships/slideLayout" Target="../slideLayouts/slideLayout16.xml"/><Relationship Id="rId11" Type="http://schemas.openxmlformats.org/officeDocument/2006/relationships/slideLayout" Target="../slideLayouts/slideLayout21.xml"/><Relationship Id="rId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20.xml"/><Relationship Id="rId4" Type="http://schemas.openxmlformats.org/officeDocument/2006/relationships/slideLayout" Target="../slideLayouts/slideLayout14.xml"/><Relationship Id="rId9" Type="http://schemas.openxmlformats.org/officeDocument/2006/relationships/slideLayout" Target="../slideLayouts/slideLayout1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 userDrawn="1"/>
        </p:nvSpPr>
        <p:spPr>
          <a:xfrm>
            <a:off x="4482" y="6324600"/>
            <a:ext cx="9144000" cy="5334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52400" y="350838"/>
            <a:ext cx="7848600" cy="86836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04800" y="1371600"/>
            <a:ext cx="8458200" cy="48006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629400" y="6340475"/>
            <a:ext cx="1295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bg1"/>
                </a:solidFill>
              </a:defRPr>
            </a:lvl1pPr>
          </a:lstStyle>
          <a:p>
            <a:fld id="{D7464B53-3DD9-4B20-8321-AE9834B07E10}" type="datetime4">
              <a:rPr lang="en-US" smtClean="0"/>
              <a:t>April 3, 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524000" y="6351494"/>
            <a:ext cx="5029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100">
                <a:solidFill>
                  <a:schemeClr val="bg1"/>
                </a:solidFill>
              </a:defRPr>
            </a:lvl1pPr>
          </a:lstStyle>
          <a:p>
            <a:r>
              <a:rPr lang="en-US"/>
              <a:t>Department of Computer Science &amp; Engineering, VNRVJIET, Hyderabad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001000" y="6340475"/>
            <a:ext cx="762000" cy="365125"/>
          </a:xfrm>
          <a:prstGeom prst="rect">
            <a:avLst/>
          </a:prstGeom>
        </p:spPr>
        <p:txBody>
          <a:bodyPr vert="horz" lIns="0" tIns="45720" rIns="91440" bIns="45720" rtlCol="0" anchor="ctr"/>
          <a:lstStyle>
            <a:lvl1pPr algn="r">
              <a:defRPr sz="1100">
                <a:solidFill>
                  <a:schemeClr val="bg1"/>
                </a:solidFill>
              </a:defRPr>
            </a:lvl1pPr>
          </a:lstStyle>
          <a:p>
            <a:fld id="{C4FA3F07-B4E9-4FEB-BC07-B9713C186F2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Rectangle 6"/>
          <p:cNvSpPr/>
          <p:nvPr userDrawn="1"/>
        </p:nvSpPr>
        <p:spPr>
          <a:xfrm>
            <a:off x="0" y="0"/>
            <a:ext cx="9144000" cy="1524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" name="Picture 7"/>
          <p:cNvPicPr>
            <a:picLocks noChangeAspect="1" noChangeArrowheads="1"/>
          </p:cNvPicPr>
          <p:nvPr userDrawn="1"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01000" y="428673"/>
            <a:ext cx="838200" cy="75466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27" name="Picture 3"/>
          <p:cNvPicPr>
            <a:picLocks noChangeAspect="1" noChangeArrowheads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3776" y="6351494"/>
            <a:ext cx="1231900" cy="3651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cxnSp>
        <p:nvCxnSpPr>
          <p:cNvPr id="11" name="Straight Connector 10"/>
          <p:cNvCxnSpPr/>
          <p:nvPr userDrawn="1"/>
        </p:nvCxnSpPr>
        <p:spPr>
          <a:xfrm>
            <a:off x="4482" y="1219200"/>
            <a:ext cx="9144000" cy="0"/>
          </a:xfrm>
          <a:prstGeom prst="line">
            <a:avLst/>
          </a:prstGeom>
          <a:ln w="50800" cmpd="dbl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030576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hf hdr="0"/>
  <p:txStyles>
    <p:titleStyle>
      <a:lvl1pPr algn="ctr" defTabSz="914400" rtl="0" eaLnBrk="1" latinLnBrk="0" hangingPunct="1">
        <a:spcBef>
          <a:spcPct val="0"/>
        </a:spcBef>
        <a:buNone/>
        <a:defRPr sz="40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82575" indent="-282575" algn="l" defTabSz="914400" rtl="0" eaLnBrk="1" latinLnBrk="0" hangingPunct="1">
        <a:spcBef>
          <a:spcPct val="20000"/>
        </a:spcBef>
        <a:buFont typeface="Wingdings" panose="05000000000000000000" pitchFamily="2" charset="2"/>
        <a:buChar char="§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spcBef>
          <a:spcPct val="20000"/>
        </a:spcBef>
        <a:buFont typeface="Wingdings" panose="05000000000000000000" pitchFamily="2" charset="2"/>
        <a:buChar char="§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1089025" indent="-174625" algn="l" defTabSz="914400" rtl="0" eaLnBrk="1" latinLnBrk="0" hangingPunct="1">
        <a:spcBef>
          <a:spcPct val="20000"/>
        </a:spcBef>
        <a:buFont typeface="Wingdings" panose="05000000000000000000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546225" indent="-174625" algn="l" defTabSz="914400" rtl="0" eaLnBrk="1" latinLnBrk="0" hangingPunct="1">
        <a:spcBef>
          <a:spcPct val="20000"/>
        </a:spcBef>
        <a:buFont typeface="Wingdings" panose="05000000000000000000" pitchFamily="2" charset="2"/>
        <a:buChar char="§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2003425" indent="-174625" algn="l" defTabSz="914400" rtl="0" eaLnBrk="1" latinLnBrk="0" hangingPunct="1">
        <a:spcBef>
          <a:spcPct val="20000"/>
        </a:spcBef>
        <a:buFont typeface="Wingdings" panose="05000000000000000000" pitchFamily="2" charset="2"/>
        <a:buChar char="§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9E77A41-912C-7A43-A022-11B816D1C429}" type="datetimeFigureOut">
              <a:rPr lang="en-US" smtClean="0"/>
              <a:pPr/>
              <a:t>4/3/2024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506367B-7900-C844-8C5A-7A61280C440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86989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0" r:id="rId1"/>
    <p:sldLayoutId id="2147483661" r:id="rId2"/>
    <p:sldLayoutId id="2147483662" r:id="rId3"/>
    <p:sldLayoutId id="2147483663" r:id="rId4"/>
    <p:sldLayoutId id="2147483664" r:id="rId5"/>
    <p:sldLayoutId id="2147483665" r:id="rId6"/>
    <p:sldLayoutId id="2147483666" r:id="rId7"/>
    <p:sldLayoutId id="2147483667" r:id="rId8"/>
    <p:sldLayoutId id="2147483668" r:id="rId9"/>
    <p:sldLayoutId id="2147483669" r:id="rId10"/>
    <p:sldLayoutId id="2147483670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10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0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10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9.wmf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14348" y="76200"/>
            <a:ext cx="7772400" cy="3962399"/>
          </a:xfrm>
        </p:spPr>
        <p:txBody>
          <a:bodyPr>
            <a:normAutofit fontScale="90000"/>
          </a:bodyPr>
          <a:lstStyle/>
          <a:p>
            <a:pPr marL="0" indent="0" algn="ctr">
              <a:buNone/>
            </a:pPr>
            <a:r>
              <a:rPr lang="en-US" b="1" dirty="0">
                <a:solidFill>
                  <a:srgbClr val="C00000"/>
                </a:solidFill>
              </a:rPr>
              <a:t> </a:t>
            </a:r>
            <a:br>
              <a:rPr lang="en-US" b="1" dirty="0">
                <a:solidFill>
                  <a:srgbClr val="C00000"/>
                </a:solidFill>
              </a:rPr>
            </a:br>
            <a:br>
              <a:rPr lang="en-US" b="1" dirty="0">
                <a:solidFill>
                  <a:srgbClr val="C00000"/>
                </a:solidFill>
              </a:rPr>
            </a:br>
            <a:br>
              <a:rPr lang="en-US" b="1" dirty="0">
                <a:solidFill>
                  <a:srgbClr val="C00000"/>
                </a:solidFill>
              </a:rPr>
            </a:br>
            <a:br>
              <a:rPr lang="en-US" b="1" dirty="0">
                <a:solidFill>
                  <a:srgbClr val="C00000"/>
                </a:solidFill>
              </a:rPr>
            </a:br>
            <a:br>
              <a:rPr lang="en-US" b="1" dirty="0">
                <a:solidFill>
                  <a:srgbClr val="C00000"/>
                </a:solidFill>
              </a:rPr>
            </a:br>
            <a:br>
              <a:rPr lang="en-US" b="1" dirty="0">
                <a:solidFill>
                  <a:srgbClr val="C00000"/>
                </a:solidFill>
              </a:rPr>
            </a:br>
            <a:br>
              <a:rPr lang="en-US" b="1" dirty="0">
                <a:solidFill>
                  <a:srgbClr val="C00000"/>
                </a:solidFill>
              </a:rPr>
            </a:br>
            <a:r>
              <a:rPr lang="en-US" b="1" dirty="0">
                <a:solidFill>
                  <a:srgbClr val="C00000"/>
                </a:solidFill>
              </a:rPr>
              <a:t>Analysis of Algorithms</a:t>
            </a:r>
            <a:br>
              <a:rPr lang="en-US" b="1" dirty="0">
                <a:solidFill>
                  <a:srgbClr val="C00000"/>
                </a:solidFill>
              </a:rPr>
            </a:br>
            <a:br>
              <a:rPr lang="en-US" b="1" dirty="0">
                <a:solidFill>
                  <a:srgbClr val="C00000"/>
                </a:solidFill>
              </a:rPr>
            </a:br>
            <a:r>
              <a:rPr lang="en-US" sz="2700" b="1" dirty="0"/>
              <a:t>Order of Growth ,Asymptotic Notations &amp; Examples</a:t>
            </a:r>
            <a:br>
              <a:rPr lang="en-US" sz="3200" dirty="0">
                <a:solidFill>
                  <a:srgbClr val="FF0000"/>
                </a:solidFill>
              </a:rPr>
            </a:br>
            <a:br>
              <a:rPr lang="en-US" sz="6000" dirty="0">
                <a:solidFill>
                  <a:schemeClr val="tx1"/>
                </a:solidFill>
              </a:rPr>
            </a:br>
            <a:endParaRPr lang="en-US" b="1" dirty="0">
              <a:solidFill>
                <a:srgbClr val="C00000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6F15528-21DE-4FAA-801E-634DDDAF4B2B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5" name="Picture 2" descr="VNR VJIET">
            <a:extLst>
              <a:ext uri="{FF2B5EF4-FFF2-40B4-BE49-F238E27FC236}">
                <a16:creationId xmlns:a16="http://schemas.microsoft.com/office/drawing/2014/main" id="{65766AF7-6243-4E6B-AA58-BC36E3CC384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66837" y="2686395"/>
            <a:ext cx="2810326" cy="21984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Subtitle 2">
            <a:extLst>
              <a:ext uri="{FF2B5EF4-FFF2-40B4-BE49-F238E27FC236}">
                <a16:creationId xmlns:a16="http://schemas.microsoft.com/office/drawing/2014/main" id="{D893F8C9-C243-4DD1-BC18-6846B6DFBA7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14436" y="5202238"/>
            <a:ext cx="6858000" cy="788987"/>
          </a:xfrm>
        </p:spPr>
        <p:txBody>
          <a:bodyPr>
            <a:normAutofit/>
          </a:bodyPr>
          <a:lstStyle/>
          <a:p>
            <a:r>
              <a:rPr lang="en-US" sz="2800" dirty="0">
                <a:solidFill>
                  <a:srgbClr val="5600FF"/>
                </a:solidFill>
              </a:rPr>
              <a:t>By Madhavi Alli</a:t>
            </a:r>
          </a:p>
        </p:txBody>
      </p:sp>
    </p:spTree>
    <p:extLst>
      <p:ext uri="{BB962C8B-B14F-4D97-AF65-F5344CB8AC3E}">
        <p14:creationId xmlns:p14="http://schemas.microsoft.com/office/powerpoint/2010/main" val="296123365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4">
            <a:extLst>
              <a:ext uri="{FF2B5EF4-FFF2-40B4-BE49-F238E27FC236}">
                <a16:creationId xmlns:a16="http://schemas.microsoft.com/office/drawing/2014/main" id="{834BDD37-3241-4FD8-9508-630D20274D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en-US"/>
              <a:t>Analysis of Algorithms</a:t>
            </a:r>
          </a:p>
        </p:txBody>
      </p:sp>
      <p:sp>
        <p:nvSpPr>
          <p:cNvPr id="5" name="Slide Number Placeholder 6">
            <a:extLst>
              <a:ext uri="{FF2B5EF4-FFF2-40B4-BE49-F238E27FC236}">
                <a16:creationId xmlns:a16="http://schemas.microsoft.com/office/drawing/2014/main" id="{2244ED34-8B27-463E-A8FE-B21CC57C5A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D91A12-4ED4-4CD6-A6E7-284617742C9E}" type="slidenum">
              <a:rPr lang="en-US" altLang="en-US"/>
              <a:pPr/>
              <a:t>2</a:t>
            </a:fld>
            <a:endParaRPr lang="en-US" altLang="en-US"/>
          </a:p>
        </p:txBody>
      </p:sp>
      <p:sp>
        <p:nvSpPr>
          <p:cNvPr id="22530" name="Rectangle 2">
            <a:extLst>
              <a:ext uri="{FF2B5EF4-FFF2-40B4-BE49-F238E27FC236}">
                <a16:creationId xmlns:a16="http://schemas.microsoft.com/office/drawing/2014/main" id="{829896A5-6891-4869-9BF0-08A76348BC9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-1600200" y="152400"/>
            <a:ext cx="7772400" cy="1143000"/>
          </a:xfrm>
        </p:spPr>
        <p:txBody>
          <a:bodyPr/>
          <a:lstStyle/>
          <a:p>
            <a:r>
              <a:rPr lang="en-US" altLang="en-US" dirty="0">
                <a:solidFill>
                  <a:srgbClr val="FF0000"/>
                </a:solidFill>
              </a:rPr>
              <a:t>Asymptotic analysis </a:t>
            </a:r>
            <a:endParaRPr lang="en-US" altLang="en-US" dirty="0"/>
          </a:p>
        </p:txBody>
      </p:sp>
      <p:sp>
        <p:nvSpPr>
          <p:cNvPr id="22531" name="Rectangle 3">
            <a:extLst>
              <a:ext uri="{FF2B5EF4-FFF2-40B4-BE49-F238E27FC236}">
                <a16:creationId xmlns:a16="http://schemas.microsoft.com/office/drawing/2014/main" id="{45F8AE84-77BA-4CED-9885-B1FF3619BEEF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266700" y="1828800"/>
            <a:ext cx="8610600" cy="3657600"/>
          </a:xfrm>
        </p:spPr>
        <p:txBody>
          <a:bodyPr>
            <a:normAutofit fontScale="92500" lnSpcReduction="10000"/>
          </a:bodyPr>
          <a:lstStyle/>
          <a:p>
            <a:pPr marL="0" indent="0" algn="just">
              <a:lnSpc>
                <a:spcPct val="90000"/>
              </a:lnSpc>
              <a:buNone/>
            </a:pPr>
            <a:r>
              <a:rPr lang="en-US" altLang="en-US" sz="2400" dirty="0">
                <a:solidFill>
                  <a:srgbClr val="0070C0"/>
                </a:solidFill>
              </a:rPr>
              <a:t>Complexity of an Algorithm</a:t>
            </a:r>
            <a:r>
              <a:rPr lang="en-US" altLang="en-US" sz="2400" dirty="0"/>
              <a:t>: It is the amount of resources required for running algorithm.</a:t>
            </a:r>
          </a:p>
          <a:p>
            <a:pPr marL="0" indent="0" algn="just">
              <a:lnSpc>
                <a:spcPct val="90000"/>
              </a:lnSpc>
              <a:buNone/>
            </a:pPr>
            <a:endParaRPr lang="en-US" altLang="en-US" sz="2400" dirty="0"/>
          </a:p>
          <a:p>
            <a:pPr marL="0" indent="0" algn="just">
              <a:lnSpc>
                <a:spcPct val="90000"/>
              </a:lnSpc>
              <a:buNone/>
            </a:pPr>
            <a:r>
              <a:rPr lang="en-US" altLang="en-US" sz="2400" dirty="0">
                <a:solidFill>
                  <a:srgbClr val="0070C0"/>
                </a:solidFill>
              </a:rPr>
              <a:t>Analysis of an Algorithm</a:t>
            </a:r>
            <a:r>
              <a:rPr lang="en-US" altLang="en-US" sz="2400" dirty="0"/>
              <a:t>: Predicting or Estimating the amount of resources that the algorithm requires.</a:t>
            </a:r>
          </a:p>
          <a:p>
            <a:pPr marL="0" indent="0" algn="just">
              <a:lnSpc>
                <a:spcPct val="90000"/>
              </a:lnSpc>
              <a:buNone/>
            </a:pPr>
            <a:endParaRPr lang="en-US" altLang="en-US" sz="2400" dirty="0"/>
          </a:p>
          <a:p>
            <a:pPr marL="0" indent="0" algn="just">
              <a:lnSpc>
                <a:spcPct val="90000"/>
              </a:lnSpc>
              <a:buNone/>
            </a:pPr>
            <a:r>
              <a:rPr lang="en-US" altLang="en-US" sz="2400" dirty="0">
                <a:solidFill>
                  <a:srgbClr val="0070C0"/>
                </a:solidFill>
              </a:rPr>
              <a:t>Asymptotic Analysis of Algorithm</a:t>
            </a:r>
            <a:r>
              <a:rPr lang="en-US" altLang="en-US" sz="2400" dirty="0"/>
              <a:t>: Estimating amount of time required for large value of input size is called Asymptotic Analysis of Algorithm.</a:t>
            </a:r>
          </a:p>
          <a:p>
            <a:pPr marL="0" indent="0" algn="just">
              <a:lnSpc>
                <a:spcPct val="90000"/>
              </a:lnSpc>
              <a:buNone/>
            </a:pPr>
            <a:r>
              <a:rPr lang="en-US" altLang="en-US" sz="2400" dirty="0"/>
              <a:t> </a:t>
            </a:r>
          </a:p>
          <a:p>
            <a:pPr marL="0" indent="0" algn="just">
              <a:lnSpc>
                <a:spcPct val="90000"/>
              </a:lnSpc>
              <a:buNone/>
            </a:pPr>
            <a:r>
              <a:rPr lang="en-US" altLang="en-US" sz="2400" dirty="0">
                <a:solidFill>
                  <a:srgbClr val="0070C0"/>
                </a:solidFill>
              </a:rPr>
              <a:t>Asymptotic Notations</a:t>
            </a:r>
            <a:r>
              <a:rPr lang="en-US" altLang="en-US" sz="2400" dirty="0"/>
              <a:t>: The notations used for describing the asymptotic running time of an Algorithm are called Asymptotic Notations.</a:t>
            </a:r>
          </a:p>
          <a:p>
            <a:pPr marL="457200" lvl="1" indent="0">
              <a:lnSpc>
                <a:spcPct val="90000"/>
              </a:lnSpc>
              <a:buNone/>
            </a:pPr>
            <a:endParaRPr lang="en-US" altLang="en-US" sz="2000" dirty="0"/>
          </a:p>
        </p:txBody>
      </p:sp>
    </p:spTree>
    <p:extLst>
      <p:ext uri="{BB962C8B-B14F-4D97-AF65-F5344CB8AC3E}">
        <p14:creationId xmlns:p14="http://schemas.microsoft.com/office/powerpoint/2010/main" val="39786300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25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2253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2253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2253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2253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531" grpId="0" build="p" bldLvl="2" autoUpdateAnimBg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C8D7D8-81C4-4631-898D-954BAA31BD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279141" y="152400"/>
            <a:ext cx="4089141" cy="1143000"/>
          </a:xfrm>
        </p:spPr>
        <p:txBody>
          <a:bodyPr/>
          <a:lstStyle/>
          <a:p>
            <a:r>
              <a:rPr lang="en-US" dirty="0" err="1">
                <a:solidFill>
                  <a:srgbClr val="FF0000"/>
                </a:solidFill>
              </a:rPr>
              <a:t>Contd</a:t>
            </a:r>
            <a:r>
              <a:rPr lang="en-US" dirty="0">
                <a:solidFill>
                  <a:srgbClr val="FF0000"/>
                </a:solidFill>
              </a:rPr>
              <a:t>…..</a:t>
            </a:r>
            <a:endParaRPr lang="en-IN" dirty="0">
              <a:solidFill>
                <a:srgbClr val="FF0000"/>
              </a:solidFill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6AB71B3-C894-44D1-BC97-12BD425E7C5E}"/>
              </a:ext>
            </a:extLst>
          </p:cNvPr>
          <p:cNvSpPr>
            <a:spLocks noGrp="1"/>
          </p:cNvSpPr>
          <p:nvPr>
            <p:ph type="body" sz="half" idx="1"/>
          </p:nvPr>
        </p:nvSpPr>
        <p:spPr>
          <a:xfrm>
            <a:off x="125186" y="1600200"/>
            <a:ext cx="7391400" cy="41148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en-US" sz="2800" dirty="0">
                <a:cs typeface="Courier New" panose="02070309020205020404" pitchFamily="49" charset="0"/>
              </a:rPr>
              <a:t>     </a:t>
            </a:r>
            <a:r>
              <a:rPr lang="en-US" altLang="en-US" sz="2800" dirty="0">
                <a:solidFill>
                  <a:srgbClr val="7030A0"/>
                </a:solidFill>
                <a:cs typeface="Courier New" panose="02070309020205020404" pitchFamily="49" charset="0"/>
              </a:rPr>
              <a:t>What is the goal of analysis of algorithms?</a:t>
            </a:r>
          </a:p>
          <a:p>
            <a:pPr lvl="1"/>
            <a:r>
              <a:rPr lang="en-US" altLang="en-US" sz="2800" dirty="0">
                <a:cs typeface="Times New Roman" panose="02020603050405020304" pitchFamily="18" charset="0"/>
              </a:rPr>
              <a:t>To compare algorithms mainly in terms of order of growth. </a:t>
            </a:r>
          </a:p>
          <a:p>
            <a:pPr marL="457200" lvl="1" indent="0">
              <a:buNone/>
            </a:pPr>
            <a:r>
              <a:rPr lang="en-US" altLang="en-US" sz="2800" dirty="0">
                <a:solidFill>
                  <a:srgbClr val="7030A0"/>
                </a:solidFill>
                <a:cs typeface="Courier New" panose="02070309020205020404" pitchFamily="49" charset="0"/>
              </a:rPr>
              <a:t>What do we mean by running time analysis?</a:t>
            </a:r>
          </a:p>
          <a:p>
            <a:pPr lvl="1"/>
            <a:r>
              <a:rPr lang="en-US" altLang="en-US" sz="2800" dirty="0">
                <a:cs typeface="Times New Roman" panose="02020603050405020304" pitchFamily="18" charset="0"/>
              </a:rPr>
              <a:t>Determine how running time increases as the </a:t>
            </a:r>
            <a:r>
              <a:rPr lang="en-US" altLang="en-US" sz="2800" dirty="0">
                <a:solidFill>
                  <a:srgbClr val="DD0111"/>
                </a:solidFill>
                <a:cs typeface="Times New Roman" panose="02020603050405020304" pitchFamily="18" charset="0"/>
              </a:rPr>
              <a:t>input</a:t>
            </a:r>
            <a:r>
              <a:rPr lang="en-US" altLang="en-US" sz="2800" dirty="0">
                <a:cs typeface="Times New Roman" panose="02020603050405020304" pitchFamily="18" charset="0"/>
              </a:rPr>
              <a:t> </a:t>
            </a:r>
            <a:r>
              <a:rPr lang="en-US" altLang="en-US" sz="2800" dirty="0">
                <a:solidFill>
                  <a:srgbClr val="DD0111"/>
                </a:solidFill>
                <a:cs typeface="Times New Roman" panose="02020603050405020304" pitchFamily="18" charset="0"/>
              </a:rPr>
              <a:t>size</a:t>
            </a:r>
            <a:r>
              <a:rPr lang="en-US" altLang="en-US" sz="2800" dirty="0">
                <a:cs typeface="Times New Roman" panose="02020603050405020304" pitchFamily="18" charset="0"/>
              </a:rPr>
              <a:t> increases.</a:t>
            </a:r>
          </a:p>
          <a:p>
            <a:endParaRPr lang="en-IN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CA8A3C2-70D8-4466-8BBD-D9F32A7CA8B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124200" y="6400800"/>
            <a:ext cx="1905000" cy="457200"/>
          </a:xfrm>
        </p:spPr>
        <p:txBody>
          <a:bodyPr/>
          <a:lstStyle/>
          <a:p>
            <a:r>
              <a:rPr lang="en-US" altLang="en-US" dirty="0"/>
              <a:t>Analysis of Algorithms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89DB324-49FF-4974-AA56-BB173644ED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BD3F2D-1B47-4871-8448-CF31A4F867CD}" type="slidenum">
              <a:rPr lang="en-US" altLang="en-US" smtClean="0"/>
              <a:pPr/>
              <a:t>3</a:t>
            </a:fld>
            <a:endParaRPr lang="en-US" altLang="en-US"/>
          </a:p>
        </p:txBody>
      </p:sp>
      <p:pic>
        <p:nvPicPr>
          <p:cNvPr id="6148" name="Picture 4" descr="Confused Yellow Smiley Emoji Cartoon Vector Clipart - FriendlyStock">
            <a:extLst>
              <a:ext uri="{FF2B5EF4-FFF2-40B4-BE49-F238E27FC236}">
                <a16:creationId xmlns:a16="http://schemas.microsoft.com/office/drawing/2014/main" id="{0123444D-BA9F-4F88-9330-F422F1F3FC1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15200" y="2010747"/>
            <a:ext cx="1447800" cy="1447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0323276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030AF1B-9ABA-1942-35C1-90646E6543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en-US"/>
              <a:t>Analysis of Algorithms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49A03BC-8B0A-4609-98BD-B395F6E868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alt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AABF376-AC70-BE3C-76DB-8D55CFB290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BD3F2D-1B47-4871-8448-CF31A4F867CD}" type="slidenum">
              <a:rPr lang="en-US" altLang="en-US" smtClean="0"/>
              <a:pPr/>
              <a:t>4</a:t>
            </a:fld>
            <a:endParaRPr lang="en-US" altLang="en-US"/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8B65324A-5B51-A625-882B-065753E54CAA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197031" y="1445061"/>
            <a:ext cx="4953000" cy="411480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58A1263F-7583-A57C-711C-D85EBAD0FC60}"/>
              </a:ext>
            </a:extLst>
          </p:cNvPr>
          <p:cNvSpPr txBox="1"/>
          <p:nvPr/>
        </p:nvSpPr>
        <p:spPr>
          <a:xfrm>
            <a:off x="381000" y="288548"/>
            <a:ext cx="769620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en-US" sz="4000" dirty="0">
                <a:solidFill>
                  <a:srgbClr val="FF0000"/>
                </a:solidFill>
              </a:rPr>
              <a:t>Order of Growth/ </a:t>
            </a:r>
            <a:r>
              <a:rPr lang="en-US" sz="4000" dirty="0">
                <a:solidFill>
                  <a:srgbClr val="FF0000"/>
                </a:solidFill>
              </a:rPr>
              <a:t>Rate of Growth</a:t>
            </a:r>
            <a:r>
              <a:rPr lang="en-US" altLang="en-US" sz="4000" dirty="0">
                <a:solidFill>
                  <a:srgbClr val="FF0000"/>
                </a:solidFill>
              </a:rPr>
              <a:t> </a:t>
            </a:r>
            <a:endParaRPr lang="en-IN" sz="4000" dirty="0">
              <a:solidFill>
                <a:srgbClr val="FF0000"/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53126B2-CA56-CF28-711E-A56A942BE415}"/>
              </a:ext>
            </a:extLst>
          </p:cNvPr>
          <p:cNvSpPr txBox="1"/>
          <p:nvPr/>
        </p:nvSpPr>
        <p:spPr>
          <a:xfrm>
            <a:off x="5257801" y="1600200"/>
            <a:ext cx="3689168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buFont typeface="Wingdings" panose="05000000000000000000" pitchFamily="2" charset="2"/>
              <a:buChar char="Ø"/>
            </a:pPr>
            <a:r>
              <a:rPr lang="en-US" dirty="0"/>
              <a:t>After dropping all lower order terms And constant of higher order term, whatever remains is “</a:t>
            </a:r>
            <a:r>
              <a:rPr lang="en-US" b="1" dirty="0">
                <a:solidFill>
                  <a:srgbClr val="FF3399"/>
                </a:solidFill>
              </a:rPr>
              <a:t>Order of Growth” or “Rate of Growth”.</a:t>
            </a:r>
          </a:p>
          <a:p>
            <a:endParaRPr lang="en-US" b="1" dirty="0">
              <a:solidFill>
                <a:srgbClr val="FF3399"/>
              </a:solidFill>
            </a:endParaRPr>
          </a:p>
          <a:p>
            <a:pPr marL="285750" indent="-285750" algn="just">
              <a:buFont typeface="Wingdings" panose="05000000000000000000" pitchFamily="2" charset="2"/>
              <a:buChar char="Ø"/>
            </a:pPr>
            <a:r>
              <a:rPr lang="en-US" dirty="0"/>
              <a:t>In order to decide which algorithm is Efficient, we consider order of growth. Whichever algorithm has lower order of growth, that algorithm is efficient.</a:t>
            </a:r>
          </a:p>
          <a:p>
            <a:pPr algn="just"/>
            <a:endParaRPr lang="en-US" dirty="0"/>
          </a:p>
          <a:p>
            <a:pPr marL="285750" indent="-285750" algn="just">
              <a:buFont typeface="Wingdings" panose="05000000000000000000" pitchFamily="2" charset="2"/>
              <a:buChar char="Ø"/>
            </a:pPr>
            <a:r>
              <a:rPr lang="en-US" dirty="0"/>
              <a:t>Order of Growth is always represented in terms of input size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47369661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4AAF0C-B8A1-401A-B24E-7BAD2DABC4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" y="0"/>
            <a:ext cx="7772400" cy="1143000"/>
          </a:xfrm>
        </p:spPr>
        <p:txBody>
          <a:bodyPr/>
          <a:lstStyle/>
          <a:p>
            <a:r>
              <a:rPr lang="en-US" dirty="0">
                <a:solidFill>
                  <a:srgbClr val="FF0000"/>
                </a:solidFill>
              </a:rPr>
              <a:t>Rate of Growth/ Order of Growth</a:t>
            </a:r>
            <a:endParaRPr lang="en-IN" dirty="0">
              <a:solidFill>
                <a:srgbClr val="FF0000"/>
              </a:solidFill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5D6F4E7-5B7A-4A4D-8B56-FF7BFC954212}"/>
              </a:ext>
            </a:extLst>
          </p:cNvPr>
          <p:cNvSpPr>
            <a:spLocks noGrp="1"/>
          </p:cNvSpPr>
          <p:nvPr>
            <p:ph type="body" sz="half" idx="1"/>
          </p:nvPr>
        </p:nvSpPr>
        <p:spPr>
          <a:xfrm>
            <a:off x="337456" y="1442356"/>
            <a:ext cx="8730344" cy="4806044"/>
          </a:xfrm>
        </p:spPr>
        <p:txBody>
          <a:bodyPr>
            <a:normAutofit fontScale="92500" lnSpcReduction="20000"/>
          </a:bodyPr>
          <a:lstStyle/>
          <a:p>
            <a:pPr marL="0" indent="0" algn="just">
              <a:buNone/>
            </a:pPr>
            <a:r>
              <a:rPr lang="en-US" sz="2400" dirty="0"/>
              <a:t>It is the rate at which algorithm running time increases as input size increase </a:t>
            </a:r>
            <a:r>
              <a:rPr lang="en-US" sz="2400" dirty="0" err="1"/>
              <a:t>i.e</a:t>
            </a:r>
            <a:r>
              <a:rPr lang="en-US" sz="2400" dirty="0"/>
              <a:t> slower the running time grows as input size gets increase, the better is the algorithm. Asymptotic Notations captures this behavior.</a:t>
            </a:r>
          </a:p>
          <a:p>
            <a:pPr marL="0" indent="0" algn="just">
              <a:buNone/>
            </a:pPr>
            <a:endParaRPr lang="en-US" sz="2400" dirty="0"/>
          </a:p>
          <a:p>
            <a:pPr marL="0" indent="0">
              <a:buNone/>
            </a:pPr>
            <a:r>
              <a:rPr lang="en-US" sz="2400" b="1" dirty="0">
                <a:solidFill>
                  <a:srgbClr val="FFC000"/>
                </a:solidFill>
              </a:rPr>
              <a:t>Examples:</a:t>
            </a:r>
          </a:p>
          <a:p>
            <a:pPr marL="0" indent="0">
              <a:buNone/>
            </a:pPr>
            <a:r>
              <a:rPr lang="en-US" sz="2400" dirty="0">
                <a:solidFill>
                  <a:srgbClr val="00B0F0"/>
                </a:solidFill>
              </a:rPr>
              <a:t>T(A)= 7n</a:t>
            </a:r>
            <a:r>
              <a:rPr lang="en-US" sz="2400" dirty="0">
                <a:solidFill>
                  <a:srgbClr val="FFC000"/>
                </a:solidFill>
              </a:rPr>
              <a:t>		</a:t>
            </a:r>
            <a:r>
              <a:rPr lang="en-US" sz="2400" dirty="0">
                <a:solidFill>
                  <a:srgbClr val="7030A0"/>
                </a:solidFill>
              </a:rPr>
              <a:t>T(B)=7logn</a:t>
            </a:r>
            <a:r>
              <a:rPr lang="en-US" sz="2400" dirty="0">
                <a:solidFill>
                  <a:srgbClr val="FFC000"/>
                </a:solidFill>
              </a:rPr>
              <a:t>		</a:t>
            </a:r>
            <a:r>
              <a:rPr lang="en-US" sz="2400" dirty="0">
                <a:solidFill>
                  <a:srgbClr val="00B050"/>
                </a:solidFill>
              </a:rPr>
              <a:t>T(C)=n</a:t>
            </a:r>
            <a:r>
              <a:rPr lang="en-US" sz="2400" baseline="30000" dirty="0">
                <a:solidFill>
                  <a:srgbClr val="00B050"/>
                </a:solidFill>
              </a:rPr>
              <a:t>2</a:t>
            </a:r>
          </a:p>
          <a:p>
            <a:pPr marL="0" indent="0">
              <a:buNone/>
            </a:pPr>
            <a:endParaRPr lang="en-US" sz="2400" baseline="30000" dirty="0">
              <a:solidFill>
                <a:srgbClr val="00B050"/>
              </a:solidFill>
            </a:endParaRPr>
          </a:p>
          <a:p>
            <a:pPr marL="0" indent="0">
              <a:buNone/>
            </a:pPr>
            <a:r>
              <a:rPr lang="en-US" sz="2800" baseline="30000" dirty="0">
                <a:solidFill>
                  <a:srgbClr val="FF0000"/>
                </a:solidFill>
              </a:rPr>
              <a:t>Compare rate of growth when input size increases from 100 to 10000</a:t>
            </a:r>
          </a:p>
          <a:p>
            <a:pPr marL="0" indent="0">
              <a:buNone/>
            </a:pPr>
            <a:r>
              <a:rPr lang="en-US" sz="3900" b="1" baseline="30000" dirty="0"/>
              <a:t>Algorithm B is better since it grows by just factor of2</a:t>
            </a:r>
          </a:p>
          <a:p>
            <a:pPr marL="0" indent="0">
              <a:buNone/>
            </a:pPr>
            <a:r>
              <a:rPr lang="en-US" sz="3900" b="1" baseline="30000" dirty="0">
                <a:solidFill>
                  <a:srgbClr val="00B050"/>
                </a:solidFill>
              </a:rPr>
              <a:t>Rate of Growth of an algorithm is inversely proportional to the efficiency of an Algorithm.</a:t>
            </a:r>
          </a:p>
          <a:p>
            <a:pPr marL="0" indent="0">
              <a:buNone/>
            </a:pPr>
            <a:endParaRPr lang="en-US" sz="3900" b="1" baseline="30000" dirty="0"/>
          </a:p>
          <a:p>
            <a:pPr marL="0" indent="0">
              <a:buNone/>
            </a:pPr>
            <a:r>
              <a:rPr lang="en-US" sz="3100" b="1" dirty="0">
                <a:solidFill>
                  <a:srgbClr val="7030A0"/>
                </a:solidFill>
              </a:rPr>
              <a:t>Algorithm is “efficient” when its runtime grows “slowly” with the input size.</a:t>
            </a:r>
          </a:p>
          <a:p>
            <a:pPr marL="0" indent="0">
              <a:buNone/>
            </a:pPr>
            <a:endParaRPr lang="en-IN" sz="3900" b="1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1CAA974-EB3E-4B08-B57C-01B61D6579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en-US"/>
              <a:t>Analysis of Algorithms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E046D4F-CF69-456E-AF6A-D75704B599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alt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26FCF32-34A1-4139-A938-4BC390324D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BD3F2D-1B47-4871-8448-CF31A4F867CD}" type="slidenum">
              <a:rPr lang="en-US" altLang="en-US" smtClean="0"/>
              <a:pPr/>
              <a:t>5</a:t>
            </a:fld>
            <a:endParaRPr lang="en-US" altLang="en-US"/>
          </a:p>
        </p:txBody>
      </p:sp>
      <p:pic>
        <p:nvPicPr>
          <p:cNvPr id="2050" name="Picture 2" descr="Thinking Emoji Images, Stock Photos &amp; Vectors | Shutterstock">
            <a:extLst>
              <a:ext uri="{FF2B5EF4-FFF2-40B4-BE49-F238E27FC236}">
                <a16:creationId xmlns:a16="http://schemas.microsoft.com/office/drawing/2014/main" id="{76B4B821-61B9-42E2-8CEF-0CB34ECA12A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29200" y="5587482"/>
            <a:ext cx="661307" cy="609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8017947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B5F5A4-8D62-4F6F-8CA9-2F0E08169B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295400" y="139960"/>
            <a:ext cx="7772400" cy="1143000"/>
          </a:xfrm>
        </p:spPr>
        <p:txBody>
          <a:bodyPr/>
          <a:lstStyle/>
          <a:p>
            <a:r>
              <a:rPr lang="en-US" dirty="0">
                <a:solidFill>
                  <a:srgbClr val="FF0000"/>
                </a:solidFill>
              </a:rPr>
              <a:t>Order of Growth…</a:t>
            </a:r>
            <a:r>
              <a:rPr lang="en-US" dirty="0" err="1">
                <a:solidFill>
                  <a:srgbClr val="FF0000"/>
                </a:solidFill>
              </a:rPr>
              <a:t>cont</a:t>
            </a:r>
            <a:endParaRPr lang="en-IN" dirty="0"/>
          </a:p>
        </p:txBody>
      </p:sp>
      <p:sp useBgFill="1">
        <p:nvSpPr>
          <p:cNvPr id="3" name="Text Placeholder 2">
            <a:extLst>
              <a:ext uri="{FF2B5EF4-FFF2-40B4-BE49-F238E27FC236}">
                <a16:creationId xmlns:a16="http://schemas.microsoft.com/office/drawing/2014/main" id="{B1151075-EAE0-47F8-A1A5-6B8C82B23149}"/>
              </a:ext>
            </a:extLst>
          </p:cNvPr>
          <p:cNvSpPr>
            <a:spLocks noGrp="1"/>
          </p:cNvSpPr>
          <p:nvPr>
            <p:ph type="body" sz="half" idx="1"/>
          </p:nvPr>
        </p:nvSpPr>
        <p:spPr>
          <a:xfrm>
            <a:off x="609600" y="1268964"/>
            <a:ext cx="8153400" cy="5067300"/>
          </a:xfrm>
        </p:spPr>
        <p:txBody>
          <a:bodyPr>
            <a:normAutofit fontScale="25000" lnSpcReduction="20000"/>
          </a:bodyPr>
          <a:lstStyle/>
          <a:p>
            <a:endParaRPr lang="en-US" sz="3600" dirty="0"/>
          </a:p>
          <a:p>
            <a:r>
              <a:rPr lang="en-US" sz="9600" dirty="0"/>
              <a:t>To decide which algorithm is best, we should find out Rate of Growth, need not calculate total </a:t>
            </a:r>
            <a:r>
              <a:rPr lang="en-US" sz="9600" dirty="0" err="1"/>
              <a:t>no.of</a:t>
            </a:r>
            <a:r>
              <a:rPr lang="en-US" sz="9600" dirty="0"/>
              <a:t> steps and time for each step(All lower order terms and constant coefficient of higher order term are insignificant)</a:t>
            </a:r>
          </a:p>
          <a:p>
            <a:pPr marL="0" indent="0">
              <a:buNone/>
            </a:pPr>
            <a:endParaRPr lang="en-US" sz="7200" dirty="0"/>
          </a:p>
          <a:p>
            <a:r>
              <a:rPr lang="en-US" sz="7200" dirty="0"/>
              <a:t>T(n)= 1000n</a:t>
            </a:r>
            <a:r>
              <a:rPr lang="en-US" sz="7200" baseline="30000" dirty="0"/>
              <a:t>3</a:t>
            </a:r>
            <a:r>
              <a:rPr lang="en-US" sz="7200" dirty="0"/>
              <a:t> + 999n + 9</a:t>
            </a:r>
          </a:p>
          <a:p>
            <a:pPr marL="0" indent="0">
              <a:buNone/>
            </a:pPr>
            <a:r>
              <a:rPr lang="en-US" sz="7200" dirty="0"/>
              <a:t>	= n</a:t>
            </a:r>
            <a:r>
              <a:rPr lang="en-US" sz="7200" baseline="30000" dirty="0"/>
              <a:t>3</a:t>
            </a:r>
            <a:endParaRPr lang="en-US" sz="7200" dirty="0"/>
          </a:p>
          <a:p>
            <a:r>
              <a:rPr lang="en-US" altLang="en-US" sz="7200" dirty="0">
                <a:cs typeface="Times New Roman" panose="02020603050405020304" pitchFamily="18" charset="0"/>
              </a:rPr>
              <a:t>The low order terms in a function are relatively </a:t>
            </a:r>
            <a:r>
              <a:rPr lang="en-US" altLang="en-US" sz="9600" b="1" dirty="0">
                <a:solidFill>
                  <a:srgbClr val="7030A0"/>
                </a:solidFill>
                <a:cs typeface="Times New Roman" panose="02020603050405020304" pitchFamily="18" charset="0"/>
              </a:rPr>
              <a:t>insignificant</a:t>
            </a:r>
            <a:r>
              <a:rPr lang="en-US" altLang="en-US" sz="9600" dirty="0">
                <a:cs typeface="Times New Roman" panose="02020603050405020304" pitchFamily="18" charset="0"/>
              </a:rPr>
              <a:t> </a:t>
            </a:r>
            <a:r>
              <a:rPr lang="en-US" altLang="en-US" sz="7200" dirty="0">
                <a:cs typeface="Times New Roman" panose="02020603050405020304" pitchFamily="18" charset="0"/>
              </a:rPr>
              <a:t>for </a:t>
            </a:r>
            <a:r>
              <a:rPr lang="en-US" altLang="en-US" sz="9600" b="1" dirty="0">
                <a:solidFill>
                  <a:srgbClr val="7030A0"/>
                </a:solidFill>
                <a:cs typeface="Times New Roman" panose="02020603050405020304" pitchFamily="18" charset="0"/>
              </a:rPr>
              <a:t>large n</a:t>
            </a:r>
          </a:p>
          <a:p>
            <a:pPr>
              <a:buFontTx/>
              <a:buNone/>
            </a:pPr>
            <a:r>
              <a:rPr lang="en-US" altLang="en-US" sz="7200" dirty="0">
                <a:cs typeface="Times New Roman" panose="02020603050405020304" pitchFamily="18" charset="0"/>
              </a:rPr>
              <a:t>		            </a:t>
            </a:r>
            <a:r>
              <a:rPr lang="en-US" altLang="en-US" sz="7200" i="1" dirty="0">
                <a:solidFill>
                  <a:srgbClr val="DD0111"/>
                </a:solidFill>
                <a:cs typeface="Times New Roman" panose="02020603050405020304" pitchFamily="18" charset="0"/>
              </a:rPr>
              <a:t>n</a:t>
            </a:r>
            <a:r>
              <a:rPr lang="en-US" altLang="en-US" sz="7200" baseline="30000" dirty="0">
                <a:solidFill>
                  <a:srgbClr val="DD0111"/>
                </a:solidFill>
                <a:cs typeface="Times New Roman" panose="02020603050405020304" pitchFamily="18" charset="0"/>
              </a:rPr>
              <a:t>4</a:t>
            </a:r>
            <a:r>
              <a:rPr lang="en-US" altLang="en-US" sz="7200" dirty="0">
                <a:solidFill>
                  <a:srgbClr val="DD0111"/>
                </a:solidFill>
                <a:cs typeface="Times New Roman" panose="02020603050405020304" pitchFamily="18" charset="0"/>
              </a:rPr>
              <a:t> + 100</a:t>
            </a:r>
            <a:r>
              <a:rPr lang="en-US" altLang="en-US" sz="7200" i="1" dirty="0">
                <a:solidFill>
                  <a:srgbClr val="DD0111"/>
                </a:solidFill>
                <a:cs typeface="Times New Roman" panose="02020603050405020304" pitchFamily="18" charset="0"/>
              </a:rPr>
              <a:t>n</a:t>
            </a:r>
            <a:r>
              <a:rPr lang="en-US" altLang="en-US" sz="7200" baseline="30000" dirty="0">
                <a:solidFill>
                  <a:srgbClr val="DD0111"/>
                </a:solidFill>
                <a:cs typeface="Times New Roman" panose="02020603050405020304" pitchFamily="18" charset="0"/>
              </a:rPr>
              <a:t>2</a:t>
            </a:r>
            <a:r>
              <a:rPr lang="en-US" altLang="en-US" sz="7200" dirty="0">
                <a:solidFill>
                  <a:srgbClr val="DD0111"/>
                </a:solidFill>
                <a:cs typeface="Times New Roman" panose="02020603050405020304" pitchFamily="18" charset="0"/>
              </a:rPr>
              <a:t> + 10</a:t>
            </a:r>
            <a:r>
              <a:rPr lang="en-US" altLang="en-US" sz="7200" i="1" dirty="0">
                <a:solidFill>
                  <a:srgbClr val="DD0111"/>
                </a:solidFill>
                <a:cs typeface="Times New Roman" panose="02020603050405020304" pitchFamily="18" charset="0"/>
              </a:rPr>
              <a:t>n</a:t>
            </a:r>
            <a:r>
              <a:rPr lang="en-US" altLang="en-US" sz="7200" dirty="0">
                <a:solidFill>
                  <a:srgbClr val="DD0111"/>
                </a:solidFill>
                <a:cs typeface="Times New Roman" panose="02020603050405020304" pitchFamily="18" charset="0"/>
              </a:rPr>
              <a:t> + 50</a:t>
            </a:r>
            <a:r>
              <a:rPr lang="en-US" altLang="en-US" sz="7200" dirty="0">
                <a:cs typeface="Times New Roman" panose="02020603050405020304" pitchFamily="18" charset="0"/>
              </a:rPr>
              <a:t>    ~     </a:t>
            </a:r>
            <a:r>
              <a:rPr lang="en-US" altLang="en-US" sz="7200" i="1" dirty="0">
                <a:solidFill>
                  <a:srgbClr val="DD0111"/>
                </a:solidFill>
                <a:cs typeface="Times New Roman" panose="02020603050405020304" pitchFamily="18" charset="0"/>
              </a:rPr>
              <a:t>n</a:t>
            </a:r>
            <a:r>
              <a:rPr lang="en-US" altLang="en-US" sz="7200" baseline="30000" dirty="0">
                <a:solidFill>
                  <a:srgbClr val="DD0111"/>
                </a:solidFill>
                <a:cs typeface="Times New Roman" panose="02020603050405020304" pitchFamily="18" charset="0"/>
              </a:rPr>
              <a:t>4</a:t>
            </a:r>
            <a:endParaRPr lang="en-US" altLang="en-US" sz="7200" baseline="30000" dirty="0">
              <a:cs typeface="Times New Roman" panose="02020603050405020304" pitchFamily="18" charset="0"/>
            </a:endParaRPr>
          </a:p>
          <a:p>
            <a:pPr>
              <a:buFontTx/>
              <a:buNone/>
            </a:pPr>
            <a:r>
              <a:rPr lang="en-US" altLang="en-US" sz="7200" i="1" dirty="0">
                <a:cs typeface="Times New Roman" panose="02020603050405020304" pitchFamily="18" charset="0"/>
              </a:rPr>
              <a:t> i.e., </a:t>
            </a:r>
            <a:r>
              <a:rPr lang="en-US" altLang="en-US" sz="7200" dirty="0">
                <a:cs typeface="Times New Roman" panose="02020603050405020304" pitchFamily="18" charset="0"/>
              </a:rPr>
              <a:t>we say that</a:t>
            </a:r>
            <a:r>
              <a:rPr lang="en-US" altLang="en-US" sz="7200" i="1" dirty="0">
                <a:cs typeface="Times New Roman" panose="02020603050405020304" pitchFamily="18" charset="0"/>
              </a:rPr>
              <a:t> </a:t>
            </a:r>
            <a:r>
              <a:rPr lang="en-US" altLang="en-US" sz="7200" i="1" dirty="0">
                <a:solidFill>
                  <a:srgbClr val="DD0111"/>
                </a:solidFill>
                <a:cs typeface="Times New Roman" panose="02020603050405020304" pitchFamily="18" charset="0"/>
              </a:rPr>
              <a:t>n</a:t>
            </a:r>
            <a:r>
              <a:rPr lang="en-US" altLang="en-US" sz="7200" baseline="30000" dirty="0">
                <a:solidFill>
                  <a:srgbClr val="DD0111"/>
                </a:solidFill>
                <a:cs typeface="Times New Roman" panose="02020603050405020304" pitchFamily="18" charset="0"/>
              </a:rPr>
              <a:t>4</a:t>
            </a:r>
            <a:r>
              <a:rPr lang="en-US" altLang="en-US" sz="7200" dirty="0">
                <a:solidFill>
                  <a:srgbClr val="DD0111"/>
                </a:solidFill>
                <a:cs typeface="Times New Roman" panose="02020603050405020304" pitchFamily="18" charset="0"/>
              </a:rPr>
              <a:t> + 100</a:t>
            </a:r>
            <a:r>
              <a:rPr lang="en-US" altLang="en-US" sz="7200" i="1" dirty="0">
                <a:solidFill>
                  <a:srgbClr val="DD0111"/>
                </a:solidFill>
                <a:cs typeface="Times New Roman" panose="02020603050405020304" pitchFamily="18" charset="0"/>
              </a:rPr>
              <a:t>n</a:t>
            </a:r>
            <a:r>
              <a:rPr lang="en-US" altLang="en-US" sz="7200" baseline="30000" dirty="0">
                <a:solidFill>
                  <a:srgbClr val="DD0111"/>
                </a:solidFill>
                <a:cs typeface="Times New Roman" panose="02020603050405020304" pitchFamily="18" charset="0"/>
              </a:rPr>
              <a:t>2</a:t>
            </a:r>
            <a:r>
              <a:rPr lang="en-US" altLang="en-US" sz="7200" dirty="0">
                <a:solidFill>
                  <a:srgbClr val="DD0111"/>
                </a:solidFill>
                <a:cs typeface="Times New Roman" panose="02020603050405020304" pitchFamily="18" charset="0"/>
              </a:rPr>
              <a:t> + 10</a:t>
            </a:r>
            <a:r>
              <a:rPr lang="en-US" altLang="en-US" sz="7200" i="1" dirty="0">
                <a:solidFill>
                  <a:srgbClr val="DD0111"/>
                </a:solidFill>
                <a:cs typeface="Times New Roman" panose="02020603050405020304" pitchFamily="18" charset="0"/>
              </a:rPr>
              <a:t>n</a:t>
            </a:r>
            <a:r>
              <a:rPr lang="en-US" altLang="en-US" sz="7200" dirty="0">
                <a:solidFill>
                  <a:srgbClr val="DD0111"/>
                </a:solidFill>
                <a:cs typeface="Times New Roman" panose="02020603050405020304" pitchFamily="18" charset="0"/>
              </a:rPr>
              <a:t> + 50</a:t>
            </a:r>
            <a:r>
              <a:rPr lang="en-US" altLang="en-US" sz="7200" dirty="0">
                <a:cs typeface="Times New Roman" panose="02020603050405020304" pitchFamily="18" charset="0"/>
              </a:rPr>
              <a:t> and </a:t>
            </a:r>
            <a:r>
              <a:rPr lang="en-US" altLang="en-US" sz="7200" i="1" dirty="0">
                <a:solidFill>
                  <a:srgbClr val="DD0111"/>
                </a:solidFill>
                <a:cs typeface="Times New Roman" panose="02020603050405020304" pitchFamily="18" charset="0"/>
              </a:rPr>
              <a:t>n</a:t>
            </a:r>
            <a:r>
              <a:rPr lang="en-US" altLang="en-US" sz="7200" baseline="30000" dirty="0">
                <a:solidFill>
                  <a:srgbClr val="DD0111"/>
                </a:solidFill>
                <a:cs typeface="Times New Roman" panose="02020603050405020304" pitchFamily="18" charset="0"/>
              </a:rPr>
              <a:t>4</a:t>
            </a:r>
            <a:r>
              <a:rPr lang="en-US" altLang="en-US" sz="7200" dirty="0">
                <a:ea typeface="MS Mincho" panose="02020609040205080304" pitchFamily="49" charset="-128"/>
              </a:rPr>
              <a:t> have the </a:t>
            </a:r>
            <a:r>
              <a:rPr lang="en-US" altLang="en-US" sz="9600" b="1" dirty="0">
                <a:solidFill>
                  <a:srgbClr val="7030A0"/>
                </a:solidFill>
                <a:ea typeface="MS Mincho" panose="02020609040205080304" pitchFamily="49" charset="-128"/>
              </a:rPr>
              <a:t>same  rate of growth</a:t>
            </a:r>
            <a:r>
              <a:rPr lang="en-US" altLang="en-US" sz="9600" b="1" u="sng" dirty="0">
                <a:solidFill>
                  <a:srgbClr val="7030A0"/>
                </a:solidFill>
              </a:rPr>
              <a:t> </a:t>
            </a:r>
            <a:endParaRPr lang="en-US" altLang="en-US" sz="9600" b="1" dirty="0">
              <a:solidFill>
                <a:srgbClr val="7030A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sz="7200" dirty="0">
                <a:solidFill>
                  <a:srgbClr val="FF0000"/>
                </a:solidFill>
              </a:rPr>
              <a:t>Examples:</a:t>
            </a:r>
          </a:p>
          <a:p>
            <a:pPr marL="0" indent="0">
              <a:buNone/>
            </a:pPr>
            <a:r>
              <a:rPr lang="en-US" sz="7200" dirty="0">
                <a:solidFill>
                  <a:srgbClr val="00B050"/>
                </a:solidFill>
              </a:rPr>
              <a:t>T(A)= n</a:t>
            </a:r>
            <a:r>
              <a:rPr lang="en-US" sz="7200" baseline="30000" dirty="0">
                <a:solidFill>
                  <a:srgbClr val="00B050"/>
                </a:solidFill>
              </a:rPr>
              <a:t>3	</a:t>
            </a:r>
          </a:p>
          <a:p>
            <a:pPr marL="0" indent="0">
              <a:buNone/>
            </a:pPr>
            <a:r>
              <a:rPr lang="en-US" sz="7200" dirty="0">
                <a:solidFill>
                  <a:srgbClr val="00B050"/>
                </a:solidFill>
              </a:rPr>
              <a:t>T(B) = 5000n</a:t>
            </a:r>
            <a:r>
              <a:rPr lang="en-US" sz="7200" baseline="30000" dirty="0">
                <a:solidFill>
                  <a:srgbClr val="00B050"/>
                </a:solidFill>
              </a:rPr>
              <a:t>2 </a:t>
            </a:r>
            <a:r>
              <a:rPr lang="en-US" sz="7200" baseline="30000" dirty="0"/>
              <a:t>	</a:t>
            </a:r>
          </a:p>
          <a:p>
            <a:pPr marL="0" indent="0">
              <a:buNone/>
            </a:pPr>
            <a:r>
              <a:rPr lang="en-US" sz="7200" dirty="0"/>
              <a:t>For small value of n T(A) is smaller than T(B)</a:t>
            </a:r>
          </a:p>
          <a:p>
            <a:pPr marL="0" indent="0">
              <a:buNone/>
            </a:pPr>
            <a:r>
              <a:rPr lang="en-US" sz="7200" b="1" dirty="0"/>
              <a:t>But at n=5000 T(A) overtakes T(B).</a:t>
            </a:r>
          </a:p>
          <a:p>
            <a:pPr marL="0" indent="0">
              <a:buNone/>
            </a:pPr>
            <a:endParaRPr lang="en-US" b="1" dirty="0"/>
          </a:p>
          <a:p>
            <a:pPr marL="0" indent="0">
              <a:buNone/>
            </a:pPr>
            <a:r>
              <a:rPr lang="en-US" altLang="en-US" sz="9600" b="1" i="1" dirty="0">
                <a:solidFill>
                  <a:srgbClr val="DD0111"/>
                </a:solidFill>
                <a:cs typeface="Times New Roman" panose="02020603050405020304" pitchFamily="18" charset="0"/>
              </a:rPr>
              <a:t>Compare n! and </a:t>
            </a:r>
            <a:r>
              <a:rPr lang="en-US" altLang="en-US" sz="9600" b="1" i="1" dirty="0" err="1">
                <a:solidFill>
                  <a:srgbClr val="DD0111"/>
                </a:solidFill>
                <a:cs typeface="Times New Roman" panose="02020603050405020304" pitchFamily="18" charset="0"/>
              </a:rPr>
              <a:t>n</a:t>
            </a:r>
            <a:r>
              <a:rPr lang="en-US" altLang="en-US" sz="9600" b="1" i="1" baseline="30000" dirty="0" err="1">
                <a:solidFill>
                  <a:srgbClr val="DD0111"/>
                </a:solidFill>
                <a:cs typeface="Times New Roman" panose="02020603050405020304" pitchFamily="18" charset="0"/>
              </a:rPr>
              <a:t>n</a:t>
            </a:r>
            <a:r>
              <a:rPr lang="en-US" altLang="en-US" sz="9600" b="1" i="1" baseline="30000" dirty="0">
                <a:solidFill>
                  <a:srgbClr val="DD0111"/>
                </a:solidFill>
                <a:cs typeface="Times New Roman" panose="02020603050405020304" pitchFamily="18" charset="0"/>
              </a:rPr>
              <a:t>      </a:t>
            </a:r>
            <a:endParaRPr lang="en-US" sz="11200" b="1" baseline="30000" dirty="0">
              <a:solidFill>
                <a:srgbClr val="FFC000"/>
              </a:solidFill>
            </a:endParaRPr>
          </a:p>
          <a:p>
            <a:pPr marL="0" indent="0">
              <a:buNone/>
            </a:pPr>
            <a:endParaRPr lang="en-US" baseline="30000" dirty="0">
              <a:solidFill>
                <a:srgbClr val="FFC000"/>
              </a:solidFill>
            </a:endParaRPr>
          </a:p>
          <a:p>
            <a:pPr marL="0" indent="0">
              <a:buNone/>
            </a:pPr>
            <a:r>
              <a:rPr lang="en-US" baseline="30000" dirty="0"/>
              <a:t>	</a:t>
            </a:r>
          </a:p>
          <a:p>
            <a:pPr marL="0" indent="0">
              <a:buNone/>
            </a:pPr>
            <a:endParaRPr lang="en-IN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84FDC84-B066-4C6F-A4BB-2C312C5F43F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505200" y="6284167"/>
            <a:ext cx="1905000" cy="457200"/>
          </a:xfrm>
        </p:spPr>
        <p:txBody>
          <a:bodyPr/>
          <a:lstStyle/>
          <a:p>
            <a:r>
              <a:rPr lang="en-US" altLang="en-US" dirty="0"/>
              <a:t>Analysis of Algorithms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8EC0AD4-B5E9-41FE-A46F-AC06E757E9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BD3F2D-1B47-4871-8448-CF31A4F867CD}" type="slidenum">
              <a:rPr lang="en-US" altLang="en-US" smtClean="0"/>
              <a:pPr/>
              <a:t>6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91282116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3296852-C9FD-4C0C-8305-12DDC1FFC6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C643BA-ACA1-44BF-9071-763295A35907}" type="datetime4">
              <a:rPr lang="en-US" smtClean="0"/>
              <a:t>April 3, 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53212E7-D18B-4BA0-9DE6-2F845EF93F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Computer Science &amp; Engineering, VNRVJIET, Hyderabad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C2CD248-E20F-491B-A314-6E5AAC7219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FA3F07-B4E9-4FEB-BC07-B9713C186F28}" type="slidenum">
              <a:rPr lang="en-US" smtClean="0"/>
              <a:pPr/>
              <a:t>7</a:t>
            </a:fld>
            <a:endParaRPr lang="en-US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E508AB54-2C1D-DC9A-3222-922B9C76E1F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52400"/>
            <a:ext cx="7924800" cy="5715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076605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3296852-C9FD-4C0C-8305-12DDC1FFC6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C643BA-ACA1-44BF-9071-763295A35907}" type="datetime4">
              <a:rPr lang="en-US" smtClean="0"/>
              <a:t>April 3, 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53212E7-D18B-4BA0-9DE6-2F845EF93F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Computer Science &amp; Engineering, VNRVJIET, Hyderabad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C2CD248-E20F-491B-A314-6E5AAC7219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FA3F07-B4E9-4FEB-BC07-B9713C186F28}" type="slidenum">
              <a:rPr lang="en-US" smtClean="0"/>
              <a:pPr/>
              <a:t>8</a:t>
            </a:fld>
            <a:endParaRPr lang="en-US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E5E848E2-E4D2-F973-6DD8-FC21F10BBE6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69506"/>
            <a:ext cx="7848600" cy="61819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731467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3" name="Rectangle 2">
            <a:extLst>
              <a:ext uri="{FF2B5EF4-FFF2-40B4-BE49-F238E27FC236}">
                <a16:creationId xmlns:a16="http://schemas.microsoft.com/office/drawing/2014/main" id="{D32461FA-E6C4-4778-BBC0-9B32815FCDB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-1143000" y="152400"/>
            <a:ext cx="5548312" cy="1143000"/>
          </a:xfrm>
        </p:spPr>
        <p:txBody>
          <a:bodyPr/>
          <a:lstStyle/>
          <a:p>
            <a:pPr algn="l" eaLnBrk="1" hangingPunct="1">
              <a:defRPr/>
            </a:pPr>
            <a:r>
              <a:rPr lang="tr-TR" sz="3600" b="1" dirty="0"/>
              <a:t>              </a:t>
            </a:r>
            <a:r>
              <a:rPr lang="tr-TR" sz="3600" dirty="0">
                <a:solidFill>
                  <a:srgbClr val="FF0000"/>
                </a:solidFill>
              </a:rPr>
              <a:t>Asymptotic Notation</a:t>
            </a:r>
            <a:endParaRPr lang="en-US" sz="3600" dirty="0">
              <a:solidFill>
                <a:srgbClr val="FF0000"/>
              </a:solidFill>
            </a:endParaRPr>
          </a:p>
        </p:txBody>
      </p:sp>
      <p:sp>
        <p:nvSpPr>
          <p:cNvPr id="5124" name="Rectangle 3">
            <a:extLst>
              <a:ext uri="{FF2B5EF4-FFF2-40B4-BE49-F238E27FC236}">
                <a16:creationId xmlns:a16="http://schemas.microsoft.com/office/drawing/2014/main" id="{54C7E6EF-17A7-467F-8589-F1AD4D099162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9750" y="1989138"/>
            <a:ext cx="8064500" cy="201285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 eaLnBrk="0" hangingPunct="0">
              <a:tabLst>
                <a:tab pos="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tabLst>
                <a:tab pos="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tabLst>
                <a:tab pos="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tabLst>
                <a:tab pos="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tabLst>
                <a:tab pos="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342900" lvl="4" indent="-342900" algn="just" eaLnBrk="1" hangingPunct="1"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en-US" altLang="en-US" sz="2400" dirty="0"/>
              <a:t>The notations used for describing the asymptotic running time of an Algorithm are called </a:t>
            </a:r>
            <a:r>
              <a:rPr lang="en-US" altLang="en-US" sz="2400" dirty="0">
                <a:solidFill>
                  <a:srgbClr val="0070C0"/>
                </a:solidFill>
              </a:rPr>
              <a:t>Asymptotic Notations</a:t>
            </a:r>
          </a:p>
          <a:p>
            <a:pPr marL="342900" lvl="4" indent="-342900" algn="just" eaLnBrk="1" hangingPunct="1"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en-US" altLang="en-US" sz="2400" dirty="0"/>
              <a:t>They are </a:t>
            </a:r>
            <a:r>
              <a:rPr lang="tr-TR" altLang="en-US" sz="2400" dirty="0"/>
              <a:t>defined in terms of functions whose domains are the set of natural numbers</a:t>
            </a:r>
            <a:endParaRPr lang="en-US" altLang="en-US" sz="2400" dirty="0"/>
          </a:p>
        </p:txBody>
      </p:sp>
      <p:graphicFrame>
        <p:nvGraphicFramePr>
          <p:cNvPr id="2" name="Object 4">
            <a:extLst>
              <a:ext uri="{FF2B5EF4-FFF2-40B4-BE49-F238E27FC236}">
                <a16:creationId xmlns:a16="http://schemas.microsoft.com/office/drawing/2014/main" id="{827738BA-C37F-0717-CA75-179A506317B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076698"/>
              </p:ext>
            </p:extLst>
          </p:nvPr>
        </p:nvGraphicFramePr>
        <p:xfrm>
          <a:off x="2971800" y="4001997"/>
          <a:ext cx="2576512" cy="546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1256755" imgH="266584" progId="Equation.3">
                  <p:embed/>
                </p:oleObj>
              </mc:Choice>
              <mc:Fallback>
                <p:oleObj name="Equation" r:id="rId3" imgW="1256755" imgH="266584" progId="Equation.3">
                  <p:embed/>
                  <p:pic>
                    <p:nvPicPr>
                      <p:cNvPr id="5122" name="Object 4">
                        <a:extLst>
                          <a:ext uri="{FF2B5EF4-FFF2-40B4-BE49-F238E27FC236}">
                            <a16:creationId xmlns:a16="http://schemas.microsoft.com/office/drawing/2014/main" id="{EB79AEE4-9A06-4253-B9C0-2CD642178AD1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71800" y="4001997"/>
                        <a:ext cx="2576512" cy="546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96D9D-2E92-0EC5-F456-389F788145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457200" y="304800"/>
            <a:ext cx="7848600" cy="868362"/>
          </a:xfrm>
        </p:spPr>
        <p:txBody>
          <a:bodyPr>
            <a:normAutofit fontScale="90000"/>
          </a:bodyPr>
          <a:lstStyle/>
          <a:p>
            <a:r>
              <a:rPr lang="en-US" dirty="0">
                <a:solidFill>
                  <a:srgbClr val="FF0000"/>
                </a:solidFill>
              </a:rPr>
              <a:t>Informal definitions of Asymptotic Notations.</a:t>
            </a:r>
            <a:endParaRPr lang="en-IN" dirty="0">
              <a:solidFill>
                <a:srgbClr val="FF0000"/>
              </a:solidFill>
            </a:endParaRP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5578E54-7D66-3CAE-B58B-CD4EE4205F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9C1254-C0BA-4195-834D-EBBB9ACEF963}" type="datetime4">
              <a:rPr lang="en-US" smtClean="0"/>
              <a:t>April 3, 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F2BDA82-33EE-127F-1445-A8A8633C53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Computer Science &amp; Engineering, VNRVJIET, Hyderabad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EE8C06D-0806-DFE7-4F76-7C05243B3B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FA3F07-B4E9-4FEB-BC07-B9713C186F28}" type="slidenum">
              <a:rPr lang="en-US" smtClean="0"/>
              <a:t>10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52FD621-4C2C-B3FB-663E-DAC278A98BF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41380"/>
            <a:ext cx="7959026" cy="59546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578411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96D9D-2E92-0EC5-F456-389F788145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457200" y="304800"/>
            <a:ext cx="7848600" cy="868362"/>
          </a:xfrm>
        </p:spPr>
        <p:txBody>
          <a:bodyPr>
            <a:normAutofit fontScale="90000"/>
          </a:bodyPr>
          <a:lstStyle/>
          <a:p>
            <a:r>
              <a:rPr lang="en-US" dirty="0">
                <a:solidFill>
                  <a:srgbClr val="FF0000"/>
                </a:solidFill>
              </a:rPr>
              <a:t>Informal definitions of Asymptotic Notations.</a:t>
            </a:r>
            <a:endParaRPr lang="en-IN" dirty="0">
              <a:solidFill>
                <a:srgbClr val="FF0000"/>
              </a:solidFill>
            </a:endParaRP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5578E54-7D66-3CAE-B58B-CD4EE4205F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9C1254-C0BA-4195-834D-EBBB9ACEF963}" type="datetime4">
              <a:rPr lang="en-US" smtClean="0"/>
              <a:t>April 3, 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F2BDA82-33EE-127F-1445-A8A8633C53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Computer Science &amp; Engineering, VNRVJIET, Hyderabad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EE8C06D-0806-DFE7-4F76-7C05243B3B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FA3F07-B4E9-4FEB-BC07-B9713C186F28}" type="slidenum">
              <a:rPr lang="en-US" smtClean="0"/>
              <a:t>11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D1C57EA-1063-CE35-8AC7-64343AC6B3C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52400"/>
            <a:ext cx="7920135" cy="6095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485022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3FDE63-9A31-25CC-CEFF-7F6DA1ABBF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>
                <a:solidFill>
                  <a:srgbClr val="FF0000"/>
                </a:solidFill>
              </a:rPr>
              <a:t>Example</a:t>
            </a:r>
            <a:endParaRPr lang="en-IN" dirty="0">
              <a:solidFill>
                <a:srgbClr val="FF0000"/>
              </a:solidFill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592EDCA-1AAD-7EAA-00CE-7B8D2A133F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C643BA-ACA1-44BF-9071-763295A35907}" type="datetime4">
              <a:rPr lang="en-US" smtClean="0"/>
              <a:t>April 3, 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772D2B4-0C51-C50E-5B00-50D9BAB8A9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Computer Science &amp; Engineering, VNRVJIET, Hyderabad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F19CF58-AC30-EBEA-F730-C74503293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FA3F07-B4E9-4FEB-BC07-B9713C186F28}" type="slidenum">
              <a:rPr lang="en-US" smtClean="0"/>
              <a:pPr/>
              <a:t>12</a:t>
            </a:fld>
            <a:endParaRPr lang="en-US" dirty="0"/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5E8A18DD-A80E-28E2-52DA-0FC557A08B1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152400"/>
            <a:ext cx="7696200" cy="61770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702689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8E2B1F7C-60E2-4E06-A3F6-FAF87F511D53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altLang="en-US"/>
              <a:t>Comp 122</a:t>
            </a:r>
          </a:p>
        </p:txBody>
      </p:sp>
      <p:sp>
        <p:nvSpPr>
          <p:cNvPr id="487426" name="Rectangle 2">
            <a:extLst>
              <a:ext uri="{FF2B5EF4-FFF2-40B4-BE49-F238E27FC236}">
                <a16:creationId xmlns:a16="http://schemas.microsoft.com/office/drawing/2014/main" id="{42371BC0-3EAE-4C8A-A322-247ABE1473C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52400" y="350838"/>
            <a:ext cx="3962400" cy="868362"/>
          </a:xfrm>
        </p:spPr>
        <p:txBody>
          <a:bodyPr>
            <a:normAutofit fontScale="90000"/>
          </a:bodyPr>
          <a:lstStyle/>
          <a:p>
            <a:r>
              <a:rPr lang="en-US" altLang="en-US" i="1" dirty="0">
                <a:solidFill>
                  <a:srgbClr val="FF0000"/>
                </a:solidFill>
                <a:sym typeface="Symbol" panose="05050102010706020507" pitchFamily="18" charset="2"/>
              </a:rPr>
              <a:t>O</a:t>
            </a:r>
            <a:r>
              <a:rPr lang="en-US" altLang="en-US" dirty="0">
                <a:solidFill>
                  <a:srgbClr val="FF0000"/>
                </a:solidFill>
                <a:sym typeface="Symbol" panose="05050102010706020507" pitchFamily="18" charset="2"/>
              </a:rPr>
              <a:t>-notation(Big-oh )</a:t>
            </a:r>
          </a:p>
        </p:txBody>
      </p:sp>
      <p:sp>
        <p:nvSpPr>
          <p:cNvPr id="487428" name="Rectangle 4">
            <a:extLst>
              <a:ext uri="{FF2B5EF4-FFF2-40B4-BE49-F238E27FC236}">
                <a16:creationId xmlns:a16="http://schemas.microsoft.com/office/drawing/2014/main" id="{A5A9FB1E-D63D-44B5-AC0E-8856D258F58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0350" y="2020046"/>
            <a:ext cx="4870450" cy="1898650"/>
          </a:xfrm>
          <a:prstGeom prst="rect">
            <a:avLst/>
          </a:prstGeom>
          <a:solidFill>
            <a:srgbClr val="CCECFF"/>
          </a:solidFill>
          <a:ln w="19050" cap="sq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Aft>
                <a:spcPct val="20000"/>
              </a:spcAft>
              <a:buClr>
                <a:srgbClr val="FF6600"/>
              </a:buClr>
              <a:buSzPct val="80000"/>
              <a:buFont typeface="Wingdings" panose="05000000000000000000" pitchFamily="2" charset="2"/>
              <a:buNone/>
            </a:pPr>
            <a:r>
              <a:rPr kumimoji="1" lang="en-US" altLang="en-US" sz="2600" b="1" i="1" dirty="0">
                <a:solidFill>
                  <a:schemeClr val="accent1"/>
                </a:solidFill>
                <a:sym typeface="Symbol" panose="05050102010706020507" pitchFamily="18" charset="2"/>
              </a:rPr>
              <a:t>O</a:t>
            </a:r>
            <a:r>
              <a:rPr kumimoji="1" lang="en-US" altLang="en-US" sz="2600" b="1" dirty="0">
                <a:solidFill>
                  <a:schemeClr val="accent1"/>
                </a:solidFill>
              </a:rPr>
              <a:t>(</a:t>
            </a:r>
            <a:r>
              <a:rPr kumimoji="1" lang="en-US" altLang="en-US" sz="2600" b="1" i="1" dirty="0">
                <a:solidFill>
                  <a:schemeClr val="accent1"/>
                </a:solidFill>
              </a:rPr>
              <a:t>g</a:t>
            </a:r>
            <a:r>
              <a:rPr kumimoji="1" lang="en-US" altLang="en-US" sz="2600" b="1" dirty="0">
                <a:solidFill>
                  <a:schemeClr val="accent1"/>
                </a:solidFill>
              </a:rPr>
              <a:t>(</a:t>
            </a:r>
            <a:r>
              <a:rPr kumimoji="1" lang="en-US" altLang="en-US" sz="2600" b="1" i="1" dirty="0">
                <a:solidFill>
                  <a:schemeClr val="accent1"/>
                </a:solidFill>
              </a:rPr>
              <a:t>n</a:t>
            </a:r>
            <a:r>
              <a:rPr kumimoji="1" lang="en-US" altLang="en-US" sz="2600" b="1" dirty="0">
                <a:solidFill>
                  <a:schemeClr val="accent1"/>
                </a:solidFill>
              </a:rPr>
              <a:t>)) =</a:t>
            </a:r>
            <a:r>
              <a:rPr kumimoji="1" lang="en-US" altLang="en-US" sz="2600" b="1" dirty="0">
                <a:solidFill>
                  <a:schemeClr val="hlink"/>
                </a:solidFill>
              </a:rPr>
              <a:t> </a:t>
            </a:r>
            <a:r>
              <a:rPr kumimoji="1" lang="en-US" altLang="en-US" sz="3000" b="1" dirty="0">
                <a:solidFill>
                  <a:schemeClr val="hlink"/>
                </a:solidFill>
              </a:rPr>
              <a:t>{</a:t>
            </a:r>
            <a:r>
              <a:rPr kumimoji="1" lang="en-US" altLang="en-US" sz="2600" b="1" i="1" dirty="0">
                <a:solidFill>
                  <a:schemeClr val="hlink"/>
                </a:solidFill>
              </a:rPr>
              <a:t>f</a:t>
            </a:r>
            <a:r>
              <a:rPr kumimoji="1" lang="en-US" altLang="en-US" sz="2600" b="1" dirty="0">
                <a:solidFill>
                  <a:schemeClr val="hlink"/>
                </a:solidFill>
              </a:rPr>
              <a:t>(</a:t>
            </a:r>
            <a:r>
              <a:rPr kumimoji="1" lang="en-US" altLang="en-US" sz="2600" b="1" i="1" dirty="0">
                <a:solidFill>
                  <a:schemeClr val="hlink"/>
                </a:solidFill>
              </a:rPr>
              <a:t>n</a:t>
            </a:r>
            <a:r>
              <a:rPr kumimoji="1" lang="en-US" altLang="en-US" sz="2600" b="1" dirty="0">
                <a:solidFill>
                  <a:schemeClr val="hlink"/>
                </a:solidFill>
              </a:rPr>
              <a:t>) : </a:t>
            </a:r>
            <a:br>
              <a:rPr kumimoji="1" lang="en-US" altLang="en-US" sz="2600" b="1" dirty="0">
                <a:solidFill>
                  <a:schemeClr val="hlink"/>
                </a:solidFill>
              </a:rPr>
            </a:br>
            <a:r>
              <a:rPr kumimoji="1" lang="en-US" altLang="en-US" sz="2600" b="1" dirty="0">
                <a:solidFill>
                  <a:srgbClr val="FF3300"/>
                </a:solidFill>
                <a:sym typeface="Symbol" panose="05050102010706020507" pitchFamily="18" charset="2"/>
              </a:rPr>
              <a:t> </a:t>
            </a:r>
            <a:r>
              <a:rPr kumimoji="1" lang="en-US" altLang="en-US" sz="2600" b="1" dirty="0">
                <a:solidFill>
                  <a:srgbClr val="FF3300"/>
                </a:solidFill>
              </a:rPr>
              <a:t>positive constants </a:t>
            </a:r>
            <a:r>
              <a:rPr kumimoji="1" lang="en-US" altLang="en-US" sz="2600" b="1" i="1" dirty="0">
                <a:solidFill>
                  <a:srgbClr val="FF3300"/>
                </a:solidFill>
              </a:rPr>
              <a:t>c</a:t>
            </a:r>
            <a:r>
              <a:rPr kumimoji="1" lang="en-US" altLang="en-US" sz="2600" b="1" dirty="0">
                <a:solidFill>
                  <a:srgbClr val="FF3300"/>
                </a:solidFill>
              </a:rPr>
              <a:t> and </a:t>
            </a:r>
            <a:r>
              <a:rPr kumimoji="1" lang="en-US" altLang="en-US" sz="2600" b="1" i="1" dirty="0">
                <a:solidFill>
                  <a:srgbClr val="FF3300"/>
                </a:solidFill>
              </a:rPr>
              <a:t>n</a:t>
            </a:r>
            <a:r>
              <a:rPr kumimoji="1" lang="en-US" altLang="en-US" sz="2600" b="1" baseline="-25000" dirty="0">
                <a:solidFill>
                  <a:srgbClr val="FF3300"/>
                </a:solidFill>
              </a:rPr>
              <a:t>0,</a:t>
            </a:r>
            <a:r>
              <a:rPr kumimoji="1" lang="en-US" altLang="en-US" sz="2600" b="1" dirty="0">
                <a:solidFill>
                  <a:schemeClr val="hlink"/>
                </a:solidFill>
              </a:rPr>
              <a:t> </a:t>
            </a:r>
            <a:r>
              <a:rPr kumimoji="1" lang="en-US" altLang="en-US" sz="2600" b="1" dirty="0">
                <a:solidFill>
                  <a:srgbClr val="CC0000"/>
                </a:solidFill>
              </a:rPr>
              <a:t>such that </a:t>
            </a:r>
            <a:r>
              <a:rPr kumimoji="1" lang="en-US" altLang="en-US" b="1" dirty="0">
                <a:solidFill>
                  <a:srgbClr val="CC0000"/>
                </a:solidFill>
                <a:sym typeface="Symbol" panose="05050102010706020507" pitchFamily="18" charset="2"/>
              </a:rPr>
              <a:t></a:t>
            </a:r>
            <a:r>
              <a:rPr kumimoji="1" lang="en-US" altLang="en-US" b="1" i="1" dirty="0">
                <a:solidFill>
                  <a:srgbClr val="CC0000"/>
                </a:solidFill>
              </a:rPr>
              <a:t>n </a:t>
            </a:r>
            <a:r>
              <a:rPr kumimoji="1" lang="en-US" altLang="en-US" b="1" dirty="0">
                <a:solidFill>
                  <a:srgbClr val="CC0000"/>
                </a:solidFill>
                <a:sym typeface="Symbol" panose="05050102010706020507" pitchFamily="18" charset="2"/>
              </a:rPr>
              <a:t></a:t>
            </a:r>
            <a:r>
              <a:rPr kumimoji="1" lang="en-US" altLang="en-US" b="1" i="1" dirty="0">
                <a:solidFill>
                  <a:srgbClr val="CC0000"/>
                </a:solidFill>
              </a:rPr>
              <a:t>  n</a:t>
            </a:r>
            <a:r>
              <a:rPr kumimoji="1" lang="en-US" altLang="en-US" b="1" baseline="-25000" dirty="0">
                <a:solidFill>
                  <a:srgbClr val="CC0000"/>
                </a:solidFill>
              </a:rPr>
              <a:t>0</a:t>
            </a:r>
            <a:r>
              <a:rPr kumimoji="1" lang="en-US" altLang="en-US" dirty="0">
                <a:solidFill>
                  <a:srgbClr val="CC0000"/>
                </a:solidFill>
              </a:rPr>
              <a:t>,</a:t>
            </a:r>
            <a:endParaRPr kumimoji="1" lang="en-US" altLang="en-US" sz="2600" b="1" dirty="0">
              <a:solidFill>
                <a:srgbClr val="CC0000"/>
              </a:solidFill>
            </a:endParaRPr>
          </a:p>
          <a:p>
            <a:pPr>
              <a:spcAft>
                <a:spcPct val="20000"/>
              </a:spcAft>
              <a:buClr>
                <a:srgbClr val="FF6600"/>
              </a:buClr>
              <a:buSzPct val="80000"/>
              <a:buFont typeface="Wingdings" panose="05000000000000000000" pitchFamily="2" charset="2"/>
              <a:buNone/>
            </a:pPr>
            <a:r>
              <a:rPr kumimoji="1" lang="en-US" altLang="en-US" sz="2200" b="1" dirty="0">
                <a:solidFill>
                  <a:schemeClr val="hlink"/>
                </a:solidFill>
              </a:rPr>
              <a:t>we have</a:t>
            </a:r>
            <a:r>
              <a:rPr kumimoji="1" lang="en-US" altLang="en-US" sz="2600" b="1" dirty="0">
                <a:solidFill>
                  <a:schemeClr val="hlink"/>
                </a:solidFill>
              </a:rPr>
              <a:t> 0 </a:t>
            </a:r>
            <a:r>
              <a:rPr kumimoji="1" lang="en-US" altLang="en-US" sz="2600" b="1" dirty="0">
                <a:solidFill>
                  <a:schemeClr val="hlink"/>
                </a:solidFill>
                <a:sym typeface="Symbol" panose="05050102010706020507" pitchFamily="18" charset="2"/>
              </a:rPr>
              <a:t></a:t>
            </a:r>
            <a:r>
              <a:rPr kumimoji="1" lang="en-US" altLang="en-US" sz="2600" b="1" dirty="0">
                <a:solidFill>
                  <a:schemeClr val="hlink"/>
                </a:solidFill>
              </a:rPr>
              <a:t>  </a:t>
            </a:r>
            <a:r>
              <a:rPr kumimoji="1" lang="en-US" altLang="en-US" sz="2600" b="1" i="1" dirty="0">
                <a:solidFill>
                  <a:schemeClr val="hlink"/>
                </a:solidFill>
              </a:rPr>
              <a:t>f</a:t>
            </a:r>
            <a:r>
              <a:rPr kumimoji="1" lang="en-US" altLang="en-US" sz="2600" b="1" dirty="0">
                <a:solidFill>
                  <a:schemeClr val="hlink"/>
                </a:solidFill>
              </a:rPr>
              <a:t>(</a:t>
            </a:r>
            <a:r>
              <a:rPr kumimoji="1" lang="en-US" altLang="en-US" sz="2600" b="1" i="1" dirty="0">
                <a:solidFill>
                  <a:schemeClr val="hlink"/>
                </a:solidFill>
              </a:rPr>
              <a:t>n</a:t>
            </a:r>
            <a:r>
              <a:rPr kumimoji="1" lang="en-US" altLang="en-US" sz="2600" b="1" dirty="0">
                <a:solidFill>
                  <a:schemeClr val="hlink"/>
                </a:solidFill>
              </a:rPr>
              <a:t>)</a:t>
            </a:r>
            <a:r>
              <a:rPr kumimoji="1" lang="en-US" altLang="en-US" sz="2600" b="1" i="1" dirty="0">
                <a:solidFill>
                  <a:schemeClr val="hlink"/>
                </a:solidFill>
              </a:rPr>
              <a:t> </a:t>
            </a:r>
            <a:r>
              <a:rPr kumimoji="1" lang="en-US" altLang="en-US" sz="2600" b="1" dirty="0">
                <a:solidFill>
                  <a:schemeClr val="hlink"/>
                </a:solidFill>
                <a:sym typeface="Symbol" panose="05050102010706020507" pitchFamily="18" charset="2"/>
              </a:rPr>
              <a:t></a:t>
            </a:r>
            <a:r>
              <a:rPr kumimoji="1" lang="en-US" altLang="en-US" sz="2600" b="1" dirty="0">
                <a:solidFill>
                  <a:schemeClr val="hlink"/>
                </a:solidFill>
              </a:rPr>
              <a:t> c</a:t>
            </a:r>
            <a:r>
              <a:rPr kumimoji="1" lang="en-US" altLang="en-US" sz="2600" b="1" i="1" dirty="0">
                <a:solidFill>
                  <a:schemeClr val="hlink"/>
                </a:solidFill>
              </a:rPr>
              <a:t>g</a:t>
            </a:r>
            <a:r>
              <a:rPr kumimoji="1" lang="en-US" altLang="en-US" sz="2600" b="1" dirty="0">
                <a:solidFill>
                  <a:schemeClr val="hlink"/>
                </a:solidFill>
              </a:rPr>
              <a:t>(</a:t>
            </a:r>
            <a:r>
              <a:rPr kumimoji="1" lang="en-US" altLang="en-US" sz="2600" b="1" i="1" dirty="0">
                <a:solidFill>
                  <a:schemeClr val="hlink"/>
                </a:solidFill>
              </a:rPr>
              <a:t>n</a:t>
            </a:r>
            <a:r>
              <a:rPr kumimoji="1" lang="en-US" altLang="en-US" sz="2600" b="1" dirty="0">
                <a:solidFill>
                  <a:schemeClr val="hlink"/>
                </a:solidFill>
              </a:rPr>
              <a:t>) </a:t>
            </a:r>
            <a:r>
              <a:rPr kumimoji="1" lang="en-US" altLang="en-US" sz="3000" b="1" dirty="0">
                <a:solidFill>
                  <a:schemeClr val="hlink"/>
                </a:solidFill>
              </a:rPr>
              <a:t>}</a:t>
            </a:r>
          </a:p>
        </p:txBody>
      </p:sp>
      <p:sp>
        <p:nvSpPr>
          <p:cNvPr id="487429" name="Rectangle 5">
            <a:extLst>
              <a:ext uri="{FF2B5EF4-FFF2-40B4-BE49-F238E27FC236}">
                <a16:creationId xmlns:a16="http://schemas.microsoft.com/office/drawing/2014/main" id="{5974F2C0-3AD9-4EF5-9418-32F7504ADFD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0350" y="1243897"/>
            <a:ext cx="5197475" cy="7078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8575" cap="sq">
                <a:solidFill>
                  <a:schemeClr val="bg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Aft>
                <a:spcPct val="20000"/>
              </a:spcAft>
              <a:buClr>
                <a:srgbClr val="FF6600"/>
              </a:buClr>
              <a:buSzPct val="80000"/>
              <a:buFont typeface="Wingdings" panose="05000000000000000000" pitchFamily="2" charset="2"/>
              <a:buNone/>
            </a:pPr>
            <a:r>
              <a:rPr kumimoji="1" lang="en-US" altLang="en-US" sz="2000" dirty="0"/>
              <a:t>For function </a:t>
            </a:r>
            <a:r>
              <a:rPr kumimoji="1" lang="en-US" altLang="en-US" sz="2000" i="1" dirty="0"/>
              <a:t>g</a:t>
            </a:r>
            <a:r>
              <a:rPr kumimoji="1" lang="en-US" altLang="en-US" sz="2000" dirty="0"/>
              <a:t>(</a:t>
            </a:r>
            <a:r>
              <a:rPr kumimoji="1" lang="en-US" altLang="en-US" sz="2000" i="1" dirty="0"/>
              <a:t>n</a:t>
            </a:r>
            <a:r>
              <a:rPr kumimoji="1" lang="en-US" altLang="en-US" sz="2000" dirty="0"/>
              <a:t>), we define </a:t>
            </a:r>
            <a:r>
              <a:rPr kumimoji="1" lang="en-US" altLang="en-US" sz="2000" i="1" dirty="0">
                <a:sym typeface="Symbol" panose="05050102010706020507" pitchFamily="18" charset="2"/>
              </a:rPr>
              <a:t>O</a:t>
            </a:r>
            <a:r>
              <a:rPr kumimoji="1" lang="en-US" altLang="en-US" sz="2000" dirty="0"/>
              <a:t>(</a:t>
            </a:r>
            <a:r>
              <a:rPr kumimoji="1" lang="en-US" altLang="en-US" sz="2000" i="1" dirty="0"/>
              <a:t>g</a:t>
            </a:r>
            <a:r>
              <a:rPr kumimoji="1" lang="en-US" altLang="en-US" sz="2000" dirty="0"/>
              <a:t>(</a:t>
            </a:r>
            <a:r>
              <a:rPr kumimoji="1" lang="en-US" altLang="en-US" sz="2000" i="1" dirty="0"/>
              <a:t>n</a:t>
            </a:r>
            <a:r>
              <a:rPr kumimoji="1" lang="en-US" altLang="en-US" sz="2000" dirty="0"/>
              <a:t>)), big-O of </a:t>
            </a:r>
            <a:r>
              <a:rPr kumimoji="1" lang="en-US" altLang="en-US" sz="2000" i="1" dirty="0"/>
              <a:t>n</a:t>
            </a:r>
            <a:r>
              <a:rPr kumimoji="1" lang="en-US" altLang="en-US" sz="2000" dirty="0"/>
              <a:t>, as the set:</a:t>
            </a:r>
          </a:p>
        </p:txBody>
      </p:sp>
      <p:pic>
        <p:nvPicPr>
          <p:cNvPr id="487432" name="Picture 8">
            <a:extLst>
              <a:ext uri="{FF2B5EF4-FFF2-40B4-BE49-F238E27FC236}">
                <a16:creationId xmlns:a16="http://schemas.microsoft.com/office/drawing/2014/main" id="{11CB7470-8EDC-4008-BF0C-1AA40FAE721C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5219700" y="1387475"/>
            <a:ext cx="3819525" cy="3840163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sp>
        <p:nvSpPr>
          <p:cNvPr id="487434" name="Rectangle 10">
            <a:extLst>
              <a:ext uri="{FF2B5EF4-FFF2-40B4-BE49-F238E27FC236}">
                <a16:creationId xmlns:a16="http://schemas.microsoft.com/office/drawing/2014/main" id="{EA51CC83-89C3-41DC-967E-EDA9C7E2C9B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1450" y="5160963"/>
            <a:ext cx="6018213" cy="4889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8575" cap="sq">
                <a:solidFill>
                  <a:schemeClr val="bg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kumimoji="1" lang="en-US" altLang="en-US" sz="2600" b="1" i="1" dirty="0"/>
              <a:t>g</a:t>
            </a:r>
            <a:r>
              <a:rPr kumimoji="1" lang="en-US" altLang="en-US" sz="2600" b="1" dirty="0"/>
              <a:t>(</a:t>
            </a:r>
            <a:r>
              <a:rPr kumimoji="1" lang="en-US" altLang="en-US" sz="2600" b="1" i="1" dirty="0"/>
              <a:t>n</a:t>
            </a:r>
            <a:r>
              <a:rPr kumimoji="1" lang="en-US" altLang="en-US" sz="2600" b="1" dirty="0"/>
              <a:t>) is an </a:t>
            </a:r>
            <a:r>
              <a:rPr kumimoji="1" lang="en-US" altLang="en-US" sz="2600" b="1" i="1" dirty="0">
                <a:solidFill>
                  <a:srgbClr val="CC0000"/>
                </a:solidFill>
              </a:rPr>
              <a:t>asymptotic upper bound</a:t>
            </a:r>
            <a:r>
              <a:rPr kumimoji="1" lang="en-US" altLang="en-US" sz="2600" b="1" dirty="0"/>
              <a:t> for </a:t>
            </a:r>
            <a:r>
              <a:rPr kumimoji="1" lang="en-US" altLang="en-US" sz="2600" b="1" i="1" dirty="0"/>
              <a:t>f</a:t>
            </a:r>
            <a:r>
              <a:rPr kumimoji="1" lang="en-US" altLang="en-US" sz="2600" b="1" dirty="0"/>
              <a:t>(</a:t>
            </a:r>
            <a:r>
              <a:rPr kumimoji="1" lang="en-US" altLang="en-US" sz="2600" b="1" i="1" dirty="0"/>
              <a:t>n</a:t>
            </a:r>
            <a:r>
              <a:rPr kumimoji="1" lang="en-US" altLang="en-US" sz="2600" b="1" dirty="0"/>
              <a:t>).</a:t>
            </a:r>
          </a:p>
        </p:txBody>
      </p:sp>
      <p:sp>
        <p:nvSpPr>
          <p:cNvPr id="487435" name="Text Box 11">
            <a:extLst>
              <a:ext uri="{FF2B5EF4-FFF2-40B4-BE49-F238E27FC236}">
                <a16:creationId xmlns:a16="http://schemas.microsoft.com/office/drawing/2014/main" id="{7E99ED44-46CA-4252-9C22-03B1E669C74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1450" y="3905250"/>
            <a:ext cx="4549775" cy="1200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 altLang="en-US" b="1" i="1" dirty="0"/>
              <a:t>Intuitively</a:t>
            </a:r>
            <a:r>
              <a:rPr lang="en-US" altLang="en-US" dirty="0"/>
              <a:t>: Set of all functions whose </a:t>
            </a:r>
            <a:r>
              <a:rPr lang="en-US" altLang="en-US" i="1" dirty="0"/>
              <a:t>rate of growth</a:t>
            </a:r>
            <a:r>
              <a:rPr lang="en-US" altLang="en-US" dirty="0"/>
              <a:t> is the same as or lower than that of </a:t>
            </a:r>
            <a:r>
              <a:rPr lang="en-US" altLang="en-US" i="1" dirty="0"/>
              <a:t>g</a:t>
            </a:r>
            <a:r>
              <a:rPr lang="en-US" altLang="en-US" dirty="0"/>
              <a:t>(</a:t>
            </a:r>
            <a:r>
              <a:rPr lang="en-US" altLang="en-US" i="1" dirty="0"/>
              <a:t>n</a:t>
            </a:r>
            <a:r>
              <a:rPr lang="en-US" altLang="en-US" dirty="0"/>
              <a:t>). </a:t>
            </a:r>
            <a:r>
              <a:rPr lang="en-US" altLang="en-US" b="1" dirty="0">
                <a:solidFill>
                  <a:schemeClr val="hlink"/>
                </a:solidFill>
                <a:sym typeface="Symbol" panose="05050102010706020507" pitchFamily="18" charset="2"/>
              </a:rPr>
              <a:t>g(n) grows as quickly as f(n)</a:t>
            </a:r>
          </a:p>
          <a:p>
            <a:endParaRPr lang="en-US" altLang="en-US" dirty="0"/>
          </a:p>
        </p:txBody>
      </p:sp>
      <p:sp>
        <p:nvSpPr>
          <p:cNvPr id="487436" name="Text Box 12">
            <a:extLst>
              <a:ext uri="{FF2B5EF4-FFF2-40B4-BE49-F238E27FC236}">
                <a16:creationId xmlns:a16="http://schemas.microsoft.com/office/drawing/2014/main" id="{705E35CA-A220-450C-9571-8AF0B57B310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3525" y="5649913"/>
            <a:ext cx="4549775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 altLang="en-US" sz="2800" b="1" i="1" dirty="0">
                <a:solidFill>
                  <a:schemeClr val="hlink"/>
                </a:solidFill>
              </a:rPr>
              <a:t>f</a:t>
            </a:r>
            <a:r>
              <a:rPr lang="en-US" altLang="en-US" sz="2800" b="1" dirty="0">
                <a:solidFill>
                  <a:schemeClr val="hlink"/>
                </a:solidFill>
              </a:rPr>
              <a:t>(</a:t>
            </a:r>
            <a:r>
              <a:rPr lang="en-US" altLang="en-US" sz="2800" b="1" i="1" dirty="0">
                <a:solidFill>
                  <a:schemeClr val="hlink"/>
                </a:solidFill>
              </a:rPr>
              <a:t>n</a:t>
            </a:r>
            <a:r>
              <a:rPr lang="en-US" altLang="en-US" sz="2800" b="1" dirty="0">
                <a:solidFill>
                  <a:schemeClr val="hlink"/>
                </a:solidFill>
              </a:rPr>
              <a:t>) = </a:t>
            </a:r>
            <a:r>
              <a:rPr lang="en-US" altLang="en-US" sz="2800" b="1" i="1" dirty="0">
                <a:solidFill>
                  <a:schemeClr val="hlink"/>
                </a:solidFill>
                <a:sym typeface="Symbol" panose="05050102010706020507" pitchFamily="18" charset="2"/>
              </a:rPr>
              <a:t>O</a:t>
            </a:r>
            <a:r>
              <a:rPr lang="en-US" altLang="en-US" sz="2800" b="1" dirty="0">
                <a:solidFill>
                  <a:schemeClr val="hlink"/>
                </a:solidFill>
                <a:sym typeface="Symbol" panose="05050102010706020507" pitchFamily="18" charset="2"/>
              </a:rPr>
              <a:t>(</a:t>
            </a:r>
            <a:r>
              <a:rPr lang="en-US" altLang="en-US" sz="2800" b="1" i="1" dirty="0">
                <a:solidFill>
                  <a:schemeClr val="hlink"/>
                </a:solidFill>
                <a:sym typeface="Symbol" panose="05050102010706020507" pitchFamily="18" charset="2"/>
              </a:rPr>
              <a:t>g</a:t>
            </a:r>
            <a:r>
              <a:rPr lang="en-US" altLang="en-US" sz="2800" b="1" dirty="0">
                <a:solidFill>
                  <a:schemeClr val="hlink"/>
                </a:solidFill>
                <a:sym typeface="Symbol" panose="05050102010706020507" pitchFamily="18" charset="2"/>
              </a:rPr>
              <a:t>(</a:t>
            </a:r>
            <a:r>
              <a:rPr lang="en-US" altLang="en-US" sz="2800" b="1" i="1" dirty="0">
                <a:solidFill>
                  <a:schemeClr val="hlink"/>
                </a:solidFill>
                <a:sym typeface="Symbol" panose="05050102010706020507" pitchFamily="18" charset="2"/>
              </a:rPr>
              <a:t>n</a:t>
            </a:r>
            <a:r>
              <a:rPr lang="en-US" altLang="en-US" sz="2800" b="1" dirty="0">
                <a:solidFill>
                  <a:schemeClr val="hlink"/>
                </a:solidFill>
                <a:sym typeface="Symbol" panose="05050102010706020507" pitchFamily="18" charset="2"/>
              </a:rPr>
              <a:t>)).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29E31C-D4E6-4020-97D6-220BB8841E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0" y="350838"/>
            <a:ext cx="4572000" cy="868362"/>
          </a:xfrm>
        </p:spPr>
        <p:txBody>
          <a:bodyPr/>
          <a:lstStyle/>
          <a:p>
            <a:r>
              <a:rPr lang="en-US" dirty="0">
                <a:solidFill>
                  <a:srgbClr val="FF0000"/>
                </a:solidFill>
              </a:rPr>
              <a:t>O </a:t>
            </a:r>
            <a:r>
              <a:rPr lang="en-US" dirty="0" err="1">
                <a:solidFill>
                  <a:srgbClr val="FF0000"/>
                </a:solidFill>
              </a:rPr>
              <a:t>Notaion</a:t>
            </a:r>
            <a:r>
              <a:rPr lang="en-US" dirty="0">
                <a:solidFill>
                  <a:srgbClr val="FF0000"/>
                </a:solidFill>
              </a:rPr>
              <a:t>…</a:t>
            </a:r>
            <a:r>
              <a:rPr lang="en-US" dirty="0" err="1">
                <a:solidFill>
                  <a:srgbClr val="FF0000"/>
                </a:solidFill>
              </a:rPr>
              <a:t>cont</a:t>
            </a:r>
            <a:endParaRPr lang="en-IN" dirty="0">
              <a:solidFill>
                <a:srgbClr val="FF000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ACB641-F339-4021-988E-B03A7C84A96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Order of growth of f(n) is either equal to or lower than that of order of growth of g(n).</a:t>
            </a:r>
          </a:p>
          <a:p>
            <a:r>
              <a:rPr lang="en-US" dirty="0"/>
              <a:t>This notation is useful to describe </a:t>
            </a:r>
            <a:r>
              <a:rPr lang="en-US" sz="2800" dirty="0">
                <a:solidFill>
                  <a:srgbClr val="7030A0"/>
                </a:solidFill>
              </a:rPr>
              <a:t>Worst case </a:t>
            </a:r>
            <a:r>
              <a:rPr lang="en-US" dirty="0"/>
              <a:t>time complexity of an algorithm.</a:t>
            </a:r>
          </a:p>
          <a:p>
            <a:r>
              <a:rPr lang="en-US" dirty="0"/>
              <a:t>Describes the </a:t>
            </a:r>
            <a:r>
              <a:rPr lang="en-US" sz="2400" b="1" dirty="0">
                <a:solidFill>
                  <a:srgbClr val="00B050"/>
                </a:solidFill>
              </a:rPr>
              <a:t>tight</a:t>
            </a:r>
            <a:r>
              <a:rPr lang="en-US" b="1" dirty="0"/>
              <a:t> </a:t>
            </a:r>
            <a:r>
              <a:rPr lang="en-US" sz="2400" b="1" dirty="0">
                <a:solidFill>
                  <a:srgbClr val="00B050"/>
                </a:solidFill>
              </a:rPr>
              <a:t>upper bound </a:t>
            </a:r>
            <a:r>
              <a:rPr lang="en-US" dirty="0"/>
              <a:t>time complexity of an algorithm.</a:t>
            </a:r>
          </a:p>
          <a:p>
            <a:r>
              <a:rPr lang="en-US" altLang="en-US" sz="2000" dirty="0"/>
              <a:t>An absolute </a:t>
            </a:r>
            <a:r>
              <a:rPr lang="en-US" altLang="en-US" sz="3200" dirty="0">
                <a:solidFill>
                  <a:srgbClr val="CC0000"/>
                </a:solidFill>
              </a:rPr>
              <a:t>guarantee</a:t>
            </a:r>
            <a:r>
              <a:rPr lang="en-US" altLang="en-US" sz="2000" dirty="0"/>
              <a:t> that the algorithm would not run longer, no matter what the inputs are</a:t>
            </a:r>
          </a:p>
          <a:p>
            <a:pPr marL="0" indent="0">
              <a:buNone/>
            </a:pPr>
            <a:endParaRPr lang="en-IN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6476D1-5266-4136-8613-11A70D810A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C643BA-ACA1-44BF-9071-763295A35907}" type="datetime4">
              <a:rPr lang="en-US" smtClean="0"/>
              <a:t>April 3, 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BB73B14-6CC9-4CEC-8A72-37490C1162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Computer Science &amp; Engineering, VNRVJIET, Hyderabad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D07132-21F1-45DF-8DA0-35F9875B91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FA3F07-B4E9-4FEB-BC07-B9713C186F28}" type="slidenum">
              <a:rPr lang="en-US" smtClean="0"/>
              <a:pPr/>
              <a:t>14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3587055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86783B74-2976-4964-8762-D660D666CF5F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altLang="en-US"/>
              <a:t>Comp 122</a:t>
            </a:r>
          </a:p>
        </p:txBody>
      </p:sp>
      <p:sp>
        <p:nvSpPr>
          <p:cNvPr id="444418" name="Rectangle 2">
            <a:extLst>
              <a:ext uri="{FF2B5EF4-FFF2-40B4-BE49-F238E27FC236}">
                <a16:creationId xmlns:a16="http://schemas.microsoft.com/office/drawing/2014/main" id="{A2C064A1-F0A7-4959-894F-293E409B738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52399" y="350838"/>
            <a:ext cx="4968875" cy="868362"/>
          </a:xfrm>
        </p:spPr>
        <p:txBody>
          <a:bodyPr>
            <a:normAutofit fontScale="90000"/>
          </a:bodyPr>
          <a:lstStyle/>
          <a:p>
            <a:r>
              <a:rPr lang="en-US" altLang="en-US" dirty="0">
                <a:solidFill>
                  <a:srgbClr val="FF0000"/>
                </a:solidFill>
                <a:sym typeface="Symbol" panose="05050102010706020507" pitchFamily="18" charset="2"/>
              </a:rPr>
              <a:t> -notation(Big Omega)</a:t>
            </a:r>
          </a:p>
        </p:txBody>
      </p:sp>
      <p:sp>
        <p:nvSpPr>
          <p:cNvPr id="444422" name="Rectangle 6">
            <a:extLst>
              <a:ext uri="{FF2B5EF4-FFF2-40B4-BE49-F238E27FC236}">
                <a16:creationId xmlns:a16="http://schemas.microsoft.com/office/drawing/2014/main" id="{27439677-EDA3-473D-8EE4-AD7C5E17319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441" y="5258318"/>
            <a:ext cx="5981700" cy="4889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8575" cap="sq">
                <a:solidFill>
                  <a:schemeClr val="bg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kumimoji="1" lang="en-US" altLang="en-US" sz="2600" b="1" i="1" dirty="0"/>
              <a:t>g</a:t>
            </a:r>
            <a:r>
              <a:rPr kumimoji="1" lang="en-US" altLang="en-US" sz="2600" b="1" dirty="0"/>
              <a:t>(</a:t>
            </a:r>
            <a:r>
              <a:rPr kumimoji="1" lang="en-US" altLang="en-US" sz="2600" b="1" i="1" dirty="0"/>
              <a:t>n</a:t>
            </a:r>
            <a:r>
              <a:rPr kumimoji="1" lang="en-US" altLang="en-US" sz="2600" b="1" dirty="0"/>
              <a:t>) is an </a:t>
            </a:r>
            <a:r>
              <a:rPr kumimoji="1" lang="en-US" altLang="en-US" sz="2600" b="1" i="1" dirty="0">
                <a:solidFill>
                  <a:srgbClr val="CC0000"/>
                </a:solidFill>
              </a:rPr>
              <a:t>asymptotic lower bound</a:t>
            </a:r>
            <a:r>
              <a:rPr kumimoji="1" lang="en-US" altLang="en-US" sz="2600" b="1" dirty="0"/>
              <a:t> for </a:t>
            </a:r>
            <a:r>
              <a:rPr kumimoji="1" lang="en-US" altLang="en-US" sz="2600" b="1" i="1" dirty="0"/>
              <a:t>f</a:t>
            </a:r>
            <a:r>
              <a:rPr kumimoji="1" lang="en-US" altLang="en-US" sz="2600" b="1" dirty="0"/>
              <a:t>(</a:t>
            </a:r>
            <a:r>
              <a:rPr kumimoji="1" lang="en-US" altLang="en-US" sz="2600" b="1" i="1" dirty="0"/>
              <a:t>n</a:t>
            </a:r>
            <a:r>
              <a:rPr kumimoji="1" lang="en-US" altLang="en-US" sz="2600" b="1" dirty="0"/>
              <a:t>).</a:t>
            </a:r>
          </a:p>
        </p:txBody>
      </p:sp>
      <p:sp>
        <p:nvSpPr>
          <p:cNvPr id="444423" name="Text Box 7">
            <a:extLst>
              <a:ext uri="{FF2B5EF4-FFF2-40B4-BE49-F238E27FC236}">
                <a16:creationId xmlns:a16="http://schemas.microsoft.com/office/drawing/2014/main" id="{4E615BCE-ADC3-43C1-B708-65D0E5CBFF5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9387" y="3957778"/>
            <a:ext cx="4394200" cy="9233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 altLang="en-US" b="1" i="1" dirty="0"/>
              <a:t>Intuitively</a:t>
            </a:r>
            <a:r>
              <a:rPr lang="en-US" altLang="en-US" dirty="0"/>
              <a:t>: Set of all functions whose </a:t>
            </a:r>
            <a:r>
              <a:rPr lang="en-US" altLang="en-US" i="1" dirty="0"/>
              <a:t>rate of growth</a:t>
            </a:r>
            <a:r>
              <a:rPr lang="en-US" altLang="en-US" dirty="0"/>
              <a:t> is the same as or higher than that of </a:t>
            </a:r>
            <a:r>
              <a:rPr lang="en-US" altLang="en-US" i="1" dirty="0"/>
              <a:t>g</a:t>
            </a:r>
            <a:r>
              <a:rPr lang="en-US" altLang="en-US" dirty="0"/>
              <a:t>(</a:t>
            </a:r>
            <a:r>
              <a:rPr lang="en-US" altLang="en-US" i="1" dirty="0"/>
              <a:t>n</a:t>
            </a:r>
            <a:r>
              <a:rPr lang="en-US" altLang="en-US" dirty="0"/>
              <a:t>). </a:t>
            </a:r>
            <a:r>
              <a:rPr lang="en-US" altLang="en-US" b="1" i="1" dirty="0">
                <a:solidFill>
                  <a:schemeClr val="hlink"/>
                </a:solidFill>
              </a:rPr>
              <a:t>g</a:t>
            </a:r>
            <a:r>
              <a:rPr lang="en-US" b="1" i="1" dirty="0">
                <a:solidFill>
                  <a:schemeClr val="hlink"/>
                </a:solidFill>
              </a:rPr>
              <a:t>(n) grows at least as slowly as f(n)</a:t>
            </a:r>
            <a:endParaRPr lang="en-US" altLang="en-US" b="1" i="1" dirty="0">
              <a:solidFill>
                <a:schemeClr val="hlink"/>
              </a:solidFill>
            </a:endParaRPr>
          </a:p>
        </p:txBody>
      </p:sp>
      <p:pic>
        <p:nvPicPr>
          <p:cNvPr id="444426" name="Picture 10">
            <a:extLst>
              <a:ext uri="{FF2B5EF4-FFF2-40B4-BE49-F238E27FC236}">
                <a16:creationId xmlns:a16="http://schemas.microsoft.com/office/drawing/2014/main" id="{2212AE4C-3B5A-443A-9253-43CBDF26BC7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98427" y="1262062"/>
            <a:ext cx="3800475" cy="40100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44427" name="Text Box 11">
            <a:extLst>
              <a:ext uri="{FF2B5EF4-FFF2-40B4-BE49-F238E27FC236}">
                <a16:creationId xmlns:a16="http://schemas.microsoft.com/office/drawing/2014/main" id="{CB196E4B-C413-4164-BA30-02F432AAF02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49311" y="5684837"/>
            <a:ext cx="4549775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 altLang="en-US" b="1" i="1" dirty="0">
                <a:solidFill>
                  <a:schemeClr val="hlink"/>
                </a:solidFill>
              </a:rPr>
              <a:t>f</a:t>
            </a:r>
            <a:r>
              <a:rPr lang="en-US" altLang="en-US" b="1" dirty="0">
                <a:solidFill>
                  <a:schemeClr val="hlink"/>
                </a:solidFill>
              </a:rPr>
              <a:t>(</a:t>
            </a:r>
            <a:r>
              <a:rPr lang="en-US" altLang="en-US" b="1" i="1" dirty="0">
                <a:solidFill>
                  <a:schemeClr val="hlink"/>
                </a:solidFill>
              </a:rPr>
              <a:t>n</a:t>
            </a:r>
            <a:r>
              <a:rPr lang="en-US" altLang="en-US" b="1" dirty="0">
                <a:solidFill>
                  <a:schemeClr val="hlink"/>
                </a:solidFill>
              </a:rPr>
              <a:t>) = </a:t>
            </a:r>
            <a:r>
              <a:rPr lang="en-US" altLang="en-US" b="1" dirty="0">
                <a:solidFill>
                  <a:schemeClr val="hlink"/>
                </a:solidFill>
                <a:sym typeface="Symbol" panose="05050102010706020507" pitchFamily="18" charset="2"/>
              </a:rPr>
              <a:t>(</a:t>
            </a:r>
            <a:r>
              <a:rPr lang="en-US" altLang="en-US" b="1" i="1" dirty="0">
                <a:solidFill>
                  <a:schemeClr val="hlink"/>
                </a:solidFill>
                <a:sym typeface="Symbol" panose="05050102010706020507" pitchFamily="18" charset="2"/>
              </a:rPr>
              <a:t>g</a:t>
            </a:r>
            <a:r>
              <a:rPr lang="en-US" altLang="en-US" b="1" dirty="0">
                <a:solidFill>
                  <a:schemeClr val="hlink"/>
                </a:solidFill>
                <a:sym typeface="Symbol" panose="05050102010706020507" pitchFamily="18" charset="2"/>
              </a:rPr>
              <a:t>(</a:t>
            </a:r>
            <a:r>
              <a:rPr lang="en-US" altLang="en-US" b="1" i="1" dirty="0">
                <a:solidFill>
                  <a:schemeClr val="hlink"/>
                </a:solidFill>
                <a:sym typeface="Symbol" panose="05050102010706020507" pitchFamily="18" charset="2"/>
              </a:rPr>
              <a:t>n</a:t>
            </a:r>
            <a:r>
              <a:rPr lang="en-US" altLang="en-US" b="1" dirty="0">
                <a:solidFill>
                  <a:schemeClr val="hlink"/>
                </a:solidFill>
                <a:sym typeface="Symbol" panose="05050102010706020507" pitchFamily="18" charset="2"/>
              </a:rPr>
              <a:t>)).</a:t>
            </a:r>
          </a:p>
        </p:txBody>
      </p:sp>
      <p:sp>
        <p:nvSpPr>
          <p:cNvPr id="444428" name="Rectangle 12">
            <a:extLst>
              <a:ext uri="{FF2B5EF4-FFF2-40B4-BE49-F238E27FC236}">
                <a16:creationId xmlns:a16="http://schemas.microsoft.com/office/drawing/2014/main" id="{756C747E-EFE7-40B0-8B32-C0F7104F017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1611" y="2014538"/>
            <a:ext cx="4870450" cy="1898650"/>
          </a:xfrm>
          <a:prstGeom prst="rect">
            <a:avLst/>
          </a:prstGeom>
          <a:solidFill>
            <a:srgbClr val="CCECFF"/>
          </a:solidFill>
          <a:ln w="19050" cap="sq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Aft>
                <a:spcPct val="20000"/>
              </a:spcAft>
              <a:buClr>
                <a:srgbClr val="FF6600"/>
              </a:buClr>
              <a:buSzPct val="80000"/>
              <a:buFont typeface="Wingdings" panose="05000000000000000000" pitchFamily="2" charset="2"/>
              <a:buNone/>
            </a:pPr>
            <a:r>
              <a:rPr kumimoji="1" lang="en-US" altLang="en-US" sz="2600" b="1" dirty="0">
                <a:solidFill>
                  <a:schemeClr val="accent1"/>
                </a:solidFill>
                <a:sym typeface="Symbol" panose="05050102010706020507" pitchFamily="18" charset="2"/>
              </a:rPr>
              <a:t></a:t>
            </a:r>
            <a:r>
              <a:rPr kumimoji="1" lang="en-US" altLang="en-US" sz="2600" b="1" dirty="0">
                <a:solidFill>
                  <a:schemeClr val="accent1"/>
                </a:solidFill>
              </a:rPr>
              <a:t>(</a:t>
            </a:r>
            <a:r>
              <a:rPr kumimoji="1" lang="en-US" altLang="en-US" sz="2600" b="1" i="1" dirty="0">
                <a:solidFill>
                  <a:schemeClr val="accent1"/>
                </a:solidFill>
              </a:rPr>
              <a:t>g</a:t>
            </a:r>
            <a:r>
              <a:rPr kumimoji="1" lang="en-US" altLang="en-US" sz="2600" b="1" dirty="0">
                <a:solidFill>
                  <a:schemeClr val="accent1"/>
                </a:solidFill>
              </a:rPr>
              <a:t>(</a:t>
            </a:r>
            <a:r>
              <a:rPr kumimoji="1" lang="en-US" altLang="en-US" sz="2600" b="1" i="1" dirty="0">
                <a:solidFill>
                  <a:schemeClr val="accent1"/>
                </a:solidFill>
              </a:rPr>
              <a:t>n</a:t>
            </a:r>
            <a:r>
              <a:rPr kumimoji="1" lang="en-US" altLang="en-US" sz="2600" b="1" dirty="0">
                <a:solidFill>
                  <a:schemeClr val="accent1"/>
                </a:solidFill>
              </a:rPr>
              <a:t>)) =</a:t>
            </a:r>
            <a:r>
              <a:rPr kumimoji="1" lang="en-US" altLang="en-US" sz="2600" b="1" dirty="0">
                <a:solidFill>
                  <a:schemeClr val="hlink"/>
                </a:solidFill>
              </a:rPr>
              <a:t> </a:t>
            </a:r>
            <a:r>
              <a:rPr kumimoji="1" lang="en-US" altLang="en-US" sz="3000" b="1" dirty="0">
                <a:solidFill>
                  <a:schemeClr val="hlink"/>
                </a:solidFill>
              </a:rPr>
              <a:t>{</a:t>
            </a:r>
            <a:r>
              <a:rPr kumimoji="1" lang="en-US" altLang="en-US" sz="2600" b="1" i="1" dirty="0">
                <a:solidFill>
                  <a:schemeClr val="hlink"/>
                </a:solidFill>
              </a:rPr>
              <a:t>f</a:t>
            </a:r>
            <a:r>
              <a:rPr kumimoji="1" lang="en-US" altLang="en-US" sz="2600" b="1" dirty="0">
                <a:solidFill>
                  <a:schemeClr val="hlink"/>
                </a:solidFill>
              </a:rPr>
              <a:t>(</a:t>
            </a:r>
            <a:r>
              <a:rPr kumimoji="1" lang="en-US" altLang="en-US" sz="2600" b="1" i="1" dirty="0">
                <a:solidFill>
                  <a:schemeClr val="hlink"/>
                </a:solidFill>
              </a:rPr>
              <a:t>n</a:t>
            </a:r>
            <a:r>
              <a:rPr kumimoji="1" lang="en-US" altLang="en-US" sz="2600" b="1" dirty="0">
                <a:solidFill>
                  <a:schemeClr val="hlink"/>
                </a:solidFill>
              </a:rPr>
              <a:t>) : </a:t>
            </a:r>
            <a:br>
              <a:rPr kumimoji="1" lang="en-US" altLang="en-US" sz="2600" b="1" dirty="0">
                <a:solidFill>
                  <a:schemeClr val="hlink"/>
                </a:solidFill>
              </a:rPr>
            </a:br>
            <a:r>
              <a:rPr kumimoji="1" lang="en-US" altLang="en-US" sz="2600" b="1" dirty="0">
                <a:solidFill>
                  <a:srgbClr val="FF3300"/>
                </a:solidFill>
                <a:sym typeface="Symbol" panose="05050102010706020507" pitchFamily="18" charset="2"/>
              </a:rPr>
              <a:t> </a:t>
            </a:r>
            <a:r>
              <a:rPr kumimoji="1" lang="en-US" altLang="en-US" sz="2600" b="1" dirty="0">
                <a:solidFill>
                  <a:srgbClr val="FF3300"/>
                </a:solidFill>
              </a:rPr>
              <a:t>positive constants </a:t>
            </a:r>
            <a:r>
              <a:rPr kumimoji="1" lang="en-US" altLang="en-US" sz="2600" b="1" i="1" dirty="0">
                <a:solidFill>
                  <a:srgbClr val="FF3300"/>
                </a:solidFill>
              </a:rPr>
              <a:t>c</a:t>
            </a:r>
            <a:r>
              <a:rPr kumimoji="1" lang="en-US" altLang="en-US" sz="2600" b="1" dirty="0">
                <a:solidFill>
                  <a:srgbClr val="FF3300"/>
                </a:solidFill>
              </a:rPr>
              <a:t> and </a:t>
            </a:r>
            <a:r>
              <a:rPr kumimoji="1" lang="en-US" altLang="en-US" sz="2600" b="1" i="1" dirty="0">
                <a:solidFill>
                  <a:srgbClr val="FF3300"/>
                </a:solidFill>
              </a:rPr>
              <a:t>n</a:t>
            </a:r>
            <a:r>
              <a:rPr kumimoji="1" lang="en-US" altLang="en-US" sz="2600" b="1" baseline="-25000" dirty="0">
                <a:solidFill>
                  <a:srgbClr val="FF3300"/>
                </a:solidFill>
              </a:rPr>
              <a:t>0,</a:t>
            </a:r>
            <a:r>
              <a:rPr kumimoji="1" lang="en-US" altLang="en-US" sz="2600" b="1" dirty="0">
                <a:solidFill>
                  <a:schemeClr val="hlink"/>
                </a:solidFill>
              </a:rPr>
              <a:t> </a:t>
            </a:r>
            <a:r>
              <a:rPr kumimoji="1" lang="en-US" altLang="en-US" sz="2600" b="1" dirty="0">
                <a:solidFill>
                  <a:srgbClr val="CC0000"/>
                </a:solidFill>
              </a:rPr>
              <a:t>such that </a:t>
            </a:r>
            <a:r>
              <a:rPr kumimoji="1" lang="en-US" altLang="en-US" b="1" dirty="0">
                <a:solidFill>
                  <a:srgbClr val="CC0000"/>
                </a:solidFill>
                <a:sym typeface="Symbol" panose="05050102010706020507" pitchFamily="18" charset="2"/>
              </a:rPr>
              <a:t></a:t>
            </a:r>
            <a:r>
              <a:rPr kumimoji="1" lang="en-US" altLang="en-US" b="1" i="1" dirty="0">
                <a:solidFill>
                  <a:srgbClr val="CC0000"/>
                </a:solidFill>
              </a:rPr>
              <a:t>n </a:t>
            </a:r>
            <a:r>
              <a:rPr kumimoji="1" lang="en-US" altLang="en-US" b="1" dirty="0">
                <a:solidFill>
                  <a:srgbClr val="CC0000"/>
                </a:solidFill>
                <a:sym typeface="Symbol" panose="05050102010706020507" pitchFamily="18" charset="2"/>
              </a:rPr>
              <a:t></a:t>
            </a:r>
            <a:r>
              <a:rPr kumimoji="1" lang="en-US" altLang="en-US" b="1" i="1" dirty="0">
                <a:solidFill>
                  <a:srgbClr val="CC0000"/>
                </a:solidFill>
              </a:rPr>
              <a:t>  n</a:t>
            </a:r>
            <a:r>
              <a:rPr kumimoji="1" lang="en-US" altLang="en-US" b="1" baseline="-25000" dirty="0">
                <a:solidFill>
                  <a:srgbClr val="CC0000"/>
                </a:solidFill>
              </a:rPr>
              <a:t>0</a:t>
            </a:r>
            <a:r>
              <a:rPr kumimoji="1" lang="en-US" altLang="en-US" dirty="0">
                <a:solidFill>
                  <a:srgbClr val="CC0000"/>
                </a:solidFill>
              </a:rPr>
              <a:t>,</a:t>
            </a:r>
            <a:endParaRPr kumimoji="1" lang="en-US" altLang="en-US" sz="2600" b="1" dirty="0">
              <a:solidFill>
                <a:srgbClr val="CC0000"/>
              </a:solidFill>
            </a:endParaRPr>
          </a:p>
          <a:p>
            <a:pPr>
              <a:spcAft>
                <a:spcPct val="20000"/>
              </a:spcAft>
              <a:buClr>
                <a:srgbClr val="FF6600"/>
              </a:buClr>
              <a:buSzPct val="80000"/>
              <a:buFont typeface="Wingdings" panose="05000000000000000000" pitchFamily="2" charset="2"/>
              <a:buNone/>
            </a:pPr>
            <a:r>
              <a:rPr kumimoji="1" lang="en-US" altLang="en-US" sz="2200" b="1" dirty="0">
                <a:solidFill>
                  <a:schemeClr val="hlink"/>
                </a:solidFill>
              </a:rPr>
              <a:t>we have</a:t>
            </a:r>
            <a:r>
              <a:rPr kumimoji="1" lang="en-US" altLang="en-US" sz="2600" b="1" dirty="0">
                <a:solidFill>
                  <a:schemeClr val="hlink"/>
                </a:solidFill>
              </a:rPr>
              <a:t> 0 </a:t>
            </a:r>
            <a:r>
              <a:rPr kumimoji="1" lang="en-US" altLang="en-US" sz="2600" b="1" dirty="0">
                <a:solidFill>
                  <a:schemeClr val="hlink"/>
                </a:solidFill>
                <a:sym typeface="Symbol" panose="05050102010706020507" pitchFamily="18" charset="2"/>
              </a:rPr>
              <a:t></a:t>
            </a:r>
            <a:r>
              <a:rPr kumimoji="1" lang="en-US" altLang="en-US" sz="2600" b="1" dirty="0">
                <a:solidFill>
                  <a:schemeClr val="hlink"/>
                </a:solidFill>
              </a:rPr>
              <a:t> </a:t>
            </a:r>
            <a:r>
              <a:rPr kumimoji="1" lang="en-US" altLang="en-US" b="1" dirty="0">
                <a:solidFill>
                  <a:schemeClr val="hlink"/>
                </a:solidFill>
              </a:rPr>
              <a:t>c</a:t>
            </a:r>
            <a:r>
              <a:rPr kumimoji="1" lang="en-US" altLang="en-US" b="1" i="1" dirty="0">
                <a:solidFill>
                  <a:schemeClr val="hlink"/>
                </a:solidFill>
              </a:rPr>
              <a:t>g</a:t>
            </a:r>
            <a:r>
              <a:rPr kumimoji="1" lang="en-US" altLang="en-US" b="1" dirty="0">
                <a:solidFill>
                  <a:schemeClr val="hlink"/>
                </a:solidFill>
              </a:rPr>
              <a:t>(</a:t>
            </a:r>
            <a:r>
              <a:rPr kumimoji="1" lang="en-US" altLang="en-US" b="1" i="1" dirty="0">
                <a:solidFill>
                  <a:schemeClr val="hlink"/>
                </a:solidFill>
              </a:rPr>
              <a:t>n</a:t>
            </a:r>
            <a:r>
              <a:rPr kumimoji="1" lang="en-US" altLang="en-US" b="1" dirty="0">
                <a:solidFill>
                  <a:schemeClr val="hlink"/>
                </a:solidFill>
              </a:rPr>
              <a:t>)</a:t>
            </a:r>
            <a:r>
              <a:rPr kumimoji="1" lang="en-US" altLang="en-US" dirty="0"/>
              <a:t> </a:t>
            </a:r>
            <a:r>
              <a:rPr kumimoji="1" lang="en-US" altLang="en-US" sz="2600" b="1" dirty="0">
                <a:solidFill>
                  <a:schemeClr val="hlink"/>
                </a:solidFill>
                <a:sym typeface="Symbol" panose="05050102010706020507" pitchFamily="18" charset="2"/>
              </a:rPr>
              <a:t> </a:t>
            </a:r>
            <a:r>
              <a:rPr kumimoji="1" lang="en-US" altLang="en-US" b="1" i="1" dirty="0">
                <a:solidFill>
                  <a:schemeClr val="hlink"/>
                </a:solidFill>
              </a:rPr>
              <a:t>f</a:t>
            </a:r>
            <a:r>
              <a:rPr kumimoji="1" lang="en-US" altLang="en-US" b="1" dirty="0">
                <a:solidFill>
                  <a:schemeClr val="hlink"/>
                </a:solidFill>
              </a:rPr>
              <a:t>(</a:t>
            </a:r>
            <a:r>
              <a:rPr kumimoji="1" lang="en-US" altLang="en-US" b="1" i="1" dirty="0">
                <a:solidFill>
                  <a:schemeClr val="hlink"/>
                </a:solidFill>
              </a:rPr>
              <a:t>n</a:t>
            </a:r>
            <a:r>
              <a:rPr kumimoji="1" lang="en-US" altLang="en-US" b="1" dirty="0">
                <a:solidFill>
                  <a:schemeClr val="hlink"/>
                </a:solidFill>
              </a:rPr>
              <a:t>)</a:t>
            </a:r>
            <a:r>
              <a:rPr kumimoji="1" lang="en-US" altLang="en-US" sz="3000" b="1" dirty="0">
                <a:solidFill>
                  <a:schemeClr val="hlink"/>
                </a:solidFill>
              </a:rPr>
              <a:t>}</a:t>
            </a:r>
          </a:p>
        </p:txBody>
      </p:sp>
      <p:sp>
        <p:nvSpPr>
          <p:cNvPr id="444429" name="Rectangle 13">
            <a:extLst>
              <a:ext uri="{FF2B5EF4-FFF2-40B4-BE49-F238E27FC236}">
                <a16:creationId xmlns:a16="http://schemas.microsoft.com/office/drawing/2014/main" id="{CE4313D1-E94B-4D0E-8872-192D2884270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1611" y="1262062"/>
            <a:ext cx="5197475" cy="7078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8575" cap="sq">
                <a:solidFill>
                  <a:schemeClr val="bg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Aft>
                <a:spcPct val="20000"/>
              </a:spcAft>
              <a:buClr>
                <a:srgbClr val="FF6600"/>
              </a:buClr>
              <a:buSzPct val="80000"/>
              <a:buFont typeface="Wingdings" panose="05000000000000000000" pitchFamily="2" charset="2"/>
              <a:buNone/>
            </a:pPr>
            <a:r>
              <a:rPr kumimoji="1" lang="en-US" altLang="en-US" sz="2000" dirty="0"/>
              <a:t>For function </a:t>
            </a:r>
            <a:r>
              <a:rPr kumimoji="1" lang="en-US" altLang="en-US" sz="2000" i="1" dirty="0"/>
              <a:t>g</a:t>
            </a:r>
            <a:r>
              <a:rPr kumimoji="1" lang="en-US" altLang="en-US" sz="2000" dirty="0"/>
              <a:t>(</a:t>
            </a:r>
            <a:r>
              <a:rPr kumimoji="1" lang="en-US" altLang="en-US" sz="2000" i="1" dirty="0"/>
              <a:t>n</a:t>
            </a:r>
            <a:r>
              <a:rPr kumimoji="1" lang="en-US" altLang="en-US" sz="2000" dirty="0"/>
              <a:t>), we define </a:t>
            </a:r>
            <a:r>
              <a:rPr lang="en-US" altLang="en-US" sz="2000" dirty="0">
                <a:sym typeface="Symbol" panose="05050102010706020507" pitchFamily="18" charset="2"/>
              </a:rPr>
              <a:t></a:t>
            </a:r>
            <a:r>
              <a:rPr kumimoji="1" lang="en-US" altLang="en-US" sz="2000" dirty="0"/>
              <a:t>(</a:t>
            </a:r>
            <a:r>
              <a:rPr kumimoji="1" lang="en-US" altLang="en-US" sz="2000" i="1" dirty="0"/>
              <a:t>g</a:t>
            </a:r>
            <a:r>
              <a:rPr kumimoji="1" lang="en-US" altLang="en-US" sz="2000" dirty="0"/>
              <a:t>(</a:t>
            </a:r>
            <a:r>
              <a:rPr kumimoji="1" lang="en-US" altLang="en-US" sz="2000" i="1" dirty="0"/>
              <a:t>n</a:t>
            </a:r>
            <a:r>
              <a:rPr kumimoji="1" lang="en-US" altLang="en-US" sz="2000" dirty="0"/>
              <a:t>)), big-Omega of </a:t>
            </a:r>
            <a:r>
              <a:rPr kumimoji="1" lang="en-US" altLang="en-US" sz="2000" i="1" dirty="0"/>
              <a:t>n</a:t>
            </a:r>
            <a:r>
              <a:rPr kumimoji="1" lang="en-US" altLang="en-US" sz="2000" dirty="0"/>
              <a:t>, as the set: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29E31C-D4E6-4020-97D6-220BB8841E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0" y="350838"/>
            <a:ext cx="4876800" cy="868362"/>
          </a:xfrm>
        </p:spPr>
        <p:txBody>
          <a:bodyPr/>
          <a:lstStyle/>
          <a:p>
            <a:r>
              <a:rPr lang="en-US" dirty="0"/>
              <a:t> </a:t>
            </a:r>
            <a:r>
              <a:rPr lang="en-US" altLang="en-US" dirty="0">
                <a:solidFill>
                  <a:srgbClr val="FF0000"/>
                </a:solidFill>
                <a:sym typeface="Symbol" panose="05050102010706020507" pitchFamily="18" charset="2"/>
              </a:rPr>
              <a:t> </a:t>
            </a:r>
            <a:r>
              <a:rPr lang="en-US" dirty="0" err="1">
                <a:solidFill>
                  <a:srgbClr val="FF0000"/>
                </a:solidFill>
              </a:rPr>
              <a:t>Notaion</a:t>
            </a:r>
            <a:r>
              <a:rPr lang="en-US" dirty="0">
                <a:solidFill>
                  <a:srgbClr val="FF0000"/>
                </a:solidFill>
              </a:rPr>
              <a:t>…</a:t>
            </a:r>
            <a:r>
              <a:rPr lang="en-US" dirty="0" err="1">
                <a:solidFill>
                  <a:srgbClr val="FF0000"/>
                </a:solidFill>
              </a:rPr>
              <a:t>cont</a:t>
            </a:r>
            <a:endParaRPr lang="en-IN" dirty="0">
              <a:solidFill>
                <a:srgbClr val="FF000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ACB641-F339-4021-988E-B03A7C84A96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Order of growth of f(n) is either equal to or greater than that of order of growth of g(n).</a:t>
            </a:r>
          </a:p>
          <a:p>
            <a:r>
              <a:rPr lang="en-US" dirty="0"/>
              <a:t>This notation is useful to describe </a:t>
            </a:r>
            <a:r>
              <a:rPr lang="en-US" sz="2800" dirty="0">
                <a:solidFill>
                  <a:srgbClr val="7030A0"/>
                </a:solidFill>
              </a:rPr>
              <a:t>Best case </a:t>
            </a:r>
            <a:r>
              <a:rPr lang="en-US" dirty="0"/>
              <a:t>time complexity of an algorithm.</a:t>
            </a:r>
          </a:p>
          <a:p>
            <a:r>
              <a:rPr lang="en-US" dirty="0"/>
              <a:t>Describes the </a:t>
            </a:r>
            <a:r>
              <a:rPr lang="en-US" sz="2800" dirty="0">
                <a:solidFill>
                  <a:srgbClr val="FF0000"/>
                </a:solidFill>
              </a:rPr>
              <a:t>tight</a:t>
            </a:r>
            <a:r>
              <a:rPr lang="en-US" dirty="0"/>
              <a:t> </a:t>
            </a:r>
            <a:r>
              <a:rPr lang="en-US" sz="2800" dirty="0">
                <a:solidFill>
                  <a:srgbClr val="FF0000"/>
                </a:solidFill>
              </a:rPr>
              <a:t>lower bound </a:t>
            </a:r>
            <a:r>
              <a:rPr lang="en-US" dirty="0"/>
              <a:t>time complexity of an algorithm.</a:t>
            </a:r>
          </a:p>
          <a:p>
            <a:r>
              <a:rPr lang="en-US" altLang="en-US" sz="2000" dirty="0"/>
              <a:t>Input is the one for which the algorithm runs the fastest.</a:t>
            </a:r>
          </a:p>
          <a:p>
            <a:endParaRPr lang="en-IN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6476D1-5266-4136-8613-11A70D810A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C643BA-ACA1-44BF-9071-763295A35907}" type="datetime4">
              <a:rPr lang="en-US" smtClean="0"/>
              <a:t>April 3, 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BB73B14-6CC9-4CEC-8A72-37490C1162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Computer Science &amp; Engineering, VNRVJIET, Hyderabad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D07132-21F1-45DF-8DA0-35F9875B91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FA3F07-B4E9-4FEB-BC07-B9713C186F28}" type="slidenum">
              <a:rPr lang="en-US" smtClean="0"/>
              <a:pPr/>
              <a:t>16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7908014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ooter Placeholder 2">
            <a:extLst>
              <a:ext uri="{FF2B5EF4-FFF2-40B4-BE49-F238E27FC236}">
                <a16:creationId xmlns:a16="http://schemas.microsoft.com/office/drawing/2014/main" id="{97C65B8C-6D92-4928-B6F3-842D5A032B8B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altLang="en-US"/>
              <a:t>Comp 122</a:t>
            </a:r>
          </a:p>
        </p:txBody>
      </p:sp>
      <p:sp>
        <p:nvSpPr>
          <p:cNvPr id="394242" name="Rectangle 2">
            <a:extLst>
              <a:ext uri="{FF2B5EF4-FFF2-40B4-BE49-F238E27FC236}">
                <a16:creationId xmlns:a16="http://schemas.microsoft.com/office/drawing/2014/main" id="{A4153C50-A8A7-4BAB-82EF-6C2FB1ED038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52400" y="350838"/>
            <a:ext cx="3048000" cy="868362"/>
          </a:xfrm>
        </p:spPr>
        <p:txBody>
          <a:bodyPr/>
          <a:lstStyle/>
          <a:p>
            <a:r>
              <a:rPr lang="en-US" altLang="en-US" dirty="0">
                <a:solidFill>
                  <a:srgbClr val="FF0000"/>
                </a:solidFill>
                <a:sym typeface="Symbol" panose="05050102010706020507" pitchFamily="18" charset="2"/>
              </a:rPr>
              <a:t>-notation</a:t>
            </a:r>
          </a:p>
        </p:txBody>
      </p:sp>
      <p:pic>
        <p:nvPicPr>
          <p:cNvPr id="394261" name="Picture 21">
            <a:extLst>
              <a:ext uri="{FF2B5EF4-FFF2-40B4-BE49-F238E27FC236}">
                <a16:creationId xmlns:a16="http://schemas.microsoft.com/office/drawing/2014/main" id="{971F57CD-CDB6-4A12-8A48-2687A2AA8A5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41900" y="1387475"/>
            <a:ext cx="4030663" cy="41798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94262" name="Rectangle 22">
            <a:extLst>
              <a:ext uri="{FF2B5EF4-FFF2-40B4-BE49-F238E27FC236}">
                <a16:creationId xmlns:a16="http://schemas.microsoft.com/office/drawing/2014/main" id="{E58D7C8E-0ED3-4367-A86F-69D07290B68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1301" y="2241550"/>
            <a:ext cx="4870450" cy="2374900"/>
          </a:xfrm>
          <a:prstGeom prst="rect">
            <a:avLst/>
          </a:prstGeom>
          <a:solidFill>
            <a:srgbClr val="CCECFF"/>
          </a:solidFill>
          <a:ln w="19050" cap="sq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Aft>
                <a:spcPct val="20000"/>
              </a:spcAft>
              <a:buClr>
                <a:srgbClr val="FF6600"/>
              </a:buClr>
              <a:buSzPct val="80000"/>
              <a:buFont typeface="Wingdings" panose="05000000000000000000" pitchFamily="2" charset="2"/>
              <a:buNone/>
            </a:pPr>
            <a:r>
              <a:rPr kumimoji="1" lang="en-US" altLang="en-US" sz="2600" b="1" dirty="0">
                <a:solidFill>
                  <a:schemeClr val="accent1"/>
                </a:solidFill>
                <a:sym typeface="Symbol" panose="05050102010706020507" pitchFamily="18" charset="2"/>
              </a:rPr>
              <a:t></a:t>
            </a:r>
            <a:r>
              <a:rPr kumimoji="1" lang="en-US" altLang="en-US" sz="2600" b="1" dirty="0">
                <a:solidFill>
                  <a:schemeClr val="accent1"/>
                </a:solidFill>
              </a:rPr>
              <a:t>(</a:t>
            </a:r>
            <a:r>
              <a:rPr kumimoji="1" lang="en-US" altLang="en-US" sz="2600" b="1" i="1" dirty="0">
                <a:solidFill>
                  <a:schemeClr val="accent1"/>
                </a:solidFill>
              </a:rPr>
              <a:t>g</a:t>
            </a:r>
            <a:r>
              <a:rPr kumimoji="1" lang="en-US" altLang="en-US" sz="2600" b="1" dirty="0">
                <a:solidFill>
                  <a:schemeClr val="accent1"/>
                </a:solidFill>
              </a:rPr>
              <a:t>(</a:t>
            </a:r>
            <a:r>
              <a:rPr kumimoji="1" lang="en-US" altLang="en-US" sz="2600" b="1" i="1" dirty="0">
                <a:solidFill>
                  <a:schemeClr val="accent1"/>
                </a:solidFill>
              </a:rPr>
              <a:t>n</a:t>
            </a:r>
            <a:r>
              <a:rPr kumimoji="1" lang="en-US" altLang="en-US" sz="2600" b="1" dirty="0">
                <a:solidFill>
                  <a:schemeClr val="accent1"/>
                </a:solidFill>
              </a:rPr>
              <a:t>)) =</a:t>
            </a:r>
            <a:r>
              <a:rPr kumimoji="1" lang="en-US" altLang="en-US" sz="2600" b="1" dirty="0">
                <a:solidFill>
                  <a:schemeClr val="hlink"/>
                </a:solidFill>
              </a:rPr>
              <a:t> </a:t>
            </a:r>
            <a:r>
              <a:rPr kumimoji="1" lang="en-US" altLang="en-US" sz="3000" b="1" dirty="0">
                <a:solidFill>
                  <a:schemeClr val="hlink"/>
                </a:solidFill>
              </a:rPr>
              <a:t>{</a:t>
            </a:r>
            <a:r>
              <a:rPr kumimoji="1" lang="en-US" altLang="en-US" sz="2600" b="1" i="1" dirty="0">
                <a:solidFill>
                  <a:schemeClr val="hlink"/>
                </a:solidFill>
              </a:rPr>
              <a:t>f</a:t>
            </a:r>
            <a:r>
              <a:rPr kumimoji="1" lang="en-US" altLang="en-US" sz="2600" b="1" dirty="0">
                <a:solidFill>
                  <a:schemeClr val="hlink"/>
                </a:solidFill>
              </a:rPr>
              <a:t>(</a:t>
            </a:r>
            <a:r>
              <a:rPr kumimoji="1" lang="en-US" altLang="en-US" sz="2600" b="1" i="1" dirty="0">
                <a:solidFill>
                  <a:schemeClr val="hlink"/>
                </a:solidFill>
              </a:rPr>
              <a:t>n</a:t>
            </a:r>
            <a:r>
              <a:rPr kumimoji="1" lang="en-US" altLang="en-US" sz="2600" b="1" dirty="0">
                <a:solidFill>
                  <a:schemeClr val="hlink"/>
                </a:solidFill>
              </a:rPr>
              <a:t>) : </a:t>
            </a:r>
            <a:br>
              <a:rPr kumimoji="1" lang="en-US" altLang="en-US" sz="2600" b="1" dirty="0">
                <a:solidFill>
                  <a:schemeClr val="hlink"/>
                </a:solidFill>
              </a:rPr>
            </a:br>
            <a:r>
              <a:rPr kumimoji="1" lang="en-US" altLang="en-US" sz="2600" b="1" dirty="0">
                <a:solidFill>
                  <a:srgbClr val="FF3300"/>
                </a:solidFill>
                <a:sym typeface="Symbol" panose="05050102010706020507" pitchFamily="18" charset="2"/>
              </a:rPr>
              <a:t> </a:t>
            </a:r>
            <a:r>
              <a:rPr kumimoji="1" lang="en-US" altLang="en-US" sz="2600" b="1" dirty="0">
                <a:solidFill>
                  <a:srgbClr val="FF3300"/>
                </a:solidFill>
              </a:rPr>
              <a:t>positive constants </a:t>
            </a:r>
            <a:r>
              <a:rPr kumimoji="1" lang="en-US" altLang="en-US" sz="2600" b="1" i="1" dirty="0">
                <a:solidFill>
                  <a:srgbClr val="FF3300"/>
                </a:solidFill>
              </a:rPr>
              <a:t>c</a:t>
            </a:r>
            <a:r>
              <a:rPr kumimoji="1" lang="en-US" altLang="en-US" sz="2600" b="1" baseline="-25000" dirty="0">
                <a:solidFill>
                  <a:srgbClr val="FF3300"/>
                </a:solidFill>
              </a:rPr>
              <a:t>1</a:t>
            </a:r>
            <a:r>
              <a:rPr kumimoji="1" lang="en-US" altLang="en-US" sz="2600" b="1" dirty="0">
                <a:solidFill>
                  <a:srgbClr val="FF3300"/>
                </a:solidFill>
              </a:rPr>
              <a:t>, </a:t>
            </a:r>
            <a:r>
              <a:rPr kumimoji="1" lang="en-US" altLang="en-US" sz="2600" b="1" i="1" dirty="0">
                <a:solidFill>
                  <a:srgbClr val="FF3300"/>
                </a:solidFill>
              </a:rPr>
              <a:t>c</a:t>
            </a:r>
            <a:r>
              <a:rPr kumimoji="1" lang="en-US" altLang="en-US" sz="2600" b="1" baseline="-25000" dirty="0">
                <a:solidFill>
                  <a:srgbClr val="FF3300"/>
                </a:solidFill>
              </a:rPr>
              <a:t>2</a:t>
            </a:r>
            <a:r>
              <a:rPr kumimoji="1" lang="en-US" altLang="en-US" sz="2600" b="1" dirty="0">
                <a:solidFill>
                  <a:srgbClr val="FF3300"/>
                </a:solidFill>
              </a:rPr>
              <a:t>, and </a:t>
            </a:r>
            <a:r>
              <a:rPr kumimoji="1" lang="en-US" altLang="en-US" sz="2600" b="1" i="1" dirty="0">
                <a:solidFill>
                  <a:srgbClr val="FF3300"/>
                </a:solidFill>
              </a:rPr>
              <a:t>n</a:t>
            </a:r>
            <a:r>
              <a:rPr kumimoji="1" lang="en-US" altLang="en-US" sz="2600" b="1" baseline="-25000" dirty="0">
                <a:solidFill>
                  <a:srgbClr val="FF3300"/>
                </a:solidFill>
              </a:rPr>
              <a:t>0,</a:t>
            </a:r>
            <a:r>
              <a:rPr kumimoji="1" lang="en-US" altLang="en-US" sz="2600" b="1" dirty="0">
                <a:solidFill>
                  <a:schemeClr val="hlink"/>
                </a:solidFill>
              </a:rPr>
              <a:t> </a:t>
            </a:r>
            <a:r>
              <a:rPr kumimoji="1" lang="en-US" altLang="en-US" sz="2600" b="1" dirty="0">
                <a:solidFill>
                  <a:srgbClr val="CC0000"/>
                </a:solidFill>
              </a:rPr>
              <a:t>such that </a:t>
            </a:r>
            <a:r>
              <a:rPr kumimoji="1" lang="en-US" altLang="en-US" b="1" dirty="0">
                <a:solidFill>
                  <a:srgbClr val="CC0000"/>
                </a:solidFill>
                <a:sym typeface="Symbol" panose="05050102010706020507" pitchFamily="18" charset="2"/>
              </a:rPr>
              <a:t></a:t>
            </a:r>
            <a:r>
              <a:rPr kumimoji="1" lang="en-US" altLang="en-US" b="1" i="1" dirty="0">
                <a:solidFill>
                  <a:srgbClr val="CC0000"/>
                </a:solidFill>
              </a:rPr>
              <a:t>n </a:t>
            </a:r>
            <a:r>
              <a:rPr kumimoji="1" lang="en-US" altLang="en-US" b="1" dirty="0">
                <a:solidFill>
                  <a:srgbClr val="CC0000"/>
                </a:solidFill>
                <a:sym typeface="Symbol" panose="05050102010706020507" pitchFamily="18" charset="2"/>
              </a:rPr>
              <a:t></a:t>
            </a:r>
            <a:r>
              <a:rPr kumimoji="1" lang="en-US" altLang="en-US" b="1" i="1" dirty="0">
                <a:solidFill>
                  <a:srgbClr val="CC0000"/>
                </a:solidFill>
              </a:rPr>
              <a:t>  n</a:t>
            </a:r>
            <a:r>
              <a:rPr kumimoji="1" lang="en-US" altLang="en-US" b="1" baseline="-25000" dirty="0">
                <a:solidFill>
                  <a:srgbClr val="CC0000"/>
                </a:solidFill>
              </a:rPr>
              <a:t>0</a:t>
            </a:r>
            <a:r>
              <a:rPr kumimoji="1" lang="en-US" altLang="en-US" dirty="0">
                <a:solidFill>
                  <a:srgbClr val="CC0000"/>
                </a:solidFill>
              </a:rPr>
              <a:t>,</a:t>
            </a:r>
            <a:endParaRPr kumimoji="1" lang="en-US" altLang="en-US" sz="2600" b="1" dirty="0">
              <a:solidFill>
                <a:srgbClr val="CC0000"/>
              </a:solidFill>
            </a:endParaRPr>
          </a:p>
          <a:p>
            <a:pPr>
              <a:spcAft>
                <a:spcPct val="20000"/>
              </a:spcAft>
              <a:buClr>
                <a:srgbClr val="FF6600"/>
              </a:buClr>
              <a:buSzPct val="80000"/>
              <a:buFont typeface="Wingdings" panose="05000000000000000000" pitchFamily="2" charset="2"/>
              <a:buNone/>
            </a:pPr>
            <a:r>
              <a:rPr kumimoji="1" lang="en-US" altLang="en-US" sz="2200" b="1" dirty="0">
                <a:solidFill>
                  <a:schemeClr val="hlink"/>
                </a:solidFill>
              </a:rPr>
              <a:t>we have</a:t>
            </a:r>
            <a:r>
              <a:rPr kumimoji="1" lang="en-US" altLang="en-US" sz="2600" b="1" dirty="0">
                <a:solidFill>
                  <a:schemeClr val="hlink"/>
                </a:solidFill>
              </a:rPr>
              <a:t> 0 </a:t>
            </a:r>
            <a:r>
              <a:rPr kumimoji="1" lang="en-US" altLang="en-US" sz="2600" b="1" dirty="0">
                <a:solidFill>
                  <a:schemeClr val="hlink"/>
                </a:solidFill>
                <a:sym typeface="Symbol" panose="05050102010706020507" pitchFamily="18" charset="2"/>
              </a:rPr>
              <a:t></a:t>
            </a:r>
            <a:r>
              <a:rPr kumimoji="1" lang="en-US" altLang="en-US" sz="2600" b="1" dirty="0">
                <a:solidFill>
                  <a:schemeClr val="hlink"/>
                </a:solidFill>
              </a:rPr>
              <a:t> </a:t>
            </a:r>
            <a:r>
              <a:rPr kumimoji="1" lang="en-US" altLang="en-US" sz="2600" b="1" i="1" dirty="0">
                <a:solidFill>
                  <a:schemeClr val="hlink"/>
                </a:solidFill>
              </a:rPr>
              <a:t>c</a:t>
            </a:r>
            <a:r>
              <a:rPr kumimoji="1" lang="en-US" altLang="en-US" sz="2600" b="1" baseline="-25000" dirty="0">
                <a:solidFill>
                  <a:schemeClr val="hlink"/>
                </a:solidFill>
              </a:rPr>
              <a:t>1</a:t>
            </a:r>
            <a:r>
              <a:rPr kumimoji="1" lang="en-US" altLang="en-US" sz="2600" b="1" i="1" dirty="0">
                <a:solidFill>
                  <a:schemeClr val="hlink"/>
                </a:solidFill>
              </a:rPr>
              <a:t>g</a:t>
            </a:r>
            <a:r>
              <a:rPr kumimoji="1" lang="en-US" altLang="en-US" sz="2600" b="1" dirty="0">
                <a:solidFill>
                  <a:schemeClr val="hlink"/>
                </a:solidFill>
              </a:rPr>
              <a:t>(</a:t>
            </a:r>
            <a:r>
              <a:rPr kumimoji="1" lang="en-US" altLang="en-US" sz="2600" b="1" i="1" dirty="0">
                <a:solidFill>
                  <a:schemeClr val="hlink"/>
                </a:solidFill>
              </a:rPr>
              <a:t>n</a:t>
            </a:r>
            <a:r>
              <a:rPr kumimoji="1" lang="en-US" altLang="en-US" sz="2600" b="1" dirty="0">
                <a:solidFill>
                  <a:schemeClr val="hlink"/>
                </a:solidFill>
              </a:rPr>
              <a:t>) </a:t>
            </a:r>
            <a:r>
              <a:rPr kumimoji="1" lang="en-US" altLang="en-US" sz="2600" b="1" dirty="0">
                <a:solidFill>
                  <a:schemeClr val="hlink"/>
                </a:solidFill>
                <a:sym typeface="Symbol" panose="05050102010706020507" pitchFamily="18" charset="2"/>
              </a:rPr>
              <a:t> </a:t>
            </a:r>
            <a:r>
              <a:rPr kumimoji="1" lang="en-US" altLang="en-US" sz="2600" b="1" dirty="0">
                <a:solidFill>
                  <a:schemeClr val="hlink"/>
                </a:solidFill>
              </a:rPr>
              <a:t> </a:t>
            </a:r>
            <a:r>
              <a:rPr kumimoji="1" lang="en-US" altLang="en-US" sz="2600" b="1" i="1" dirty="0">
                <a:solidFill>
                  <a:schemeClr val="hlink"/>
                </a:solidFill>
              </a:rPr>
              <a:t>f</a:t>
            </a:r>
            <a:r>
              <a:rPr kumimoji="1" lang="en-US" altLang="en-US" sz="2600" b="1" dirty="0">
                <a:solidFill>
                  <a:schemeClr val="hlink"/>
                </a:solidFill>
              </a:rPr>
              <a:t>(</a:t>
            </a:r>
            <a:r>
              <a:rPr kumimoji="1" lang="en-US" altLang="en-US" sz="2600" b="1" i="1" dirty="0">
                <a:solidFill>
                  <a:schemeClr val="hlink"/>
                </a:solidFill>
              </a:rPr>
              <a:t>n</a:t>
            </a:r>
            <a:r>
              <a:rPr kumimoji="1" lang="en-US" altLang="en-US" sz="2600" b="1" dirty="0">
                <a:solidFill>
                  <a:schemeClr val="hlink"/>
                </a:solidFill>
              </a:rPr>
              <a:t>)</a:t>
            </a:r>
            <a:r>
              <a:rPr kumimoji="1" lang="en-US" altLang="en-US" sz="2600" b="1" i="1" dirty="0">
                <a:solidFill>
                  <a:schemeClr val="hlink"/>
                </a:solidFill>
              </a:rPr>
              <a:t> </a:t>
            </a:r>
            <a:r>
              <a:rPr kumimoji="1" lang="en-US" altLang="en-US" sz="2600" b="1" dirty="0">
                <a:solidFill>
                  <a:schemeClr val="hlink"/>
                </a:solidFill>
                <a:sym typeface="Symbol" panose="05050102010706020507" pitchFamily="18" charset="2"/>
              </a:rPr>
              <a:t></a:t>
            </a:r>
            <a:r>
              <a:rPr kumimoji="1" lang="en-US" altLang="en-US" sz="2600" b="1" dirty="0">
                <a:solidFill>
                  <a:schemeClr val="hlink"/>
                </a:solidFill>
              </a:rPr>
              <a:t> c</a:t>
            </a:r>
            <a:r>
              <a:rPr kumimoji="1" lang="en-US" altLang="en-US" sz="2600" b="1" baseline="-25000" dirty="0">
                <a:solidFill>
                  <a:schemeClr val="hlink"/>
                </a:solidFill>
              </a:rPr>
              <a:t>2</a:t>
            </a:r>
            <a:r>
              <a:rPr kumimoji="1" lang="en-US" altLang="en-US" sz="2600" b="1" i="1" dirty="0">
                <a:solidFill>
                  <a:schemeClr val="hlink"/>
                </a:solidFill>
              </a:rPr>
              <a:t>g</a:t>
            </a:r>
            <a:r>
              <a:rPr kumimoji="1" lang="en-US" altLang="en-US" sz="2600" b="1" dirty="0">
                <a:solidFill>
                  <a:schemeClr val="hlink"/>
                </a:solidFill>
              </a:rPr>
              <a:t>(</a:t>
            </a:r>
            <a:r>
              <a:rPr kumimoji="1" lang="en-US" altLang="en-US" sz="2600" b="1" i="1" dirty="0">
                <a:solidFill>
                  <a:schemeClr val="hlink"/>
                </a:solidFill>
              </a:rPr>
              <a:t>n</a:t>
            </a:r>
            <a:r>
              <a:rPr kumimoji="1" lang="en-US" altLang="en-US" sz="2600" b="1" dirty="0">
                <a:solidFill>
                  <a:schemeClr val="hlink"/>
                </a:solidFill>
              </a:rPr>
              <a:t>)</a:t>
            </a:r>
          </a:p>
          <a:p>
            <a:pPr>
              <a:spcAft>
                <a:spcPct val="20000"/>
              </a:spcAft>
              <a:buClr>
                <a:srgbClr val="FF6600"/>
              </a:buClr>
              <a:buSzPct val="80000"/>
              <a:buFont typeface="Wingdings" panose="05000000000000000000" pitchFamily="2" charset="2"/>
              <a:buNone/>
            </a:pPr>
            <a:r>
              <a:rPr kumimoji="1" lang="en-US" altLang="en-US" sz="3000" b="1" dirty="0">
                <a:solidFill>
                  <a:schemeClr val="hlink"/>
                </a:solidFill>
              </a:rPr>
              <a:t>}</a:t>
            </a:r>
          </a:p>
        </p:txBody>
      </p:sp>
      <p:sp>
        <p:nvSpPr>
          <p:cNvPr id="394263" name="Rectangle 23">
            <a:extLst>
              <a:ext uri="{FF2B5EF4-FFF2-40B4-BE49-F238E27FC236}">
                <a16:creationId xmlns:a16="http://schemas.microsoft.com/office/drawing/2014/main" id="{8DDB1F67-9D6D-43E8-BDB5-7B751DD8C91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" y="1284288"/>
            <a:ext cx="5197475" cy="8858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8575" cap="sq">
                <a:solidFill>
                  <a:schemeClr val="bg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Aft>
                <a:spcPct val="20000"/>
              </a:spcAft>
              <a:buClr>
                <a:srgbClr val="FF6600"/>
              </a:buClr>
              <a:buSzPct val="80000"/>
              <a:buFont typeface="Wingdings" panose="05000000000000000000" pitchFamily="2" charset="2"/>
              <a:buNone/>
            </a:pPr>
            <a:r>
              <a:rPr kumimoji="1" lang="en-US" altLang="en-US" sz="2600" dirty="0"/>
              <a:t>For function </a:t>
            </a:r>
            <a:r>
              <a:rPr kumimoji="1" lang="en-US" altLang="en-US" sz="2600" i="1" dirty="0"/>
              <a:t>g</a:t>
            </a:r>
            <a:r>
              <a:rPr kumimoji="1" lang="en-US" altLang="en-US" sz="2600" dirty="0"/>
              <a:t>(</a:t>
            </a:r>
            <a:r>
              <a:rPr kumimoji="1" lang="en-US" altLang="en-US" sz="2600" i="1" dirty="0"/>
              <a:t>n</a:t>
            </a:r>
            <a:r>
              <a:rPr kumimoji="1" lang="en-US" altLang="en-US" sz="2600" dirty="0"/>
              <a:t>), we define </a:t>
            </a:r>
            <a:r>
              <a:rPr kumimoji="1" lang="en-US" altLang="en-US" sz="2600" dirty="0">
                <a:sym typeface="Symbol" panose="05050102010706020507" pitchFamily="18" charset="2"/>
              </a:rPr>
              <a:t></a:t>
            </a:r>
            <a:r>
              <a:rPr kumimoji="1" lang="en-US" altLang="en-US" sz="2600" dirty="0"/>
              <a:t>(</a:t>
            </a:r>
            <a:r>
              <a:rPr kumimoji="1" lang="en-US" altLang="en-US" sz="2600" i="1" dirty="0"/>
              <a:t>g</a:t>
            </a:r>
            <a:r>
              <a:rPr kumimoji="1" lang="en-US" altLang="en-US" sz="2600" dirty="0"/>
              <a:t>(</a:t>
            </a:r>
            <a:r>
              <a:rPr kumimoji="1" lang="en-US" altLang="en-US" sz="2600" i="1" dirty="0"/>
              <a:t>n</a:t>
            </a:r>
            <a:r>
              <a:rPr kumimoji="1" lang="en-US" altLang="en-US" sz="2600" dirty="0"/>
              <a:t>)), big-Theta of </a:t>
            </a:r>
            <a:r>
              <a:rPr kumimoji="1" lang="en-US" altLang="en-US" sz="2600" i="1" dirty="0"/>
              <a:t>n</a:t>
            </a:r>
            <a:r>
              <a:rPr kumimoji="1" lang="en-US" altLang="en-US" sz="2600" dirty="0"/>
              <a:t>, as the set:</a:t>
            </a:r>
          </a:p>
        </p:txBody>
      </p:sp>
      <p:sp>
        <p:nvSpPr>
          <p:cNvPr id="394264" name="Rectangle 24">
            <a:extLst>
              <a:ext uri="{FF2B5EF4-FFF2-40B4-BE49-F238E27FC236}">
                <a16:creationId xmlns:a16="http://schemas.microsoft.com/office/drawing/2014/main" id="{372F0183-5DFC-455C-8A75-FDF14C5992A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8837" y="5463312"/>
            <a:ext cx="6375591" cy="175432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8575" cap="sq">
                <a:solidFill>
                  <a:schemeClr val="bg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kumimoji="1" lang="en-US" altLang="en-US" sz="2600" b="1" i="1" dirty="0"/>
              <a:t>g</a:t>
            </a:r>
            <a:r>
              <a:rPr kumimoji="1" lang="en-US" altLang="en-US" sz="2600" b="1" dirty="0"/>
              <a:t>(</a:t>
            </a:r>
            <a:r>
              <a:rPr kumimoji="1" lang="en-US" altLang="en-US" sz="2600" b="1" i="1" dirty="0"/>
              <a:t>n</a:t>
            </a:r>
            <a:r>
              <a:rPr kumimoji="1" lang="en-US" altLang="en-US" sz="2600" b="1" dirty="0"/>
              <a:t>) is an </a:t>
            </a:r>
            <a:r>
              <a:rPr kumimoji="1" lang="en-US" altLang="en-US" sz="2600" b="1" i="1" dirty="0">
                <a:solidFill>
                  <a:srgbClr val="CC0000"/>
                </a:solidFill>
              </a:rPr>
              <a:t>asymptotically tight bound</a:t>
            </a:r>
            <a:r>
              <a:rPr kumimoji="1" lang="en-US" altLang="en-US" sz="2600" b="1" dirty="0"/>
              <a:t> for </a:t>
            </a:r>
            <a:r>
              <a:rPr kumimoji="1" lang="en-US" altLang="en-US" sz="2600" b="1" i="1" dirty="0"/>
              <a:t>f</a:t>
            </a:r>
            <a:r>
              <a:rPr kumimoji="1" lang="en-US" altLang="en-US" sz="2600" b="1" dirty="0"/>
              <a:t>(</a:t>
            </a:r>
            <a:r>
              <a:rPr kumimoji="1" lang="en-US" altLang="en-US" sz="2600" b="1" i="1" dirty="0"/>
              <a:t>n</a:t>
            </a:r>
            <a:r>
              <a:rPr kumimoji="1" lang="en-US" altLang="en-US" sz="2600" b="1" dirty="0"/>
              <a:t>).</a:t>
            </a:r>
          </a:p>
          <a:p>
            <a:r>
              <a:rPr lang="en-US" altLang="en-US" sz="2800" b="1" i="1" dirty="0">
                <a:solidFill>
                  <a:schemeClr val="hlink"/>
                </a:solidFill>
              </a:rPr>
              <a:t>f</a:t>
            </a:r>
            <a:r>
              <a:rPr lang="en-US" altLang="en-US" sz="2800" b="1" dirty="0">
                <a:solidFill>
                  <a:schemeClr val="hlink"/>
                </a:solidFill>
              </a:rPr>
              <a:t>(</a:t>
            </a:r>
            <a:r>
              <a:rPr lang="en-US" altLang="en-US" sz="2800" b="1" i="1" dirty="0">
                <a:solidFill>
                  <a:schemeClr val="hlink"/>
                </a:solidFill>
              </a:rPr>
              <a:t>n</a:t>
            </a:r>
            <a:r>
              <a:rPr lang="en-US" altLang="en-US" sz="2800" b="1" dirty="0">
                <a:solidFill>
                  <a:schemeClr val="hlink"/>
                </a:solidFill>
              </a:rPr>
              <a:t>) = </a:t>
            </a:r>
            <a:r>
              <a:rPr lang="en-US" altLang="en-US" sz="2800" b="1" dirty="0">
                <a:solidFill>
                  <a:schemeClr val="hlink"/>
                </a:solidFill>
                <a:sym typeface="Symbol" panose="05050102010706020507" pitchFamily="18" charset="2"/>
              </a:rPr>
              <a:t>O(</a:t>
            </a:r>
            <a:r>
              <a:rPr lang="en-US" altLang="en-US" sz="2800" b="1" i="1" dirty="0">
                <a:solidFill>
                  <a:schemeClr val="hlink"/>
                </a:solidFill>
                <a:sym typeface="Symbol" panose="05050102010706020507" pitchFamily="18" charset="2"/>
              </a:rPr>
              <a:t>g</a:t>
            </a:r>
            <a:r>
              <a:rPr lang="en-US" altLang="en-US" sz="2800" b="1" dirty="0">
                <a:solidFill>
                  <a:schemeClr val="hlink"/>
                </a:solidFill>
                <a:sym typeface="Symbol" panose="05050102010706020507" pitchFamily="18" charset="2"/>
              </a:rPr>
              <a:t>(</a:t>
            </a:r>
            <a:r>
              <a:rPr lang="en-US" altLang="en-US" sz="2800" b="1" i="1" dirty="0">
                <a:solidFill>
                  <a:schemeClr val="hlink"/>
                </a:solidFill>
                <a:sym typeface="Symbol" panose="05050102010706020507" pitchFamily="18" charset="2"/>
              </a:rPr>
              <a:t>n</a:t>
            </a:r>
            <a:r>
              <a:rPr lang="en-US" altLang="en-US" sz="2800" b="1" dirty="0">
                <a:solidFill>
                  <a:schemeClr val="hlink"/>
                </a:solidFill>
                <a:sym typeface="Symbol" panose="05050102010706020507" pitchFamily="18" charset="2"/>
              </a:rPr>
              <a:t>)) as well as  </a:t>
            </a:r>
            <a:r>
              <a:rPr lang="en-US" altLang="en-US" sz="2800" b="1" i="1" dirty="0">
                <a:solidFill>
                  <a:schemeClr val="hlink"/>
                </a:solidFill>
              </a:rPr>
              <a:t>f</a:t>
            </a:r>
            <a:r>
              <a:rPr lang="en-US" altLang="en-US" sz="2800" b="1" dirty="0">
                <a:solidFill>
                  <a:schemeClr val="hlink"/>
                </a:solidFill>
              </a:rPr>
              <a:t>(</a:t>
            </a:r>
            <a:r>
              <a:rPr lang="en-US" altLang="en-US" sz="2800" b="1" i="1" dirty="0">
                <a:solidFill>
                  <a:schemeClr val="hlink"/>
                </a:solidFill>
              </a:rPr>
              <a:t>n</a:t>
            </a:r>
            <a:r>
              <a:rPr lang="en-US" altLang="en-US" sz="2800" b="1" dirty="0">
                <a:solidFill>
                  <a:schemeClr val="hlink"/>
                </a:solidFill>
              </a:rPr>
              <a:t>) = </a:t>
            </a:r>
            <a:r>
              <a:rPr lang="en-US" altLang="en-US" sz="2800" b="1" dirty="0">
                <a:solidFill>
                  <a:schemeClr val="hlink"/>
                </a:solidFill>
                <a:sym typeface="Symbol" panose="05050102010706020507" pitchFamily="18" charset="2"/>
              </a:rPr>
              <a:t>(</a:t>
            </a:r>
            <a:r>
              <a:rPr lang="en-US" altLang="en-US" sz="2800" b="1" i="1" dirty="0">
                <a:solidFill>
                  <a:schemeClr val="hlink"/>
                </a:solidFill>
                <a:sym typeface="Symbol" panose="05050102010706020507" pitchFamily="18" charset="2"/>
              </a:rPr>
              <a:t>g</a:t>
            </a:r>
            <a:r>
              <a:rPr lang="en-US" altLang="en-US" sz="2800" b="1" dirty="0">
                <a:solidFill>
                  <a:schemeClr val="hlink"/>
                </a:solidFill>
                <a:sym typeface="Symbol" panose="05050102010706020507" pitchFamily="18" charset="2"/>
              </a:rPr>
              <a:t>(</a:t>
            </a:r>
            <a:r>
              <a:rPr lang="en-US" altLang="en-US" sz="2800" b="1" i="1" dirty="0">
                <a:solidFill>
                  <a:schemeClr val="hlink"/>
                </a:solidFill>
                <a:sym typeface="Symbol" panose="05050102010706020507" pitchFamily="18" charset="2"/>
              </a:rPr>
              <a:t>n</a:t>
            </a:r>
            <a:r>
              <a:rPr lang="en-US" altLang="en-US" sz="2800" b="1" dirty="0">
                <a:solidFill>
                  <a:schemeClr val="hlink"/>
                </a:solidFill>
                <a:sym typeface="Symbol" panose="05050102010706020507" pitchFamily="18" charset="2"/>
              </a:rPr>
              <a:t>)).</a:t>
            </a:r>
          </a:p>
          <a:p>
            <a:endParaRPr lang="en-US" altLang="en-US" sz="2800" b="1" dirty="0">
              <a:solidFill>
                <a:schemeClr val="hlink"/>
              </a:solidFill>
              <a:sym typeface="Symbol" panose="05050102010706020507" pitchFamily="18" charset="2"/>
            </a:endParaRPr>
          </a:p>
          <a:p>
            <a:endParaRPr kumimoji="1" lang="en-US" altLang="en-US" sz="2600" b="1" dirty="0"/>
          </a:p>
        </p:txBody>
      </p:sp>
      <p:sp>
        <p:nvSpPr>
          <p:cNvPr id="394265" name="Text Box 25">
            <a:extLst>
              <a:ext uri="{FF2B5EF4-FFF2-40B4-BE49-F238E27FC236}">
                <a16:creationId xmlns:a16="http://schemas.microsoft.com/office/drawing/2014/main" id="{63F2B088-094F-4E3F-BFE5-3B7CF1FCD6D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3525" y="4644033"/>
            <a:ext cx="3698577" cy="9233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 b="1" i="1" dirty="0"/>
              <a:t>Intuitively</a:t>
            </a:r>
            <a:r>
              <a:rPr lang="en-US" altLang="en-US" dirty="0"/>
              <a:t>: Set of all functions that</a:t>
            </a:r>
          </a:p>
          <a:p>
            <a:r>
              <a:rPr lang="en-US" altLang="en-US" dirty="0"/>
              <a:t>have the same </a:t>
            </a:r>
            <a:r>
              <a:rPr lang="en-US" altLang="en-US" i="1" dirty="0"/>
              <a:t>rate of growth</a:t>
            </a:r>
            <a:r>
              <a:rPr lang="en-US" altLang="en-US" dirty="0"/>
              <a:t> as </a:t>
            </a:r>
            <a:r>
              <a:rPr lang="en-US" altLang="en-US" i="1" dirty="0"/>
              <a:t>g</a:t>
            </a:r>
            <a:r>
              <a:rPr lang="en-US" altLang="en-US" dirty="0"/>
              <a:t>(</a:t>
            </a:r>
            <a:r>
              <a:rPr lang="en-US" altLang="en-US" i="1" dirty="0"/>
              <a:t>n</a:t>
            </a:r>
            <a:r>
              <a:rPr lang="en-US" altLang="en-US" dirty="0"/>
              <a:t>).</a:t>
            </a:r>
          </a:p>
          <a:p>
            <a:r>
              <a:rPr lang="en-US" altLang="en-US" b="1" i="1" dirty="0">
                <a:solidFill>
                  <a:schemeClr val="hlink"/>
                </a:solidFill>
              </a:rPr>
              <a:t>g</a:t>
            </a:r>
            <a:r>
              <a:rPr lang="en-US" b="1" i="1" dirty="0">
                <a:solidFill>
                  <a:schemeClr val="hlink"/>
                </a:solidFill>
              </a:rPr>
              <a:t>(n) &amp; f(n) have same rate of growth</a:t>
            </a:r>
            <a:endParaRPr lang="en-US" alt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0A57D48-4750-4EBF-BA8C-64B3754D41E0}"/>
              </a:ext>
            </a:extLst>
          </p:cNvPr>
          <p:cNvSpPr txBox="1"/>
          <p:nvPr/>
        </p:nvSpPr>
        <p:spPr>
          <a:xfrm>
            <a:off x="2292998" y="3244334"/>
            <a:ext cx="458599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en-US" dirty="0">
                <a:solidFill>
                  <a:srgbClr val="FF0000"/>
                </a:solidFill>
                <a:sym typeface="Symbol" panose="05050102010706020507" pitchFamily="18" charset="2"/>
              </a:rPr>
              <a:t></a:t>
            </a:r>
            <a:endParaRPr lang="en-IN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29E31C-D4E6-4020-97D6-220BB8841E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0" y="350838"/>
            <a:ext cx="4876800" cy="868362"/>
          </a:xfrm>
        </p:spPr>
        <p:txBody>
          <a:bodyPr/>
          <a:lstStyle/>
          <a:p>
            <a:r>
              <a:rPr lang="en-US" dirty="0"/>
              <a:t> </a:t>
            </a:r>
            <a:r>
              <a:rPr lang="en-US" altLang="en-US" dirty="0">
                <a:solidFill>
                  <a:srgbClr val="FF0000"/>
                </a:solidFill>
                <a:sym typeface="Symbol" panose="05050102010706020507" pitchFamily="18" charset="2"/>
              </a:rPr>
              <a:t> </a:t>
            </a:r>
            <a:r>
              <a:rPr lang="en-US" dirty="0" err="1">
                <a:solidFill>
                  <a:srgbClr val="FF0000"/>
                </a:solidFill>
              </a:rPr>
              <a:t>Notaion</a:t>
            </a:r>
            <a:r>
              <a:rPr lang="en-US" dirty="0">
                <a:solidFill>
                  <a:srgbClr val="FF0000"/>
                </a:solidFill>
              </a:rPr>
              <a:t>…</a:t>
            </a:r>
            <a:r>
              <a:rPr lang="en-US" dirty="0" err="1">
                <a:solidFill>
                  <a:srgbClr val="FF0000"/>
                </a:solidFill>
              </a:rPr>
              <a:t>cont</a:t>
            </a:r>
            <a:endParaRPr lang="en-IN" dirty="0">
              <a:solidFill>
                <a:srgbClr val="FF000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ACB641-F339-4021-988E-B03A7C84A96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Order of growth of f(n) is same as order of growth of g(n).</a:t>
            </a:r>
          </a:p>
          <a:p>
            <a:r>
              <a:rPr lang="en-US" dirty="0"/>
              <a:t>This notation is useful to demonstrate that the algorithm is </a:t>
            </a:r>
            <a:r>
              <a:rPr lang="en-US" sz="2400" dirty="0">
                <a:solidFill>
                  <a:srgbClr val="00B050"/>
                </a:solidFill>
              </a:rPr>
              <a:t>asymptotically as efficient as possible</a:t>
            </a:r>
            <a:r>
              <a:rPr lang="en-US" dirty="0"/>
              <a:t> (Algorithm is best ever solution)</a:t>
            </a:r>
          </a:p>
          <a:p>
            <a:r>
              <a:rPr lang="en-US" dirty="0"/>
              <a:t>Describes the </a:t>
            </a:r>
            <a:r>
              <a:rPr lang="en-US" sz="2400" dirty="0">
                <a:solidFill>
                  <a:srgbClr val="FFC000"/>
                </a:solidFill>
              </a:rPr>
              <a:t>exact</a:t>
            </a:r>
            <a:r>
              <a:rPr lang="en-US" dirty="0"/>
              <a:t> </a:t>
            </a:r>
            <a:r>
              <a:rPr lang="en-US" sz="2400" dirty="0">
                <a:solidFill>
                  <a:srgbClr val="FFC000"/>
                </a:solidFill>
              </a:rPr>
              <a:t>tight bound </a:t>
            </a:r>
            <a:r>
              <a:rPr lang="en-US" dirty="0"/>
              <a:t>time complexity of an algorithm.</a:t>
            </a:r>
          </a:p>
          <a:p>
            <a:r>
              <a:rPr lang="en-US" altLang="en-US" sz="2000" dirty="0"/>
              <a:t>Assumes that the input is random( Guarantee that your algorithm takes this much time </a:t>
            </a:r>
            <a:r>
              <a:rPr lang="en-US" altLang="en-US" sz="2000" dirty="0">
                <a:solidFill>
                  <a:srgbClr val="FF0000"/>
                </a:solidFill>
              </a:rPr>
              <a:t>irrespective of input form</a:t>
            </a:r>
            <a:r>
              <a:rPr lang="en-US" altLang="en-US" sz="2000" dirty="0"/>
              <a:t>)</a:t>
            </a:r>
          </a:p>
          <a:p>
            <a:pPr marL="0" indent="0">
              <a:buNone/>
            </a:pPr>
            <a:endParaRPr lang="en-IN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6476D1-5266-4136-8613-11A70D810A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C643BA-ACA1-44BF-9071-763295A35907}" type="datetime4">
              <a:rPr lang="en-US" smtClean="0"/>
              <a:t>April 3, 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BB73B14-6CC9-4CEC-8A72-37490C1162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Computer Science &amp; Engineering, VNRVJIET, Hyderabad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D07132-21F1-45DF-8DA0-35F9875B91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FA3F07-B4E9-4FEB-BC07-B9713C186F28}" type="slidenum">
              <a:rPr lang="en-US" smtClean="0"/>
              <a:pPr/>
              <a:t>18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2093279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4">
            <a:extLst>
              <a:ext uri="{FF2B5EF4-FFF2-40B4-BE49-F238E27FC236}">
                <a16:creationId xmlns:a16="http://schemas.microsoft.com/office/drawing/2014/main" id="{A9B05752-0BAC-47A3-94AE-3CBDA21C41EE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A5BB1B77-2DBB-4C17-9C49-70386C54F6B4}" type="slidenum">
              <a:rPr lang="en-US" altLang="en-US"/>
              <a:pPr/>
              <a:t>19</a:t>
            </a:fld>
            <a:endParaRPr lang="en-US" altLang="en-US"/>
          </a:p>
        </p:txBody>
      </p:sp>
      <p:sp>
        <p:nvSpPr>
          <p:cNvPr id="160770" name="Rectangle 2">
            <a:extLst>
              <a:ext uri="{FF2B5EF4-FFF2-40B4-BE49-F238E27FC236}">
                <a16:creationId xmlns:a16="http://schemas.microsoft.com/office/drawing/2014/main" id="{D557B967-A303-47A8-AE79-885D2068773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52400" y="350838"/>
            <a:ext cx="6400800" cy="868362"/>
          </a:xfrm>
        </p:spPr>
        <p:txBody>
          <a:bodyPr>
            <a:normAutofit fontScale="90000"/>
          </a:bodyPr>
          <a:lstStyle/>
          <a:p>
            <a:r>
              <a:rPr lang="en-US" altLang="en-US" dirty="0">
                <a:solidFill>
                  <a:srgbClr val="FF0000"/>
                </a:solidFill>
              </a:rPr>
              <a:t>Asymptotic Notation: Summary</a:t>
            </a:r>
          </a:p>
        </p:txBody>
      </p:sp>
      <p:sp>
        <p:nvSpPr>
          <p:cNvPr id="160771" name="Rectangle 3">
            <a:extLst>
              <a:ext uri="{FF2B5EF4-FFF2-40B4-BE49-F238E27FC236}">
                <a16:creationId xmlns:a16="http://schemas.microsoft.com/office/drawing/2014/main" id="{7630A8F0-4E09-461E-B284-3D43A5AF337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 fontScale="70000" lnSpcReduction="20000"/>
          </a:bodyPr>
          <a:lstStyle/>
          <a:p>
            <a:pPr marL="533400" indent="-533400">
              <a:lnSpc>
                <a:spcPct val="180000"/>
              </a:lnSpc>
            </a:pPr>
            <a:r>
              <a:rPr lang="en-US" altLang="en-US" sz="2400" dirty="0">
                <a:solidFill>
                  <a:srgbClr val="00B050"/>
                </a:solidFill>
              </a:rPr>
              <a:t>O notation: asymptotic “less than”: 	</a:t>
            </a:r>
            <a:r>
              <a:rPr lang="en-US" altLang="en-US" sz="2400" dirty="0"/>
              <a:t>	</a:t>
            </a:r>
          </a:p>
          <a:p>
            <a:pPr marL="457200" lvl="1" indent="0">
              <a:lnSpc>
                <a:spcPct val="180000"/>
              </a:lnSpc>
              <a:buNone/>
            </a:pPr>
            <a:r>
              <a:rPr lang="en-US" altLang="en-US" sz="2400" dirty="0"/>
              <a:t>f(n)=O(g(n)) implies:  f(n) “</a:t>
            </a:r>
            <a:r>
              <a:rPr lang="en-US" altLang="en-US" sz="2400" dirty="0">
                <a:cs typeface="Arial" panose="020B0604020202020204" pitchFamily="34" charset="0"/>
              </a:rPr>
              <a:t>≤</a:t>
            </a:r>
            <a:r>
              <a:rPr lang="en-US" altLang="en-US" sz="2400" dirty="0"/>
              <a:t>” g(n)</a:t>
            </a:r>
          </a:p>
          <a:p>
            <a:pPr marL="533400" indent="-533400">
              <a:lnSpc>
                <a:spcPct val="180000"/>
              </a:lnSpc>
            </a:pPr>
            <a:r>
              <a:rPr lang="en-US" altLang="en-US" sz="2400" dirty="0">
                <a:solidFill>
                  <a:srgbClr val="00B050"/>
                </a:solidFill>
                <a:sym typeface="Symbol" panose="05050102010706020507" pitchFamily="18" charset="2"/>
              </a:rPr>
              <a:t> notation: asymptotic “greater than”: 	</a:t>
            </a:r>
          </a:p>
          <a:p>
            <a:pPr marL="457200" lvl="1" indent="0">
              <a:lnSpc>
                <a:spcPct val="180000"/>
              </a:lnSpc>
              <a:buNone/>
            </a:pPr>
            <a:r>
              <a:rPr lang="en-US" altLang="en-US" sz="2400" dirty="0"/>
              <a:t>f(n)= </a:t>
            </a:r>
            <a:r>
              <a:rPr lang="en-US" altLang="en-US" sz="2400" dirty="0">
                <a:sym typeface="Symbol" panose="05050102010706020507" pitchFamily="18" charset="2"/>
              </a:rPr>
              <a:t></a:t>
            </a:r>
            <a:r>
              <a:rPr lang="en-US" altLang="en-US" sz="2400" dirty="0"/>
              <a:t> (g(n)) implies: f(n) “</a:t>
            </a:r>
            <a:r>
              <a:rPr lang="en-US" altLang="en-US" sz="2400" dirty="0">
                <a:cs typeface="Arial" panose="020B0604020202020204" pitchFamily="34" charset="0"/>
              </a:rPr>
              <a:t>≥</a:t>
            </a:r>
            <a:r>
              <a:rPr lang="en-US" altLang="en-US" sz="2400" dirty="0"/>
              <a:t>” g(n)</a:t>
            </a:r>
          </a:p>
          <a:p>
            <a:pPr marL="533400" indent="-533400">
              <a:lnSpc>
                <a:spcPct val="180000"/>
              </a:lnSpc>
            </a:pPr>
            <a:r>
              <a:rPr lang="en-US" altLang="en-US" sz="2400" dirty="0">
                <a:solidFill>
                  <a:srgbClr val="00B050"/>
                </a:solidFill>
                <a:sym typeface="Symbol" panose="05050102010706020507" pitchFamily="18" charset="2"/>
              </a:rPr>
              <a:t> notation: asymptotic “equality”: 	</a:t>
            </a:r>
            <a:r>
              <a:rPr lang="en-US" altLang="en-US" sz="2400" dirty="0">
                <a:sym typeface="Symbol" panose="05050102010706020507" pitchFamily="18" charset="2"/>
              </a:rPr>
              <a:t>	</a:t>
            </a:r>
          </a:p>
          <a:p>
            <a:pPr marL="457200" lvl="1" indent="0">
              <a:lnSpc>
                <a:spcPct val="180000"/>
              </a:lnSpc>
              <a:buNone/>
            </a:pPr>
            <a:r>
              <a:rPr lang="en-US" altLang="en-US" sz="2400" dirty="0"/>
              <a:t>f(n)= </a:t>
            </a:r>
            <a:r>
              <a:rPr lang="en-US" altLang="en-US" sz="2400" dirty="0">
                <a:sym typeface="Symbol" panose="05050102010706020507" pitchFamily="18" charset="2"/>
              </a:rPr>
              <a:t></a:t>
            </a:r>
            <a:r>
              <a:rPr lang="en-US" altLang="en-US" sz="2400" dirty="0"/>
              <a:t> (g(n)) implies: </a:t>
            </a:r>
            <a:r>
              <a:rPr lang="en-US" altLang="en-US" sz="2400" dirty="0">
                <a:sym typeface="Symbol" panose="05050102010706020507" pitchFamily="18" charset="2"/>
              </a:rPr>
              <a:t>f(n) “=” g(n)</a:t>
            </a:r>
          </a:p>
          <a:p>
            <a:pPr marL="533400" indent="-533400">
              <a:lnSpc>
                <a:spcPct val="180000"/>
              </a:lnSpc>
            </a:pPr>
            <a:r>
              <a:rPr lang="en-US" altLang="en-US" sz="2400" dirty="0">
                <a:solidFill>
                  <a:srgbClr val="00B050"/>
                </a:solidFill>
              </a:rPr>
              <a:t>o notation: asymptotic “strictly less than”: 	</a:t>
            </a:r>
            <a:r>
              <a:rPr lang="en-US" altLang="en-US" sz="2400" dirty="0"/>
              <a:t>	</a:t>
            </a:r>
          </a:p>
          <a:p>
            <a:pPr marL="457200" lvl="1" indent="0">
              <a:lnSpc>
                <a:spcPct val="180000"/>
              </a:lnSpc>
              <a:buNone/>
            </a:pPr>
            <a:r>
              <a:rPr lang="en-US" altLang="en-US" sz="2400" dirty="0"/>
              <a:t>f(n)=o(g(n)) implies:  f(n) “&lt;” g(n)</a:t>
            </a:r>
          </a:p>
          <a:p>
            <a:pPr marL="533400" indent="-533400">
              <a:lnSpc>
                <a:spcPct val="180000"/>
              </a:lnSpc>
            </a:pPr>
            <a:r>
              <a:rPr lang="en-US" altLang="en-US" sz="2400" dirty="0">
                <a:solidFill>
                  <a:srgbClr val="00B050"/>
                </a:solidFill>
                <a:sym typeface="Symbol" panose="05050102010706020507" pitchFamily="18" charset="2"/>
              </a:rPr>
              <a:t> </a:t>
            </a:r>
            <a:r>
              <a:rPr lang="en-US" altLang="en-US" sz="2400" i="1" dirty="0">
                <a:solidFill>
                  <a:srgbClr val="00B050"/>
                </a:solidFill>
                <a:latin typeface="Symbol" panose="05050102010706020507" pitchFamily="18" charset="2"/>
                <a:sym typeface="Symbol" panose="05050102010706020507" pitchFamily="18" charset="2"/>
              </a:rPr>
              <a:t>w</a:t>
            </a:r>
            <a:r>
              <a:rPr lang="en-US" altLang="en-US" sz="2400" i="1" dirty="0">
                <a:solidFill>
                  <a:schemeClr val="accent1"/>
                </a:solidFill>
                <a:latin typeface="Symbol" panose="05050102010706020507" pitchFamily="18" charset="2"/>
                <a:sym typeface="Symbol" panose="05050102010706020507" pitchFamily="18" charset="2"/>
              </a:rPr>
              <a:t> </a:t>
            </a:r>
            <a:r>
              <a:rPr lang="en-US" altLang="en-US" sz="2400" dirty="0">
                <a:solidFill>
                  <a:srgbClr val="00B050"/>
                </a:solidFill>
                <a:sym typeface="Symbol" panose="05050102010706020507" pitchFamily="18" charset="2"/>
              </a:rPr>
              <a:t>notation: asymptotic “strictly greater than”: 	</a:t>
            </a:r>
          </a:p>
          <a:p>
            <a:pPr marL="457200" lvl="1" indent="0">
              <a:lnSpc>
                <a:spcPct val="180000"/>
              </a:lnSpc>
              <a:buNone/>
            </a:pPr>
            <a:r>
              <a:rPr lang="en-US" altLang="en-US" sz="2400" dirty="0"/>
              <a:t>f(n)= </a:t>
            </a:r>
            <a:r>
              <a:rPr lang="en-US" altLang="en-US" sz="2400" i="1" dirty="0">
                <a:latin typeface="Symbol" panose="05050102010706020507" pitchFamily="18" charset="2"/>
                <a:sym typeface="Symbol" panose="05050102010706020507" pitchFamily="18" charset="2"/>
              </a:rPr>
              <a:t>w</a:t>
            </a:r>
            <a:r>
              <a:rPr lang="en-US" altLang="en-US" sz="2400" dirty="0"/>
              <a:t> (g(n)) implies: f(n) “&gt;” g(n)</a:t>
            </a:r>
          </a:p>
          <a:p>
            <a:pPr marL="457200" lvl="1" indent="0">
              <a:lnSpc>
                <a:spcPct val="180000"/>
              </a:lnSpc>
              <a:buNone/>
            </a:pPr>
            <a:endParaRPr lang="en-US" altLang="en-US" sz="2400" dirty="0"/>
          </a:p>
          <a:p>
            <a:pPr marL="457200" lvl="1" indent="0">
              <a:lnSpc>
                <a:spcPct val="180000"/>
              </a:lnSpc>
              <a:buNone/>
            </a:pPr>
            <a:endParaRPr lang="en-US" altLang="en-US" sz="2400" dirty="0">
              <a:sym typeface="Symbol" panose="05050102010706020507" pitchFamily="18" charset="2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ooter Placeholder 3">
            <a:extLst>
              <a:ext uri="{FF2B5EF4-FFF2-40B4-BE49-F238E27FC236}">
                <a16:creationId xmlns:a16="http://schemas.microsoft.com/office/drawing/2014/main" id="{CD6CF067-D205-423E-8118-1D0DB5B366C9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altLang="en-US"/>
              <a:t>Comp 122</a:t>
            </a:r>
          </a:p>
        </p:txBody>
      </p:sp>
      <p:sp>
        <p:nvSpPr>
          <p:cNvPr id="315394" name="Rectangle 2">
            <a:extLst>
              <a:ext uri="{FF2B5EF4-FFF2-40B4-BE49-F238E27FC236}">
                <a16:creationId xmlns:a16="http://schemas.microsoft.com/office/drawing/2014/main" id="{7C963581-A91D-4DE0-AC13-A2074013A5B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52400" y="350838"/>
            <a:ext cx="4343400" cy="868362"/>
          </a:xfrm>
        </p:spPr>
        <p:txBody>
          <a:bodyPr>
            <a:normAutofit/>
          </a:bodyPr>
          <a:lstStyle/>
          <a:p>
            <a:r>
              <a:rPr lang="en-US" altLang="en-US" i="1" dirty="0">
                <a:solidFill>
                  <a:srgbClr val="FF0000"/>
                </a:solidFill>
                <a:sym typeface="Symbol" panose="05050102010706020507" pitchFamily="18" charset="2"/>
              </a:rPr>
              <a:t>o</a:t>
            </a:r>
            <a:r>
              <a:rPr lang="en-US" altLang="en-US" dirty="0">
                <a:solidFill>
                  <a:srgbClr val="FF0000"/>
                </a:solidFill>
                <a:sym typeface="Symbol" panose="05050102010706020507" pitchFamily="18" charset="2"/>
              </a:rPr>
              <a:t>-notation(little-oh)</a:t>
            </a:r>
            <a:endParaRPr lang="en-US" altLang="en-US" dirty="0">
              <a:solidFill>
                <a:srgbClr val="FF0000"/>
              </a:solidFill>
            </a:endParaRPr>
          </a:p>
        </p:txBody>
      </p:sp>
      <p:sp>
        <p:nvSpPr>
          <p:cNvPr id="315395" name="Rectangle 3">
            <a:extLst>
              <a:ext uri="{FF2B5EF4-FFF2-40B4-BE49-F238E27FC236}">
                <a16:creationId xmlns:a16="http://schemas.microsoft.com/office/drawing/2014/main" id="{6D9141B7-9A0F-45BF-90CA-9216AE41F85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31788" y="2879725"/>
            <a:ext cx="7981950" cy="3590925"/>
          </a:xfrm>
        </p:spPr>
        <p:txBody>
          <a:bodyPr/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ct val="20000"/>
              </a:spcAft>
              <a:buFont typeface="Wingdings" panose="05000000000000000000" pitchFamily="2" charset="2"/>
              <a:buNone/>
            </a:pPr>
            <a:r>
              <a:rPr lang="en-US" altLang="en-US" sz="2800" i="1" dirty="0"/>
              <a:t> f</a:t>
            </a:r>
            <a:r>
              <a:rPr lang="en-US" altLang="en-US" sz="2800" dirty="0"/>
              <a:t>(</a:t>
            </a:r>
            <a:r>
              <a:rPr lang="en-US" altLang="en-US" sz="2800" i="1" dirty="0"/>
              <a:t>n</a:t>
            </a:r>
            <a:r>
              <a:rPr lang="en-US" altLang="en-US" sz="2800" dirty="0"/>
              <a:t>) becomes insignificant relative to </a:t>
            </a:r>
            <a:r>
              <a:rPr lang="en-US" altLang="en-US" sz="2800" i="1" dirty="0"/>
              <a:t>g</a:t>
            </a:r>
            <a:r>
              <a:rPr lang="en-US" altLang="en-US" sz="2800" dirty="0"/>
              <a:t>(</a:t>
            </a:r>
            <a:r>
              <a:rPr lang="en-US" altLang="en-US" sz="2800" i="1" dirty="0"/>
              <a:t>n</a:t>
            </a:r>
            <a:r>
              <a:rPr lang="en-US" altLang="en-US" sz="2800" dirty="0"/>
              <a:t>)</a:t>
            </a:r>
            <a:r>
              <a:rPr lang="en-US" altLang="en-US" sz="2800" i="1" dirty="0"/>
              <a:t> </a:t>
            </a:r>
            <a:r>
              <a:rPr lang="en-US" altLang="en-US" sz="2800" dirty="0"/>
              <a:t>as </a:t>
            </a:r>
            <a:r>
              <a:rPr lang="en-US" altLang="en-US" sz="2800" i="1" dirty="0"/>
              <a:t>n </a:t>
            </a:r>
            <a:r>
              <a:rPr lang="en-US" altLang="en-US" sz="2800" dirty="0"/>
              <a:t>approaches infinity:</a:t>
            </a:r>
          </a:p>
          <a:p>
            <a:pPr>
              <a:lnSpc>
                <a:spcPct val="90000"/>
              </a:lnSpc>
              <a:spcBef>
                <a:spcPct val="0"/>
              </a:spcBef>
              <a:spcAft>
                <a:spcPct val="20000"/>
              </a:spcAft>
              <a:buFont typeface="Wingdings" panose="05000000000000000000" pitchFamily="2" charset="2"/>
              <a:buNone/>
            </a:pPr>
            <a:r>
              <a:rPr lang="en-US" altLang="en-US" sz="3100" dirty="0"/>
              <a:t>			  </a:t>
            </a:r>
            <a:r>
              <a:rPr lang="en-US" altLang="en-US" sz="3100" i="1" dirty="0" err="1">
                <a:solidFill>
                  <a:srgbClr val="FF3300"/>
                </a:solidFill>
              </a:rPr>
              <a:t>lim</a:t>
            </a:r>
            <a:r>
              <a:rPr lang="en-US" altLang="en-US" sz="3100" i="1" dirty="0">
                <a:solidFill>
                  <a:srgbClr val="FF3300"/>
                </a:solidFill>
              </a:rPr>
              <a:t> </a:t>
            </a:r>
            <a:r>
              <a:rPr lang="en-US" altLang="en-US" sz="3100" dirty="0">
                <a:solidFill>
                  <a:srgbClr val="FF3300"/>
                </a:solidFill>
                <a:sym typeface="Symbol" panose="05050102010706020507" pitchFamily="18" charset="2"/>
              </a:rPr>
              <a:t>[</a:t>
            </a:r>
            <a:r>
              <a:rPr lang="en-US" altLang="en-US" sz="3100" i="1" dirty="0">
                <a:solidFill>
                  <a:srgbClr val="FF3300"/>
                </a:solidFill>
              </a:rPr>
              <a:t>f</a:t>
            </a:r>
            <a:r>
              <a:rPr lang="en-US" altLang="en-US" sz="3100" dirty="0">
                <a:solidFill>
                  <a:srgbClr val="FF3300"/>
                </a:solidFill>
              </a:rPr>
              <a:t>(</a:t>
            </a:r>
            <a:r>
              <a:rPr lang="en-US" altLang="en-US" sz="3100" i="1" dirty="0">
                <a:solidFill>
                  <a:srgbClr val="FF3300"/>
                </a:solidFill>
              </a:rPr>
              <a:t>n</a:t>
            </a:r>
            <a:r>
              <a:rPr lang="en-US" altLang="en-US" sz="3100" dirty="0">
                <a:solidFill>
                  <a:srgbClr val="FF3300"/>
                </a:solidFill>
              </a:rPr>
              <a:t>) / </a:t>
            </a:r>
            <a:r>
              <a:rPr lang="en-US" altLang="en-US" sz="3100" i="1" dirty="0">
                <a:solidFill>
                  <a:srgbClr val="FF3300"/>
                </a:solidFill>
              </a:rPr>
              <a:t>g</a:t>
            </a:r>
            <a:r>
              <a:rPr lang="en-US" altLang="en-US" sz="3100" dirty="0">
                <a:solidFill>
                  <a:srgbClr val="FF3300"/>
                </a:solidFill>
              </a:rPr>
              <a:t>(</a:t>
            </a:r>
            <a:r>
              <a:rPr lang="en-US" altLang="en-US" sz="3100" i="1" dirty="0">
                <a:solidFill>
                  <a:srgbClr val="FF3300"/>
                </a:solidFill>
              </a:rPr>
              <a:t>n</a:t>
            </a:r>
            <a:r>
              <a:rPr lang="en-US" altLang="en-US" sz="3100" dirty="0">
                <a:solidFill>
                  <a:srgbClr val="FF3300"/>
                </a:solidFill>
              </a:rPr>
              <a:t>)] = 0</a:t>
            </a:r>
          </a:p>
          <a:p>
            <a:pPr>
              <a:lnSpc>
                <a:spcPct val="9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en-US" sz="3100" dirty="0">
                <a:solidFill>
                  <a:srgbClr val="3DDE2C"/>
                </a:solidFill>
              </a:rPr>
              <a:t>                     </a:t>
            </a:r>
            <a:r>
              <a:rPr lang="en-US" altLang="en-US" sz="3100" i="1" baseline="60000" dirty="0">
                <a:solidFill>
                  <a:srgbClr val="FF3300"/>
                </a:solidFill>
              </a:rPr>
              <a:t>n</a:t>
            </a:r>
            <a:r>
              <a:rPr lang="en-US" altLang="en-US" sz="3100" i="1" baseline="60000" dirty="0">
                <a:solidFill>
                  <a:srgbClr val="FF3300"/>
                </a:solidFill>
                <a:sym typeface="Symbol" panose="05050102010706020507" pitchFamily="18" charset="2"/>
              </a:rPr>
              <a:t></a:t>
            </a:r>
            <a:r>
              <a:rPr lang="en-US" altLang="en-US" sz="3100" i="1" dirty="0">
                <a:solidFill>
                  <a:srgbClr val="FF3300"/>
                </a:solidFill>
              </a:rPr>
              <a:t> </a:t>
            </a:r>
            <a:endParaRPr lang="en-US" altLang="en-US" sz="3100" dirty="0">
              <a:solidFill>
                <a:srgbClr val="FF3300"/>
              </a:solidFill>
            </a:endParaRPr>
          </a:p>
          <a:p>
            <a:pPr>
              <a:lnSpc>
                <a:spcPct val="90000"/>
              </a:lnSpc>
              <a:spcBef>
                <a:spcPct val="0"/>
              </a:spcBef>
              <a:spcAft>
                <a:spcPct val="20000"/>
              </a:spcAft>
              <a:buFont typeface="Wingdings" panose="05000000000000000000" pitchFamily="2" charset="2"/>
              <a:buNone/>
            </a:pPr>
            <a:r>
              <a:rPr lang="en-US" altLang="en-US" sz="2800" i="1" dirty="0"/>
              <a:t>g</a:t>
            </a:r>
            <a:r>
              <a:rPr lang="en-US" altLang="en-US" sz="2800" dirty="0"/>
              <a:t>(</a:t>
            </a:r>
            <a:r>
              <a:rPr lang="en-US" altLang="en-US" sz="2800" i="1" dirty="0"/>
              <a:t>n</a:t>
            </a:r>
            <a:r>
              <a:rPr lang="en-US" altLang="en-US" sz="2800" dirty="0"/>
              <a:t>) is an</a:t>
            </a:r>
            <a:r>
              <a:rPr lang="en-US" altLang="en-US" sz="2800" i="1" dirty="0">
                <a:solidFill>
                  <a:srgbClr val="3DDE2C"/>
                </a:solidFill>
              </a:rPr>
              <a:t> </a:t>
            </a:r>
            <a:r>
              <a:rPr lang="en-US" altLang="en-US" sz="2800" b="1" i="1" dirty="0">
                <a:solidFill>
                  <a:srgbClr val="CC0000"/>
                </a:solidFill>
              </a:rPr>
              <a:t>upper bound</a:t>
            </a:r>
            <a:r>
              <a:rPr lang="en-US" altLang="en-US" sz="2800" dirty="0"/>
              <a:t> for </a:t>
            </a:r>
            <a:r>
              <a:rPr lang="en-US" altLang="en-US" sz="2800" i="1" dirty="0"/>
              <a:t>f</a:t>
            </a:r>
            <a:r>
              <a:rPr lang="en-US" altLang="en-US" sz="2800" dirty="0"/>
              <a:t>(</a:t>
            </a:r>
            <a:r>
              <a:rPr lang="en-US" altLang="en-US" sz="2800" i="1" dirty="0"/>
              <a:t>n</a:t>
            </a:r>
            <a:r>
              <a:rPr lang="en-US" altLang="en-US" sz="2800" dirty="0"/>
              <a:t>)</a:t>
            </a:r>
            <a:r>
              <a:rPr lang="en-US" altLang="en-US" sz="2800" i="1" dirty="0"/>
              <a:t> </a:t>
            </a:r>
            <a:r>
              <a:rPr lang="en-US" altLang="en-US" sz="2800" dirty="0"/>
              <a:t>that is not asymptotically tight.</a:t>
            </a:r>
          </a:p>
          <a:p>
            <a:pPr>
              <a:lnSpc>
                <a:spcPct val="90000"/>
              </a:lnSpc>
              <a:spcBef>
                <a:spcPct val="0"/>
              </a:spcBef>
              <a:spcAft>
                <a:spcPct val="20000"/>
              </a:spcAft>
              <a:buFont typeface="Wingdings" panose="05000000000000000000" pitchFamily="2" charset="2"/>
              <a:buNone/>
            </a:pPr>
            <a:r>
              <a:rPr lang="en-US" altLang="en-US" sz="2800" dirty="0"/>
              <a:t>Observe the difference in this definition from previous ones. </a:t>
            </a:r>
            <a:endParaRPr lang="en-US" altLang="en-US" sz="2800" b="1" u="sng" dirty="0">
              <a:solidFill>
                <a:srgbClr val="CC0000"/>
              </a:solidFill>
            </a:endParaRPr>
          </a:p>
        </p:txBody>
      </p:sp>
      <p:sp>
        <p:nvSpPr>
          <p:cNvPr id="315414" name="Text Box 22">
            <a:extLst>
              <a:ext uri="{FF2B5EF4-FFF2-40B4-BE49-F238E27FC236}">
                <a16:creationId xmlns:a16="http://schemas.microsoft.com/office/drawing/2014/main" id="{9AEB3298-696A-4E5A-91F4-84A5AC94901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4188" y="849313"/>
            <a:ext cx="1841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endParaRPr lang="en-US" altLang="en-US"/>
          </a:p>
        </p:txBody>
      </p:sp>
      <p:sp>
        <p:nvSpPr>
          <p:cNvPr id="315415" name="Text Box 23">
            <a:extLst>
              <a:ext uri="{FF2B5EF4-FFF2-40B4-BE49-F238E27FC236}">
                <a16:creationId xmlns:a16="http://schemas.microsoft.com/office/drawing/2014/main" id="{296ECE64-A234-4584-A7F5-7A79011FFE8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0784" y="1790992"/>
            <a:ext cx="7981950" cy="927100"/>
          </a:xfrm>
          <a:prstGeom prst="rect">
            <a:avLst/>
          </a:prstGeom>
          <a:solidFill>
            <a:srgbClr val="CCECFF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lnSpc>
                <a:spcPct val="90000"/>
              </a:lnSpc>
              <a:spcAft>
                <a:spcPct val="20000"/>
              </a:spcAft>
              <a:buFont typeface="Wingdings" panose="05000000000000000000" pitchFamily="2" charset="2"/>
              <a:buNone/>
            </a:pPr>
            <a:r>
              <a:rPr lang="en-US" altLang="en-US" sz="3000" b="1" i="1" dirty="0">
                <a:solidFill>
                  <a:schemeClr val="accent1"/>
                </a:solidFill>
                <a:sym typeface="Symbol" panose="05050102010706020507" pitchFamily="18" charset="2"/>
              </a:rPr>
              <a:t>o</a:t>
            </a:r>
            <a:r>
              <a:rPr lang="en-US" altLang="en-US" sz="3000" b="1" dirty="0">
                <a:solidFill>
                  <a:schemeClr val="accent1"/>
                </a:solidFill>
              </a:rPr>
              <a:t>(</a:t>
            </a:r>
            <a:r>
              <a:rPr lang="en-US" altLang="en-US" sz="3000" b="1" i="1" dirty="0">
                <a:solidFill>
                  <a:schemeClr val="accent1"/>
                </a:solidFill>
              </a:rPr>
              <a:t>g</a:t>
            </a:r>
            <a:r>
              <a:rPr lang="en-US" altLang="en-US" sz="3000" b="1" dirty="0">
                <a:solidFill>
                  <a:schemeClr val="accent1"/>
                </a:solidFill>
              </a:rPr>
              <a:t>(</a:t>
            </a:r>
            <a:r>
              <a:rPr lang="en-US" altLang="en-US" sz="3000" b="1" i="1" dirty="0">
                <a:solidFill>
                  <a:schemeClr val="accent1"/>
                </a:solidFill>
              </a:rPr>
              <a:t>n</a:t>
            </a:r>
            <a:r>
              <a:rPr lang="en-US" altLang="en-US" sz="3000" b="1" dirty="0">
                <a:solidFill>
                  <a:schemeClr val="accent1"/>
                </a:solidFill>
              </a:rPr>
              <a:t>))</a:t>
            </a:r>
            <a:r>
              <a:rPr lang="en-US" altLang="en-US" sz="3000" dirty="0">
                <a:solidFill>
                  <a:schemeClr val="hlink"/>
                </a:solidFill>
              </a:rPr>
              <a:t> = {</a:t>
            </a:r>
            <a:r>
              <a:rPr lang="en-US" altLang="en-US" sz="3000" i="1" dirty="0">
                <a:solidFill>
                  <a:schemeClr val="hlink"/>
                </a:solidFill>
              </a:rPr>
              <a:t>f</a:t>
            </a:r>
            <a:r>
              <a:rPr lang="en-US" altLang="en-US" sz="3000" dirty="0">
                <a:solidFill>
                  <a:schemeClr val="hlink"/>
                </a:solidFill>
              </a:rPr>
              <a:t>(</a:t>
            </a:r>
            <a:r>
              <a:rPr lang="en-US" altLang="en-US" sz="3000" i="1" dirty="0">
                <a:solidFill>
                  <a:schemeClr val="hlink"/>
                </a:solidFill>
              </a:rPr>
              <a:t>n</a:t>
            </a:r>
            <a:r>
              <a:rPr lang="en-US" altLang="en-US" sz="3000" dirty="0">
                <a:solidFill>
                  <a:schemeClr val="hlink"/>
                </a:solidFill>
              </a:rPr>
              <a:t>): </a:t>
            </a:r>
            <a:r>
              <a:rPr lang="en-US" altLang="en-US" sz="3000" b="1" dirty="0">
                <a:solidFill>
                  <a:srgbClr val="FF3300"/>
                </a:solidFill>
                <a:sym typeface="Symbol" panose="05050102010706020507" pitchFamily="18" charset="2"/>
              </a:rPr>
              <a:t></a:t>
            </a:r>
            <a:r>
              <a:rPr lang="en-US" altLang="en-US" sz="3000" dirty="0">
                <a:solidFill>
                  <a:schemeClr val="hlink"/>
                </a:solidFill>
                <a:sym typeface="Symbol" panose="05050102010706020507" pitchFamily="18" charset="2"/>
              </a:rPr>
              <a:t> </a:t>
            </a:r>
            <a:r>
              <a:rPr lang="en-US" altLang="en-US" sz="3000" b="1" i="1" dirty="0">
                <a:solidFill>
                  <a:srgbClr val="CC0000"/>
                </a:solidFill>
              </a:rPr>
              <a:t>c</a:t>
            </a:r>
            <a:r>
              <a:rPr lang="en-US" altLang="en-US" sz="3000" b="1" dirty="0">
                <a:solidFill>
                  <a:srgbClr val="CC0000"/>
                </a:solidFill>
              </a:rPr>
              <a:t> &gt; 0</a:t>
            </a:r>
            <a:r>
              <a:rPr lang="en-US" altLang="en-US" sz="3000" dirty="0">
                <a:solidFill>
                  <a:schemeClr val="hlink"/>
                </a:solidFill>
              </a:rPr>
              <a:t>, </a:t>
            </a:r>
            <a:r>
              <a:rPr lang="en-US" altLang="en-US" sz="3000" b="1" dirty="0">
                <a:solidFill>
                  <a:srgbClr val="FF3300"/>
                </a:solidFill>
                <a:sym typeface="Symbol" panose="05050102010706020507" pitchFamily="18" charset="2"/>
              </a:rPr>
              <a:t></a:t>
            </a:r>
            <a:r>
              <a:rPr lang="en-US" altLang="en-US" sz="3000" dirty="0">
                <a:solidFill>
                  <a:schemeClr val="hlink"/>
                </a:solidFill>
              </a:rPr>
              <a:t> </a:t>
            </a:r>
            <a:r>
              <a:rPr lang="en-US" altLang="en-US" sz="3000" b="1" i="1" dirty="0">
                <a:solidFill>
                  <a:srgbClr val="CC0000"/>
                </a:solidFill>
              </a:rPr>
              <a:t>n</a:t>
            </a:r>
            <a:r>
              <a:rPr lang="en-US" altLang="en-US" sz="3000" b="1" baseline="-25000" dirty="0">
                <a:solidFill>
                  <a:srgbClr val="CC0000"/>
                </a:solidFill>
              </a:rPr>
              <a:t>0</a:t>
            </a:r>
            <a:r>
              <a:rPr lang="en-US" altLang="en-US" sz="3000" b="1" dirty="0">
                <a:solidFill>
                  <a:srgbClr val="CC0000"/>
                </a:solidFill>
              </a:rPr>
              <a:t> &gt; 0</a:t>
            </a:r>
            <a:r>
              <a:rPr lang="en-US" altLang="en-US" sz="3000" dirty="0">
                <a:solidFill>
                  <a:schemeClr val="hlink"/>
                </a:solidFill>
              </a:rPr>
              <a:t> such that </a:t>
            </a:r>
            <a:br>
              <a:rPr lang="en-US" altLang="en-US" sz="3000" dirty="0">
                <a:solidFill>
                  <a:schemeClr val="hlink"/>
                </a:solidFill>
              </a:rPr>
            </a:br>
            <a:r>
              <a:rPr lang="en-US" altLang="en-US" sz="3000" dirty="0">
                <a:solidFill>
                  <a:schemeClr val="hlink"/>
                </a:solidFill>
              </a:rPr>
              <a:t>		</a:t>
            </a:r>
            <a:r>
              <a:rPr lang="en-US" altLang="en-US" sz="3000" b="1" dirty="0">
                <a:solidFill>
                  <a:srgbClr val="FF3300"/>
                </a:solidFill>
                <a:sym typeface="Symbol" panose="05050102010706020507" pitchFamily="18" charset="2"/>
              </a:rPr>
              <a:t></a:t>
            </a:r>
            <a:r>
              <a:rPr lang="en-US" altLang="en-US" sz="3000" dirty="0">
                <a:solidFill>
                  <a:schemeClr val="hlink"/>
                </a:solidFill>
              </a:rPr>
              <a:t> </a:t>
            </a:r>
            <a:r>
              <a:rPr lang="en-US" altLang="en-US" sz="3000" i="1" dirty="0">
                <a:solidFill>
                  <a:schemeClr val="hlink"/>
                </a:solidFill>
              </a:rPr>
              <a:t>n </a:t>
            </a:r>
            <a:r>
              <a:rPr lang="en-US" altLang="en-US" sz="3000" dirty="0">
                <a:solidFill>
                  <a:schemeClr val="hlink"/>
                </a:solidFill>
                <a:sym typeface="Symbol" panose="05050102010706020507" pitchFamily="18" charset="2"/>
              </a:rPr>
              <a:t></a:t>
            </a:r>
            <a:r>
              <a:rPr lang="en-US" altLang="en-US" sz="3000" i="1" baseline="-25000" dirty="0">
                <a:solidFill>
                  <a:schemeClr val="hlink"/>
                </a:solidFill>
              </a:rPr>
              <a:t>  </a:t>
            </a:r>
            <a:r>
              <a:rPr lang="en-US" altLang="en-US" sz="3000" i="1" dirty="0">
                <a:solidFill>
                  <a:schemeClr val="hlink"/>
                </a:solidFill>
              </a:rPr>
              <a:t>n</a:t>
            </a:r>
            <a:r>
              <a:rPr lang="en-US" altLang="en-US" sz="3000" baseline="-25000" dirty="0">
                <a:solidFill>
                  <a:schemeClr val="hlink"/>
                </a:solidFill>
              </a:rPr>
              <a:t>0</a:t>
            </a:r>
            <a:r>
              <a:rPr lang="en-US" altLang="en-US" sz="3000" i="1" dirty="0">
                <a:solidFill>
                  <a:schemeClr val="hlink"/>
                </a:solidFill>
              </a:rPr>
              <a:t>, </a:t>
            </a:r>
            <a:r>
              <a:rPr lang="en-US" altLang="en-US" sz="2600" dirty="0">
                <a:solidFill>
                  <a:schemeClr val="hlink"/>
                </a:solidFill>
              </a:rPr>
              <a:t>we have</a:t>
            </a:r>
            <a:r>
              <a:rPr lang="en-US" altLang="en-US" sz="3000" i="1" baseline="-25000" dirty="0">
                <a:solidFill>
                  <a:schemeClr val="hlink"/>
                </a:solidFill>
              </a:rPr>
              <a:t> </a:t>
            </a:r>
            <a:r>
              <a:rPr lang="en-US" altLang="en-US" sz="3000" dirty="0">
                <a:solidFill>
                  <a:schemeClr val="hlink"/>
                </a:solidFill>
              </a:rPr>
              <a:t>0 </a:t>
            </a:r>
            <a:r>
              <a:rPr lang="en-US" altLang="en-US" sz="3000" dirty="0">
                <a:solidFill>
                  <a:schemeClr val="hlink"/>
                </a:solidFill>
                <a:sym typeface="Symbol" panose="05050102010706020507" pitchFamily="18" charset="2"/>
              </a:rPr>
              <a:t></a:t>
            </a:r>
            <a:r>
              <a:rPr lang="en-US" altLang="en-US" sz="3000" dirty="0">
                <a:solidFill>
                  <a:schemeClr val="hlink"/>
                </a:solidFill>
              </a:rPr>
              <a:t>  </a:t>
            </a:r>
            <a:r>
              <a:rPr lang="en-US" altLang="en-US" sz="3000" i="1" dirty="0">
                <a:solidFill>
                  <a:schemeClr val="hlink"/>
                </a:solidFill>
              </a:rPr>
              <a:t>f</a:t>
            </a:r>
            <a:r>
              <a:rPr lang="en-US" altLang="en-US" sz="3000" dirty="0">
                <a:solidFill>
                  <a:schemeClr val="hlink"/>
                </a:solidFill>
              </a:rPr>
              <a:t>(</a:t>
            </a:r>
            <a:r>
              <a:rPr lang="en-US" altLang="en-US" sz="3000" i="1" dirty="0">
                <a:solidFill>
                  <a:schemeClr val="hlink"/>
                </a:solidFill>
              </a:rPr>
              <a:t>n</a:t>
            </a:r>
            <a:r>
              <a:rPr lang="en-US" altLang="en-US" sz="3000" dirty="0">
                <a:solidFill>
                  <a:schemeClr val="hlink"/>
                </a:solidFill>
              </a:rPr>
              <a:t>)</a:t>
            </a:r>
            <a:r>
              <a:rPr lang="en-US" altLang="en-US" sz="3000" i="1" dirty="0">
                <a:solidFill>
                  <a:schemeClr val="hlink"/>
                </a:solidFill>
              </a:rPr>
              <a:t> </a:t>
            </a:r>
            <a:r>
              <a:rPr lang="en-US" altLang="en-US" sz="3000" dirty="0">
                <a:solidFill>
                  <a:schemeClr val="hlink"/>
                </a:solidFill>
                <a:sym typeface="Symbol" panose="05050102010706020507" pitchFamily="18" charset="2"/>
              </a:rPr>
              <a:t>&lt;</a:t>
            </a:r>
            <a:r>
              <a:rPr lang="en-US" altLang="en-US" sz="3000" dirty="0">
                <a:solidFill>
                  <a:schemeClr val="hlink"/>
                </a:solidFill>
              </a:rPr>
              <a:t> </a:t>
            </a:r>
            <a:r>
              <a:rPr lang="en-US" altLang="en-US" sz="3000" i="1" dirty="0">
                <a:solidFill>
                  <a:schemeClr val="hlink"/>
                </a:solidFill>
              </a:rPr>
              <a:t>cg</a:t>
            </a:r>
            <a:r>
              <a:rPr lang="en-US" altLang="en-US" sz="3000" dirty="0">
                <a:solidFill>
                  <a:schemeClr val="hlink"/>
                </a:solidFill>
              </a:rPr>
              <a:t>(</a:t>
            </a:r>
            <a:r>
              <a:rPr lang="en-US" altLang="en-US" sz="3000" i="1" dirty="0">
                <a:solidFill>
                  <a:schemeClr val="hlink"/>
                </a:solidFill>
              </a:rPr>
              <a:t>n</a:t>
            </a:r>
            <a:r>
              <a:rPr lang="en-US" altLang="en-US" sz="3000" dirty="0">
                <a:solidFill>
                  <a:schemeClr val="hlink"/>
                </a:solidFill>
              </a:rPr>
              <a:t>)}.</a:t>
            </a:r>
          </a:p>
        </p:txBody>
      </p:sp>
      <p:sp>
        <p:nvSpPr>
          <p:cNvPr id="315416" name="Text Box 24">
            <a:extLst>
              <a:ext uri="{FF2B5EF4-FFF2-40B4-BE49-F238E27FC236}">
                <a16:creationId xmlns:a16="http://schemas.microsoft.com/office/drawing/2014/main" id="{881CB9AC-4509-4CBA-8235-F144B9203FB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9100" y="1171721"/>
            <a:ext cx="6819900" cy="579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 sz="3200" dirty="0"/>
              <a:t>For a given function </a:t>
            </a:r>
            <a:r>
              <a:rPr lang="en-US" altLang="en-US" sz="3200" i="1" dirty="0"/>
              <a:t>g</a:t>
            </a:r>
            <a:r>
              <a:rPr lang="en-US" altLang="en-US" sz="3200" dirty="0"/>
              <a:t>(</a:t>
            </a:r>
            <a:r>
              <a:rPr lang="en-US" altLang="en-US" sz="3200" i="1" dirty="0"/>
              <a:t>n</a:t>
            </a:r>
            <a:r>
              <a:rPr lang="en-US" altLang="en-US" sz="3200" dirty="0"/>
              <a:t>), the set little-</a:t>
            </a:r>
            <a:r>
              <a:rPr lang="en-US" altLang="en-US" sz="3200" i="1" dirty="0"/>
              <a:t>o</a:t>
            </a:r>
            <a:r>
              <a:rPr lang="en-US" altLang="en-US" sz="3200" dirty="0"/>
              <a:t>: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5A84C5-E854-4E96-B978-6136A6DBF5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0" y="350838"/>
            <a:ext cx="3124200" cy="868362"/>
          </a:xfrm>
        </p:spPr>
        <p:txBody>
          <a:bodyPr/>
          <a:lstStyle/>
          <a:p>
            <a:r>
              <a:rPr lang="en-US" dirty="0" err="1">
                <a:solidFill>
                  <a:srgbClr val="FF0000"/>
                </a:solidFill>
              </a:rPr>
              <a:t>Contd</a:t>
            </a:r>
            <a:r>
              <a:rPr lang="en-US" dirty="0">
                <a:solidFill>
                  <a:srgbClr val="FF0000"/>
                </a:solidFill>
              </a:rPr>
              <a:t>……</a:t>
            </a:r>
            <a:endParaRPr lang="en-IN" dirty="0">
              <a:solidFill>
                <a:srgbClr val="FF000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1B1C933-6055-4589-891B-23BE73DAD9C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3200" dirty="0"/>
              <a:t>Order of growth of f(n) is strictly lower than that of order of growth of g(n).</a:t>
            </a:r>
          </a:p>
          <a:p>
            <a:r>
              <a:rPr lang="en-IN" sz="3200" dirty="0"/>
              <a:t>Example:</a:t>
            </a:r>
          </a:p>
          <a:p>
            <a:r>
              <a:rPr lang="en-US" altLang="en-US" sz="3200" i="1" dirty="0" err="1">
                <a:solidFill>
                  <a:srgbClr val="FF3300"/>
                </a:solidFill>
              </a:rPr>
              <a:t>lim</a:t>
            </a:r>
            <a:r>
              <a:rPr lang="en-US" altLang="en-US" sz="3200" i="1" dirty="0">
                <a:solidFill>
                  <a:srgbClr val="FF3300"/>
                </a:solidFill>
              </a:rPr>
              <a:t> </a:t>
            </a:r>
            <a:r>
              <a:rPr lang="en-US" altLang="en-US" sz="3200" dirty="0">
                <a:solidFill>
                  <a:srgbClr val="FF3300"/>
                </a:solidFill>
                <a:sym typeface="Symbol" panose="05050102010706020507" pitchFamily="18" charset="2"/>
              </a:rPr>
              <a:t>[7n</a:t>
            </a:r>
            <a:r>
              <a:rPr lang="en-US" altLang="en-US" sz="3200" baseline="30000" dirty="0">
                <a:solidFill>
                  <a:srgbClr val="FF3300"/>
                </a:solidFill>
                <a:sym typeface="Symbol" panose="05050102010706020507" pitchFamily="18" charset="2"/>
              </a:rPr>
              <a:t>2</a:t>
            </a:r>
            <a:r>
              <a:rPr lang="en-US" altLang="en-US" sz="3200" dirty="0">
                <a:solidFill>
                  <a:srgbClr val="FF3300"/>
                </a:solidFill>
                <a:sym typeface="Symbol" panose="05050102010706020507" pitchFamily="18" charset="2"/>
              </a:rPr>
              <a:t>+8n+9</a:t>
            </a:r>
            <a:r>
              <a:rPr lang="en-US" altLang="en-US" sz="3200" baseline="30000" dirty="0">
                <a:solidFill>
                  <a:srgbClr val="FF3300"/>
                </a:solidFill>
                <a:sym typeface="Symbol" panose="05050102010706020507" pitchFamily="18" charset="2"/>
              </a:rPr>
              <a:t> </a:t>
            </a:r>
            <a:r>
              <a:rPr lang="en-US" altLang="en-US" sz="3200" dirty="0">
                <a:solidFill>
                  <a:srgbClr val="FF3300"/>
                </a:solidFill>
              </a:rPr>
              <a:t> / n</a:t>
            </a:r>
            <a:r>
              <a:rPr lang="en-US" altLang="en-US" sz="3200" baseline="30000" dirty="0">
                <a:solidFill>
                  <a:srgbClr val="FF3300"/>
                </a:solidFill>
              </a:rPr>
              <a:t>3 </a:t>
            </a:r>
            <a:r>
              <a:rPr lang="en-US" altLang="en-US" sz="3200" dirty="0">
                <a:solidFill>
                  <a:srgbClr val="FF3300"/>
                </a:solidFill>
              </a:rPr>
              <a:t>] = 0</a:t>
            </a:r>
          </a:p>
          <a:p>
            <a:r>
              <a:rPr lang="en-US" altLang="en-US" sz="3200" i="1" baseline="60000" dirty="0">
                <a:solidFill>
                  <a:srgbClr val="FF3300"/>
                </a:solidFill>
              </a:rPr>
              <a:t>n</a:t>
            </a:r>
            <a:r>
              <a:rPr lang="en-US" altLang="en-US" sz="3200" i="1" baseline="60000" dirty="0">
                <a:solidFill>
                  <a:srgbClr val="FF3300"/>
                </a:solidFill>
                <a:sym typeface="Symbol" panose="05050102010706020507" pitchFamily="18" charset="2"/>
              </a:rPr>
              <a:t></a:t>
            </a:r>
            <a:endParaRPr lang="en-IN" sz="3200" dirty="0"/>
          </a:p>
          <a:p>
            <a:pPr marL="0" indent="0">
              <a:buNone/>
            </a:pPr>
            <a:endParaRPr lang="en-IN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484A7DF-3E90-4C2B-937D-E4D931F3EB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C643BA-ACA1-44BF-9071-763295A35907}" type="datetime4">
              <a:rPr lang="en-US" smtClean="0"/>
              <a:t>April 3, 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7A87D2C-37F2-4D6F-A69C-AD667F9788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Computer Science &amp; Engineering, VNRVJIET, Hyderabad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0AF8335-F635-43F3-8F3F-4D38BBF982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FA3F07-B4E9-4FEB-BC07-B9713C186F28}" type="slidenum">
              <a:rPr lang="en-US" smtClean="0"/>
              <a:pPr/>
              <a:t>21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3449515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ooter Placeholder 3">
            <a:extLst>
              <a:ext uri="{FF2B5EF4-FFF2-40B4-BE49-F238E27FC236}">
                <a16:creationId xmlns:a16="http://schemas.microsoft.com/office/drawing/2014/main" id="{3C3D3BCE-6500-4E99-A58D-0E3D556F08C6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altLang="en-US"/>
              <a:t>Comp 122</a:t>
            </a:r>
          </a:p>
        </p:txBody>
      </p:sp>
      <p:sp>
        <p:nvSpPr>
          <p:cNvPr id="446471" name="Text Box 1031">
            <a:extLst>
              <a:ext uri="{FF2B5EF4-FFF2-40B4-BE49-F238E27FC236}">
                <a16:creationId xmlns:a16="http://schemas.microsoft.com/office/drawing/2014/main" id="{3E45A249-6E37-4CBC-983A-608949390AD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0924" y="2067021"/>
            <a:ext cx="7981950" cy="1119188"/>
          </a:xfrm>
          <a:prstGeom prst="rect">
            <a:avLst/>
          </a:prstGeom>
          <a:solidFill>
            <a:srgbClr val="CCECFF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lnSpc>
                <a:spcPct val="90000"/>
              </a:lnSpc>
              <a:spcAft>
                <a:spcPct val="20000"/>
              </a:spcAft>
              <a:buFont typeface="Wingdings" panose="05000000000000000000" pitchFamily="2" charset="2"/>
              <a:buNone/>
            </a:pPr>
            <a:r>
              <a:rPr lang="en-US" altLang="en-US" sz="4400" i="1" dirty="0">
                <a:solidFill>
                  <a:schemeClr val="accent1"/>
                </a:solidFill>
                <a:latin typeface="Symbol" panose="05050102010706020507" pitchFamily="18" charset="2"/>
                <a:sym typeface="Symbol" panose="05050102010706020507" pitchFamily="18" charset="2"/>
              </a:rPr>
              <a:t>w</a:t>
            </a:r>
            <a:r>
              <a:rPr lang="en-US" altLang="en-US" sz="3000" b="1" dirty="0">
                <a:solidFill>
                  <a:schemeClr val="accent1"/>
                </a:solidFill>
              </a:rPr>
              <a:t>(</a:t>
            </a:r>
            <a:r>
              <a:rPr lang="en-US" altLang="en-US" sz="3000" b="1" i="1" dirty="0">
                <a:solidFill>
                  <a:schemeClr val="accent1"/>
                </a:solidFill>
              </a:rPr>
              <a:t>g</a:t>
            </a:r>
            <a:r>
              <a:rPr lang="en-US" altLang="en-US" sz="3000" b="1" dirty="0">
                <a:solidFill>
                  <a:schemeClr val="accent1"/>
                </a:solidFill>
              </a:rPr>
              <a:t>(</a:t>
            </a:r>
            <a:r>
              <a:rPr lang="en-US" altLang="en-US" sz="3000" b="1" i="1" dirty="0">
                <a:solidFill>
                  <a:schemeClr val="accent1"/>
                </a:solidFill>
              </a:rPr>
              <a:t>n</a:t>
            </a:r>
            <a:r>
              <a:rPr lang="en-US" altLang="en-US" sz="3000" b="1" dirty="0">
                <a:solidFill>
                  <a:schemeClr val="accent1"/>
                </a:solidFill>
              </a:rPr>
              <a:t>))</a:t>
            </a:r>
            <a:r>
              <a:rPr lang="en-US" altLang="en-US" sz="3000" dirty="0">
                <a:solidFill>
                  <a:schemeClr val="hlink"/>
                </a:solidFill>
              </a:rPr>
              <a:t> = {</a:t>
            </a:r>
            <a:r>
              <a:rPr lang="en-US" altLang="en-US" sz="3000" i="1" dirty="0">
                <a:solidFill>
                  <a:schemeClr val="hlink"/>
                </a:solidFill>
              </a:rPr>
              <a:t>f</a:t>
            </a:r>
            <a:r>
              <a:rPr lang="en-US" altLang="en-US" sz="3000" dirty="0">
                <a:solidFill>
                  <a:schemeClr val="hlink"/>
                </a:solidFill>
              </a:rPr>
              <a:t>(</a:t>
            </a:r>
            <a:r>
              <a:rPr lang="en-US" altLang="en-US" sz="3000" i="1" dirty="0">
                <a:solidFill>
                  <a:schemeClr val="hlink"/>
                </a:solidFill>
              </a:rPr>
              <a:t>n</a:t>
            </a:r>
            <a:r>
              <a:rPr lang="en-US" altLang="en-US" sz="3000" dirty="0">
                <a:solidFill>
                  <a:schemeClr val="hlink"/>
                </a:solidFill>
              </a:rPr>
              <a:t>): </a:t>
            </a:r>
            <a:r>
              <a:rPr lang="en-US" altLang="en-US" sz="3000" b="1" dirty="0">
                <a:solidFill>
                  <a:srgbClr val="FF3300"/>
                </a:solidFill>
                <a:sym typeface="Symbol" panose="05050102010706020507" pitchFamily="18" charset="2"/>
              </a:rPr>
              <a:t></a:t>
            </a:r>
            <a:r>
              <a:rPr lang="en-US" altLang="en-US" sz="3000" dirty="0">
                <a:solidFill>
                  <a:schemeClr val="hlink"/>
                </a:solidFill>
                <a:sym typeface="Symbol" panose="05050102010706020507" pitchFamily="18" charset="2"/>
              </a:rPr>
              <a:t> </a:t>
            </a:r>
            <a:r>
              <a:rPr lang="en-US" altLang="en-US" sz="3000" b="1" i="1" dirty="0">
                <a:solidFill>
                  <a:srgbClr val="CC0000"/>
                </a:solidFill>
              </a:rPr>
              <a:t>c</a:t>
            </a:r>
            <a:r>
              <a:rPr lang="en-US" altLang="en-US" sz="3000" b="1" dirty="0">
                <a:solidFill>
                  <a:srgbClr val="CC0000"/>
                </a:solidFill>
              </a:rPr>
              <a:t> &gt; 0</a:t>
            </a:r>
            <a:r>
              <a:rPr lang="en-US" altLang="en-US" sz="3000" dirty="0">
                <a:solidFill>
                  <a:schemeClr val="hlink"/>
                </a:solidFill>
              </a:rPr>
              <a:t>, </a:t>
            </a:r>
            <a:r>
              <a:rPr lang="en-US" altLang="en-US" sz="3000" b="1" dirty="0">
                <a:solidFill>
                  <a:srgbClr val="FF3300"/>
                </a:solidFill>
                <a:sym typeface="Symbol" panose="05050102010706020507" pitchFamily="18" charset="2"/>
              </a:rPr>
              <a:t></a:t>
            </a:r>
            <a:r>
              <a:rPr lang="en-US" altLang="en-US" sz="3000" dirty="0">
                <a:solidFill>
                  <a:schemeClr val="hlink"/>
                </a:solidFill>
              </a:rPr>
              <a:t> </a:t>
            </a:r>
            <a:r>
              <a:rPr lang="en-US" altLang="en-US" sz="3000" b="1" i="1" dirty="0">
                <a:solidFill>
                  <a:srgbClr val="CC0000"/>
                </a:solidFill>
              </a:rPr>
              <a:t>n</a:t>
            </a:r>
            <a:r>
              <a:rPr lang="en-US" altLang="en-US" sz="3000" b="1" baseline="-25000" dirty="0">
                <a:solidFill>
                  <a:srgbClr val="CC0000"/>
                </a:solidFill>
              </a:rPr>
              <a:t>0</a:t>
            </a:r>
            <a:r>
              <a:rPr lang="en-US" altLang="en-US" sz="3000" b="1" dirty="0">
                <a:solidFill>
                  <a:srgbClr val="CC0000"/>
                </a:solidFill>
              </a:rPr>
              <a:t> &gt; 0</a:t>
            </a:r>
            <a:r>
              <a:rPr lang="en-US" altLang="en-US" sz="3000" dirty="0">
                <a:solidFill>
                  <a:schemeClr val="hlink"/>
                </a:solidFill>
              </a:rPr>
              <a:t> such that </a:t>
            </a:r>
            <a:br>
              <a:rPr lang="en-US" altLang="en-US" sz="3000" dirty="0">
                <a:solidFill>
                  <a:schemeClr val="hlink"/>
                </a:solidFill>
              </a:rPr>
            </a:br>
            <a:r>
              <a:rPr lang="en-US" altLang="en-US" sz="3000" dirty="0">
                <a:solidFill>
                  <a:schemeClr val="hlink"/>
                </a:solidFill>
              </a:rPr>
              <a:t>		</a:t>
            </a:r>
            <a:r>
              <a:rPr lang="en-US" altLang="en-US" sz="3000" b="1" dirty="0">
                <a:solidFill>
                  <a:srgbClr val="FF3300"/>
                </a:solidFill>
                <a:sym typeface="Symbol" panose="05050102010706020507" pitchFamily="18" charset="2"/>
              </a:rPr>
              <a:t></a:t>
            </a:r>
            <a:r>
              <a:rPr lang="en-US" altLang="en-US" sz="3000" dirty="0">
                <a:solidFill>
                  <a:schemeClr val="hlink"/>
                </a:solidFill>
              </a:rPr>
              <a:t> </a:t>
            </a:r>
            <a:r>
              <a:rPr lang="en-US" altLang="en-US" sz="3000" i="1" dirty="0">
                <a:solidFill>
                  <a:schemeClr val="hlink"/>
                </a:solidFill>
              </a:rPr>
              <a:t>n </a:t>
            </a:r>
            <a:r>
              <a:rPr lang="en-US" altLang="en-US" sz="3000" dirty="0">
                <a:solidFill>
                  <a:schemeClr val="hlink"/>
                </a:solidFill>
                <a:sym typeface="Symbol" panose="05050102010706020507" pitchFamily="18" charset="2"/>
              </a:rPr>
              <a:t></a:t>
            </a:r>
            <a:r>
              <a:rPr lang="en-US" altLang="en-US" sz="3000" i="1" baseline="-25000" dirty="0">
                <a:solidFill>
                  <a:schemeClr val="hlink"/>
                </a:solidFill>
              </a:rPr>
              <a:t>  </a:t>
            </a:r>
            <a:r>
              <a:rPr lang="en-US" altLang="en-US" sz="3000" i="1" dirty="0">
                <a:solidFill>
                  <a:schemeClr val="hlink"/>
                </a:solidFill>
              </a:rPr>
              <a:t>n</a:t>
            </a:r>
            <a:r>
              <a:rPr lang="en-US" altLang="en-US" sz="3000" baseline="-25000" dirty="0">
                <a:solidFill>
                  <a:schemeClr val="hlink"/>
                </a:solidFill>
              </a:rPr>
              <a:t>0</a:t>
            </a:r>
            <a:r>
              <a:rPr lang="en-US" altLang="en-US" sz="3000" i="1" dirty="0">
                <a:solidFill>
                  <a:schemeClr val="hlink"/>
                </a:solidFill>
              </a:rPr>
              <a:t>, </a:t>
            </a:r>
            <a:r>
              <a:rPr lang="en-US" altLang="en-US" sz="2600" dirty="0">
                <a:solidFill>
                  <a:schemeClr val="hlink"/>
                </a:solidFill>
              </a:rPr>
              <a:t>we have</a:t>
            </a:r>
            <a:r>
              <a:rPr lang="en-US" altLang="en-US" sz="3000" i="1" baseline="-25000" dirty="0">
                <a:solidFill>
                  <a:schemeClr val="hlink"/>
                </a:solidFill>
              </a:rPr>
              <a:t> </a:t>
            </a:r>
            <a:r>
              <a:rPr lang="en-US" altLang="en-US" sz="3000" dirty="0">
                <a:solidFill>
                  <a:schemeClr val="hlink"/>
                </a:solidFill>
              </a:rPr>
              <a:t>0 </a:t>
            </a:r>
            <a:r>
              <a:rPr lang="en-US" altLang="en-US" sz="3000" dirty="0">
                <a:solidFill>
                  <a:schemeClr val="hlink"/>
                </a:solidFill>
                <a:sym typeface="Symbol" panose="05050102010706020507" pitchFamily="18" charset="2"/>
              </a:rPr>
              <a:t></a:t>
            </a:r>
            <a:r>
              <a:rPr lang="en-US" altLang="en-US" sz="3000" dirty="0">
                <a:solidFill>
                  <a:schemeClr val="hlink"/>
                </a:solidFill>
              </a:rPr>
              <a:t> </a:t>
            </a:r>
            <a:r>
              <a:rPr lang="en-US" altLang="en-US" sz="3000" i="1" dirty="0">
                <a:solidFill>
                  <a:schemeClr val="hlink"/>
                </a:solidFill>
              </a:rPr>
              <a:t>cg</a:t>
            </a:r>
            <a:r>
              <a:rPr lang="en-US" altLang="en-US" sz="3000" dirty="0">
                <a:solidFill>
                  <a:schemeClr val="hlink"/>
                </a:solidFill>
              </a:rPr>
              <a:t>(</a:t>
            </a:r>
            <a:r>
              <a:rPr lang="en-US" altLang="en-US" sz="3000" i="1" dirty="0">
                <a:solidFill>
                  <a:schemeClr val="hlink"/>
                </a:solidFill>
              </a:rPr>
              <a:t>n</a:t>
            </a:r>
            <a:r>
              <a:rPr lang="en-US" altLang="en-US" sz="3000" dirty="0">
                <a:solidFill>
                  <a:schemeClr val="hlink"/>
                </a:solidFill>
              </a:rPr>
              <a:t>) </a:t>
            </a:r>
            <a:r>
              <a:rPr lang="en-US" altLang="en-US" sz="3000" dirty="0">
                <a:solidFill>
                  <a:schemeClr val="hlink"/>
                </a:solidFill>
                <a:sym typeface="Symbol" panose="05050102010706020507" pitchFamily="18" charset="2"/>
              </a:rPr>
              <a:t>&lt; </a:t>
            </a:r>
            <a:r>
              <a:rPr lang="en-US" altLang="en-US" sz="3000" dirty="0">
                <a:solidFill>
                  <a:schemeClr val="hlink"/>
                </a:solidFill>
              </a:rPr>
              <a:t> </a:t>
            </a:r>
            <a:r>
              <a:rPr lang="en-US" altLang="en-US" sz="3000" i="1" dirty="0">
                <a:solidFill>
                  <a:schemeClr val="hlink"/>
                </a:solidFill>
              </a:rPr>
              <a:t>f</a:t>
            </a:r>
            <a:r>
              <a:rPr lang="en-US" altLang="en-US" sz="3000" dirty="0">
                <a:solidFill>
                  <a:schemeClr val="hlink"/>
                </a:solidFill>
              </a:rPr>
              <a:t>(</a:t>
            </a:r>
            <a:r>
              <a:rPr lang="en-US" altLang="en-US" sz="3000" i="1" dirty="0">
                <a:solidFill>
                  <a:schemeClr val="hlink"/>
                </a:solidFill>
              </a:rPr>
              <a:t>n</a:t>
            </a:r>
            <a:r>
              <a:rPr lang="en-US" altLang="en-US" sz="3000" dirty="0">
                <a:solidFill>
                  <a:schemeClr val="hlink"/>
                </a:solidFill>
              </a:rPr>
              <a:t>)}.</a:t>
            </a:r>
          </a:p>
        </p:txBody>
      </p:sp>
      <p:sp>
        <p:nvSpPr>
          <p:cNvPr id="446466" name="Rectangle 1026">
            <a:extLst>
              <a:ext uri="{FF2B5EF4-FFF2-40B4-BE49-F238E27FC236}">
                <a16:creationId xmlns:a16="http://schemas.microsoft.com/office/drawing/2014/main" id="{4FC396D4-3681-418D-B31E-5ED1F66F7E4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52400" y="350838"/>
            <a:ext cx="5791200" cy="868362"/>
          </a:xfrm>
        </p:spPr>
        <p:txBody>
          <a:bodyPr/>
          <a:lstStyle/>
          <a:p>
            <a:r>
              <a:rPr lang="en-US" altLang="en-US" i="1" dirty="0">
                <a:solidFill>
                  <a:srgbClr val="FF0000"/>
                </a:solidFill>
                <a:latin typeface="Symbol" panose="05050102010706020507" pitchFamily="18" charset="2"/>
                <a:sym typeface="Symbol" panose="05050102010706020507" pitchFamily="18" charset="2"/>
              </a:rPr>
              <a:t>w</a:t>
            </a:r>
            <a:r>
              <a:rPr lang="en-US" altLang="en-US" i="1" dirty="0">
                <a:solidFill>
                  <a:srgbClr val="FF0000"/>
                </a:solidFill>
                <a:sym typeface="Symbol" panose="05050102010706020507" pitchFamily="18" charset="2"/>
              </a:rPr>
              <a:t> </a:t>
            </a:r>
            <a:r>
              <a:rPr lang="en-US" altLang="en-US" dirty="0">
                <a:solidFill>
                  <a:srgbClr val="FF0000"/>
                </a:solidFill>
                <a:sym typeface="Symbol" panose="05050102010706020507" pitchFamily="18" charset="2"/>
              </a:rPr>
              <a:t>–notation(little omega)</a:t>
            </a:r>
          </a:p>
        </p:txBody>
      </p:sp>
      <p:sp>
        <p:nvSpPr>
          <p:cNvPr id="446467" name="Rectangle 1027">
            <a:extLst>
              <a:ext uri="{FF2B5EF4-FFF2-40B4-BE49-F238E27FC236}">
                <a16:creationId xmlns:a16="http://schemas.microsoft.com/office/drawing/2014/main" id="{93046377-5AAB-431C-8099-1E55571D895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31788" y="3389312"/>
            <a:ext cx="7981950" cy="3308350"/>
          </a:xfrm>
        </p:spPr>
        <p:txBody>
          <a:bodyPr/>
          <a:lstStyle/>
          <a:p>
            <a:pPr>
              <a:spcBef>
                <a:spcPct val="0"/>
              </a:spcBef>
              <a:buFontTx/>
              <a:buNone/>
            </a:pPr>
            <a:r>
              <a:rPr lang="en-US" altLang="en-US" sz="2800" i="1" dirty="0"/>
              <a:t>f</a:t>
            </a:r>
            <a:r>
              <a:rPr lang="en-US" altLang="en-US" sz="2800" dirty="0"/>
              <a:t>(</a:t>
            </a:r>
            <a:r>
              <a:rPr lang="en-US" altLang="en-US" sz="2800" i="1" dirty="0"/>
              <a:t>n</a:t>
            </a:r>
            <a:r>
              <a:rPr lang="en-US" altLang="en-US" sz="2800" dirty="0"/>
              <a:t>) becomes arbitrarily large  relative to </a:t>
            </a:r>
            <a:r>
              <a:rPr lang="en-US" altLang="en-US" sz="2800" i="1" dirty="0"/>
              <a:t>g</a:t>
            </a:r>
            <a:r>
              <a:rPr lang="en-US" altLang="en-US" sz="2800" dirty="0"/>
              <a:t>(</a:t>
            </a:r>
            <a:r>
              <a:rPr lang="en-US" altLang="en-US" sz="2800" i="1" dirty="0"/>
              <a:t>n</a:t>
            </a:r>
            <a:r>
              <a:rPr lang="en-US" altLang="en-US" sz="2800" dirty="0"/>
              <a:t>)</a:t>
            </a:r>
            <a:r>
              <a:rPr lang="en-US" altLang="en-US" sz="2800" i="1" dirty="0"/>
              <a:t> </a:t>
            </a:r>
            <a:r>
              <a:rPr lang="en-US" altLang="en-US" sz="2800" dirty="0"/>
              <a:t>as </a:t>
            </a:r>
            <a:r>
              <a:rPr lang="en-US" altLang="en-US" sz="2800" i="1" dirty="0"/>
              <a:t>n </a:t>
            </a:r>
            <a:r>
              <a:rPr lang="en-US" altLang="en-US" sz="2800" dirty="0"/>
              <a:t>approaches infinity: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3400" i="1" dirty="0">
                <a:solidFill>
                  <a:srgbClr val="FF3300"/>
                </a:solidFill>
              </a:rPr>
              <a:t>				</a:t>
            </a:r>
            <a:r>
              <a:rPr lang="en-US" altLang="en-US" sz="3400" i="1" dirty="0" err="1">
                <a:solidFill>
                  <a:srgbClr val="FF3300"/>
                </a:solidFill>
              </a:rPr>
              <a:t>lim</a:t>
            </a:r>
            <a:r>
              <a:rPr lang="en-US" altLang="en-US" sz="3400" i="1" dirty="0">
                <a:solidFill>
                  <a:srgbClr val="FF3300"/>
                </a:solidFill>
              </a:rPr>
              <a:t> </a:t>
            </a:r>
            <a:r>
              <a:rPr lang="en-US" altLang="en-US" sz="3400" dirty="0">
                <a:solidFill>
                  <a:srgbClr val="FF3300"/>
                </a:solidFill>
                <a:sym typeface="Symbol" panose="05050102010706020507" pitchFamily="18" charset="2"/>
              </a:rPr>
              <a:t>[</a:t>
            </a:r>
            <a:r>
              <a:rPr lang="en-US" altLang="en-US" sz="3400" i="1" dirty="0">
                <a:solidFill>
                  <a:srgbClr val="FF3300"/>
                </a:solidFill>
              </a:rPr>
              <a:t>f</a:t>
            </a:r>
            <a:r>
              <a:rPr lang="en-US" altLang="en-US" sz="3400" dirty="0">
                <a:solidFill>
                  <a:srgbClr val="FF3300"/>
                </a:solidFill>
              </a:rPr>
              <a:t>(</a:t>
            </a:r>
            <a:r>
              <a:rPr lang="en-US" altLang="en-US" sz="3400" i="1" dirty="0">
                <a:solidFill>
                  <a:srgbClr val="FF3300"/>
                </a:solidFill>
              </a:rPr>
              <a:t>n</a:t>
            </a:r>
            <a:r>
              <a:rPr lang="en-US" altLang="en-US" sz="3400" dirty="0">
                <a:solidFill>
                  <a:srgbClr val="FF3300"/>
                </a:solidFill>
              </a:rPr>
              <a:t>) / </a:t>
            </a:r>
            <a:r>
              <a:rPr lang="en-US" altLang="en-US" sz="3400" i="1" dirty="0">
                <a:solidFill>
                  <a:srgbClr val="FF3300"/>
                </a:solidFill>
              </a:rPr>
              <a:t>g</a:t>
            </a:r>
            <a:r>
              <a:rPr lang="en-US" altLang="en-US" sz="3400" dirty="0">
                <a:solidFill>
                  <a:srgbClr val="FF3300"/>
                </a:solidFill>
              </a:rPr>
              <a:t>(</a:t>
            </a:r>
            <a:r>
              <a:rPr lang="en-US" altLang="en-US" sz="3400" i="1" dirty="0">
                <a:solidFill>
                  <a:srgbClr val="FF3300"/>
                </a:solidFill>
              </a:rPr>
              <a:t>n</a:t>
            </a:r>
            <a:r>
              <a:rPr lang="en-US" altLang="en-US" sz="3400" dirty="0">
                <a:solidFill>
                  <a:srgbClr val="FF3300"/>
                </a:solidFill>
              </a:rPr>
              <a:t>)] = </a:t>
            </a:r>
            <a:r>
              <a:rPr lang="en-US" altLang="en-US" sz="3400" dirty="0">
                <a:solidFill>
                  <a:srgbClr val="FF3300"/>
                </a:solidFill>
                <a:sym typeface="Symbol" panose="05050102010706020507" pitchFamily="18" charset="2"/>
              </a:rPr>
              <a:t>.</a:t>
            </a:r>
            <a:endParaRPr lang="en-US" altLang="en-US" sz="3400" dirty="0">
              <a:solidFill>
                <a:srgbClr val="FF3300"/>
              </a:solidFill>
            </a:endParaRPr>
          </a:p>
          <a:p>
            <a:pPr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en-US" sz="3400" dirty="0">
                <a:solidFill>
                  <a:srgbClr val="3DDE2C"/>
                </a:solidFill>
              </a:rPr>
              <a:t>                         </a:t>
            </a:r>
            <a:r>
              <a:rPr lang="en-US" altLang="en-US" sz="3400" i="1" baseline="60000" dirty="0">
                <a:solidFill>
                  <a:srgbClr val="FF3300"/>
                </a:solidFill>
              </a:rPr>
              <a:t>n</a:t>
            </a:r>
            <a:r>
              <a:rPr lang="en-US" altLang="en-US" sz="3400" i="1" baseline="60000" dirty="0">
                <a:solidFill>
                  <a:srgbClr val="FF3300"/>
                </a:solidFill>
                <a:sym typeface="Symbol" panose="05050102010706020507" pitchFamily="18" charset="2"/>
              </a:rPr>
              <a:t></a:t>
            </a:r>
            <a:r>
              <a:rPr lang="en-US" altLang="en-US" sz="3400" i="1" dirty="0">
                <a:solidFill>
                  <a:srgbClr val="FF3300"/>
                </a:solidFill>
              </a:rPr>
              <a:t> </a:t>
            </a:r>
            <a:endParaRPr lang="en-US" altLang="en-US" sz="3400" dirty="0">
              <a:solidFill>
                <a:srgbClr val="FF3300"/>
              </a:solidFill>
            </a:endParaRPr>
          </a:p>
          <a:p>
            <a:pPr>
              <a:spcBef>
                <a:spcPct val="0"/>
              </a:spcBef>
              <a:spcAft>
                <a:spcPct val="20000"/>
              </a:spcAft>
              <a:buFont typeface="Wingdings" panose="05000000000000000000" pitchFamily="2" charset="2"/>
              <a:buNone/>
            </a:pPr>
            <a:r>
              <a:rPr lang="en-US" altLang="en-US" sz="2800" i="1" dirty="0"/>
              <a:t>g</a:t>
            </a:r>
            <a:r>
              <a:rPr lang="en-US" altLang="en-US" sz="2800" dirty="0"/>
              <a:t>(</a:t>
            </a:r>
            <a:r>
              <a:rPr lang="en-US" altLang="en-US" sz="2800" i="1" dirty="0"/>
              <a:t>n</a:t>
            </a:r>
            <a:r>
              <a:rPr lang="en-US" altLang="en-US" sz="2800" dirty="0"/>
              <a:t>) is a</a:t>
            </a:r>
            <a:r>
              <a:rPr lang="en-US" altLang="en-US" sz="2800" i="1" dirty="0">
                <a:solidFill>
                  <a:srgbClr val="3DDE2C"/>
                </a:solidFill>
              </a:rPr>
              <a:t> </a:t>
            </a:r>
            <a:r>
              <a:rPr lang="en-US" altLang="en-US" sz="2800" b="1" i="1" dirty="0">
                <a:solidFill>
                  <a:srgbClr val="CC0000"/>
                </a:solidFill>
              </a:rPr>
              <a:t>lower bound</a:t>
            </a:r>
            <a:r>
              <a:rPr lang="en-US" altLang="en-US" sz="2800" dirty="0"/>
              <a:t> for </a:t>
            </a:r>
            <a:r>
              <a:rPr lang="en-US" altLang="en-US" sz="2800" i="1" dirty="0"/>
              <a:t>f</a:t>
            </a:r>
            <a:r>
              <a:rPr lang="en-US" altLang="en-US" sz="2800" dirty="0"/>
              <a:t>(</a:t>
            </a:r>
            <a:r>
              <a:rPr lang="en-US" altLang="en-US" sz="2800" i="1" dirty="0"/>
              <a:t>n</a:t>
            </a:r>
            <a:r>
              <a:rPr lang="en-US" altLang="en-US" sz="2800" dirty="0"/>
              <a:t>)</a:t>
            </a:r>
            <a:r>
              <a:rPr lang="en-US" altLang="en-US" sz="2800" i="1" dirty="0"/>
              <a:t> </a:t>
            </a:r>
            <a:r>
              <a:rPr lang="en-US" altLang="en-US" sz="2800" dirty="0"/>
              <a:t>that is not asymptotically tight.</a:t>
            </a:r>
          </a:p>
        </p:txBody>
      </p:sp>
      <p:sp>
        <p:nvSpPr>
          <p:cNvPr id="446468" name="Text Box 1028">
            <a:extLst>
              <a:ext uri="{FF2B5EF4-FFF2-40B4-BE49-F238E27FC236}">
                <a16:creationId xmlns:a16="http://schemas.microsoft.com/office/drawing/2014/main" id="{536D44CC-ED96-4869-8D57-9C6406A2F71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4188" y="849313"/>
            <a:ext cx="1841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endParaRPr lang="en-US" altLang="en-US"/>
          </a:p>
        </p:txBody>
      </p:sp>
      <p:sp>
        <p:nvSpPr>
          <p:cNvPr id="446470" name="Text Box 1030">
            <a:extLst>
              <a:ext uri="{FF2B5EF4-FFF2-40B4-BE49-F238E27FC236}">
                <a16:creationId xmlns:a16="http://schemas.microsoft.com/office/drawing/2014/main" id="{7E5311B7-ED59-4BC4-967F-3FEFEEB3A07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5806" y="1334293"/>
            <a:ext cx="7700962" cy="579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 sz="3200" dirty="0"/>
              <a:t>For a given function </a:t>
            </a:r>
            <a:r>
              <a:rPr lang="en-US" altLang="en-US" sz="3200" i="1" dirty="0"/>
              <a:t>g</a:t>
            </a:r>
            <a:r>
              <a:rPr lang="en-US" altLang="en-US" sz="3200" dirty="0"/>
              <a:t>(</a:t>
            </a:r>
            <a:r>
              <a:rPr lang="en-US" altLang="en-US" sz="3200" i="1" dirty="0"/>
              <a:t>n</a:t>
            </a:r>
            <a:r>
              <a:rPr lang="en-US" altLang="en-US" sz="3200" dirty="0"/>
              <a:t>), the set little-omega: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5A84C5-E854-4E96-B978-6136A6DBF5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0" y="350838"/>
            <a:ext cx="3124200" cy="868362"/>
          </a:xfrm>
        </p:spPr>
        <p:txBody>
          <a:bodyPr/>
          <a:lstStyle/>
          <a:p>
            <a:r>
              <a:rPr lang="en-US" dirty="0" err="1">
                <a:solidFill>
                  <a:srgbClr val="FF0000"/>
                </a:solidFill>
              </a:rPr>
              <a:t>Contd</a:t>
            </a:r>
            <a:r>
              <a:rPr lang="en-US" dirty="0">
                <a:solidFill>
                  <a:srgbClr val="FF0000"/>
                </a:solidFill>
              </a:rPr>
              <a:t>……</a:t>
            </a:r>
            <a:endParaRPr lang="en-IN" dirty="0">
              <a:solidFill>
                <a:srgbClr val="FF000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1B1C933-6055-4589-891B-23BE73DAD9C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3200" dirty="0"/>
              <a:t>Order of growth of f(n) is strictly greater than that of order of growth of g(n).</a:t>
            </a:r>
          </a:p>
          <a:p>
            <a:r>
              <a:rPr lang="en-IN" sz="3200" dirty="0"/>
              <a:t>Example:</a:t>
            </a:r>
          </a:p>
          <a:p>
            <a:r>
              <a:rPr lang="en-US" altLang="en-US" sz="3200" i="1" dirty="0" err="1">
                <a:solidFill>
                  <a:srgbClr val="FF3300"/>
                </a:solidFill>
              </a:rPr>
              <a:t>lim</a:t>
            </a:r>
            <a:r>
              <a:rPr lang="en-US" altLang="en-US" sz="3200" i="1" dirty="0">
                <a:solidFill>
                  <a:srgbClr val="FF3300"/>
                </a:solidFill>
              </a:rPr>
              <a:t> </a:t>
            </a:r>
            <a:r>
              <a:rPr lang="en-US" altLang="en-US" sz="3200" dirty="0">
                <a:solidFill>
                  <a:srgbClr val="FF3300"/>
                </a:solidFill>
                <a:sym typeface="Symbol" panose="05050102010706020507" pitchFamily="18" charset="2"/>
              </a:rPr>
              <a:t>[7n</a:t>
            </a:r>
            <a:r>
              <a:rPr lang="en-US" altLang="en-US" sz="3200" baseline="30000" dirty="0">
                <a:solidFill>
                  <a:srgbClr val="FF3300"/>
                </a:solidFill>
                <a:sym typeface="Symbol" panose="05050102010706020507" pitchFamily="18" charset="2"/>
              </a:rPr>
              <a:t>2</a:t>
            </a:r>
            <a:r>
              <a:rPr lang="en-US" altLang="en-US" sz="3200" dirty="0">
                <a:solidFill>
                  <a:srgbClr val="FF3300"/>
                </a:solidFill>
                <a:sym typeface="Symbol" panose="05050102010706020507" pitchFamily="18" charset="2"/>
              </a:rPr>
              <a:t>+8n+9</a:t>
            </a:r>
            <a:r>
              <a:rPr lang="en-US" altLang="en-US" sz="3200" baseline="30000" dirty="0">
                <a:solidFill>
                  <a:srgbClr val="FF3300"/>
                </a:solidFill>
                <a:sym typeface="Symbol" panose="05050102010706020507" pitchFamily="18" charset="2"/>
              </a:rPr>
              <a:t> </a:t>
            </a:r>
            <a:r>
              <a:rPr lang="en-US" altLang="en-US" sz="3200" dirty="0">
                <a:solidFill>
                  <a:srgbClr val="FF3300"/>
                </a:solidFill>
              </a:rPr>
              <a:t> / n] = </a:t>
            </a:r>
            <a:r>
              <a:rPr lang="en-US" altLang="en-US" sz="3200" dirty="0">
                <a:solidFill>
                  <a:srgbClr val="FF3300"/>
                </a:solidFill>
                <a:sym typeface="Symbol" panose="05050102010706020507" pitchFamily="18" charset="2"/>
              </a:rPr>
              <a:t>.</a:t>
            </a:r>
            <a:endParaRPr lang="en-US" altLang="en-US" sz="3200" dirty="0">
              <a:solidFill>
                <a:srgbClr val="FF3300"/>
              </a:solidFill>
            </a:endParaRPr>
          </a:p>
          <a:p>
            <a:r>
              <a:rPr lang="en-US" altLang="en-US" sz="3200" i="1" baseline="60000" dirty="0">
                <a:solidFill>
                  <a:srgbClr val="FF3300"/>
                </a:solidFill>
              </a:rPr>
              <a:t>n</a:t>
            </a:r>
            <a:r>
              <a:rPr lang="en-US" altLang="en-US" sz="3200" i="1" baseline="60000" dirty="0">
                <a:solidFill>
                  <a:srgbClr val="FF3300"/>
                </a:solidFill>
                <a:sym typeface="Symbol" panose="05050102010706020507" pitchFamily="18" charset="2"/>
              </a:rPr>
              <a:t></a:t>
            </a:r>
            <a:endParaRPr lang="en-IN" sz="3200" dirty="0"/>
          </a:p>
          <a:p>
            <a:pPr marL="0" indent="0">
              <a:buNone/>
            </a:pPr>
            <a:endParaRPr lang="en-IN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484A7DF-3E90-4C2B-937D-E4D931F3EB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C643BA-ACA1-44BF-9071-763295A35907}" type="datetime4">
              <a:rPr lang="en-US" smtClean="0"/>
              <a:t>April 3, 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7A87D2C-37F2-4D6F-A69C-AD667F9788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Computer Science &amp; Engineering, VNRVJIET, Hyderabad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0AF8335-F635-43F3-8F3F-4D38BBF982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FA3F07-B4E9-4FEB-BC07-B9713C186F28}" type="slidenum">
              <a:rPr lang="en-US" smtClean="0"/>
              <a:pPr/>
              <a:t>23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8622453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D08852A-73FF-48AE-9D3E-EE7880314EB1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altLang="en-US"/>
              <a:t>Comp 122</a:t>
            </a:r>
          </a:p>
        </p:txBody>
      </p:sp>
      <p:sp>
        <p:nvSpPr>
          <p:cNvPr id="369666" name="Rectangle 2">
            <a:extLst>
              <a:ext uri="{FF2B5EF4-FFF2-40B4-BE49-F238E27FC236}">
                <a16:creationId xmlns:a16="http://schemas.microsoft.com/office/drawing/2014/main" id="{9E4B0B6F-CD0A-4DC2-B57C-3E31111536C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52400" y="350838"/>
            <a:ext cx="2743200" cy="868362"/>
          </a:xfrm>
        </p:spPr>
        <p:txBody>
          <a:bodyPr/>
          <a:lstStyle/>
          <a:p>
            <a:r>
              <a:rPr lang="en-US" altLang="en-US" dirty="0">
                <a:solidFill>
                  <a:srgbClr val="FF0000"/>
                </a:solidFill>
              </a:rPr>
              <a:t>Properties</a:t>
            </a:r>
          </a:p>
        </p:txBody>
      </p:sp>
      <p:sp>
        <p:nvSpPr>
          <p:cNvPr id="369667" name="Rectangle 3">
            <a:extLst>
              <a:ext uri="{FF2B5EF4-FFF2-40B4-BE49-F238E27FC236}">
                <a16:creationId xmlns:a16="http://schemas.microsoft.com/office/drawing/2014/main" id="{141894F9-DCD7-4FFF-A9EF-6E7E9DEFAED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81000" y="1600200"/>
            <a:ext cx="7772400" cy="5426075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altLang="en-US" sz="2800" dirty="0">
                <a:solidFill>
                  <a:srgbClr val="7030A0"/>
                </a:solidFill>
              </a:rPr>
              <a:t>Transitivity</a:t>
            </a:r>
          </a:p>
          <a:p>
            <a:pPr algn="ctr">
              <a:lnSpc>
                <a:spcPct val="9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en-US" sz="2600" i="1" dirty="0">
                <a:solidFill>
                  <a:schemeClr val="hlink"/>
                </a:solidFill>
              </a:rPr>
              <a:t>f</a:t>
            </a:r>
            <a:r>
              <a:rPr lang="en-US" altLang="en-US" sz="2600" dirty="0">
                <a:solidFill>
                  <a:schemeClr val="hlink"/>
                </a:solidFill>
              </a:rPr>
              <a:t>(</a:t>
            </a:r>
            <a:r>
              <a:rPr lang="en-US" altLang="en-US" sz="2600" i="1" dirty="0">
                <a:solidFill>
                  <a:schemeClr val="hlink"/>
                </a:solidFill>
              </a:rPr>
              <a:t>n</a:t>
            </a:r>
            <a:r>
              <a:rPr lang="en-US" altLang="en-US" sz="2600" dirty="0">
                <a:solidFill>
                  <a:schemeClr val="hlink"/>
                </a:solidFill>
              </a:rPr>
              <a:t>)</a:t>
            </a:r>
            <a:r>
              <a:rPr lang="en-US" altLang="en-US" sz="2600" i="1" dirty="0">
                <a:solidFill>
                  <a:schemeClr val="hlink"/>
                </a:solidFill>
              </a:rPr>
              <a:t> = </a:t>
            </a:r>
            <a:r>
              <a:rPr lang="en-US" altLang="en-US" sz="2600" dirty="0">
                <a:solidFill>
                  <a:schemeClr val="hlink"/>
                </a:solidFill>
                <a:sym typeface="Symbol" panose="05050102010706020507" pitchFamily="18" charset="2"/>
              </a:rPr>
              <a:t></a:t>
            </a:r>
            <a:r>
              <a:rPr lang="en-US" altLang="en-US" sz="2600" dirty="0">
                <a:solidFill>
                  <a:schemeClr val="hlink"/>
                </a:solidFill>
              </a:rPr>
              <a:t>(</a:t>
            </a:r>
            <a:r>
              <a:rPr lang="en-US" altLang="en-US" sz="2600" i="1" dirty="0">
                <a:solidFill>
                  <a:schemeClr val="hlink"/>
                </a:solidFill>
              </a:rPr>
              <a:t>g</a:t>
            </a:r>
            <a:r>
              <a:rPr lang="en-US" altLang="en-US" sz="2600" dirty="0">
                <a:solidFill>
                  <a:schemeClr val="hlink"/>
                </a:solidFill>
              </a:rPr>
              <a:t>(</a:t>
            </a:r>
            <a:r>
              <a:rPr lang="en-US" altLang="en-US" sz="2600" i="1" dirty="0">
                <a:solidFill>
                  <a:schemeClr val="hlink"/>
                </a:solidFill>
              </a:rPr>
              <a:t>n</a:t>
            </a:r>
            <a:r>
              <a:rPr lang="en-US" altLang="en-US" sz="2600" dirty="0">
                <a:solidFill>
                  <a:schemeClr val="hlink"/>
                </a:solidFill>
              </a:rPr>
              <a:t>))</a:t>
            </a:r>
            <a:r>
              <a:rPr lang="en-US" altLang="en-US" sz="2600" i="1" dirty="0">
                <a:solidFill>
                  <a:schemeClr val="hlink"/>
                </a:solidFill>
              </a:rPr>
              <a:t> </a:t>
            </a:r>
            <a:r>
              <a:rPr lang="en-US" altLang="en-US" sz="2600" i="1" dirty="0">
                <a:solidFill>
                  <a:schemeClr val="accent1"/>
                </a:solidFill>
              </a:rPr>
              <a:t>&amp;</a:t>
            </a:r>
            <a:r>
              <a:rPr lang="en-US" altLang="en-US" sz="2600" i="1" dirty="0">
                <a:solidFill>
                  <a:schemeClr val="hlink"/>
                </a:solidFill>
              </a:rPr>
              <a:t> g</a:t>
            </a:r>
            <a:r>
              <a:rPr lang="en-US" altLang="en-US" sz="2600" dirty="0">
                <a:solidFill>
                  <a:schemeClr val="hlink"/>
                </a:solidFill>
              </a:rPr>
              <a:t>(</a:t>
            </a:r>
            <a:r>
              <a:rPr lang="en-US" altLang="en-US" sz="2600" i="1" dirty="0">
                <a:solidFill>
                  <a:schemeClr val="hlink"/>
                </a:solidFill>
              </a:rPr>
              <a:t>n</a:t>
            </a:r>
            <a:r>
              <a:rPr lang="en-US" altLang="en-US" sz="2600" dirty="0">
                <a:solidFill>
                  <a:schemeClr val="hlink"/>
                </a:solidFill>
              </a:rPr>
              <a:t>)</a:t>
            </a:r>
            <a:r>
              <a:rPr lang="en-US" altLang="en-US" sz="2600" i="1" dirty="0">
                <a:solidFill>
                  <a:schemeClr val="hlink"/>
                </a:solidFill>
              </a:rPr>
              <a:t> = </a:t>
            </a:r>
            <a:r>
              <a:rPr lang="en-US" altLang="en-US" sz="2600" dirty="0">
                <a:solidFill>
                  <a:schemeClr val="hlink"/>
                </a:solidFill>
                <a:sym typeface="Symbol" panose="05050102010706020507" pitchFamily="18" charset="2"/>
              </a:rPr>
              <a:t></a:t>
            </a:r>
            <a:r>
              <a:rPr lang="en-US" altLang="en-US" sz="2600" dirty="0">
                <a:solidFill>
                  <a:schemeClr val="hlink"/>
                </a:solidFill>
              </a:rPr>
              <a:t>(</a:t>
            </a:r>
            <a:r>
              <a:rPr lang="en-US" altLang="en-US" sz="2600" i="1" dirty="0">
                <a:solidFill>
                  <a:schemeClr val="hlink"/>
                </a:solidFill>
              </a:rPr>
              <a:t>h</a:t>
            </a:r>
            <a:r>
              <a:rPr lang="en-US" altLang="en-US" sz="2600" dirty="0">
                <a:solidFill>
                  <a:schemeClr val="hlink"/>
                </a:solidFill>
              </a:rPr>
              <a:t>(</a:t>
            </a:r>
            <a:r>
              <a:rPr lang="en-US" altLang="en-US" sz="2600" i="1" dirty="0">
                <a:solidFill>
                  <a:schemeClr val="hlink"/>
                </a:solidFill>
              </a:rPr>
              <a:t>n</a:t>
            </a:r>
            <a:r>
              <a:rPr lang="en-US" altLang="en-US" sz="2600" dirty="0">
                <a:solidFill>
                  <a:schemeClr val="hlink"/>
                </a:solidFill>
              </a:rPr>
              <a:t>))</a:t>
            </a:r>
            <a:r>
              <a:rPr lang="en-US" altLang="en-US" sz="2600" i="1" dirty="0">
                <a:solidFill>
                  <a:schemeClr val="hlink"/>
                </a:solidFill>
              </a:rPr>
              <a:t> </a:t>
            </a:r>
            <a:r>
              <a:rPr lang="en-US" altLang="en-US" sz="2600" dirty="0">
                <a:solidFill>
                  <a:schemeClr val="accent1"/>
                </a:solidFill>
                <a:sym typeface="Symbol" panose="05050102010706020507" pitchFamily="18" charset="2"/>
              </a:rPr>
              <a:t></a:t>
            </a:r>
            <a:r>
              <a:rPr lang="en-US" altLang="en-US" sz="2600" i="1" dirty="0">
                <a:solidFill>
                  <a:schemeClr val="hlink"/>
                </a:solidFill>
              </a:rPr>
              <a:t> f</a:t>
            </a:r>
            <a:r>
              <a:rPr lang="en-US" altLang="en-US" sz="2600" dirty="0">
                <a:solidFill>
                  <a:schemeClr val="hlink"/>
                </a:solidFill>
              </a:rPr>
              <a:t>(</a:t>
            </a:r>
            <a:r>
              <a:rPr lang="en-US" altLang="en-US" sz="2600" i="1" dirty="0">
                <a:solidFill>
                  <a:schemeClr val="hlink"/>
                </a:solidFill>
              </a:rPr>
              <a:t>n</a:t>
            </a:r>
            <a:r>
              <a:rPr lang="en-US" altLang="en-US" sz="2600" dirty="0">
                <a:solidFill>
                  <a:schemeClr val="hlink"/>
                </a:solidFill>
              </a:rPr>
              <a:t>)</a:t>
            </a:r>
            <a:r>
              <a:rPr lang="en-US" altLang="en-US" sz="2600" i="1" dirty="0">
                <a:solidFill>
                  <a:schemeClr val="hlink"/>
                </a:solidFill>
              </a:rPr>
              <a:t> = </a:t>
            </a:r>
            <a:r>
              <a:rPr lang="en-US" altLang="en-US" sz="2600" dirty="0">
                <a:solidFill>
                  <a:schemeClr val="hlink"/>
                </a:solidFill>
                <a:sym typeface="Symbol" panose="05050102010706020507" pitchFamily="18" charset="2"/>
              </a:rPr>
              <a:t></a:t>
            </a:r>
            <a:r>
              <a:rPr lang="en-US" altLang="en-US" sz="2600" dirty="0">
                <a:solidFill>
                  <a:schemeClr val="hlink"/>
                </a:solidFill>
              </a:rPr>
              <a:t>(</a:t>
            </a:r>
            <a:r>
              <a:rPr lang="en-US" altLang="en-US" sz="2600" i="1" dirty="0">
                <a:solidFill>
                  <a:schemeClr val="hlink"/>
                </a:solidFill>
              </a:rPr>
              <a:t>h</a:t>
            </a:r>
            <a:r>
              <a:rPr lang="en-US" altLang="en-US" sz="2600" dirty="0">
                <a:solidFill>
                  <a:schemeClr val="hlink"/>
                </a:solidFill>
              </a:rPr>
              <a:t>(</a:t>
            </a:r>
            <a:r>
              <a:rPr lang="en-US" altLang="en-US" sz="2600" i="1" dirty="0">
                <a:solidFill>
                  <a:schemeClr val="hlink"/>
                </a:solidFill>
              </a:rPr>
              <a:t>n</a:t>
            </a:r>
            <a:r>
              <a:rPr lang="en-US" altLang="en-US" sz="2600" dirty="0">
                <a:solidFill>
                  <a:schemeClr val="hlink"/>
                </a:solidFill>
              </a:rPr>
              <a:t>))</a:t>
            </a:r>
            <a:endParaRPr lang="en-US" altLang="en-US" sz="2600" i="1" dirty="0">
              <a:solidFill>
                <a:schemeClr val="hlink"/>
              </a:solidFill>
            </a:endParaRPr>
          </a:p>
          <a:p>
            <a:pPr algn="ctr">
              <a:lnSpc>
                <a:spcPct val="9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en-US" sz="2600" i="1" dirty="0">
                <a:solidFill>
                  <a:schemeClr val="hlink"/>
                </a:solidFill>
              </a:rPr>
              <a:t>f</a:t>
            </a:r>
            <a:r>
              <a:rPr lang="en-US" altLang="en-US" sz="2600" dirty="0">
                <a:solidFill>
                  <a:schemeClr val="hlink"/>
                </a:solidFill>
              </a:rPr>
              <a:t>(</a:t>
            </a:r>
            <a:r>
              <a:rPr lang="en-US" altLang="en-US" sz="2600" i="1" dirty="0">
                <a:solidFill>
                  <a:schemeClr val="hlink"/>
                </a:solidFill>
              </a:rPr>
              <a:t>n</a:t>
            </a:r>
            <a:r>
              <a:rPr lang="en-US" altLang="en-US" sz="2600" dirty="0">
                <a:solidFill>
                  <a:schemeClr val="hlink"/>
                </a:solidFill>
              </a:rPr>
              <a:t>)</a:t>
            </a:r>
            <a:r>
              <a:rPr lang="en-US" altLang="en-US" sz="2600" i="1" dirty="0">
                <a:solidFill>
                  <a:schemeClr val="hlink"/>
                </a:solidFill>
              </a:rPr>
              <a:t> = </a:t>
            </a:r>
            <a:r>
              <a:rPr lang="en-US" altLang="en-US" sz="2600" i="1" dirty="0">
                <a:solidFill>
                  <a:schemeClr val="hlink"/>
                </a:solidFill>
                <a:sym typeface="Symbol" panose="05050102010706020507" pitchFamily="18" charset="2"/>
              </a:rPr>
              <a:t>O</a:t>
            </a:r>
            <a:r>
              <a:rPr lang="en-US" altLang="en-US" sz="2600" dirty="0">
                <a:solidFill>
                  <a:schemeClr val="hlink"/>
                </a:solidFill>
              </a:rPr>
              <a:t>(</a:t>
            </a:r>
            <a:r>
              <a:rPr lang="en-US" altLang="en-US" sz="2600" i="1" dirty="0">
                <a:solidFill>
                  <a:schemeClr val="hlink"/>
                </a:solidFill>
              </a:rPr>
              <a:t>g</a:t>
            </a:r>
            <a:r>
              <a:rPr lang="en-US" altLang="en-US" sz="2600" dirty="0">
                <a:solidFill>
                  <a:schemeClr val="hlink"/>
                </a:solidFill>
              </a:rPr>
              <a:t>(</a:t>
            </a:r>
            <a:r>
              <a:rPr lang="en-US" altLang="en-US" sz="2600" i="1" dirty="0">
                <a:solidFill>
                  <a:schemeClr val="hlink"/>
                </a:solidFill>
              </a:rPr>
              <a:t>n</a:t>
            </a:r>
            <a:r>
              <a:rPr lang="en-US" altLang="en-US" sz="2600" dirty="0">
                <a:solidFill>
                  <a:schemeClr val="hlink"/>
                </a:solidFill>
              </a:rPr>
              <a:t>))</a:t>
            </a:r>
            <a:r>
              <a:rPr lang="en-US" altLang="en-US" sz="2600" i="1" dirty="0">
                <a:solidFill>
                  <a:schemeClr val="hlink"/>
                </a:solidFill>
              </a:rPr>
              <a:t> </a:t>
            </a:r>
            <a:r>
              <a:rPr lang="en-US" altLang="en-US" sz="2600" i="1" dirty="0">
                <a:solidFill>
                  <a:schemeClr val="accent1"/>
                </a:solidFill>
              </a:rPr>
              <a:t>&amp;</a:t>
            </a:r>
            <a:r>
              <a:rPr lang="en-US" altLang="en-US" sz="2600" i="1" dirty="0">
                <a:solidFill>
                  <a:schemeClr val="hlink"/>
                </a:solidFill>
              </a:rPr>
              <a:t> g</a:t>
            </a:r>
            <a:r>
              <a:rPr lang="en-US" altLang="en-US" sz="2600" dirty="0">
                <a:solidFill>
                  <a:schemeClr val="hlink"/>
                </a:solidFill>
              </a:rPr>
              <a:t>(</a:t>
            </a:r>
            <a:r>
              <a:rPr lang="en-US" altLang="en-US" sz="2600" i="1" dirty="0">
                <a:solidFill>
                  <a:schemeClr val="hlink"/>
                </a:solidFill>
              </a:rPr>
              <a:t>n</a:t>
            </a:r>
            <a:r>
              <a:rPr lang="en-US" altLang="en-US" sz="2600" dirty="0">
                <a:solidFill>
                  <a:schemeClr val="hlink"/>
                </a:solidFill>
              </a:rPr>
              <a:t>)</a:t>
            </a:r>
            <a:r>
              <a:rPr lang="en-US" altLang="en-US" sz="2600" i="1" dirty="0">
                <a:solidFill>
                  <a:schemeClr val="hlink"/>
                </a:solidFill>
              </a:rPr>
              <a:t> = </a:t>
            </a:r>
            <a:r>
              <a:rPr lang="en-US" altLang="en-US" sz="2600" i="1" dirty="0">
                <a:solidFill>
                  <a:schemeClr val="hlink"/>
                </a:solidFill>
                <a:sym typeface="Symbol" panose="05050102010706020507" pitchFamily="18" charset="2"/>
              </a:rPr>
              <a:t>O</a:t>
            </a:r>
            <a:r>
              <a:rPr lang="en-US" altLang="en-US" sz="2600" dirty="0">
                <a:solidFill>
                  <a:schemeClr val="hlink"/>
                </a:solidFill>
              </a:rPr>
              <a:t>(</a:t>
            </a:r>
            <a:r>
              <a:rPr lang="en-US" altLang="en-US" sz="2600" i="1" dirty="0">
                <a:solidFill>
                  <a:schemeClr val="hlink"/>
                </a:solidFill>
              </a:rPr>
              <a:t>h</a:t>
            </a:r>
            <a:r>
              <a:rPr lang="en-US" altLang="en-US" sz="2600" dirty="0">
                <a:solidFill>
                  <a:schemeClr val="hlink"/>
                </a:solidFill>
              </a:rPr>
              <a:t>(</a:t>
            </a:r>
            <a:r>
              <a:rPr lang="en-US" altLang="en-US" sz="2600" i="1" dirty="0">
                <a:solidFill>
                  <a:schemeClr val="hlink"/>
                </a:solidFill>
              </a:rPr>
              <a:t>n</a:t>
            </a:r>
            <a:r>
              <a:rPr lang="en-US" altLang="en-US" sz="2600" dirty="0">
                <a:solidFill>
                  <a:schemeClr val="hlink"/>
                </a:solidFill>
              </a:rPr>
              <a:t>))</a:t>
            </a:r>
            <a:r>
              <a:rPr lang="en-US" altLang="en-US" sz="2600" i="1" dirty="0">
                <a:solidFill>
                  <a:schemeClr val="hlink"/>
                </a:solidFill>
              </a:rPr>
              <a:t> </a:t>
            </a:r>
            <a:r>
              <a:rPr lang="en-US" altLang="en-US" sz="2600" dirty="0">
                <a:solidFill>
                  <a:schemeClr val="accent1"/>
                </a:solidFill>
                <a:sym typeface="Symbol" panose="05050102010706020507" pitchFamily="18" charset="2"/>
              </a:rPr>
              <a:t></a:t>
            </a:r>
            <a:r>
              <a:rPr lang="en-US" altLang="en-US" sz="2600" i="1" dirty="0">
                <a:solidFill>
                  <a:schemeClr val="hlink"/>
                </a:solidFill>
              </a:rPr>
              <a:t> f</a:t>
            </a:r>
            <a:r>
              <a:rPr lang="en-US" altLang="en-US" sz="2600" dirty="0">
                <a:solidFill>
                  <a:schemeClr val="hlink"/>
                </a:solidFill>
              </a:rPr>
              <a:t>(</a:t>
            </a:r>
            <a:r>
              <a:rPr lang="en-US" altLang="en-US" sz="2600" i="1" dirty="0">
                <a:solidFill>
                  <a:schemeClr val="hlink"/>
                </a:solidFill>
              </a:rPr>
              <a:t>n</a:t>
            </a:r>
            <a:r>
              <a:rPr lang="en-US" altLang="en-US" sz="2600" dirty="0">
                <a:solidFill>
                  <a:schemeClr val="hlink"/>
                </a:solidFill>
              </a:rPr>
              <a:t>)</a:t>
            </a:r>
            <a:r>
              <a:rPr lang="en-US" altLang="en-US" sz="2600" i="1" dirty="0">
                <a:solidFill>
                  <a:schemeClr val="hlink"/>
                </a:solidFill>
              </a:rPr>
              <a:t> = </a:t>
            </a:r>
            <a:r>
              <a:rPr lang="en-US" altLang="en-US" sz="2600" i="1" dirty="0">
                <a:solidFill>
                  <a:schemeClr val="hlink"/>
                </a:solidFill>
                <a:sym typeface="Symbol" panose="05050102010706020507" pitchFamily="18" charset="2"/>
              </a:rPr>
              <a:t>O</a:t>
            </a:r>
            <a:r>
              <a:rPr lang="en-US" altLang="en-US" sz="2600" dirty="0">
                <a:solidFill>
                  <a:schemeClr val="hlink"/>
                </a:solidFill>
              </a:rPr>
              <a:t>(</a:t>
            </a:r>
            <a:r>
              <a:rPr lang="en-US" altLang="en-US" sz="2600" i="1" dirty="0">
                <a:solidFill>
                  <a:schemeClr val="hlink"/>
                </a:solidFill>
              </a:rPr>
              <a:t>h</a:t>
            </a:r>
            <a:r>
              <a:rPr lang="en-US" altLang="en-US" sz="2600" dirty="0">
                <a:solidFill>
                  <a:schemeClr val="hlink"/>
                </a:solidFill>
              </a:rPr>
              <a:t>(</a:t>
            </a:r>
            <a:r>
              <a:rPr lang="en-US" altLang="en-US" sz="2600" i="1" dirty="0">
                <a:solidFill>
                  <a:schemeClr val="hlink"/>
                </a:solidFill>
              </a:rPr>
              <a:t>n</a:t>
            </a:r>
            <a:r>
              <a:rPr lang="en-US" altLang="en-US" sz="2600" dirty="0">
                <a:solidFill>
                  <a:schemeClr val="hlink"/>
                </a:solidFill>
              </a:rPr>
              <a:t>))</a:t>
            </a:r>
            <a:endParaRPr lang="en-US" altLang="en-US" sz="2600" i="1" dirty="0">
              <a:solidFill>
                <a:schemeClr val="hlink"/>
              </a:solidFill>
            </a:endParaRPr>
          </a:p>
          <a:p>
            <a:pPr algn="ctr">
              <a:lnSpc>
                <a:spcPct val="9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en-US" sz="2600" i="1" dirty="0">
                <a:solidFill>
                  <a:schemeClr val="hlink"/>
                </a:solidFill>
              </a:rPr>
              <a:t>f</a:t>
            </a:r>
            <a:r>
              <a:rPr lang="en-US" altLang="en-US" sz="2600" dirty="0">
                <a:solidFill>
                  <a:schemeClr val="hlink"/>
                </a:solidFill>
              </a:rPr>
              <a:t>(</a:t>
            </a:r>
            <a:r>
              <a:rPr lang="en-US" altLang="en-US" sz="2600" i="1" dirty="0">
                <a:solidFill>
                  <a:schemeClr val="hlink"/>
                </a:solidFill>
              </a:rPr>
              <a:t>n</a:t>
            </a:r>
            <a:r>
              <a:rPr lang="en-US" altLang="en-US" sz="2600" dirty="0">
                <a:solidFill>
                  <a:schemeClr val="hlink"/>
                </a:solidFill>
              </a:rPr>
              <a:t>)</a:t>
            </a:r>
            <a:r>
              <a:rPr lang="en-US" altLang="en-US" sz="2600" i="1" dirty="0">
                <a:solidFill>
                  <a:schemeClr val="hlink"/>
                </a:solidFill>
              </a:rPr>
              <a:t> = </a:t>
            </a:r>
            <a:r>
              <a:rPr lang="en-US" altLang="en-US" sz="2600" dirty="0">
                <a:solidFill>
                  <a:schemeClr val="hlink"/>
                </a:solidFill>
                <a:sym typeface="Symbol" panose="05050102010706020507" pitchFamily="18" charset="2"/>
              </a:rPr>
              <a:t></a:t>
            </a:r>
            <a:r>
              <a:rPr lang="en-US" altLang="en-US" sz="2600" dirty="0">
                <a:solidFill>
                  <a:schemeClr val="hlink"/>
                </a:solidFill>
              </a:rPr>
              <a:t>(</a:t>
            </a:r>
            <a:r>
              <a:rPr lang="en-US" altLang="en-US" sz="2600" i="1" dirty="0">
                <a:solidFill>
                  <a:schemeClr val="hlink"/>
                </a:solidFill>
              </a:rPr>
              <a:t>g</a:t>
            </a:r>
            <a:r>
              <a:rPr lang="en-US" altLang="en-US" sz="2600" dirty="0">
                <a:solidFill>
                  <a:schemeClr val="hlink"/>
                </a:solidFill>
              </a:rPr>
              <a:t>(</a:t>
            </a:r>
            <a:r>
              <a:rPr lang="en-US" altLang="en-US" sz="2600" i="1" dirty="0">
                <a:solidFill>
                  <a:schemeClr val="hlink"/>
                </a:solidFill>
              </a:rPr>
              <a:t>n</a:t>
            </a:r>
            <a:r>
              <a:rPr lang="en-US" altLang="en-US" sz="2600" dirty="0">
                <a:solidFill>
                  <a:schemeClr val="hlink"/>
                </a:solidFill>
              </a:rPr>
              <a:t>))</a:t>
            </a:r>
            <a:r>
              <a:rPr lang="en-US" altLang="en-US" sz="2600" i="1" dirty="0">
                <a:solidFill>
                  <a:schemeClr val="hlink"/>
                </a:solidFill>
              </a:rPr>
              <a:t> </a:t>
            </a:r>
            <a:r>
              <a:rPr lang="en-US" altLang="en-US" sz="2600" i="1" dirty="0">
                <a:solidFill>
                  <a:schemeClr val="accent1"/>
                </a:solidFill>
              </a:rPr>
              <a:t>&amp;</a:t>
            </a:r>
            <a:r>
              <a:rPr lang="en-US" altLang="en-US" sz="2600" i="1" dirty="0">
                <a:solidFill>
                  <a:schemeClr val="hlink"/>
                </a:solidFill>
              </a:rPr>
              <a:t> g</a:t>
            </a:r>
            <a:r>
              <a:rPr lang="en-US" altLang="en-US" sz="2600" dirty="0">
                <a:solidFill>
                  <a:schemeClr val="hlink"/>
                </a:solidFill>
              </a:rPr>
              <a:t>(</a:t>
            </a:r>
            <a:r>
              <a:rPr lang="en-US" altLang="en-US" sz="2600" i="1" dirty="0">
                <a:solidFill>
                  <a:schemeClr val="hlink"/>
                </a:solidFill>
              </a:rPr>
              <a:t>n</a:t>
            </a:r>
            <a:r>
              <a:rPr lang="en-US" altLang="en-US" sz="2600" dirty="0">
                <a:solidFill>
                  <a:schemeClr val="hlink"/>
                </a:solidFill>
              </a:rPr>
              <a:t>)</a:t>
            </a:r>
            <a:r>
              <a:rPr lang="en-US" altLang="en-US" sz="2600" i="1" dirty="0">
                <a:solidFill>
                  <a:schemeClr val="hlink"/>
                </a:solidFill>
              </a:rPr>
              <a:t> = </a:t>
            </a:r>
            <a:r>
              <a:rPr lang="en-US" altLang="en-US" sz="2600" dirty="0">
                <a:solidFill>
                  <a:schemeClr val="hlink"/>
                </a:solidFill>
                <a:sym typeface="Symbol" panose="05050102010706020507" pitchFamily="18" charset="2"/>
              </a:rPr>
              <a:t></a:t>
            </a:r>
            <a:r>
              <a:rPr lang="en-US" altLang="en-US" sz="2600" dirty="0">
                <a:solidFill>
                  <a:schemeClr val="hlink"/>
                </a:solidFill>
              </a:rPr>
              <a:t>(</a:t>
            </a:r>
            <a:r>
              <a:rPr lang="en-US" altLang="en-US" sz="2600" i="1" dirty="0">
                <a:solidFill>
                  <a:schemeClr val="hlink"/>
                </a:solidFill>
              </a:rPr>
              <a:t>h</a:t>
            </a:r>
            <a:r>
              <a:rPr lang="en-US" altLang="en-US" sz="2600" dirty="0">
                <a:solidFill>
                  <a:schemeClr val="hlink"/>
                </a:solidFill>
              </a:rPr>
              <a:t>(</a:t>
            </a:r>
            <a:r>
              <a:rPr lang="en-US" altLang="en-US" sz="2600" i="1" dirty="0">
                <a:solidFill>
                  <a:schemeClr val="hlink"/>
                </a:solidFill>
              </a:rPr>
              <a:t>n</a:t>
            </a:r>
            <a:r>
              <a:rPr lang="en-US" altLang="en-US" sz="2600" dirty="0">
                <a:solidFill>
                  <a:schemeClr val="hlink"/>
                </a:solidFill>
              </a:rPr>
              <a:t>))</a:t>
            </a:r>
            <a:r>
              <a:rPr lang="en-US" altLang="en-US" sz="2600" i="1" dirty="0">
                <a:solidFill>
                  <a:schemeClr val="hlink"/>
                </a:solidFill>
              </a:rPr>
              <a:t> </a:t>
            </a:r>
            <a:r>
              <a:rPr lang="en-US" altLang="en-US" sz="2600" dirty="0">
                <a:solidFill>
                  <a:schemeClr val="accent1"/>
                </a:solidFill>
                <a:sym typeface="Symbol" panose="05050102010706020507" pitchFamily="18" charset="2"/>
              </a:rPr>
              <a:t></a:t>
            </a:r>
            <a:r>
              <a:rPr lang="en-US" altLang="en-US" sz="2600" i="1" dirty="0">
                <a:solidFill>
                  <a:schemeClr val="hlink"/>
                </a:solidFill>
              </a:rPr>
              <a:t> f</a:t>
            </a:r>
            <a:r>
              <a:rPr lang="en-US" altLang="en-US" sz="2600" dirty="0">
                <a:solidFill>
                  <a:schemeClr val="hlink"/>
                </a:solidFill>
              </a:rPr>
              <a:t>(</a:t>
            </a:r>
            <a:r>
              <a:rPr lang="en-US" altLang="en-US" sz="2600" i="1" dirty="0">
                <a:solidFill>
                  <a:schemeClr val="hlink"/>
                </a:solidFill>
              </a:rPr>
              <a:t>n</a:t>
            </a:r>
            <a:r>
              <a:rPr lang="en-US" altLang="en-US" sz="2600" dirty="0">
                <a:solidFill>
                  <a:schemeClr val="hlink"/>
                </a:solidFill>
              </a:rPr>
              <a:t>)</a:t>
            </a:r>
            <a:r>
              <a:rPr lang="en-US" altLang="en-US" sz="2600" i="1" dirty="0">
                <a:solidFill>
                  <a:schemeClr val="hlink"/>
                </a:solidFill>
              </a:rPr>
              <a:t> = </a:t>
            </a:r>
            <a:r>
              <a:rPr lang="en-US" altLang="en-US" sz="2600" dirty="0">
                <a:solidFill>
                  <a:schemeClr val="hlink"/>
                </a:solidFill>
                <a:sym typeface="Symbol" panose="05050102010706020507" pitchFamily="18" charset="2"/>
              </a:rPr>
              <a:t></a:t>
            </a:r>
            <a:r>
              <a:rPr lang="en-US" altLang="en-US" sz="2600" dirty="0">
                <a:solidFill>
                  <a:schemeClr val="hlink"/>
                </a:solidFill>
              </a:rPr>
              <a:t>(</a:t>
            </a:r>
            <a:r>
              <a:rPr lang="en-US" altLang="en-US" sz="2600" i="1" dirty="0">
                <a:solidFill>
                  <a:schemeClr val="hlink"/>
                </a:solidFill>
              </a:rPr>
              <a:t>h</a:t>
            </a:r>
            <a:r>
              <a:rPr lang="en-US" altLang="en-US" sz="2600" dirty="0">
                <a:solidFill>
                  <a:schemeClr val="hlink"/>
                </a:solidFill>
              </a:rPr>
              <a:t>(</a:t>
            </a:r>
            <a:r>
              <a:rPr lang="en-US" altLang="en-US" sz="2600" i="1" dirty="0">
                <a:solidFill>
                  <a:schemeClr val="hlink"/>
                </a:solidFill>
              </a:rPr>
              <a:t>n</a:t>
            </a:r>
            <a:r>
              <a:rPr lang="en-US" altLang="en-US" sz="2600" dirty="0">
                <a:solidFill>
                  <a:schemeClr val="hlink"/>
                </a:solidFill>
              </a:rPr>
              <a:t>))</a:t>
            </a:r>
            <a:endParaRPr lang="en-US" altLang="en-US" sz="2600" i="1" dirty="0">
              <a:solidFill>
                <a:schemeClr val="hlink"/>
              </a:solidFill>
            </a:endParaRPr>
          </a:p>
          <a:p>
            <a:pPr algn="ctr">
              <a:lnSpc>
                <a:spcPct val="9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en-US" sz="2600" i="1" dirty="0">
                <a:solidFill>
                  <a:schemeClr val="hlink"/>
                </a:solidFill>
              </a:rPr>
              <a:t>f</a:t>
            </a:r>
            <a:r>
              <a:rPr lang="en-US" altLang="en-US" sz="2600" dirty="0">
                <a:solidFill>
                  <a:schemeClr val="hlink"/>
                </a:solidFill>
              </a:rPr>
              <a:t>(</a:t>
            </a:r>
            <a:r>
              <a:rPr lang="en-US" altLang="en-US" sz="2600" i="1" dirty="0">
                <a:solidFill>
                  <a:schemeClr val="hlink"/>
                </a:solidFill>
              </a:rPr>
              <a:t>n</a:t>
            </a:r>
            <a:r>
              <a:rPr lang="en-US" altLang="en-US" sz="2600" dirty="0">
                <a:solidFill>
                  <a:schemeClr val="hlink"/>
                </a:solidFill>
              </a:rPr>
              <a:t>)</a:t>
            </a:r>
            <a:r>
              <a:rPr lang="en-US" altLang="en-US" sz="2600" i="1" dirty="0">
                <a:solidFill>
                  <a:schemeClr val="hlink"/>
                </a:solidFill>
              </a:rPr>
              <a:t> = </a:t>
            </a:r>
            <a:r>
              <a:rPr lang="en-US" altLang="en-US" sz="2600" i="1" dirty="0">
                <a:solidFill>
                  <a:schemeClr val="hlink"/>
                </a:solidFill>
                <a:sym typeface="Symbol" panose="05050102010706020507" pitchFamily="18" charset="2"/>
              </a:rPr>
              <a:t>o </a:t>
            </a:r>
            <a:r>
              <a:rPr lang="en-US" altLang="en-US" sz="2600" dirty="0">
                <a:solidFill>
                  <a:schemeClr val="hlink"/>
                </a:solidFill>
              </a:rPr>
              <a:t>(</a:t>
            </a:r>
            <a:r>
              <a:rPr lang="en-US" altLang="en-US" sz="2600" i="1" dirty="0">
                <a:solidFill>
                  <a:schemeClr val="hlink"/>
                </a:solidFill>
              </a:rPr>
              <a:t>g</a:t>
            </a:r>
            <a:r>
              <a:rPr lang="en-US" altLang="en-US" sz="2600" dirty="0">
                <a:solidFill>
                  <a:schemeClr val="hlink"/>
                </a:solidFill>
              </a:rPr>
              <a:t>(</a:t>
            </a:r>
            <a:r>
              <a:rPr lang="en-US" altLang="en-US" sz="2600" i="1" dirty="0">
                <a:solidFill>
                  <a:schemeClr val="hlink"/>
                </a:solidFill>
              </a:rPr>
              <a:t>n</a:t>
            </a:r>
            <a:r>
              <a:rPr lang="en-US" altLang="en-US" sz="2600" dirty="0">
                <a:solidFill>
                  <a:schemeClr val="hlink"/>
                </a:solidFill>
              </a:rPr>
              <a:t>))</a:t>
            </a:r>
            <a:r>
              <a:rPr lang="en-US" altLang="en-US" sz="2600" i="1" dirty="0">
                <a:solidFill>
                  <a:schemeClr val="hlink"/>
                </a:solidFill>
              </a:rPr>
              <a:t> </a:t>
            </a:r>
            <a:r>
              <a:rPr lang="en-US" altLang="en-US" sz="2600" i="1" dirty="0">
                <a:solidFill>
                  <a:schemeClr val="accent1"/>
                </a:solidFill>
              </a:rPr>
              <a:t>&amp;</a:t>
            </a:r>
            <a:r>
              <a:rPr lang="en-US" altLang="en-US" sz="2600" i="1" dirty="0">
                <a:solidFill>
                  <a:schemeClr val="hlink"/>
                </a:solidFill>
              </a:rPr>
              <a:t> g</a:t>
            </a:r>
            <a:r>
              <a:rPr lang="en-US" altLang="en-US" sz="2600" dirty="0">
                <a:solidFill>
                  <a:schemeClr val="hlink"/>
                </a:solidFill>
              </a:rPr>
              <a:t>(</a:t>
            </a:r>
            <a:r>
              <a:rPr lang="en-US" altLang="en-US" sz="2600" i="1" dirty="0">
                <a:solidFill>
                  <a:schemeClr val="hlink"/>
                </a:solidFill>
              </a:rPr>
              <a:t>n</a:t>
            </a:r>
            <a:r>
              <a:rPr lang="en-US" altLang="en-US" sz="2600" dirty="0">
                <a:solidFill>
                  <a:schemeClr val="hlink"/>
                </a:solidFill>
              </a:rPr>
              <a:t>)</a:t>
            </a:r>
            <a:r>
              <a:rPr lang="en-US" altLang="en-US" sz="2600" i="1" dirty="0">
                <a:solidFill>
                  <a:schemeClr val="hlink"/>
                </a:solidFill>
              </a:rPr>
              <a:t> = </a:t>
            </a:r>
            <a:r>
              <a:rPr lang="en-US" altLang="en-US" sz="2600" i="1" dirty="0">
                <a:solidFill>
                  <a:schemeClr val="hlink"/>
                </a:solidFill>
                <a:sym typeface="Symbol" panose="05050102010706020507" pitchFamily="18" charset="2"/>
              </a:rPr>
              <a:t>o </a:t>
            </a:r>
            <a:r>
              <a:rPr lang="en-US" altLang="en-US" sz="2600" dirty="0">
                <a:solidFill>
                  <a:schemeClr val="hlink"/>
                </a:solidFill>
              </a:rPr>
              <a:t>(</a:t>
            </a:r>
            <a:r>
              <a:rPr lang="en-US" altLang="en-US" sz="2600" i="1" dirty="0">
                <a:solidFill>
                  <a:schemeClr val="hlink"/>
                </a:solidFill>
              </a:rPr>
              <a:t>h</a:t>
            </a:r>
            <a:r>
              <a:rPr lang="en-US" altLang="en-US" sz="2600" dirty="0">
                <a:solidFill>
                  <a:schemeClr val="hlink"/>
                </a:solidFill>
              </a:rPr>
              <a:t>(</a:t>
            </a:r>
            <a:r>
              <a:rPr lang="en-US" altLang="en-US" sz="2600" i="1" dirty="0">
                <a:solidFill>
                  <a:schemeClr val="hlink"/>
                </a:solidFill>
              </a:rPr>
              <a:t>n</a:t>
            </a:r>
            <a:r>
              <a:rPr lang="en-US" altLang="en-US" sz="2600" dirty="0">
                <a:solidFill>
                  <a:schemeClr val="hlink"/>
                </a:solidFill>
              </a:rPr>
              <a:t>))</a:t>
            </a:r>
            <a:r>
              <a:rPr lang="en-US" altLang="en-US" sz="2600" i="1" dirty="0">
                <a:solidFill>
                  <a:schemeClr val="hlink"/>
                </a:solidFill>
              </a:rPr>
              <a:t> </a:t>
            </a:r>
            <a:r>
              <a:rPr lang="en-US" altLang="en-US" sz="2600" dirty="0">
                <a:solidFill>
                  <a:schemeClr val="accent1"/>
                </a:solidFill>
                <a:sym typeface="Symbol" panose="05050102010706020507" pitchFamily="18" charset="2"/>
              </a:rPr>
              <a:t></a:t>
            </a:r>
            <a:r>
              <a:rPr lang="en-US" altLang="en-US" sz="2600" i="1" dirty="0">
                <a:solidFill>
                  <a:schemeClr val="hlink"/>
                </a:solidFill>
              </a:rPr>
              <a:t> f</a:t>
            </a:r>
            <a:r>
              <a:rPr lang="en-US" altLang="en-US" sz="2600" dirty="0">
                <a:solidFill>
                  <a:schemeClr val="hlink"/>
                </a:solidFill>
              </a:rPr>
              <a:t>(</a:t>
            </a:r>
            <a:r>
              <a:rPr lang="en-US" altLang="en-US" sz="2600" i="1" dirty="0">
                <a:solidFill>
                  <a:schemeClr val="hlink"/>
                </a:solidFill>
              </a:rPr>
              <a:t>n</a:t>
            </a:r>
            <a:r>
              <a:rPr lang="en-US" altLang="en-US" sz="2600" dirty="0">
                <a:solidFill>
                  <a:schemeClr val="hlink"/>
                </a:solidFill>
              </a:rPr>
              <a:t>)</a:t>
            </a:r>
            <a:r>
              <a:rPr lang="en-US" altLang="en-US" sz="2600" i="1" dirty="0">
                <a:solidFill>
                  <a:schemeClr val="hlink"/>
                </a:solidFill>
              </a:rPr>
              <a:t> = </a:t>
            </a:r>
            <a:r>
              <a:rPr lang="en-US" altLang="en-US" sz="2600" i="1" dirty="0">
                <a:solidFill>
                  <a:schemeClr val="hlink"/>
                </a:solidFill>
                <a:sym typeface="Symbol" panose="05050102010706020507" pitchFamily="18" charset="2"/>
              </a:rPr>
              <a:t>o </a:t>
            </a:r>
            <a:r>
              <a:rPr lang="en-US" altLang="en-US" sz="2600" dirty="0">
                <a:solidFill>
                  <a:schemeClr val="hlink"/>
                </a:solidFill>
              </a:rPr>
              <a:t>(</a:t>
            </a:r>
            <a:r>
              <a:rPr lang="en-US" altLang="en-US" sz="2600" i="1" dirty="0">
                <a:solidFill>
                  <a:schemeClr val="hlink"/>
                </a:solidFill>
              </a:rPr>
              <a:t>h</a:t>
            </a:r>
            <a:r>
              <a:rPr lang="en-US" altLang="en-US" sz="2600" dirty="0">
                <a:solidFill>
                  <a:schemeClr val="hlink"/>
                </a:solidFill>
              </a:rPr>
              <a:t>(</a:t>
            </a:r>
            <a:r>
              <a:rPr lang="en-US" altLang="en-US" sz="2600" i="1" dirty="0">
                <a:solidFill>
                  <a:schemeClr val="hlink"/>
                </a:solidFill>
              </a:rPr>
              <a:t>n</a:t>
            </a:r>
            <a:r>
              <a:rPr lang="en-US" altLang="en-US" sz="2600" dirty="0">
                <a:solidFill>
                  <a:schemeClr val="hlink"/>
                </a:solidFill>
              </a:rPr>
              <a:t>))</a:t>
            </a:r>
            <a:endParaRPr lang="en-US" altLang="en-US" sz="2600" i="1" dirty="0">
              <a:solidFill>
                <a:schemeClr val="hlink"/>
              </a:solidFill>
            </a:endParaRPr>
          </a:p>
          <a:p>
            <a:pPr algn="ctr">
              <a:lnSpc>
                <a:spcPct val="9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en-US" sz="2600" i="1" dirty="0">
                <a:solidFill>
                  <a:schemeClr val="hlink"/>
                </a:solidFill>
              </a:rPr>
              <a:t>f</a:t>
            </a:r>
            <a:r>
              <a:rPr lang="en-US" altLang="en-US" sz="2600" dirty="0">
                <a:solidFill>
                  <a:schemeClr val="hlink"/>
                </a:solidFill>
              </a:rPr>
              <a:t>(</a:t>
            </a:r>
            <a:r>
              <a:rPr lang="en-US" altLang="en-US" sz="2600" i="1" dirty="0">
                <a:solidFill>
                  <a:schemeClr val="hlink"/>
                </a:solidFill>
              </a:rPr>
              <a:t>n</a:t>
            </a:r>
            <a:r>
              <a:rPr lang="en-US" altLang="en-US" sz="2600" dirty="0">
                <a:solidFill>
                  <a:schemeClr val="hlink"/>
                </a:solidFill>
              </a:rPr>
              <a:t>)</a:t>
            </a:r>
            <a:r>
              <a:rPr lang="en-US" altLang="en-US" sz="2600" i="1" dirty="0">
                <a:solidFill>
                  <a:schemeClr val="hlink"/>
                </a:solidFill>
              </a:rPr>
              <a:t> = </a:t>
            </a:r>
            <a:r>
              <a:rPr lang="en-US" altLang="en-US" sz="2600" i="1" dirty="0">
                <a:solidFill>
                  <a:schemeClr val="hlink"/>
                </a:solidFill>
                <a:latin typeface="Symbol" panose="05050102010706020507" pitchFamily="18" charset="2"/>
                <a:sym typeface="Symbol" panose="05050102010706020507" pitchFamily="18" charset="2"/>
              </a:rPr>
              <a:t>w</a:t>
            </a:r>
            <a:r>
              <a:rPr lang="en-US" altLang="en-US" sz="2600" dirty="0">
                <a:solidFill>
                  <a:schemeClr val="hlink"/>
                </a:solidFill>
              </a:rPr>
              <a:t>(</a:t>
            </a:r>
            <a:r>
              <a:rPr lang="en-US" altLang="en-US" sz="2600" i="1" dirty="0">
                <a:solidFill>
                  <a:schemeClr val="hlink"/>
                </a:solidFill>
              </a:rPr>
              <a:t>g</a:t>
            </a:r>
            <a:r>
              <a:rPr lang="en-US" altLang="en-US" sz="2600" dirty="0">
                <a:solidFill>
                  <a:schemeClr val="hlink"/>
                </a:solidFill>
              </a:rPr>
              <a:t>(</a:t>
            </a:r>
            <a:r>
              <a:rPr lang="en-US" altLang="en-US" sz="2600" i="1" dirty="0">
                <a:solidFill>
                  <a:schemeClr val="hlink"/>
                </a:solidFill>
              </a:rPr>
              <a:t>n</a:t>
            </a:r>
            <a:r>
              <a:rPr lang="en-US" altLang="en-US" sz="2600" dirty="0">
                <a:solidFill>
                  <a:schemeClr val="hlink"/>
                </a:solidFill>
              </a:rPr>
              <a:t>))</a:t>
            </a:r>
            <a:r>
              <a:rPr lang="en-US" altLang="en-US" sz="2600" i="1" dirty="0">
                <a:solidFill>
                  <a:schemeClr val="hlink"/>
                </a:solidFill>
              </a:rPr>
              <a:t> </a:t>
            </a:r>
            <a:r>
              <a:rPr lang="en-US" altLang="en-US" sz="2600" i="1" dirty="0">
                <a:solidFill>
                  <a:schemeClr val="accent1"/>
                </a:solidFill>
              </a:rPr>
              <a:t>&amp;</a:t>
            </a:r>
            <a:r>
              <a:rPr lang="en-US" altLang="en-US" sz="2600" i="1" dirty="0">
                <a:solidFill>
                  <a:schemeClr val="hlink"/>
                </a:solidFill>
              </a:rPr>
              <a:t> g</a:t>
            </a:r>
            <a:r>
              <a:rPr lang="en-US" altLang="en-US" sz="2600" dirty="0">
                <a:solidFill>
                  <a:schemeClr val="hlink"/>
                </a:solidFill>
              </a:rPr>
              <a:t>(</a:t>
            </a:r>
            <a:r>
              <a:rPr lang="en-US" altLang="en-US" sz="2600" i="1" dirty="0">
                <a:solidFill>
                  <a:schemeClr val="hlink"/>
                </a:solidFill>
              </a:rPr>
              <a:t>n</a:t>
            </a:r>
            <a:r>
              <a:rPr lang="en-US" altLang="en-US" sz="2600" dirty="0">
                <a:solidFill>
                  <a:schemeClr val="hlink"/>
                </a:solidFill>
              </a:rPr>
              <a:t>)</a:t>
            </a:r>
            <a:r>
              <a:rPr lang="en-US" altLang="en-US" sz="2600" i="1" dirty="0">
                <a:solidFill>
                  <a:schemeClr val="hlink"/>
                </a:solidFill>
              </a:rPr>
              <a:t> = </a:t>
            </a:r>
            <a:r>
              <a:rPr lang="en-US" altLang="en-US" sz="2600" i="1" dirty="0">
                <a:solidFill>
                  <a:schemeClr val="hlink"/>
                </a:solidFill>
                <a:latin typeface="Symbol" panose="05050102010706020507" pitchFamily="18" charset="2"/>
                <a:sym typeface="Symbol" panose="05050102010706020507" pitchFamily="18" charset="2"/>
              </a:rPr>
              <a:t>w</a:t>
            </a:r>
            <a:r>
              <a:rPr lang="en-US" altLang="en-US" sz="2600" dirty="0">
                <a:solidFill>
                  <a:schemeClr val="hlink"/>
                </a:solidFill>
              </a:rPr>
              <a:t>(</a:t>
            </a:r>
            <a:r>
              <a:rPr lang="en-US" altLang="en-US" sz="2600" i="1" dirty="0">
                <a:solidFill>
                  <a:schemeClr val="hlink"/>
                </a:solidFill>
              </a:rPr>
              <a:t>h</a:t>
            </a:r>
            <a:r>
              <a:rPr lang="en-US" altLang="en-US" sz="2600" dirty="0">
                <a:solidFill>
                  <a:schemeClr val="hlink"/>
                </a:solidFill>
              </a:rPr>
              <a:t>(</a:t>
            </a:r>
            <a:r>
              <a:rPr lang="en-US" altLang="en-US" sz="2600" i="1" dirty="0">
                <a:solidFill>
                  <a:schemeClr val="hlink"/>
                </a:solidFill>
              </a:rPr>
              <a:t>n</a:t>
            </a:r>
            <a:r>
              <a:rPr lang="en-US" altLang="en-US" sz="2600" dirty="0">
                <a:solidFill>
                  <a:schemeClr val="hlink"/>
                </a:solidFill>
              </a:rPr>
              <a:t>))</a:t>
            </a:r>
            <a:r>
              <a:rPr lang="en-US" altLang="en-US" sz="2600" i="1" dirty="0">
                <a:solidFill>
                  <a:schemeClr val="hlink"/>
                </a:solidFill>
              </a:rPr>
              <a:t> </a:t>
            </a:r>
            <a:r>
              <a:rPr lang="en-US" altLang="en-US" sz="2600" dirty="0">
                <a:solidFill>
                  <a:schemeClr val="accent1"/>
                </a:solidFill>
                <a:sym typeface="Symbol" panose="05050102010706020507" pitchFamily="18" charset="2"/>
              </a:rPr>
              <a:t></a:t>
            </a:r>
            <a:r>
              <a:rPr lang="en-US" altLang="en-US" sz="2600" i="1" dirty="0">
                <a:solidFill>
                  <a:schemeClr val="hlink"/>
                </a:solidFill>
              </a:rPr>
              <a:t> f</a:t>
            </a:r>
            <a:r>
              <a:rPr lang="en-US" altLang="en-US" sz="2600" dirty="0">
                <a:solidFill>
                  <a:schemeClr val="hlink"/>
                </a:solidFill>
              </a:rPr>
              <a:t>(</a:t>
            </a:r>
            <a:r>
              <a:rPr lang="en-US" altLang="en-US" sz="2600" i="1" dirty="0">
                <a:solidFill>
                  <a:schemeClr val="hlink"/>
                </a:solidFill>
              </a:rPr>
              <a:t>n</a:t>
            </a:r>
            <a:r>
              <a:rPr lang="en-US" altLang="en-US" sz="2600" dirty="0">
                <a:solidFill>
                  <a:schemeClr val="hlink"/>
                </a:solidFill>
              </a:rPr>
              <a:t>)</a:t>
            </a:r>
            <a:r>
              <a:rPr lang="en-US" altLang="en-US" sz="2600" i="1" dirty="0">
                <a:solidFill>
                  <a:schemeClr val="hlink"/>
                </a:solidFill>
              </a:rPr>
              <a:t> = </a:t>
            </a:r>
            <a:r>
              <a:rPr lang="en-US" altLang="en-US" sz="2600" i="1" dirty="0">
                <a:solidFill>
                  <a:schemeClr val="hlink"/>
                </a:solidFill>
                <a:latin typeface="Symbol" panose="05050102010706020507" pitchFamily="18" charset="2"/>
                <a:sym typeface="Symbol" panose="05050102010706020507" pitchFamily="18" charset="2"/>
              </a:rPr>
              <a:t>w</a:t>
            </a:r>
            <a:r>
              <a:rPr lang="en-US" altLang="en-US" sz="2600" dirty="0">
                <a:solidFill>
                  <a:schemeClr val="hlink"/>
                </a:solidFill>
              </a:rPr>
              <a:t>(</a:t>
            </a:r>
            <a:r>
              <a:rPr lang="en-US" altLang="en-US" sz="2600" i="1" dirty="0">
                <a:solidFill>
                  <a:schemeClr val="hlink"/>
                </a:solidFill>
              </a:rPr>
              <a:t>h</a:t>
            </a:r>
            <a:r>
              <a:rPr lang="en-US" altLang="en-US" sz="2600" dirty="0">
                <a:solidFill>
                  <a:schemeClr val="hlink"/>
                </a:solidFill>
              </a:rPr>
              <a:t>(</a:t>
            </a:r>
            <a:r>
              <a:rPr lang="en-US" altLang="en-US" sz="2600" i="1" dirty="0">
                <a:solidFill>
                  <a:schemeClr val="hlink"/>
                </a:solidFill>
              </a:rPr>
              <a:t>n</a:t>
            </a:r>
            <a:r>
              <a:rPr lang="en-US" altLang="en-US" sz="2600" dirty="0">
                <a:solidFill>
                  <a:schemeClr val="hlink"/>
                </a:solidFill>
              </a:rPr>
              <a:t>))</a:t>
            </a:r>
            <a:r>
              <a:rPr lang="en-US" altLang="en-US" sz="2800" i="1" dirty="0">
                <a:solidFill>
                  <a:schemeClr val="hlink"/>
                </a:solidFill>
              </a:rPr>
              <a:t> </a:t>
            </a:r>
          </a:p>
          <a:p>
            <a:pPr algn="ctr">
              <a:lnSpc>
                <a:spcPct val="9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endParaRPr lang="en-US" altLang="en-US" sz="2800" dirty="0">
              <a:solidFill>
                <a:schemeClr val="hlink"/>
              </a:solidFill>
            </a:endParaRPr>
          </a:p>
          <a:p>
            <a:pPr>
              <a:lnSpc>
                <a:spcPct val="90000"/>
              </a:lnSpc>
            </a:pPr>
            <a:r>
              <a:rPr lang="en-US" altLang="en-US" sz="2800" dirty="0">
                <a:solidFill>
                  <a:srgbClr val="7030A0"/>
                </a:solidFill>
              </a:rPr>
              <a:t>Reflexivity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en-US" sz="2600" i="1" dirty="0">
                <a:solidFill>
                  <a:schemeClr val="hlink"/>
                </a:solidFill>
              </a:rPr>
              <a:t>	f</a:t>
            </a:r>
            <a:r>
              <a:rPr lang="en-US" altLang="en-US" sz="2600" dirty="0">
                <a:solidFill>
                  <a:schemeClr val="hlink"/>
                </a:solidFill>
              </a:rPr>
              <a:t>(</a:t>
            </a:r>
            <a:r>
              <a:rPr lang="en-US" altLang="en-US" sz="2600" i="1" dirty="0">
                <a:solidFill>
                  <a:schemeClr val="hlink"/>
                </a:solidFill>
              </a:rPr>
              <a:t>n</a:t>
            </a:r>
            <a:r>
              <a:rPr lang="en-US" altLang="en-US" sz="2600" dirty="0">
                <a:solidFill>
                  <a:schemeClr val="hlink"/>
                </a:solidFill>
              </a:rPr>
              <a:t>)</a:t>
            </a:r>
            <a:r>
              <a:rPr lang="en-US" altLang="en-US" sz="2600" i="1" dirty="0">
                <a:solidFill>
                  <a:schemeClr val="hlink"/>
                </a:solidFill>
              </a:rPr>
              <a:t> = </a:t>
            </a:r>
            <a:r>
              <a:rPr lang="en-US" altLang="en-US" sz="2600" dirty="0">
                <a:solidFill>
                  <a:schemeClr val="hlink"/>
                </a:solidFill>
                <a:sym typeface="Symbol" panose="05050102010706020507" pitchFamily="18" charset="2"/>
              </a:rPr>
              <a:t></a:t>
            </a:r>
            <a:r>
              <a:rPr lang="en-US" altLang="en-US" sz="2600" dirty="0">
                <a:solidFill>
                  <a:schemeClr val="hlink"/>
                </a:solidFill>
              </a:rPr>
              <a:t>(</a:t>
            </a:r>
            <a:r>
              <a:rPr lang="en-US" altLang="en-US" sz="2600" i="1" dirty="0">
                <a:solidFill>
                  <a:schemeClr val="hlink"/>
                </a:solidFill>
              </a:rPr>
              <a:t>f</a:t>
            </a:r>
            <a:r>
              <a:rPr lang="en-US" altLang="en-US" sz="2600" dirty="0">
                <a:solidFill>
                  <a:schemeClr val="hlink"/>
                </a:solidFill>
              </a:rPr>
              <a:t>(</a:t>
            </a:r>
            <a:r>
              <a:rPr lang="en-US" altLang="en-US" sz="2600" i="1" dirty="0">
                <a:solidFill>
                  <a:schemeClr val="hlink"/>
                </a:solidFill>
              </a:rPr>
              <a:t>n</a:t>
            </a:r>
            <a:r>
              <a:rPr lang="en-US" altLang="en-US" sz="2600" dirty="0">
                <a:solidFill>
                  <a:schemeClr val="hlink"/>
                </a:solidFill>
              </a:rPr>
              <a:t>))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en-US" sz="2600" dirty="0">
                <a:solidFill>
                  <a:schemeClr val="hlink"/>
                </a:solidFill>
              </a:rPr>
              <a:t>    </a:t>
            </a:r>
            <a:r>
              <a:rPr lang="en-US" altLang="en-US" sz="2600" i="1" dirty="0">
                <a:solidFill>
                  <a:schemeClr val="hlink"/>
                </a:solidFill>
              </a:rPr>
              <a:t>f</a:t>
            </a:r>
            <a:r>
              <a:rPr lang="en-US" altLang="en-US" sz="2600" dirty="0">
                <a:solidFill>
                  <a:schemeClr val="hlink"/>
                </a:solidFill>
              </a:rPr>
              <a:t>(</a:t>
            </a:r>
            <a:r>
              <a:rPr lang="en-US" altLang="en-US" sz="2600" i="1" dirty="0">
                <a:solidFill>
                  <a:schemeClr val="hlink"/>
                </a:solidFill>
              </a:rPr>
              <a:t>n</a:t>
            </a:r>
            <a:r>
              <a:rPr lang="en-US" altLang="en-US" sz="2600" dirty="0">
                <a:solidFill>
                  <a:schemeClr val="hlink"/>
                </a:solidFill>
              </a:rPr>
              <a:t>)</a:t>
            </a:r>
            <a:r>
              <a:rPr lang="en-US" altLang="en-US" sz="2600" i="1" dirty="0">
                <a:solidFill>
                  <a:schemeClr val="hlink"/>
                </a:solidFill>
              </a:rPr>
              <a:t> = </a:t>
            </a:r>
            <a:r>
              <a:rPr lang="en-US" altLang="en-US" sz="2600" i="1" dirty="0">
                <a:solidFill>
                  <a:schemeClr val="hlink"/>
                </a:solidFill>
                <a:sym typeface="Symbol" panose="05050102010706020507" pitchFamily="18" charset="2"/>
              </a:rPr>
              <a:t>O</a:t>
            </a:r>
            <a:r>
              <a:rPr lang="en-US" altLang="en-US" sz="2600" dirty="0">
                <a:solidFill>
                  <a:schemeClr val="hlink"/>
                </a:solidFill>
              </a:rPr>
              <a:t>(</a:t>
            </a:r>
            <a:r>
              <a:rPr lang="en-US" altLang="en-US" sz="2600" i="1" dirty="0">
                <a:solidFill>
                  <a:schemeClr val="hlink"/>
                </a:solidFill>
              </a:rPr>
              <a:t>f</a:t>
            </a:r>
            <a:r>
              <a:rPr lang="en-US" altLang="en-US" sz="2600" dirty="0">
                <a:solidFill>
                  <a:schemeClr val="hlink"/>
                </a:solidFill>
              </a:rPr>
              <a:t>(</a:t>
            </a:r>
            <a:r>
              <a:rPr lang="en-US" altLang="en-US" sz="2600" i="1" dirty="0">
                <a:solidFill>
                  <a:schemeClr val="hlink"/>
                </a:solidFill>
              </a:rPr>
              <a:t>n</a:t>
            </a:r>
            <a:r>
              <a:rPr lang="en-US" altLang="en-US" sz="2600" dirty="0">
                <a:solidFill>
                  <a:schemeClr val="hlink"/>
                </a:solidFill>
              </a:rPr>
              <a:t>))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en-US" sz="2600" dirty="0">
                <a:solidFill>
                  <a:schemeClr val="hlink"/>
                </a:solidFill>
              </a:rPr>
              <a:t>   </a:t>
            </a:r>
            <a:r>
              <a:rPr lang="en-US" altLang="en-US" sz="2600" i="1" dirty="0">
                <a:solidFill>
                  <a:schemeClr val="hlink"/>
                </a:solidFill>
              </a:rPr>
              <a:t>f</a:t>
            </a:r>
            <a:r>
              <a:rPr lang="en-US" altLang="en-US" sz="2600" dirty="0">
                <a:solidFill>
                  <a:schemeClr val="hlink"/>
                </a:solidFill>
              </a:rPr>
              <a:t>(</a:t>
            </a:r>
            <a:r>
              <a:rPr lang="en-US" altLang="en-US" sz="2600" i="1" dirty="0">
                <a:solidFill>
                  <a:schemeClr val="hlink"/>
                </a:solidFill>
              </a:rPr>
              <a:t>n</a:t>
            </a:r>
            <a:r>
              <a:rPr lang="en-US" altLang="en-US" sz="2600" dirty="0">
                <a:solidFill>
                  <a:schemeClr val="hlink"/>
                </a:solidFill>
              </a:rPr>
              <a:t>)</a:t>
            </a:r>
            <a:r>
              <a:rPr lang="en-US" altLang="en-US" sz="2600" i="1" dirty="0">
                <a:solidFill>
                  <a:schemeClr val="hlink"/>
                </a:solidFill>
              </a:rPr>
              <a:t>  = </a:t>
            </a:r>
            <a:r>
              <a:rPr lang="en-US" altLang="en-US" sz="2600" dirty="0">
                <a:solidFill>
                  <a:schemeClr val="hlink"/>
                </a:solidFill>
                <a:sym typeface="Symbol" panose="05050102010706020507" pitchFamily="18" charset="2"/>
              </a:rPr>
              <a:t></a:t>
            </a:r>
            <a:r>
              <a:rPr lang="en-US" altLang="en-US" sz="2600" dirty="0">
                <a:solidFill>
                  <a:schemeClr val="hlink"/>
                </a:solidFill>
              </a:rPr>
              <a:t>(</a:t>
            </a:r>
            <a:r>
              <a:rPr lang="en-US" altLang="en-US" sz="2600" i="1" dirty="0">
                <a:solidFill>
                  <a:schemeClr val="hlink"/>
                </a:solidFill>
              </a:rPr>
              <a:t>f</a:t>
            </a:r>
            <a:r>
              <a:rPr lang="en-US" altLang="en-US" sz="2600" dirty="0">
                <a:solidFill>
                  <a:schemeClr val="hlink"/>
                </a:solidFill>
              </a:rPr>
              <a:t>(</a:t>
            </a:r>
            <a:r>
              <a:rPr lang="en-US" altLang="en-US" sz="2600" i="1" dirty="0">
                <a:solidFill>
                  <a:schemeClr val="hlink"/>
                </a:solidFill>
              </a:rPr>
              <a:t>n</a:t>
            </a:r>
            <a:r>
              <a:rPr lang="en-US" altLang="en-US" sz="2600" dirty="0">
                <a:solidFill>
                  <a:schemeClr val="hlink"/>
                </a:solidFill>
              </a:rPr>
              <a:t>))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endParaRPr lang="en-US" altLang="en-US" sz="2600" dirty="0">
              <a:solidFill>
                <a:schemeClr val="hlink"/>
              </a:solidFill>
            </a:endParaRP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endParaRPr lang="en-US" altLang="en-US" sz="2800" dirty="0">
              <a:solidFill>
                <a:schemeClr val="hlink"/>
              </a:solidFill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AF298A-6F99-4541-9B8E-53CB75CA9E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0" y="350838"/>
            <a:ext cx="3962400" cy="868362"/>
          </a:xfrm>
        </p:spPr>
        <p:txBody>
          <a:bodyPr/>
          <a:lstStyle/>
          <a:p>
            <a:r>
              <a:rPr lang="en-US" dirty="0" err="1">
                <a:solidFill>
                  <a:srgbClr val="FF0000"/>
                </a:solidFill>
              </a:rPr>
              <a:t>Contd</a:t>
            </a:r>
            <a:r>
              <a:rPr lang="en-US" dirty="0">
                <a:solidFill>
                  <a:srgbClr val="FF0000"/>
                </a:solidFill>
              </a:rPr>
              <a:t>……</a:t>
            </a:r>
            <a:endParaRPr lang="en-IN" dirty="0">
              <a:solidFill>
                <a:srgbClr val="FF000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572B13-5009-480A-86EC-134FD17E2C9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>
                <a:solidFill>
                  <a:srgbClr val="7030A0"/>
                </a:solidFill>
              </a:rPr>
              <a:t>Law of </a:t>
            </a:r>
            <a:r>
              <a:rPr lang="en-US" b="1" dirty="0" err="1">
                <a:solidFill>
                  <a:srgbClr val="7030A0"/>
                </a:solidFill>
              </a:rPr>
              <a:t>Composittion</a:t>
            </a:r>
            <a:endParaRPr lang="en-US" b="1" dirty="0">
              <a:solidFill>
                <a:srgbClr val="7030A0"/>
              </a:solidFill>
            </a:endParaRPr>
          </a:p>
          <a:p>
            <a:pPr marL="0" indent="0">
              <a:buNone/>
            </a:pPr>
            <a:r>
              <a:rPr lang="en-US" dirty="0"/>
              <a:t>	</a:t>
            </a:r>
            <a:r>
              <a:rPr lang="en-US" dirty="0">
                <a:solidFill>
                  <a:srgbClr val="FFC000"/>
                </a:solidFill>
              </a:rPr>
              <a:t>O(O(f(n)))=O(f(n))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b="1" dirty="0">
                <a:solidFill>
                  <a:srgbClr val="7030A0"/>
                </a:solidFill>
              </a:rPr>
              <a:t>Summation Rule(Law of Addition)</a:t>
            </a:r>
          </a:p>
          <a:p>
            <a:pPr marL="0" indent="0">
              <a:buNone/>
            </a:pPr>
            <a:r>
              <a:rPr lang="en-US" dirty="0"/>
              <a:t>	</a:t>
            </a:r>
            <a:r>
              <a:rPr lang="en-US" dirty="0">
                <a:solidFill>
                  <a:srgbClr val="FFC000"/>
                </a:solidFill>
              </a:rPr>
              <a:t> f(n) + g(n) = O(</a:t>
            </a:r>
            <a:r>
              <a:rPr lang="en-US" dirty="0">
                <a:solidFill>
                  <a:srgbClr val="00B050"/>
                </a:solidFill>
              </a:rPr>
              <a:t>max</a:t>
            </a:r>
            <a:r>
              <a:rPr lang="en-US" dirty="0">
                <a:solidFill>
                  <a:srgbClr val="FFC000"/>
                </a:solidFill>
              </a:rPr>
              <a:t>{f(n),g(n)})</a:t>
            </a:r>
          </a:p>
          <a:p>
            <a:pPr marL="0" indent="0">
              <a:buNone/>
            </a:pPr>
            <a:r>
              <a:rPr lang="en-US" dirty="0">
                <a:solidFill>
                  <a:srgbClr val="FFC000"/>
                </a:solidFill>
              </a:rPr>
              <a:t>	 f(n) + g(n) =</a:t>
            </a:r>
            <a:r>
              <a:rPr lang="en-US" altLang="en-US" sz="2000" dirty="0">
                <a:solidFill>
                  <a:srgbClr val="FFC000"/>
                </a:solidFill>
                <a:sym typeface="Symbol" panose="05050102010706020507" pitchFamily="18" charset="2"/>
              </a:rPr>
              <a:t>  </a:t>
            </a:r>
            <a:r>
              <a:rPr lang="en-US" dirty="0">
                <a:solidFill>
                  <a:srgbClr val="FFC000"/>
                </a:solidFill>
              </a:rPr>
              <a:t>(</a:t>
            </a:r>
            <a:r>
              <a:rPr lang="en-US" dirty="0">
                <a:solidFill>
                  <a:srgbClr val="00B050"/>
                </a:solidFill>
              </a:rPr>
              <a:t>max</a:t>
            </a:r>
            <a:r>
              <a:rPr lang="en-US" dirty="0">
                <a:solidFill>
                  <a:srgbClr val="FFC000"/>
                </a:solidFill>
              </a:rPr>
              <a:t>{f(n),g(n)})</a:t>
            </a:r>
          </a:p>
          <a:p>
            <a:pPr marL="0" indent="0">
              <a:buNone/>
            </a:pPr>
            <a:r>
              <a:rPr lang="en-IN" dirty="0">
                <a:solidFill>
                  <a:srgbClr val="FFC000"/>
                </a:solidFill>
              </a:rPr>
              <a:t>	</a:t>
            </a:r>
            <a:r>
              <a:rPr lang="en-US" dirty="0">
                <a:solidFill>
                  <a:srgbClr val="FFC000"/>
                </a:solidFill>
              </a:rPr>
              <a:t> f(n) + g(n) =</a:t>
            </a:r>
            <a:r>
              <a:rPr lang="en-US" altLang="en-US" sz="2000" dirty="0">
                <a:solidFill>
                  <a:srgbClr val="FFC000"/>
                </a:solidFill>
                <a:sym typeface="Symbol" panose="05050102010706020507" pitchFamily="18" charset="2"/>
              </a:rPr>
              <a:t> </a:t>
            </a:r>
            <a:r>
              <a:rPr lang="en-US" dirty="0">
                <a:solidFill>
                  <a:srgbClr val="FFC000"/>
                </a:solidFill>
              </a:rPr>
              <a:t>(</a:t>
            </a:r>
            <a:r>
              <a:rPr lang="en-US" dirty="0">
                <a:solidFill>
                  <a:srgbClr val="00B050"/>
                </a:solidFill>
              </a:rPr>
              <a:t>max</a:t>
            </a:r>
            <a:r>
              <a:rPr lang="en-US" dirty="0">
                <a:solidFill>
                  <a:srgbClr val="FFC000"/>
                </a:solidFill>
              </a:rPr>
              <a:t>{f(n),g(n)})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b="1" dirty="0">
                <a:solidFill>
                  <a:srgbClr val="7030A0"/>
                </a:solidFill>
              </a:rPr>
              <a:t>Multiplication Rule</a:t>
            </a:r>
          </a:p>
          <a:p>
            <a:pPr marL="0" indent="0">
              <a:buNone/>
            </a:pPr>
            <a:r>
              <a:rPr lang="en-US" dirty="0"/>
              <a:t>	</a:t>
            </a:r>
            <a:r>
              <a:rPr lang="en-US" dirty="0">
                <a:solidFill>
                  <a:srgbClr val="FFC000"/>
                </a:solidFill>
              </a:rPr>
              <a:t>f(n) * g(n) = O(f(n) * g(n))</a:t>
            </a:r>
          </a:p>
          <a:p>
            <a:pPr marL="0" indent="0">
              <a:buNone/>
            </a:pPr>
            <a:r>
              <a:rPr lang="en-IN" dirty="0">
                <a:solidFill>
                  <a:srgbClr val="FFC000"/>
                </a:solidFill>
              </a:rPr>
              <a:t>	</a:t>
            </a:r>
            <a:r>
              <a:rPr lang="en-US" dirty="0">
                <a:solidFill>
                  <a:srgbClr val="FFC000"/>
                </a:solidFill>
              </a:rPr>
              <a:t> f(n) * g(n) = </a:t>
            </a:r>
            <a:r>
              <a:rPr lang="en-US" altLang="en-US" sz="2000" dirty="0">
                <a:solidFill>
                  <a:srgbClr val="FFC000"/>
                </a:solidFill>
                <a:sym typeface="Symbol" panose="05050102010706020507" pitchFamily="18" charset="2"/>
              </a:rPr>
              <a:t></a:t>
            </a:r>
            <a:r>
              <a:rPr lang="en-US" dirty="0">
                <a:solidFill>
                  <a:srgbClr val="FFC000"/>
                </a:solidFill>
              </a:rPr>
              <a:t>(f(n) * g(n))</a:t>
            </a:r>
          </a:p>
          <a:p>
            <a:pPr marL="0" indent="0">
              <a:buNone/>
            </a:pPr>
            <a:r>
              <a:rPr lang="en-US" dirty="0">
                <a:solidFill>
                  <a:srgbClr val="FFC000"/>
                </a:solidFill>
              </a:rPr>
              <a:t>	 f(n) * g(n) = </a:t>
            </a:r>
            <a:r>
              <a:rPr lang="en-US" altLang="en-US" sz="2000" dirty="0">
                <a:solidFill>
                  <a:srgbClr val="FFC000"/>
                </a:solidFill>
                <a:sym typeface="Symbol" panose="05050102010706020507" pitchFamily="18" charset="2"/>
              </a:rPr>
              <a:t></a:t>
            </a:r>
            <a:r>
              <a:rPr lang="en-US" dirty="0">
                <a:solidFill>
                  <a:srgbClr val="FFC000"/>
                </a:solidFill>
              </a:rPr>
              <a:t>(f(n) * g(n))</a:t>
            </a:r>
            <a:endParaRPr lang="en-IN" dirty="0">
              <a:solidFill>
                <a:srgbClr val="FFC000"/>
              </a:solidFill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86B8D8D-C80A-4EF7-9FF4-DE5D2895D5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C643BA-ACA1-44BF-9071-763295A35907}" type="datetime4">
              <a:rPr lang="en-US" smtClean="0"/>
              <a:t>April 3, 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382D0A-F26D-4385-82E1-4273BE6D3A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Computer Science &amp; Engineering, VNRVJIET, Hyderabad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FAA4D52-79CF-46F4-A6B2-E447B6F761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FA3F07-B4E9-4FEB-BC07-B9713C186F28}" type="slidenum">
              <a:rPr lang="en-US" smtClean="0"/>
              <a:pPr/>
              <a:t>25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4222230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C4119D9-5A44-4D0D-BB4A-A56BFEC73888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altLang="en-US"/>
              <a:t>Comp 122</a:t>
            </a:r>
          </a:p>
        </p:txBody>
      </p:sp>
      <p:sp>
        <p:nvSpPr>
          <p:cNvPr id="481282" name="Rectangle 2">
            <a:extLst>
              <a:ext uri="{FF2B5EF4-FFF2-40B4-BE49-F238E27FC236}">
                <a16:creationId xmlns:a16="http://schemas.microsoft.com/office/drawing/2014/main" id="{53B773F0-7067-44ED-9050-D80A1C6D6F2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52400" y="350838"/>
            <a:ext cx="3429000" cy="868362"/>
          </a:xfrm>
        </p:spPr>
        <p:txBody>
          <a:bodyPr/>
          <a:lstStyle/>
          <a:p>
            <a:r>
              <a:rPr lang="en-US" altLang="en-US" dirty="0" err="1">
                <a:solidFill>
                  <a:srgbClr val="FF0000"/>
                </a:solidFill>
              </a:rPr>
              <a:t>Contd</a:t>
            </a:r>
            <a:r>
              <a:rPr lang="en-US" altLang="en-US" dirty="0">
                <a:solidFill>
                  <a:srgbClr val="FF0000"/>
                </a:solidFill>
              </a:rPr>
              <a:t>….</a:t>
            </a:r>
          </a:p>
        </p:txBody>
      </p:sp>
      <p:sp>
        <p:nvSpPr>
          <p:cNvPr id="481283" name="Rectangle 3">
            <a:extLst>
              <a:ext uri="{FF2B5EF4-FFF2-40B4-BE49-F238E27FC236}">
                <a16:creationId xmlns:a16="http://schemas.microsoft.com/office/drawing/2014/main" id="{D3085A3D-5E3E-43E2-BB4D-19A482D2A53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81000" y="1600200"/>
            <a:ext cx="7772400" cy="5426075"/>
          </a:xfrm>
        </p:spPr>
        <p:txBody>
          <a:bodyPr/>
          <a:lstStyle/>
          <a:p>
            <a:r>
              <a:rPr lang="en-US" altLang="en-US" b="1" dirty="0">
                <a:solidFill>
                  <a:srgbClr val="7030A0"/>
                </a:solidFill>
              </a:rPr>
              <a:t>Symmetry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en-US" i="1" dirty="0">
                <a:solidFill>
                  <a:schemeClr val="hlink"/>
                </a:solidFill>
              </a:rPr>
              <a:t>	f</a:t>
            </a:r>
            <a:r>
              <a:rPr lang="en-US" altLang="en-US" dirty="0">
                <a:solidFill>
                  <a:schemeClr val="hlink"/>
                </a:solidFill>
              </a:rPr>
              <a:t>(</a:t>
            </a:r>
            <a:r>
              <a:rPr lang="en-US" altLang="en-US" i="1" dirty="0">
                <a:solidFill>
                  <a:schemeClr val="hlink"/>
                </a:solidFill>
              </a:rPr>
              <a:t>n</a:t>
            </a:r>
            <a:r>
              <a:rPr lang="en-US" altLang="en-US" dirty="0">
                <a:solidFill>
                  <a:schemeClr val="hlink"/>
                </a:solidFill>
              </a:rPr>
              <a:t>)</a:t>
            </a:r>
            <a:r>
              <a:rPr lang="en-US" altLang="en-US" i="1" dirty="0">
                <a:solidFill>
                  <a:schemeClr val="hlink"/>
                </a:solidFill>
              </a:rPr>
              <a:t> = </a:t>
            </a:r>
            <a:r>
              <a:rPr lang="en-US" altLang="en-US" dirty="0">
                <a:solidFill>
                  <a:schemeClr val="hlink"/>
                </a:solidFill>
                <a:sym typeface="Symbol" panose="05050102010706020507" pitchFamily="18" charset="2"/>
              </a:rPr>
              <a:t></a:t>
            </a:r>
            <a:r>
              <a:rPr lang="en-US" altLang="en-US" dirty="0">
                <a:solidFill>
                  <a:schemeClr val="hlink"/>
                </a:solidFill>
              </a:rPr>
              <a:t>(</a:t>
            </a:r>
            <a:r>
              <a:rPr lang="en-US" altLang="en-US" i="1" dirty="0">
                <a:solidFill>
                  <a:schemeClr val="hlink"/>
                </a:solidFill>
              </a:rPr>
              <a:t>g</a:t>
            </a:r>
            <a:r>
              <a:rPr lang="en-US" altLang="en-US" dirty="0">
                <a:solidFill>
                  <a:schemeClr val="hlink"/>
                </a:solidFill>
              </a:rPr>
              <a:t>(</a:t>
            </a:r>
            <a:r>
              <a:rPr lang="en-US" altLang="en-US" i="1" dirty="0">
                <a:solidFill>
                  <a:schemeClr val="hlink"/>
                </a:solidFill>
              </a:rPr>
              <a:t>n</a:t>
            </a:r>
            <a:r>
              <a:rPr lang="en-US" altLang="en-US" dirty="0">
                <a:solidFill>
                  <a:schemeClr val="hlink"/>
                </a:solidFill>
              </a:rPr>
              <a:t>))</a:t>
            </a:r>
            <a:r>
              <a:rPr lang="en-US" altLang="en-US" i="1" dirty="0">
                <a:solidFill>
                  <a:schemeClr val="hlink"/>
                </a:solidFill>
              </a:rPr>
              <a:t> </a:t>
            </a:r>
            <a:r>
              <a:rPr lang="en-US" altLang="en-US" i="1" dirty="0" err="1">
                <a:solidFill>
                  <a:schemeClr val="hlink"/>
                </a:solidFill>
              </a:rPr>
              <a:t>iff</a:t>
            </a:r>
            <a:r>
              <a:rPr lang="en-US" altLang="en-US" dirty="0">
                <a:solidFill>
                  <a:schemeClr val="hlink"/>
                </a:solidFill>
              </a:rPr>
              <a:t> </a:t>
            </a:r>
            <a:r>
              <a:rPr lang="en-US" altLang="en-US" i="1" dirty="0">
                <a:solidFill>
                  <a:schemeClr val="hlink"/>
                </a:solidFill>
              </a:rPr>
              <a:t>g</a:t>
            </a:r>
            <a:r>
              <a:rPr lang="en-US" altLang="en-US" dirty="0">
                <a:solidFill>
                  <a:schemeClr val="hlink"/>
                </a:solidFill>
              </a:rPr>
              <a:t>(</a:t>
            </a:r>
            <a:r>
              <a:rPr lang="en-US" altLang="en-US" i="1" dirty="0">
                <a:solidFill>
                  <a:schemeClr val="hlink"/>
                </a:solidFill>
              </a:rPr>
              <a:t>n</a:t>
            </a:r>
            <a:r>
              <a:rPr lang="en-US" altLang="en-US" dirty="0">
                <a:solidFill>
                  <a:schemeClr val="hlink"/>
                </a:solidFill>
              </a:rPr>
              <a:t>)</a:t>
            </a:r>
            <a:r>
              <a:rPr lang="en-US" altLang="en-US" i="1" dirty="0">
                <a:solidFill>
                  <a:schemeClr val="hlink"/>
                </a:solidFill>
              </a:rPr>
              <a:t> = </a:t>
            </a:r>
            <a:r>
              <a:rPr lang="en-US" altLang="en-US" dirty="0">
                <a:solidFill>
                  <a:schemeClr val="hlink"/>
                </a:solidFill>
                <a:sym typeface="Symbol" panose="05050102010706020507" pitchFamily="18" charset="2"/>
              </a:rPr>
              <a:t></a:t>
            </a:r>
            <a:r>
              <a:rPr lang="en-US" altLang="en-US" dirty="0">
                <a:solidFill>
                  <a:schemeClr val="hlink"/>
                </a:solidFill>
              </a:rPr>
              <a:t>(</a:t>
            </a:r>
            <a:r>
              <a:rPr lang="en-US" altLang="en-US" i="1" dirty="0">
                <a:solidFill>
                  <a:schemeClr val="hlink"/>
                </a:solidFill>
              </a:rPr>
              <a:t>f</a:t>
            </a:r>
            <a:r>
              <a:rPr lang="en-US" altLang="en-US" dirty="0">
                <a:solidFill>
                  <a:schemeClr val="hlink"/>
                </a:solidFill>
              </a:rPr>
              <a:t>(</a:t>
            </a:r>
            <a:r>
              <a:rPr lang="en-US" altLang="en-US" i="1" dirty="0">
                <a:solidFill>
                  <a:schemeClr val="hlink"/>
                </a:solidFill>
              </a:rPr>
              <a:t>n</a:t>
            </a:r>
            <a:r>
              <a:rPr lang="en-US" altLang="en-US" dirty="0">
                <a:solidFill>
                  <a:schemeClr val="hlink"/>
                </a:solidFill>
              </a:rPr>
              <a:t>))</a:t>
            </a:r>
            <a:r>
              <a:rPr lang="en-US" altLang="en-US" i="1" dirty="0">
                <a:solidFill>
                  <a:schemeClr val="hlink"/>
                </a:solidFill>
              </a:rPr>
              <a:t> </a:t>
            </a:r>
          </a:p>
          <a:p>
            <a:pPr algn="ctr">
              <a:spcBef>
                <a:spcPct val="0"/>
              </a:spcBef>
              <a:buFont typeface="Wingdings" panose="05000000000000000000" pitchFamily="2" charset="2"/>
              <a:buNone/>
            </a:pPr>
            <a:endParaRPr lang="en-US" altLang="en-US" dirty="0">
              <a:solidFill>
                <a:schemeClr val="hlink"/>
              </a:solidFill>
            </a:endParaRPr>
          </a:p>
          <a:p>
            <a:r>
              <a:rPr lang="en-US" altLang="en-US" b="1" dirty="0">
                <a:solidFill>
                  <a:srgbClr val="7030A0"/>
                </a:solidFill>
              </a:rPr>
              <a:t>Complementarity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en-US" i="1" dirty="0">
                <a:solidFill>
                  <a:schemeClr val="hlink"/>
                </a:solidFill>
              </a:rPr>
              <a:t>     f</a:t>
            </a:r>
            <a:r>
              <a:rPr lang="en-US" altLang="en-US" dirty="0">
                <a:solidFill>
                  <a:schemeClr val="hlink"/>
                </a:solidFill>
              </a:rPr>
              <a:t>(</a:t>
            </a:r>
            <a:r>
              <a:rPr lang="en-US" altLang="en-US" i="1" dirty="0">
                <a:solidFill>
                  <a:schemeClr val="hlink"/>
                </a:solidFill>
              </a:rPr>
              <a:t>n</a:t>
            </a:r>
            <a:r>
              <a:rPr lang="en-US" altLang="en-US" dirty="0">
                <a:solidFill>
                  <a:schemeClr val="hlink"/>
                </a:solidFill>
              </a:rPr>
              <a:t>)</a:t>
            </a:r>
            <a:r>
              <a:rPr lang="en-US" altLang="en-US" i="1" dirty="0">
                <a:solidFill>
                  <a:schemeClr val="hlink"/>
                </a:solidFill>
              </a:rPr>
              <a:t> = </a:t>
            </a:r>
            <a:r>
              <a:rPr lang="en-US" altLang="en-US" i="1" dirty="0">
                <a:solidFill>
                  <a:schemeClr val="hlink"/>
                </a:solidFill>
                <a:sym typeface="Symbol" panose="05050102010706020507" pitchFamily="18" charset="2"/>
              </a:rPr>
              <a:t>O</a:t>
            </a:r>
            <a:r>
              <a:rPr lang="en-US" altLang="en-US" dirty="0">
                <a:solidFill>
                  <a:schemeClr val="hlink"/>
                </a:solidFill>
              </a:rPr>
              <a:t>(</a:t>
            </a:r>
            <a:r>
              <a:rPr lang="en-US" altLang="en-US" i="1" dirty="0">
                <a:solidFill>
                  <a:schemeClr val="hlink"/>
                </a:solidFill>
              </a:rPr>
              <a:t>g</a:t>
            </a:r>
            <a:r>
              <a:rPr lang="en-US" altLang="en-US" dirty="0">
                <a:solidFill>
                  <a:schemeClr val="hlink"/>
                </a:solidFill>
              </a:rPr>
              <a:t>(</a:t>
            </a:r>
            <a:r>
              <a:rPr lang="en-US" altLang="en-US" i="1" dirty="0">
                <a:solidFill>
                  <a:schemeClr val="hlink"/>
                </a:solidFill>
              </a:rPr>
              <a:t>n</a:t>
            </a:r>
            <a:r>
              <a:rPr lang="en-US" altLang="en-US" dirty="0">
                <a:solidFill>
                  <a:schemeClr val="hlink"/>
                </a:solidFill>
              </a:rPr>
              <a:t>))</a:t>
            </a:r>
            <a:r>
              <a:rPr lang="en-US" altLang="en-US" i="1" dirty="0">
                <a:solidFill>
                  <a:schemeClr val="hlink"/>
                </a:solidFill>
              </a:rPr>
              <a:t> </a:t>
            </a:r>
            <a:r>
              <a:rPr lang="en-US" altLang="en-US" i="1" dirty="0" err="1">
                <a:solidFill>
                  <a:schemeClr val="hlink"/>
                </a:solidFill>
              </a:rPr>
              <a:t>iff</a:t>
            </a:r>
            <a:r>
              <a:rPr lang="en-US" altLang="en-US" dirty="0">
                <a:solidFill>
                  <a:schemeClr val="hlink"/>
                </a:solidFill>
              </a:rPr>
              <a:t> </a:t>
            </a:r>
            <a:r>
              <a:rPr lang="en-US" altLang="en-US" i="1" dirty="0">
                <a:solidFill>
                  <a:schemeClr val="hlink"/>
                </a:solidFill>
              </a:rPr>
              <a:t>g</a:t>
            </a:r>
            <a:r>
              <a:rPr lang="en-US" altLang="en-US" dirty="0">
                <a:solidFill>
                  <a:schemeClr val="hlink"/>
                </a:solidFill>
              </a:rPr>
              <a:t>(</a:t>
            </a:r>
            <a:r>
              <a:rPr lang="en-US" altLang="en-US" i="1" dirty="0">
                <a:solidFill>
                  <a:schemeClr val="hlink"/>
                </a:solidFill>
              </a:rPr>
              <a:t>n</a:t>
            </a:r>
            <a:r>
              <a:rPr lang="en-US" altLang="en-US" dirty="0">
                <a:solidFill>
                  <a:schemeClr val="hlink"/>
                </a:solidFill>
              </a:rPr>
              <a:t>)</a:t>
            </a:r>
            <a:r>
              <a:rPr lang="en-US" altLang="en-US" i="1" dirty="0">
                <a:solidFill>
                  <a:schemeClr val="hlink"/>
                </a:solidFill>
              </a:rPr>
              <a:t> = </a:t>
            </a:r>
            <a:r>
              <a:rPr lang="en-US" altLang="en-US" dirty="0">
                <a:solidFill>
                  <a:schemeClr val="hlink"/>
                </a:solidFill>
                <a:sym typeface="Symbol" panose="05050102010706020507" pitchFamily="18" charset="2"/>
              </a:rPr>
              <a:t></a:t>
            </a:r>
            <a:r>
              <a:rPr lang="en-US" altLang="en-US" dirty="0">
                <a:solidFill>
                  <a:schemeClr val="hlink"/>
                </a:solidFill>
              </a:rPr>
              <a:t>(</a:t>
            </a:r>
            <a:r>
              <a:rPr lang="en-US" altLang="en-US" i="1" dirty="0">
                <a:solidFill>
                  <a:schemeClr val="hlink"/>
                </a:solidFill>
              </a:rPr>
              <a:t>f</a:t>
            </a:r>
            <a:r>
              <a:rPr lang="en-US" altLang="en-US" dirty="0">
                <a:solidFill>
                  <a:schemeClr val="hlink"/>
                </a:solidFill>
              </a:rPr>
              <a:t>(</a:t>
            </a:r>
            <a:r>
              <a:rPr lang="en-US" altLang="en-US" i="1" dirty="0">
                <a:solidFill>
                  <a:schemeClr val="hlink"/>
                </a:solidFill>
              </a:rPr>
              <a:t>n</a:t>
            </a:r>
            <a:r>
              <a:rPr lang="en-US" altLang="en-US" dirty="0">
                <a:solidFill>
                  <a:schemeClr val="hlink"/>
                </a:solidFill>
              </a:rPr>
              <a:t>))</a:t>
            </a:r>
            <a:r>
              <a:rPr lang="en-US" altLang="en-US" i="1" dirty="0">
                <a:solidFill>
                  <a:schemeClr val="hlink"/>
                </a:solidFill>
              </a:rPr>
              <a:t> 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en-US" i="1" dirty="0">
                <a:solidFill>
                  <a:schemeClr val="hlink"/>
                </a:solidFill>
              </a:rPr>
              <a:t>     f</a:t>
            </a:r>
            <a:r>
              <a:rPr lang="en-US" altLang="en-US" dirty="0">
                <a:solidFill>
                  <a:schemeClr val="hlink"/>
                </a:solidFill>
              </a:rPr>
              <a:t>(</a:t>
            </a:r>
            <a:r>
              <a:rPr lang="en-US" altLang="en-US" i="1" dirty="0">
                <a:solidFill>
                  <a:schemeClr val="hlink"/>
                </a:solidFill>
              </a:rPr>
              <a:t>n</a:t>
            </a:r>
            <a:r>
              <a:rPr lang="en-US" altLang="en-US" dirty="0">
                <a:solidFill>
                  <a:schemeClr val="hlink"/>
                </a:solidFill>
              </a:rPr>
              <a:t>)</a:t>
            </a:r>
            <a:r>
              <a:rPr lang="en-US" altLang="en-US" i="1" dirty="0">
                <a:solidFill>
                  <a:schemeClr val="hlink"/>
                </a:solidFill>
              </a:rPr>
              <a:t> =  </a:t>
            </a:r>
            <a:r>
              <a:rPr lang="en-US" altLang="en-US" i="1" dirty="0">
                <a:solidFill>
                  <a:schemeClr val="hlink"/>
                </a:solidFill>
                <a:sym typeface="Symbol" panose="05050102010706020507" pitchFamily="18" charset="2"/>
              </a:rPr>
              <a:t>o</a:t>
            </a:r>
            <a:r>
              <a:rPr lang="en-US" altLang="en-US" dirty="0">
                <a:solidFill>
                  <a:schemeClr val="hlink"/>
                </a:solidFill>
              </a:rPr>
              <a:t>(</a:t>
            </a:r>
            <a:r>
              <a:rPr lang="en-US" altLang="en-US" i="1" dirty="0">
                <a:solidFill>
                  <a:schemeClr val="hlink"/>
                </a:solidFill>
              </a:rPr>
              <a:t>g</a:t>
            </a:r>
            <a:r>
              <a:rPr lang="en-US" altLang="en-US" dirty="0">
                <a:solidFill>
                  <a:schemeClr val="hlink"/>
                </a:solidFill>
              </a:rPr>
              <a:t>(</a:t>
            </a:r>
            <a:r>
              <a:rPr lang="en-US" altLang="en-US" i="1" dirty="0">
                <a:solidFill>
                  <a:schemeClr val="hlink"/>
                </a:solidFill>
              </a:rPr>
              <a:t>n</a:t>
            </a:r>
            <a:r>
              <a:rPr lang="en-US" altLang="en-US" dirty="0">
                <a:solidFill>
                  <a:schemeClr val="hlink"/>
                </a:solidFill>
              </a:rPr>
              <a:t>))</a:t>
            </a:r>
            <a:r>
              <a:rPr lang="en-US" altLang="en-US" i="1" dirty="0">
                <a:solidFill>
                  <a:schemeClr val="hlink"/>
                </a:solidFill>
              </a:rPr>
              <a:t> </a:t>
            </a:r>
            <a:r>
              <a:rPr lang="en-US" altLang="en-US" i="1" dirty="0" err="1">
                <a:solidFill>
                  <a:schemeClr val="hlink"/>
                </a:solidFill>
              </a:rPr>
              <a:t>iff</a:t>
            </a:r>
            <a:r>
              <a:rPr lang="en-US" altLang="en-US" dirty="0">
                <a:solidFill>
                  <a:schemeClr val="hlink"/>
                </a:solidFill>
              </a:rPr>
              <a:t> </a:t>
            </a:r>
            <a:r>
              <a:rPr lang="en-US" altLang="en-US" i="1" dirty="0">
                <a:solidFill>
                  <a:schemeClr val="hlink"/>
                </a:solidFill>
              </a:rPr>
              <a:t>g</a:t>
            </a:r>
            <a:r>
              <a:rPr lang="en-US" altLang="en-US" dirty="0">
                <a:solidFill>
                  <a:schemeClr val="hlink"/>
                </a:solidFill>
              </a:rPr>
              <a:t>(</a:t>
            </a:r>
            <a:r>
              <a:rPr lang="en-US" altLang="en-US" i="1" dirty="0">
                <a:solidFill>
                  <a:schemeClr val="hlink"/>
                </a:solidFill>
              </a:rPr>
              <a:t>n</a:t>
            </a:r>
            <a:r>
              <a:rPr lang="en-US" altLang="en-US" dirty="0">
                <a:solidFill>
                  <a:schemeClr val="hlink"/>
                </a:solidFill>
              </a:rPr>
              <a:t>)</a:t>
            </a:r>
            <a:r>
              <a:rPr lang="en-US" altLang="en-US" i="1" dirty="0">
                <a:solidFill>
                  <a:schemeClr val="hlink"/>
                </a:solidFill>
              </a:rPr>
              <a:t> = </a:t>
            </a:r>
            <a:r>
              <a:rPr lang="en-US" altLang="en-US" i="1" dirty="0">
                <a:solidFill>
                  <a:schemeClr val="hlink"/>
                </a:solidFill>
                <a:latin typeface="Symbol" panose="05050102010706020507" pitchFamily="18" charset="2"/>
                <a:sym typeface="Symbol" panose="05050102010706020507" pitchFamily="18" charset="2"/>
              </a:rPr>
              <a:t>w</a:t>
            </a:r>
            <a:r>
              <a:rPr lang="en-US" altLang="en-US" dirty="0">
                <a:solidFill>
                  <a:schemeClr val="hlink"/>
                </a:solidFill>
              </a:rPr>
              <a:t>((</a:t>
            </a:r>
            <a:r>
              <a:rPr lang="en-US" altLang="en-US" i="1" dirty="0">
                <a:solidFill>
                  <a:schemeClr val="hlink"/>
                </a:solidFill>
              </a:rPr>
              <a:t>f</a:t>
            </a:r>
            <a:r>
              <a:rPr lang="en-US" altLang="en-US" dirty="0">
                <a:solidFill>
                  <a:schemeClr val="hlink"/>
                </a:solidFill>
              </a:rPr>
              <a:t>(</a:t>
            </a:r>
            <a:r>
              <a:rPr lang="en-US" altLang="en-US" i="1" dirty="0">
                <a:solidFill>
                  <a:schemeClr val="hlink"/>
                </a:solidFill>
              </a:rPr>
              <a:t>n</a:t>
            </a:r>
            <a:r>
              <a:rPr lang="en-US" altLang="en-US" dirty="0">
                <a:solidFill>
                  <a:schemeClr val="hlink"/>
                </a:solidFill>
              </a:rPr>
              <a:t>))</a:t>
            </a:r>
            <a:r>
              <a:rPr lang="en-US" altLang="en-US" i="1" dirty="0">
                <a:solidFill>
                  <a:schemeClr val="hlink"/>
                </a:solidFill>
              </a:rPr>
              <a:t> 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F4E486-F11B-4255-A3C2-8277B7140B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0" y="350838"/>
            <a:ext cx="3505200" cy="868362"/>
          </a:xfrm>
        </p:spPr>
        <p:txBody>
          <a:bodyPr/>
          <a:lstStyle/>
          <a:p>
            <a:r>
              <a:rPr lang="en-US" dirty="0">
                <a:solidFill>
                  <a:srgbClr val="FF0000"/>
                </a:solidFill>
              </a:rPr>
              <a:t>Questions….?</a:t>
            </a:r>
            <a:endParaRPr lang="en-IN" dirty="0">
              <a:solidFill>
                <a:srgbClr val="FF000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16645E-08FE-4BCE-9278-CD7B7184DE5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Which Algorithm is best?</a:t>
            </a:r>
          </a:p>
          <a:p>
            <a:pPr marL="0" indent="0">
              <a:buNone/>
            </a:pPr>
            <a:r>
              <a:rPr lang="en-US" dirty="0"/>
              <a:t>	</a:t>
            </a:r>
            <a:r>
              <a:rPr lang="en-US" dirty="0" err="1">
                <a:solidFill>
                  <a:srgbClr val="00B050"/>
                </a:solidFill>
              </a:rPr>
              <a:t>AlgA</a:t>
            </a:r>
            <a:r>
              <a:rPr lang="en-US" dirty="0"/>
              <a:t>	</a:t>
            </a:r>
            <a:r>
              <a:rPr lang="en-US" dirty="0" err="1">
                <a:solidFill>
                  <a:srgbClr val="FF0000"/>
                </a:solidFill>
              </a:rPr>
              <a:t>AlgB</a:t>
            </a:r>
            <a:r>
              <a:rPr lang="en-US" dirty="0"/>
              <a:t>	</a:t>
            </a:r>
            <a:r>
              <a:rPr lang="en-US" dirty="0" err="1">
                <a:solidFill>
                  <a:srgbClr val="00B0F0"/>
                </a:solidFill>
              </a:rPr>
              <a:t>AlgC</a:t>
            </a:r>
            <a:endParaRPr lang="en-US" dirty="0">
              <a:solidFill>
                <a:srgbClr val="00B0F0"/>
              </a:solidFill>
            </a:endParaRPr>
          </a:p>
          <a:p>
            <a:pPr marL="0" indent="0">
              <a:buNone/>
            </a:pPr>
            <a:r>
              <a:rPr lang="en-US" dirty="0"/>
              <a:t>	O(n</a:t>
            </a:r>
            <a:r>
              <a:rPr lang="en-US" baseline="30000" dirty="0"/>
              <a:t>2</a:t>
            </a:r>
            <a:r>
              <a:rPr lang="en-US" dirty="0"/>
              <a:t>)	o(n</a:t>
            </a:r>
            <a:r>
              <a:rPr lang="en-US" baseline="30000" dirty="0"/>
              <a:t>2</a:t>
            </a:r>
            <a:r>
              <a:rPr lang="en-US" dirty="0"/>
              <a:t>)	</a:t>
            </a:r>
            <a:r>
              <a:rPr lang="en-US" altLang="en-US" sz="2000" dirty="0">
                <a:solidFill>
                  <a:srgbClr val="FFC000"/>
                </a:solidFill>
                <a:sym typeface="Symbol" panose="05050102010706020507" pitchFamily="18" charset="2"/>
              </a:rPr>
              <a:t> </a:t>
            </a:r>
            <a:r>
              <a:rPr lang="en-US" altLang="en-US" sz="2000" dirty="0">
                <a:sym typeface="Symbol" panose="05050102010706020507" pitchFamily="18" charset="2"/>
              </a:rPr>
              <a:t>(</a:t>
            </a:r>
            <a:r>
              <a:rPr lang="en-US" dirty="0"/>
              <a:t>n</a:t>
            </a:r>
            <a:r>
              <a:rPr lang="en-US" baseline="30000" dirty="0"/>
              <a:t>2</a:t>
            </a:r>
            <a:r>
              <a:rPr lang="en-US" altLang="en-US" sz="2000" dirty="0">
                <a:sym typeface="Symbol" panose="05050102010706020507" pitchFamily="18" charset="2"/>
              </a:rPr>
              <a:t>)</a:t>
            </a:r>
          </a:p>
          <a:p>
            <a:r>
              <a:rPr lang="en-US" dirty="0"/>
              <a:t>Which Algorithm is best?</a:t>
            </a:r>
          </a:p>
          <a:p>
            <a:pPr marL="0" indent="0">
              <a:buNone/>
            </a:pPr>
            <a:r>
              <a:rPr lang="en-US" dirty="0"/>
              <a:t>	</a:t>
            </a:r>
            <a:r>
              <a:rPr lang="en-US" dirty="0" err="1">
                <a:solidFill>
                  <a:srgbClr val="00B050"/>
                </a:solidFill>
              </a:rPr>
              <a:t>AlgA</a:t>
            </a:r>
            <a:r>
              <a:rPr lang="en-US" dirty="0"/>
              <a:t>	</a:t>
            </a:r>
            <a:r>
              <a:rPr lang="en-US" dirty="0" err="1">
                <a:solidFill>
                  <a:srgbClr val="FF0000"/>
                </a:solidFill>
              </a:rPr>
              <a:t>AlgB</a:t>
            </a:r>
            <a:r>
              <a:rPr lang="en-US" dirty="0"/>
              <a:t>	</a:t>
            </a:r>
            <a:r>
              <a:rPr lang="en-US" dirty="0" err="1">
                <a:solidFill>
                  <a:srgbClr val="00B0F0"/>
                </a:solidFill>
              </a:rPr>
              <a:t>AlgC</a:t>
            </a:r>
            <a:endParaRPr lang="en-US" dirty="0">
              <a:solidFill>
                <a:srgbClr val="00B0F0"/>
              </a:solidFill>
            </a:endParaRPr>
          </a:p>
          <a:p>
            <a:pPr marL="0" indent="0">
              <a:buNone/>
            </a:pPr>
            <a:r>
              <a:rPr lang="en-US" dirty="0"/>
              <a:t>	O(n</a:t>
            </a:r>
            <a:r>
              <a:rPr lang="en-US" baseline="30000" dirty="0"/>
              <a:t>2</a:t>
            </a:r>
            <a:r>
              <a:rPr lang="en-US" dirty="0"/>
              <a:t>)	o(n</a:t>
            </a:r>
            <a:r>
              <a:rPr lang="en-US" baseline="30000" dirty="0"/>
              <a:t>2</a:t>
            </a:r>
            <a:r>
              <a:rPr lang="en-US" dirty="0"/>
              <a:t>)	</a:t>
            </a:r>
            <a:r>
              <a:rPr lang="en-US" altLang="en-US" sz="2000" dirty="0">
                <a:solidFill>
                  <a:schemeClr val="hlink"/>
                </a:solidFill>
                <a:sym typeface="Symbol" panose="05050102010706020507" pitchFamily="18" charset="2"/>
              </a:rPr>
              <a:t> </a:t>
            </a:r>
            <a:r>
              <a:rPr lang="en-US" altLang="en-US" sz="2000" dirty="0">
                <a:sym typeface="Symbol" panose="05050102010706020507" pitchFamily="18" charset="2"/>
              </a:rPr>
              <a:t></a:t>
            </a:r>
            <a:r>
              <a:rPr lang="en-US" dirty="0"/>
              <a:t>(n</a:t>
            </a:r>
            <a:r>
              <a:rPr lang="en-US" baseline="30000" dirty="0"/>
              <a:t>2</a:t>
            </a:r>
            <a:r>
              <a:rPr lang="en-US" dirty="0"/>
              <a:t>)</a:t>
            </a:r>
          </a:p>
          <a:p>
            <a:r>
              <a:rPr lang="en-IN" dirty="0"/>
              <a:t>Running time of an </a:t>
            </a:r>
            <a:r>
              <a:rPr lang="en-IN" dirty="0" err="1"/>
              <a:t>AlgA</a:t>
            </a:r>
            <a:r>
              <a:rPr lang="en-IN" dirty="0"/>
              <a:t> is described as </a:t>
            </a:r>
            <a:r>
              <a:rPr lang="en-IN" b="1" dirty="0">
                <a:solidFill>
                  <a:srgbClr val="00B050"/>
                </a:solidFill>
              </a:rPr>
              <a:t>O</a:t>
            </a:r>
            <a:r>
              <a:rPr lang="en-IN" dirty="0"/>
              <a:t>(n</a:t>
            </a:r>
            <a:r>
              <a:rPr lang="en-IN" baseline="30000" dirty="0"/>
              <a:t>99999</a:t>
            </a:r>
            <a:r>
              <a:rPr lang="en-IN" dirty="0"/>
              <a:t>), </a:t>
            </a:r>
            <a:r>
              <a:rPr lang="en-IN" b="1" dirty="0">
                <a:solidFill>
                  <a:srgbClr val="00B050"/>
                </a:solidFill>
              </a:rPr>
              <a:t>O</a:t>
            </a:r>
            <a:r>
              <a:rPr lang="en-IN" dirty="0"/>
              <a:t>(n</a:t>
            </a:r>
            <a:r>
              <a:rPr lang="en-IN" baseline="30000" dirty="0"/>
              <a:t>1000</a:t>
            </a:r>
            <a:r>
              <a:rPr lang="en-IN" dirty="0"/>
              <a:t>), </a:t>
            </a:r>
            <a:r>
              <a:rPr lang="en-IN" b="1" dirty="0">
                <a:solidFill>
                  <a:srgbClr val="00B050"/>
                </a:solidFill>
              </a:rPr>
              <a:t>O</a:t>
            </a:r>
            <a:r>
              <a:rPr lang="en-IN" dirty="0"/>
              <a:t>(n</a:t>
            </a:r>
            <a:r>
              <a:rPr lang="en-IN" baseline="30000" dirty="0"/>
              <a:t>500</a:t>
            </a:r>
            <a:r>
              <a:rPr lang="en-IN" dirty="0"/>
              <a:t>), </a:t>
            </a:r>
            <a:r>
              <a:rPr lang="en-IN" b="1" dirty="0">
                <a:solidFill>
                  <a:srgbClr val="00B050"/>
                </a:solidFill>
              </a:rPr>
              <a:t>O</a:t>
            </a:r>
            <a:r>
              <a:rPr lang="en-IN" dirty="0"/>
              <a:t>(n</a:t>
            </a:r>
            <a:r>
              <a:rPr lang="en-IN" baseline="30000" dirty="0"/>
              <a:t>400</a:t>
            </a:r>
            <a:r>
              <a:rPr lang="en-IN" dirty="0"/>
              <a:t>), O(n</a:t>
            </a:r>
            <a:r>
              <a:rPr lang="en-IN" baseline="30000" dirty="0"/>
              <a:t>350</a:t>
            </a:r>
            <a:r>
              <a:rPr lang="en-IN" dirty="0"/>
              <a:t>). Which is the best description.</a:t>
            </a:r>
          </a:p>
          <a:p>
            <a:r>
              <a:rPr lang="en-IN" dirty="0"/>
              <a:t>Running time of an </a:t>
            </a:r>
            <a:r>
              <a:rPr lang="en-IN" dirty="0" err="1"/>
              <a:t>AlgB</a:t>
            </a:r>
            <a:r>
              <a:rPr lang="en-IN" dirty="0"/>
              <a:t> is described as </a:t>
            </a:r>
            <a:r>
              <a:rPr lang="en-US" altLang="en-US" sz="2000" dirty="0">
                <a:solidFill>
                  <a:srgbClr val="FFC000"/>
                </a:solidFill>
                <a:sym typeface="Symbol" panose="05050102010706020507" pitchFamily="18" charset="2"/>
              </a:rPr>
              <a:t></a:t>
            </a:r>
            <a:r>
              <a:rPr lang="en-IN" dirty="0"/>
              <a:t>(1), </a:t>
            </a:r>
            <a:r>
              <a:rPr lang="en-US" altLang="en-US" sz="2000" dirty="0">
                <a:solidFill>
                  <a:srgbClr val="FFC000"/>
                </a:solidFill>
                <a:sym typeface="Symbol" panose="05050102010706020507" pitchFamily="18" charset="2"/>
              </a:rPr>
              <a:t></a:t>
            </a:r>
            <a:r>
              <a:rPr lang="en-IN" dirty="0"/>
              <a:t>(</a:t>
            </a:r>
            <a:r>
              <a:rPr lang="en-IN" dirty="0" err="1"/>
              <a:t>logn</a:t>
            </a:r>
            <a:r>
              <a:rPr lang="en-IN" dirty="0"/>
              <a:t>), </a:t>
            </a:r>
            <a:r>
              <a:rPr lang="en-US" altLang="en-US" sz="2000" dirty="0">
                <a:solidFill>
                  <a:srgbClr val="FFC000"/>
                </a:solidFill>
                <a:sym typeface="Symbol" panose="05050102010706020507" pitchFamily="18" charset="2"/>
              </a:rPr>
              <a:t></a:t>
            </a:r>
            <a:r>
              <a:rPr lang="en-IN" dirty="0"/>
              <a:t>(</a:t>
            </a:r>
            <a:r>
              <a:rPr lang="en-IN" dirty="0" err="1"/>
              <a:t>nlogn</a:t>
            </a:r>
            <a:r>
              <a:rPr lang="en-IN" dirty="0"/>
              <a:t>), </a:t>
            </a:r>
            <a:r>
              <a:rPr lang="en-US" altLang="en-US" sz="2000" dirty="0">
                <a:solidFill>
                  <a:srgbClr val="FFC000"/>
                </a:solidFill>
                <a:sym typeface="Symbol" panose="05050102010706020507" pitchFamily="18" charset="2"/>
              </a:rPr>
              <a:t></a:t>
            </a:r>
            <a:r>
              <a:rPr lang="en-IN" dirty="0"/>
              <a:t>(n</a:t>
            </a:r>
            <a:r>
              <a:rPr lang="en-IN" baseline="30000" dirty="0"/>
              <a:t>2</a:t>
            </a:r>
            <a:r>
              <a:rPr lang="en-IN" dirty="0"/>
              <a:t>), </a:t>
            </a:r>
            <a:r>
              <a:rPr lang="en-US" altLang="en-US" sz="2000" dirty="0">
                <a:solidFill>
                  <a:srgbClr val="FFC000"/>
                </a:solidFill>
                <a:sym typeface="Symbol" panose="05050102010706020507" pitchFamily="18" charset="2"/>
              </a:rPr>
              <a:t></a:t>
            </a:r>
            <a:r>
              <a:rPr lang="en-IN" dirty="0"/>
              <a:t>(n</a:t>
            </a:r>
            <a:r>
              <a:rPr lang="en-IN" baseline="30000" dirty="0"/>
              <a:t>3</a:t>
            </a:r>
            <a:r>
              <a:rPr lang="en-IN" dirty="0"/>
              <a:t>). Which is the best description.</a:t>
            </a:r>
          </a:p>
          <a:p>
            <a:r>
              <a:rPr lang="en-IN" dirty="0"/>
              <a:t>Which is the best Asymptotic Time complexity description for finding </a:t>
            </a:r>
            <a:r>
              <a:rPr lang="en-IN" dirty="0">
                <a:solidFill>
                  <a:srgbClr val="FF0000"/>
                </a:solidFill>
              </a:rPr>
              <a:t>MAX</a:t>
            </a:r>
            <a:r>
              <a:rPr lang="en-IN" dirty="0"/>
              <a:t> element in Array?</a:t>
            </a:r>
          </a:p>
          <a:p>
            <a:r>
              <a:rPr lang="en-IN" dirty="0"/>
              <a:t>If T(n)=5, what is its order of growth..?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D20C3D4-F9F9-4837-B746-51C13760BC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C643BA-ACA1-44BF-9071-763295A35907}" type="datetime4">
              <a:rPr lang="en-US" smtClean="0"/>
              <a:t>April 3, 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349F795-FBE3-41E2-AA79-E23B8D1020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Computer Science &amp; Engineering, VNRVJIET, Hyderabad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9581AB5-FFB3-4141-A4DC-FB2859D3B4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FA3F07-B4E9-4FEB-BC07-B9713C186F28}" type="slidenum">
              <a:rPr lang="en-US" smtClean="0"/>
              <a:pPr/>
              <a:t>27</a:t>
            </a:fld>
            <a:endParaRPr lang="en-US" dirty="0"/>
          </a:p>
        </p:txBody>
      </p:sp>
      <p:pic>
        <p:nvPicPr>
          <p:cNvPr id="1026" name="Picture 2" descr="Thinking Woman With Question Marks. Vector Cartoon Illustration On White  Background In Flat Style. Stock Vector - Illustration of manager,  beautiful: 146601026">
            <a:extLst>
              <a:ext uri="{FF2B5EF4-FFF2-40B4-BE49-F238E27FC236}">
                <a16:creationId xmlns:a16="http://schemas.microsoft.com/office/drawing/2014/main" id="{A34FD0E6-0F8B-4D17-957C-143E3652F1E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76600" y="174462"/>
            <a:ext cx="1030875" cy="10308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3497570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F5BE4B-FE92-4665-BD25-E94C84F7E1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0" y="350838"/>
            <a:ext cx="3581400" cy="868362"/>
          </a:xfrm>
        </p:spPr>
        <p:txBody>
          <a:bodyPr/>
          <a:lstStyle/>
          <a:p>
            <a:r>
              <a:rPr lang="en-US" dirty="0">
                <a:solidFill>
                  <a:srgbClr val="FF0000"/>
                </a:solidFill>
              </a:rPr>
              <a:t>Questions….?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2CC7D3-B9C6-4F6E-A069-DBCBF14A816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32500" lnSpcReduction="20000"/>
          </a:bodyPr>
          <a:lstStyle/>
          <a:p>
            <a:r>
              <a:rPr lang="en-US" sz="5500" dirty="0" err="1"/>
              <a:t>Alg</a:t>
            </a:r>
            <a:r>
              <a:rPr lang="en-US" sz="5500" dirty="0"/>
              <a:t> A is written in such a way that some portion have time complexity ‘n’, some other portion have </a:t>
            </a:r>
            <a:r>
              <a:rPr lang="en-US" sz="5500" dirty="0" err="1"/>
              <a:t>logn</a:t>
            </a:r>
            <a:r>
              <a:rPr lang="en-US" sz="5500" dirty="0"/>
              <a:t> and some other portion have n</a:t>
            </a:r>
            <a:r>
              <a:rPr lang="en-US" sz="5500" baseline="30000" dirty="0"/>
              <a:t>2</a:t>
            </a:r>
            <a:r>
              <a:rPr lang="en-US" sz="5500" dirty="0"/>
              <a:t>. Then what is the overall time complexity of an algorithm A. (</a:t>
            </a:r>
            <a:r>
              <a:rPr lang="en-US" sz="5500" dirty="0" err="1"/>
              <a:t>n+logn</a:t>
            </a:r>
            <a:r>
              <a:rPr lang="en-US" sz="5500" dirty="0"/>
              <a:t>+ n</a:t>
            </a:r>
            <a:r>
              <a:rPr lang="en-US" sz="5500" baseline="30000" dirty="0"/>
              <a:t>2</a:t>
            </a:r>
            <a:r>
              <a:rPr lang="en-US" sz="5500" dirty="0"/>
              <a:t>)</a:t>
            </a:r>
          </a:p>
          <a:p>
            <a:pPr marL="0" indent="0">
              <a:buNone/>
            </a:pPr>
            <a:endParaRPr lang="en-US" sz="5500" dirty="0"/>
          </a:p>
          <a:p>
            <a:r>
              <a:rPr lang="en-US" sz="5500" dirty="0"/>
              <a:t>An Algorithm has 2 phases. First phase takes O(n</a:t>
            </a:r>
            <a:r>
              <a:rPr lang="en-US" sz="5500" baseline="30000" dirty="0"/>
              <a:t>2</a:t>
            </a:r>
            <a:r>
              <a:rPr lang="en-US" sz="5500" dirty="0"/>
              <a:t>logn) and second phase takes O(n</a:t>
            </a:r>
            <a:r>
              <a:rPr lang="en-US" sz="5500" baseline="30000" dirty="0"/>
              <a:t>3</a:t>
            </a:r>
            <a:r>
              <a:rPr lang="en-US" sz="5500" dirty="0"/>
              <a:t>). What is the most accurate description of time complexity of overall algorithm ?</a:t>
            </a:r>
          </a:p>
          <a:p>
            <a:pPr marL="0" indent="0">
              <a:buNone/>
            </a:pPr>
            <a:endParaRPr lang="en-US" sz="5500" dirty="0"/>
          </a:p>
          <a:p>
            <a:r>
              <a:rPr lang="en-US" sz="5500" dirty="0"/>
              <a:t>What is the overall complexity of f(n)= 8n</a:t>
            </a:r>
            <a:r>
              <a:rPr lang="en-US" sz="5500" baseline="30000" dirty="0"/>
              <a:t>3</a:t>
            </a:r>
            <a:r>
              <a:rPr lang="en-US" sz="5500" dirty="0"/>
              <a:t>+7n</a:t>
            </a:r>
            <a:r>
              <a:rPr lang="en-US" sz="5500" baseline="30000" dirty="0"/>
              <a:t>2</a:t>
            </a:r>
            <a:r>
              <a:rPr lang="en-US" sz="5500" dirty="0"/>
              <a:t>+9n+9logn  ?</a:t>
            </a:r>
          </a:p>
          <a:p>
            <a:pPr marL="0" indent="0">
              <a:buNone/>
            </a:pPr>
            <a:endParaRPr lang="en-US" sz="5500" dirty="0"/>
          </a:p>
          <a:p>
            <a:r>
              <a:rPr lang="en-US" sz="5500" dirty="0"/>
              <a:t>Let f(n)=(3n</a:t>
            </a:r>
            <a:r>
              <a:rPr lang="en-US" sz="5500" baseline="30000" dirty="0"/>
              <a:t>3</a:t>
            </a:r>
            <a:r>
              <a:rPr lang="en-US" sz="5500" dirty="0"/>
              <a:t>+2n</a:t>
            </a:r>
            <a:r>
              <a:rPr lang="en-US" sz="5500" baseline="30000" dirty="0"/>
              <a:t>2</a:t>
            </a:r>
            <a:r>
              <a:rPr lang="en-US" sz="5500" dirty="0"/>
              <a:t>+2)</a:t>
            </a:r>
            <a:r>
              <a:rPr lang="en-US" sz="5500" dirty="0" err="1"/>
              <a:t>logn</a:t>
            </a:r>
            <a:r>
              <a:rPr lang="en-US" sz="5500" dirty="0"/>
              <a:t>. What is the overall time complexity ?</a:t>
            </a:r>
          </a:p>
          <a:p>
            <a:r>
              <a:rPr lang="en-US" sz="5500" dirty="0"/>
              <a:t>F(n)=(</a:t>
            </a:r>
            <a:r>
              <a:rPr lang="en-US" sz="5500" dirty="0" err="1"/>
              <a:t>logn</a:t>
            </a:r>
            <a:r>
              <a:rPr lang="en-US" sz="5500" dirty="0"/>
              <a:t>)</a:t>
            </a:r>
            <a:r>
              <a:rPr lang="en-US" sz="5500" baseline="30000" dirty="0"/>
              <a:t> 999999</a:t>
            </a:r>
            <a:r>
              <a:rPr lang="en-US" sz="5500" dirty="0"/>
              <a:t> and g(n)=(n)</a:t>
            </a:r>
            <a:r>
              <a:rPr lang="en-US" sz="5500" baseline="30000" dirty="0"/>
              <a:t> 0.000001 </a:t>
            </a:r>
            <a:r>
              <a:rPr lang="en-US" sz="5500" dirty="0"/>
              <a:t> can we write f(n)=O(g(n)…?</a:t>
            </a:r>
          </a:p>
          <a:p>
            <a:r>
              <a:rPr lang="en-US" sz="5500" dirty="0"/>
              <a:t>True or False</a:t>
            </a:r>
          </a:p>
          <a:p>
            <a:pPr marL="0" indent="0">
              <a:buNone/>
            </a:pPr>
            <a:r>
              <a:rPr lang="en-US" sz="5500" dirty="0"/>
              <a:t> 	2</a:t>
            </a:r>
            <a:r>
              <a:rPr lang="en-US" sz="5500" baseline="30000" dirty="0"/>
              <a:t>n</a:t>
            </a:r>
            <a:r>
              <a:rPr lang="en-US" sz="5500" dirty="0"/>
              <a:t>  = O(2</a:t>
            </a:r>
            <a:r>
              <a:rPr lang="en-US" sz="5500" baseline="30000" dirty="0"/>
              <a:t>2n  </a:t>
            </a:r>
            <a:r>
              <a:rPr lang="en-US" sz="5500" dirty="0"/>
              <a:t>)</a:t>
            </a:r>
          </a:p>
          <a:p>
            <a:pPr marL="0" indent="0">
              <a:buNone/>
            </a:pPr>
            <a:r>
              <a:rPr lang="en-US" sz="5500" dirty="0"/>
              <a:t>	2</a:t>
            </a:r>
            <a:r>
              <a:rPr lang="en-US" sz="5500" baseline="30000" dirty="0"/>
              <a:t>n+5</a:t>
            </a:r>
            <a:r>
              <a:rPr lang="en-US" sz="5500" dirty="0"/>
              <a:t>  = O(2</a:t>
            </a:r>
            <a:r>
              <a:rPr lang="en-US" sz="5500" baseline="30000" dirty="0"/>
              <a:t>n  </a:t>
            </a:r>
            <a:r>
              <a:rPr lang="en-US" sz="5500" dirty="0"/>
              <a:t>)</a:t>
            </a:r>
          </a:p>
          <a:p>
            <a:pPr marL="0" indent="0">
              <a:buNone/>
            </a:pPr>
            <a:r>
              <a:rPr lang="en-US" sz="5500" dirty="0"/>
              <a:t>	</a:t>
            </a:r>
            <a:r>
              <a:rPr lang="en-US" sz="5500" dirty="0" err="1"/>
              <a:t>logn</a:t>
            </a:r>
            <a:r>
              <a:rPr lang="en-US" sz="5500" dirty="0"/>
              <a:t>!= O(n log n)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            </a:t>
            </a:r>
            <a:endParaRPr lang="en-US" baseline="30000" dirty="0"/>
          </a:p>
          <a:p>
            <a:pPr marL="0" indent="0">
              <a:buNone/>
            </a:pPr>
            <a:endParaRPr lang="en-US" baseline="30000" dirty="0"/>
          </a:p>
          <a:p>
            <a:endParaRPr lang="en-US" baseline="30000" dirty="0"/>
          </a:p>
          <a:p>
            <a:endParaRPr lang="en-US" baseline="30000" dirty="0"/>
          </a:p>
          <a:p>
            <a:endParaRPr lang="en-US" baseline="30000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baseline="30000" dirty="0"/>
              <a:t> </a:t>
            </a:r>
            <a:endParaRPr lang="en-IN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7CBC612-774E-48CD-AEEC-0299A1B114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C643BA-ACA1-44BF-9071-763295A35907}" type="datetime4">
              <a:rPr lang="en-US" smtClean="0"/>
              <a:t>April 3, 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103AED8-114B-493B-878B-BF595F39FF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Computer Science &amp; Engineering, VNRVJIET, Hyderabad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20A71BF-1A85-48E8-9516-C2A51A7FEC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FA3F07-B4E9-4FEB-BC07-B9713C186F28}" type="slidenum">
              <a:rPr lang="en-US" smtClean="0"/>
              <a:pPr/>
              <a:t>28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1856065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7D4996-333C-CDB6-FFD8-A3885E0ADC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351BFB4-7F77-69B4-DE2C-3DE007AEBD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C643BA-ACA1-44BF-9071-763295A35907}" type="datetime4">
              <a:rPr lang="en-US" smtClean="0"/>
              <a:t>April 3, 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75630E0-8488-43C6-3589-D411C22C15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Computer Science &amp; Engineering, VNRVJIET, Hyderabad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0FFD325-DFF1-9745-3A96-07EA3489F5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FA3F07-B4E9-4FEB-BC07-B9713C186F28}" type="slidenum">
              <a:rPr lang="en-US" smtClean="0"/>
              <a:pPr/>
              <a:t>29</a:t>
            </a:fld>
            <a:endParaRPr lang="en-US" dirty="0"/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0BE28C51-5F3F-9ACE-E1B4-6B60164AAB0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152400"/>
            <a:ext cx="8001000" cy="609600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6507169C-50AB-BC4B-7184-798DBCD16455}"/>
              </a:ext>
            </a:extLst>
          </p:cNvPr>
          <p:cNvSpPr txBox="1"/>
          <p:nvPr/>
        </p:nvSpPr>
        <p:spPr>
          <a:xfrm>
            <a:off x="1399524" y="5688568"/>
            <a:ext cx="53543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6. Represent Basic operation count using </a:t>
            </a:r>
            <a:r>
              <a:rPr lang="en-US" dirty="0">
                <a:solidFill>
                  <a:srgbClr val="0070C0"/>
                </a:solidFill>
              </a:rPr>
              <a:t>O/</a:t>
            </a:r>
            <a:r>
              <a:rPr lang="en-US" altLang="en-US" sz="1800" dirty="0">
                <a:solidFill>
                  <a:srgbClr val="0070C0"/>
                </a:solidFill>
                <a:sym typeface="Symbol" panose="05050102010706020507" pitchFamily="18" charset="2"/>
              </a:rPr>
              <a:t> / /o/</a:t>
            </a:r>
            <a:r>
              <a:rPr lang="en-US" altLang="en-US" i="1" dirty="0">
                <a:solidFill>
                  <a:srgbClr val="0070C0"/>
                </a:solidFill>
                <a:latin typeface="Symbol" panose="05050102010706020507" pitchFamily="18" charset="2"/>
                <a:sym typeface="Symbol" panose="05050102010706020507" pitchFamily="18" charset="2"/>
              </a:rPr>
              <a:t> w</a:t>
            </a:r>
            <a:endParaRPr lang="en-IN" dirty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1185459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743200" y="2362200"/>
            <a:ext cx="4379913" cy="1500187"/>
          </a:xfrm>
        </p:spPr>
        <p:txBody>
          <a:bodyPr>
            <a:normAutofit fontScale="92500"/>
          </a:bodyPr>
          <a:lstStyle/>
          <a:p>
            <a:r>
              <a:rPr lang="en-US" sz="6000" dirty="0">
                <a:latin typeface="Adobe Arabic" pitchFamily="18" charset="-78"/>
                <a:cs typeface="Adobe Arabic" pitchFamily="18" charset="-78"/>
              </a:rPr>
              <a:t>THANK YOU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05BE5B-515E-412D-86C2-B1F3269CA20F}" type="datetime4">
              <a:rPr lang="en-US" smtClean="0"/>
              <a:t>April 3, 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Computer Science &amp; Engineering, VNRVJIET, Hyderabad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FA3F07-B4E9-4FEB-BC07-B9713C186F28}" type="slidenum">
              <a:rPr lang="en-US" smtClean="0"/>
              <a:t>30</a:t>
            </a:fld>
            <a:endParaRPr lang="en-US"/>
          </a:p>
        </p:txBody>
      </p:sp>
      <p:cxnSp>
        <p:nvCxnSpPr>
          <p:cNvPr id="8" name="Straight Connector 7"/>
          <p:cNvCxnSpPr/>
          <p:nvPr/>
        </p:nvCxnSpPr>
        <p:spPr>
          <a:xfrm>
            <a:off x="2743200" y="3810000"/>
            <a:ext cx="3581400" cy="0"/>
          </a:xfrm>
          <a:prstGeom prst="line">
            <a:avLst/>
          </a:prstGeom>
          <a:ln w="25400">
            <a:solidFill>
              <a:schemeClr val="tx1"/>
            </a:solidFill>
          </a:ln>
          <a:effectLst>
            <a:glow rad="63500">
              <a:schemeClr val="accent1">
                <a:satMod val="175000"/>
                <a:alpha val="40000"/>
              </a:schemeClr>
            </a:glow>
          </a:effectLst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747114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Flow">
      <a:dk1>
        <a:sysClr val="windowText" lastClr="000000"/>
      </a:dk1>
      <a:lt1>
        <a:sysClr val="window" lastClr="FFFFFF"/>
      </a:lt1>
      <a:dk2>
        <a:srgbClr val="04617B"/>
      </a:dk2>
      <a:lt2>
        <a:srgbClr val="DBF5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F49100"/>
      </a:hlink>
      <a:folHlink>
        <a:srgbClr val="85DFD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1_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1D9A78"/>
      </a:accent1>
      <a:accent2>
        <a:srgbClr val="8BC145"/>
      </a:accent2>
      <a:accent3>
        <a:srgbClr val="36AFCE"/>
      </a:accent3>
      <a:accent4>
        <a:srgbClr val="1D6FA9"/>
      </a:accent4>
      <a:accent5>
        <a:srgbClr val="B74919"/>
      </a:accent5>
      <a:accent6>
        <a:srgbClr val="F19D19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AE6F2518-B084-4896-AF52-66CC2144AA26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2359</TotalTime>
  <Words>2681</Words>
  <Application>Microsoft Office PowerPoint</Application>
  <PresentationFormat>On-screen Show (4:3)</PresentationFormat>
  <Paragraphs>263</Paragraphs>
  <Slides>30</Slides>
  <Notes>8</Notes>
  <HiddenSlides>0</HiddenSlides>
  <MMClips>0</MMClips>
  <ScaleCrop>false</ScaleCrop>
  <HeadingPairs>
    <vt:vector size="8" baseType="variant">
      <vt:variant>
        <vt:lpstr>Fonts Used</vt:lpstr>
      </vt:variant>
      <vt:variant>
        <vt:i4>9</vt:i4>
      </vt:variant>
      <vt:variant>
        <vt:lpstr>Theme</vt:lpstr>
      </vt:variant>
      <vt:variant>
        <vt:i4>2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42" baseType="lpstr">
      <vt:lpstr>MS Mincho</vt:lpstr>
      <vt:lpstr>Adobe Arabic</vt:lpstr>
      <vt:lpstr>Arial</vt:lpstr>
      <vt:lpstr>Calibri</vt:lpstr>
      <vt:lpstr>Calibri Light</vt:lpstr>
      <vt:lpstr>Courier New</vt:lpstr>
      <vt:lpstr>Symbol</vt:lpstr>
      <vt:lpstr>Times New Roman</vt:lpstr>
      <vt:lpstr>Wingdings</vt:lpstr>
      <vt:lpstr>Office Theme</vt:lpstr>
      <vt:lpstr>1_Office Theme</vt:lpstr>
      <vt:lpstr>Equation</vt:lpstr>
      <vt:lpstr>        Analysis of Algorithms  Order of Growth ,Asymptotic Notations &amp; Examples  </vt:lpstr>
      <vt:lpstr>Asymptotic analysis </vt:lpstr>
      <vt:lpstr>Contd…..</vt:lpstr>
      <vt:lpstr>PowerPoint Presentation</vt:lpstr>
      <vt:lpstr>Rate of Growth/ Order of Growth</vt:lpstr>
      <vt:lpstr>Order of Growth…cont</vt:lpstr>
      <vt:lpstr>PowerPoint Presentation</vt:lpstr>
      <vt:lpstr>PowerPoint Presentation</vt:lpstr>
      <vt:lpstr>              Asymptotic Notation</vt:lpstr>
      <vt:lpstr>Informal definitions of Asymptotic Notations.</vt:lpstr>
      <vt:lpstr>Informal definitions of Asymptotic Notations.</vt:lpstr>
      <vt:lpstr>Example</vt:lpstr>
      <vt:lpstr>O-notation(Big-oh )</vt:lpstr>
      <vt:lpstr>O Notaion…cont</vt:lpstr>
      <vt:lpstr> -notation(Big Omega)</vt:lpstr>
      <vt:lpstr>  Notaion…cont</vt:lpstr>
      <vt:lpstr>-notation</vt:lpstr>
      <vt:lpstr>  Notaion…cont</vt:lpstr>
      <vt:lpstr>Asymptotic Notation: Summary</vt:lpstr>
      <vt:lpstr>o-notation(little-oh)</vt:lpstr>
      <vt:lpstr>Contd……</vt:lpstr>
      <vt:lpstr>w –notation(little omega)</vt:lpstr>
      <vt:lpstr>Contd……</vt:lpstr>
      <vt:lpstr>Properties</vt:lpstr>
      <vt:lpstr>Contd……</vt:lpstr>
      <vt:lpstr>Contd….</vt:lpstr>
      <vt:lpstr>Questions….?</vt:lpstr>
      <vt:lpstr>Questions….?</vt:lpstr>
      <vt:lpstr>PowerPoint Presentation</vt:lpstr>
      <vt:lpstr>PowerPoint Presentation</vt:lpstr>
    </vt:vector>
  </TitlesOfParts>
  <Company>Hewlett-Packard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rishabh ohri</dc:creator>
  <cp:lastModifiedBy>Mrs. A Madhavi</cp:lastModifiedBy>
  <cp:revision>150</cp:revision>
  <dcterms:created xsi:type="dcterms:W3CDTF">2020-06-24T18:00:23Z</dcterms:created>
  <dcterms:modified xsi:type="dcterms:W3CDTF">2024-04-03T05:50:05Z</dcterms:modified>
</cp:coreProperties>
</file>