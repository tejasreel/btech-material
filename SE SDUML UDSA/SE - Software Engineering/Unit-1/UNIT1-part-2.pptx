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48"/>
  </p:notesMasterIdLst>
  <p:sldIdLst>
    <p:sldId id="257" r:id="rId2"/>
    <p:sldId id="310" r:id="rId3"/>
    <p:sldId id="321" r:id="rId4"/>
    <p:sldId id="328" r:id="rId5"/>
    <p:sldId id="329" r:id="rId6"/>
    <p:sldId id="311" r:id="rId7"/>
    <p:sldId id="312" r:id="rId8"/>
    <p:sldId id="313" r:id="rId9"/>
    <p:sldId id="314" r:id="rId10"/>
    <p:sldId id="315" r:id="rId11"/>
    <p:sldId id="316" r:id="rId12"/>
    <p:sldId id="317" r:id="rId13"/>
    <p:sldId id="307" r:id="rId14"/>
    <p:sldId id="318" r:id="rId15"/>
    <p:sldId id="319" r:id="rId16"/>
    <p:sldId id="320" r:id="rId17"/>
    <p:sldId id="268" r:id="rId18"/>
    <p:sldId id="260" r:id="rId19"/>
    <p:sldId id="261" r:id="rId20"/>
    <p:sldId id="273" r:id="rId21"/>
    <p:sldId id="259" r:id="rId22"/>
    <p:sldId id="258" r:id="rId23"/>
    <p:sldId id="267" r:id="rId24"/>
    <p:sldId id="269" r:id="rId25"/>
    <p:sldId id="291" r:id="rId26"/>
    <p:sldId id="290" r:id="rId27"/>
    <p:sldId id="275" r:id="rId28"/>
    <p:sldId id="276" r:id="rId29"/>
    <p:sldId id="277" r:id="rId30"/>
    <p:sldId id="278" r:id="rId31"/>
    <p:sldId id="279" r:id="rId32"/>
    <p:sldId id="293" r:id="rId33"/>
    <p:sldId id="280" r:id="rId34"/>
    <p:sldId id="294" r:id="rId35"/>
    <p:sldId id="296" r:id="rId36"/>
    <p:sldId id="295" r:id="rId37"/>
    <p:sldId id="299" r:id="rId38"/>
    <p:sldId id="297" r:id="rId39"/>
    <p:sldId id="281" r:id="rId40"/>
    <p:sldId id="298" r:id="rId41"/>
    <p:sldId id="282" r:id="rId42"/>
    <p:sldId id="283" r:id="rId43"/>
    <p:sldId id="284" r:id="rId44"/>
    <p:sldId id="286" r:id="rId45"/>
    <p:sldId id="287" r:id="rId46"/>
    <p:sldId id="28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0" d="100"/>
          <a:sy n="60" d="100"/>
        </p:scale>
        <p:origin x="840"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D5367-75F4-406C-B9EE-F7A2B7C7E4F2}" type="datetimeFigureOut">
              <a:rPr lang="en-IN" smtClean="0"/>
              <a:pPr/>
              <a:t>27-10-2023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85BF9-F988-4BE7-9F30-728B50A09329}" type="slidenum">
              <a:rPr lang="en-IN" smtClean="0"/>
              <a:pPr/>
              <a:t>‹#›</a:t>
            </a:fld>
            <a:endParaRPr lang="en-IN"/>
          </a:p>
        </p:txBody>
      </p:sp>
    </p:spTree>
    <p:extLst>
      <p:ext uri="{BB962C8B-B14F-4D97-AF65-F5344CB8AC3E}">
        <p14:creationId xmlns:p14="http://schemas.microsoft.com/office/powerpoint/2010/main" val="3549339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50A3CF4A-FFB2-493E-9B98-F77F29F00567}" type="slidenum">
              <a:rPr lang="en-US">
                <a:latin typeface="Arial" panose="020B0604020202020204" pitchFamily="34" charset="0"/>
              </a:rPr>
              <a:pPr/>
              <a:t>18</a:t>
            </a:fld>
            <a:endParaRPr lang="en-US">
              <a:latin typeface="Arial" panose="020B0604020202020204" pitchFamily="34"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174367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fld id="{02A95D84-0B79-482D-9584-08F5513B294E}" type="slidenum">
              <a:rPr lang="en-US">
                <a:latin typeface="Arial" panose="020B0604020202020204" pitchFamily="34" charset="0"/>
              </a:rPr>
              <a:pPr/>
              <a:t>19</a:t>
            </a:fld>
            <a:endParaRPr lang="en-US">
              <a:latin typeface="Arial" panose="020B0604020202020204" pitchFamily="34" charset="0"/>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698589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Times New Roman" pitchFamily="18" charset="0"/>
              </a:rPr>
              <a:t>(Paragraph 5.19.1)</a:t>
            </a:r>
            <a:endParaRPr lang="tr-TR" altLang="tr-TR">
              <a:latin typeface="Times New Roman" pitchFamily="18"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u="sng">
                <a:solidFill>
                  <a:schemeClr val="tx1"/>
                </a:solidFill>
                <a:latin typeface="Times New Roman" pitchFamily="18" charset="0"/>
              </a:defRPr>
            </a:lvl1pPr>
            <a:lvl2pPr marL="742950" indent="-285750">
              <a:defRPr sz="1600" u="sng">
                <a:solidFill>
                  <a:schemeClr val="tx1"/>
                </a:solidFill>
                <a:latin typeface="Times New Roman" pitchFamily="18" charset="0"/>
              </a:defRPr>
            </a:lvl2pPr>
            <a:lvl3pPr marL="1143000" indent="-228600">
              <a:defRPr sz="1600" u="sng">
                <a:solidFill>
                  <a:schemeClr val="tx1"/>
                </a:solidFill>
                <a:latin typeface="Times New Roman" pitchFamily="18" charset="0"/>
              </a:defRPr>
            </a:lvl3pPr>
            <a:lvl4pPr marL="1600200" indent="-228600">
              <a:defRPr sz="1600" u="sng">
                <a:solidFill>
                  <a:schemeClr val="tx1"/>
                </a:solidFill>
                <a:latin typeface="Times New Roman" pitchFamily="18" charset="0"/>
              </a:defRPr>
            </a:lvl4pPr>
            <a:lvl5pPr marL="2057400" indent="-228600">
              <a:defRPr sz="1600" u="sng">
                <a:solidFill>
                  <a:schemeClr val="tx1"/>
                </a:solidFill>
                <a:latin typeface="Times New Roman" pitchFamily="18" charset="0"/>
              </a:defRPr>
            </a:lvl5pPr>
            <a:lvl6pPr marL="2514600" indent="-228600" eaLnBrk="0" fontAlgn="base" hangingPunct="0">
              <a:spcBef>
                <a:spcPct val="0"/>
              </a:spcBef>
              <a:spcAft>
                <a:spcPct val="0"/>
              </a:spcAft>
              <a:defRPr sz="1600" u="sng">
                <a:solidFill>
                  <a:schemeClr val="tx1"/>
                </a:solidFill>
                <a:latin typeface="Times New Roman" pitchFamily="18" charset="0"/>
              </a:defRPr>
            </a:lvl6pPr>
            <a:lvl7pPr marL="2971800" indent="-228600" eaLnBrk="0" fontAlgn="base" hangingPunct="0">
              <a:spcBef>
                <a:spcPct val="0"/>
              </a:spcBef>
              <a:spcAft>
                <a:spcPct val="0"/>
              </a:spcAft>
              <a:defRPr sz="1600" u="sng">
                <a:solidFill>
                  <a:schemeClr val="tx1"/>
                </a:solidFill>
                <a:latin typeface="Times New Roman" pitchFamily="18" charset="0"/>
              </a:defRPr>
            </a:lvl7pPr>
            <a:lvl8pPr marL="3429000" indent="-228600" eaLnBrk="0" fontAlgn="base" hangingPunct="0">
              <a:spcBef>
                <a:spcPct val="0"/>
              </a:spcBef>
              <a:spcAft>
                <a:spcPct val="0"/>
              </a:spcAft>
              <a:defRPr sz="1600" u="sng">
                <a:solidFill>
                  <a:schemeClr val="tx1"/>
                </a:solidFill>
                <a:latin typeface="Times New Roman" pitchFamily="18" charset="0"/>
              </a:defRPr>
            </a:lvl8pPr>
            <a:lvl9pPr marL="3886200" indent="-228600" eaLnBrk="0" fontAlgn="base" hangingPunct="0">
              <a:spcBef>
                <a:spcPct val="0"/>
              </a:spcBef>
              <a:spcAft>
                <a:spcPct val="0"/>
              </a:spcAft>
              <a:defRPr sz="1600" u="sng">
                <a:solidFill>
                  <a:schemeClr val="tx1"/>
                </a:solidFill>
                <a:latin typeface="Times New Roman" pitchFamily="18" charset="0"/>
              </a:defRPr>
            </a:lvl9pPr>
          </a:lstStyle>
          <a:p>
            <a:fld id="{6449947D-50E3-4B6D-A771-642AAE9007B5}" type="slidenum">
              <a:rPr lang="en-US" altLang="tr-TR" sz="1200" u="none"/>
              <a:pPr/>
              <a:t>46</a:t>
            </a:fld>
            <a:endParaRPr lang="en-US" altLang="tr-TR" sz="1200" u="none"/>
          </a:p>
        </p:txBody>
      </p:sp>
    </p:spTree>
    <p:extLst>
      <p:ext uri="{BB962C8B-B14F-4D97-AF65-F5344CB8AC3E}">
        <p14:creationId xmlns:p14="http://schemas.microsoft.com/office/powerpoint/2010/main" val="2092635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368362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286311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528079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4052564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3135405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2131077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2787759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4283547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3699777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2043188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1533113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55300290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313968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8985393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319679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886F56-95F9-47D4-81F9-DB6E595B2ACC}" type="slidenum">
              <a:rPr lang="en-IN" smtClean="0"/>
              <a:pPr/>
              <a:t>‹#›</a:t>
            </a:fld>
            <a:endParaRPr lang="en-IN"/>
          </a:p>
        </p:txBody>
      </p:sp>
    </p:spTree>
    <p:extLst>
      <p:ext uri="{BB962C8B-B14F-4D97-AF65-F5344CB8AC3E}">
        <p14:creationId xmlns:p14="http://schemas.microsoft.com/office/powerpoint/2010/main" val="3072587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Table Placeholder 2"/>
          <p:cNvSpPr>
            <a:spLocks noGrp="1"/>
          </p:cNvSpPr>
          <p:nvPr>
            <p:ph type="tbl" idx="1"/>
          </p:nvPr>
        </p:nvSpPr>
        <p:spPr>
          <a:xfrm>
            <a:off x="755651" y="1752600"/>
            <a:ext cx="10668000" cy="4267200"/>
          </a:xfrm>
        </p:spPr>
        <p:txBody>
          <a:bodyPr/>
          <a:lstStyle/>
          <a:p>
            <a:pPr lvl="0"/>
            <a:endParaRPr lang="en-US"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p>
        </p:txBody>
      </p:sp>
      <p:sp>
        <p:nvSpPr>
          <p:cNvPr id="5" name="Rectangle 7"/>
          <p:cNvSpPr>
            <a:spLocks noGrp="1" noChangeArrowheads="1"/>
          </p:cNvSpPr>
          <p:nvPr>
            <p:ph type="ftr" sz="quarter" idx="11"/>
          </p:nvPr>
        </p:nvSpPr>
        <p:spPr>
          <a:ln/>
        </p:spPr>
        <p:txBody>
          <a:bodyPr/>
          <a:lstStyle>
            <a:lvl1pPr>
              <a:defRPr/>
            </a:lvl1pPr>
          </a:lstStyle>
          <a:p>
            <a:pPr>
              <a:defRPr/>
            </a:pPr>
            <a:endParaRPr lang="en-US"/>
          </a:p>
        </p:txBody>
      </p:sp>
      <p:sp>
        <p:nvSpPr>
          <p:cNvPr id="6" name="Rectangle 8"/>
          <p:cNvSpPr>
            <a:spLocks noGrp="1" noChangeArrowheads="1"/>
          </p:cNvSpPr>
          <p:nvPr>
            <p:ph type="sldNum" sz="quarter" idx="12"/>
          </p:nvPr>
        </p:nvSpPr>
        <p:spPr>
          <a:ln/>
        </p:spPr>
        <p:txBody>
          <a:bodyPr/>
          <a:lstStyle>
            <a:lvl1pPr>
              <a:defRPr/>
            </a:lvl1pPr>
          </a:lstStyle>
          <a:p>
            <a:fld id="{5E4CA057-FB51-4BAD-8922-1D8492A8D37F}" type="slidenum">
              <a:rPr lang="en-US"/>
              <a:pPr/>
              <a:t>‹#›</a:t>
            </a:fld>
            <a:r>
              <a:rPr lang="en-US"/>
              <a:t>/112</a:t>
            </a:r>
          </a:p>
        </p:txBody>
      </p:sp>
    </p:spTree>
    <p:extLst>
      <p:ext uri="{BB962C8B-B14F-4D97-AF65-F5344CB8AC3E}">
        <p14:creationId xmlns:p14="http://schemas.microsoft.com/office/powerpoint/2010/main" val="3227429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8886F56-95F9-47D4-81F9-DB6E595B2ACC}" type="slidenum">
              <a:rPr lang="en-IN" smtClean="0"/>
              <a:pPr/>
              <a:t>‹#›</a:t>
            </a:fld>
            <a:endParaRPr lang="en-IN"/>
          </a:p>
        </p:txBody>
      </p:sp>
    </p:spTree>
    <p:extLst>
      <p:ext uri="{BB962C8B-B14F-4D97-AF65-F5344CB8AC3E}">
        <p14:creationId xmlns:p14="http://schemas.microsoft.com/office/powerpoint/2010/main" val="34998783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istqbexamcertification.com/what-is-incremental-model-advantages-disadvantages-and-when-to-use-it/" TargetMode="External"/><Relationship Id="rId2" Type="http://schemas.openxmlformats.org/officeDocument/2006/relationships/hyperlink" Target="http://www.wikipedia.org/wiki/Barry_Boeh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1-PART 2 SYLLABUS</a:t>
            </a:r>
            <a:endParaRPr lang="en-IN" dirty="0"/>
          </a:p>
        </p:txBody>
      </p:sp>
      <p:sp>
        <p:nvSpPr>
          <p:cNvPr id="3" name="Content Placeholder 2"/>
          <p:cNvSpPr>
            <a:spLocks noGrp="1"/>
          </p:cNvSpPr>
          <p:nvPr>
            <p:ph idx="1"/>
          </p:nvPr>
        </p:nvSpPr>
        <p:spPr/>
        <p:txBody>
          <a:bodyPr>
            <a:normAutofit/>
          </a:bodyPr>
          <a:lstStyle/>
          <a:p>
            <a:pPr algn="ctr"/>
            <a:r>
              <a:rPr lang="en-GB" sz="2800" b="1" dirty="0">
                <a:solidFill>
                  <a:srgbClr val="FF0000"/>
                </a:solidFill>
              </a:rPr>
              <a:t>BASIC CONCEPTS OF LIFE CYCLE MODELS</a:t>
            </a:r>
            <a:endParaRPr lang="en-IN" sz="2800" b="1" dirty="0">
              <a:solidFill>
                <a:srgbClr val="FF0000"/>
              </a:solidFill>
            </a:endParaRPr>
          </a:p>
        </p:txBody>
      </p:sp>
    </p:spTree>
    <p:extLst>
      <p:ext uri="{BB962C8B-B14F-4D97-AF65-F5344CB8AC3E}">
        <p14:creationId xmlns:p14="http://schemas.microsoft.com/office/powerpoint/2010/main" val="355870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1014"/>
          </a:xfrm>
        </p:spPr>
        <p:txBody>
          <a:bodyPr>
            <a:normAutofit fontScale="90000"/>
          </a:bodyPr>
          <a:lstStyle/>
          <a:p>
            <a:pPr algn="ctr"/>
            <a:r>
              <a:rPr lang="en-US" sz="3600" b="1" dirty="0">
                <a:latin typeface="Arial" panose="020B0604020202020204" pitchFamily="34" charset="0"/>
                <a:cs typeface="Arial" panose="020B0604020202020204" pitchFamily="34" charset="0"/>
              </a:rPr>
              <a:t>Spiral model</a:t>
            </a:r>
            <a:endParaRPr lang="en-US" dirty="0"/>
          </a:p>
        </p:txBody>
      </p:sp>
      <p:sp>
        <p:nvSpPr>
          <p:cNvPr id="3" name="Content Placeholder 2"/>
          <p:cNvSpPr>
            <a:spLocks noGrp="1"/>
          </p:cNvSpPr>
          <p:nvPr>
            <p:ph idx="1"/>
          </p:nvPr>
        </p:nvSpPr>
        <p:spPr>
          <a:xfrm>
            <a:off x="677334" y="1210615"/>
            <a:ext cx="8596668" cy="4830748"/>
          </a:xfrm>
        </p:spPr>
        <p:txBody>
          <a:bodyPr>
            <a:normAutofit fontScale="92500"/>
          </a:bodyPr>
          <a:lstStyle/>
          <a:p>
            <a:pPr marR="5080" algn="just">
              <a:lnSpc>
                <a:spcPct val="150000"/>
              </a:lnSpc>
              <a:spcBef>
                <a:spcPts val="100"/>
              </a:spcBef>
              <a:buFont typeface="Wingdings" panose="05000000000000000000" pitchFamily="2" charset="2"/>
              <a:buChar char="§"/>
            </a:pPr>
            <a:r>
              <a:rPr lang="en-US" sz="2400" spc="-5" dirty="0">
                <a:solidFill>
                  <a:srgbClr val="002060"/>
                </a:solidFill>
                <a:latin typeface="Arial" panose="020B0604020202020204" pitchFamily="34" charset="0"/>
                <a:cs typeface="Arial" panose="020B0604020202020204" pitchFamily="34" charset="0"/>
              </a:rPr>
              <a:t>Defined </a:t>
            </a:r>
            <a:r>
              <a:rPr lang="en-US" sz="2400" dirty="0">
                <a:solidFill>
                  <a:srgbClr val="002060"/>
                </a:solidFill>
                <a:latin typeface="Arial" panose="020B0604020202020204" pitchFamily="34" charset="0"/>
                <a:cs typeface="Arial" panose="020B0604020202020204" pitchFamily="34" charset="0"/>
              </a:rPr>
              <a:t>by </a:t>
            </a:r>
            <a:r>
              <a:rPr lang="en-US" sz="2400" spc="-5" dirty="0">
                <a:solidFill>
                  <a:srgbClr val="002060"/>
                </a:solidFill>
                <a:latin typeface="Arial" panose="020B0604020202020204" pitchFamily="34" charset="0"/>
                <a:cs typeface="Arial" panose="020B0604020202020204" pitchFamily="34" charset="0"/>
                <a:hlinkClick r:id="rId2"/>
              </a:rPr>
              <a:t>Barry </a:t>
            </a:r>
            <a:r>
              <a:rPr lang="en-US" sz="2400" dirty="0">
                <a:solidFill>
                  <a:srgbClr val="002060"/>
                </a:solidFill>
                <a:latin typeface="Arial" panose="020B0604020202020204" pitchFamily="34" charset="0"/>
                <a:cs typeface="Arial" panose="020B0604020202020204" pitchFamily="34" charset="0"/>
                <a:hlinkClick r:id="rId2"/>
              </a:rPr>
              <a:t>Boehm </a:t>
            </a:r>
            <a:r>
              <a:rPr lang="en-US" sz="2400" spc="-5" dirty="0">
                <a:solidFill>
                  <a:srgbClr val="002060"/>
                </a:solidFill>
                <a:latin typeface="Arial" panose="020B0604020202020204" pitchFamily="34" charset="0"/>
                <a:cs typeface="Arial" panose="020B0604020202020204" pitchFamily="34" charset="0"/>
              </a:rPr>
              <a:t>in his </a:t>
            </a:r>
            <a:r>
              <a:rPr lang="en-US" sz="2400" dirty="0">
                <a:solidFill>
                  <a:srgbClr val="002060"/>
                </a:solidFill>
                <a:latin typeface="Arial" panose="020B0604020202020204" pitchFamily="34" charset="0"/>
                <a:cs typeface="Arial" panose="020B0604020202020204" pitchFamily="34" charset="0"/>
              </a:rPr>
              <a:t>1986 </a:t>
            </a:r>
            <a:r>
              <a:rPr lang="en-US" sz="2400" spc="-5" dirty="0">
                <a:solidFill>
                  <a:srgbClr val="002060"/>
                </a:solidFill>
                <a:latin typeface="Arial" panose="020B0604020202020204" pitchFamily="34" charset="0"/>
                <a:cs typeface="Arial" panose="020B0604020202020204" pitchFamily="34" charset="0"/>
              </a:rPr>
              <a:t>article </a:t>
            </a:r>
            <a:r>
              <a:rPr lang="en-US" sz="2400" spc="5" dirty="0">
                <a:solidFill>
                  <a:srgbClr val="002060"/>
                </a:solidFill>
                <a:latin typeface="Arial" panose="020B0604020202020204" pitchFamily="34" charset="0"/>
                <a:cs typeface="Arial" panose="020B0604020202020204" pitchFamily="34" charset="0"/>
              </a:rPr>
              <a:t>"A </a:t>
            </a:r>
            <a:r>
              <a:rPr lang="en-US" sz="2400" spc="-5" dirty="0">
                <a:solidFill>
                  <a:srgbClr val="002060"/>
                </a:solidFill>
                <a:latin typeface="Arial" panose="020B0604020202020204" pitchFamily="34" charset="0"/>
                <a:cs typeface="Arial" panose="020B0604020202020204" pitchFamily="34" charset="0"/>
              </a:rPr>
              <a:t>Spiral </a:t>
            </a:r>
            <a:r>
              <a:rPr lang="en-US" sz="2400" dirty="0">
                <a:solidFill>
                  <a:srgbClr val="002060"/>
                </a:solidFill>
                <a:latin typeface="Arial" panose="020B0604020202020204" pitchFamily="34" charset="0"/>
                <a:cs typeface="Arial" panose="020B0604020202020204" pitchFamily="34" charset="0"/>
              </a:rPr>
              <a:t>Model of Software </a:t>
            </a:r>
            <a:r>
              <a:rPr lang="en-US" sz="2400" spc="-5" dirty="0">
                <a:solidFill>
                  <a:srgbClr val="002060"/>
                </a:solidFill>
                <a:latin typeface="Arial" panose="020B0604020202020204" pitchFamily="34" charset="0"/>
                <a:cs typeface="Arial" panose="020B0604020202020204" pitchFamily="34" charset="0"/>
              </a:rPr>
              <a:t>development </a:t>
            </a:r>
            <a:r>
              <a:rPr lang="en-US" sz="2400" dirty="0">
                <a:solidFill>
                  <a:srgbClr val="002060"/>
                </a:solidFill>
                <a:latin typeface="Arial" panose="020B0604020202020204" pitchFamily="34" charset="0"/>
                <a:cs typeface="Arial" panose="020B0604020202020204" pitchFamily="34" charset="0"/>
              </a:rPr>
              <a:t>and</a:t>
            </a:r>
            <a:r>
              <a:rPr lang="en-US" sz="2400" spc="5"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Enhancement“</a:t>
            </a:r>
          </a:p>
          <a:p>
            <a:pPr marR="5080" algn="just">
              <a:lnSpc>
                <a:spcPct val="150000"/>
              </a:lnSpc>
              <a:spcBef>
                <a:spcPts val="100"/>
              </a:spcBef>
              <a:buFont typeface="Wingdings" panose="05000000000000000000" pitchFamily="2" charset="2"/>
              <a:buChar char="§"/>
            </a:pPr>
            <a:r>
              <a:rPr lang="en-US" sz="2400" dirty="0">
                <a:solidFill>
                  <a:srgbClr val="002060"/>
                </a:solidFill>
                <a:latin typeface="Arial" panose="020B0604020202020204" pitchFamily="34" charset="0"/>
                <a:cs typeface="Arial" panose="020B0604020202020204" pitchFamily="34" charset="0"/>
              </a:rPr>
              <a:t>The </a:t>
            </a:r>
            <a:r>
              <a:rPr lang="en-US" sz="2400" spc="-5" dirty="0">
                <a:solidFill>
                  <a:srgbClr val="002060"/>
                </a:solidFill>
                <a:latin typeface="Arial" panose="020B0604020202020204" pitchFamily="34" charset="0"/>
                <a:cs typeface="Arial" panose="020B0604020202020204" pitchFamily="34" charset="0"/>
              </a:rPr>
              <a:t>spiral model is </a:t>
            </a:r>
            <a:r>
              <a:rPr lang="en-US" sz="2400" spc="-10" dirty="0">
                <a:solidFill>
                  <a:srgbClr val="002060"/>
                </a:solidFill>
                <a:latin typeface="Arial" panose="020B0604020202020204" pitchFamily="34" charset="0"/>
                <a:cs typeface="Arial" panose="020B0604020202020204" pitchFamily="34" charset="0"/>
              </a:rPr>
              <a:t>similar </a:t>
            </a:r>
            <a:r>
              <a:rPr lang="en-US" sz="2400" spc="-5" dirty="0">
                <a:solidFill>
                  <a:srgbClr val="002060"/>
                </a:solidFill>
                <a:latin typeface="Arial" panose="020B0604020202020204" pitchFamily="34" charset="0"/>
                <a:cs typeface="Arial" panose="020B0604020202020204" pitchFamily="34" charset="0"/>
              </a:rPr>
              <a:t>to the </a:t>
            </a:r>
            <a:r>
              <a:rPr lang="en-US" sz="2400" b="1" spc="-5" dirty="0">
                <a:solidFill>
                  <a:srgbClr val="002060"/>
                </a:solidFill>
                <a:latin typeface="Arial" panose="020B0604020202020204" pitchFamily="34" charset="0"/>
                <a:cs typeface="Arial" panose="020B0604020202020204" pitchFamily="34" charset="0"/>
                <a:hlinkClick r:id="rId3"/>
              </a:rPr>
              <a:t>incremental model</a:t>
            </a:r>
            <a:r>
              <a:rPr lang="en-US" sz="2400" spc="-5" dirty="0">
                <a:solidFill>
                  <a:srgbClr val="002060"/>
                </a:solidFill>
                <a:latin typeface="Arial" panose="020B0604020202020204" pitchFamily="34" charset="0"/>
                <a:cs typeface="Arial" panose="020B0604020202020204" pitchFamily="34" charset="0"/>
              </a:rPr>
              <a:t>, with </a:t>
            </a:r>
            <a:r>
              <a:rPr lang="en-US" sz="2400" spc="-10" dirty="0">
                <a:solidFill>
                  <a:srgbClr val="002060"/>
                </a:solidFill>
                <a:latin typeface="Arial" panose="020B0604020202020204" pitchFamily="34" charset="0"/>
                <a:cs typeface="Arial" panose="020B0604020202020204" pitchFamily="34" charset="0"/>
              </a:rPr>
              <a:t>more </a:t>
            </a:r>
            <a:r>
              <a:rPr lang="en-US" sz="2400" spc="-5" dirty="0">
                <a:solidFill>
                  <a:srgbClr val="002060"/>
                </a:solidFill>
                <a:latin typeface="Arial" panose="020B0604020202020204" pitchFamily="34" charset="0"/>
                <a:cs typeface="Arial" panose="020B0604020202020204" pitchFamily="34" charset="0"/>
              </a:rPr>
              <a:t>emphasis  placed   </a:t>
            </a:r>
            <a:r>
              <a:rPr lang="en-US" sz="2400" dirty="0">
                <a:solidFill>
                  <a:srgbClr val="002060"/>
                </a:solidFill>
                <a:latin typeface="Arial" panose="020B0604020202020204" pitchFamily="34" charset="0"/>
                <a:cs typeface="Arial" panose="020B0604020202020204" pitchFamily="34" charset="0"/>
              </a:rPr>
              <a:t>on </a:t>
            </a:r>
            <a:r>
              <a:rPr lang="en-US" sz="2400" spc="-5" dirty="0">
                <a:solidFill>
                  <a:srgbClr val="002060"/>
                </a:solidFill>
                <a:latin typeface="Arial" panose="020B0604020202020204" pitchFamily="34" charset="0"/>
                <a:cs typeface="Arial" panose="020B0604020202020204" pitchFamily="34" charset="0"/>
              </a:rPr>
              <a:t>risk</a:t>
            </a:r>
            <a:r>
              <a:rPr lang="en-US" sz="2400" spc="35"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analysis.</a:t>
            </a:r>
            <a:endParaRPr lang="en-US" sz="2400" dirty="0">
              <a:solidFill>
                <a:srgbClr val="002060"/>
              </a:solidFill>
              <a:latin typeface="Arial" panose="020B0604020202020204" pitchFamily="34" charset="0"/>
              <a:cs typeface="Arial" panose="020B0604020202020204" pitchFamily="34" charset="0"/>
            </a:endParaRPr>
          </a:p>
          <a:p>
            <a:pPr marR="5080" algn="just">
              <a:lnSpc>
                <a:spcPct val="150000"/>
              </a:lnSpc>
              <a:spcBef>
                <a:spcPts val="100"/>
              </a:spcBef>
              <a:buFont typeface="Wingdings" panose="05000000000000000000" pitchFamily="2" charset="2"/>
              <a:buChar char="§"/>
            </a:pPr>
            <a:r>
              <a:rPr lang="en-US" sz="2400" dirty="0">
                <a:solidFill>
                  <a:srgbClr val="002060"/>
                </a:solidFill>
                <a:latin typeface="Arial" panose="020B0604020202020204" pitchFamily="34" charset="0"/>
                <a:cs typeface="Arial" panose="020B0604020202020204" pitchFamily="34" charset="0"/>
              </a:rPr>
              <a:t>The </a:t>
            </a:r>
            <a:r>
              <a:rPr lang="en-US" sz="2400" spc="-5" dirty="0">
                <a:solidFill>
                  <a:srgbClr val="002060"/>
                </a:solidFill>
                <a:latin typeface="Arial" panose="020B0604020202020204" pitchFamily="34" charset="0"/>
                <a:cs typeface="Arial" panose="020B0604020202020204" pitchFamily="34" charset="0"/>
              </a:rPr>
              <a:t>spiral model </a:t>
            </a:r>
            <a:r>
              <a:rPr lang="en-US" sz="2400" dirty="0">
                <a:solidFill>
                  <a:srgbClr val="002060"/>
                </a:solidFill>
                <a:latin typeface="Arial" panose="020B0604020202020204" pitchFamily="34" charset="0"/>
                <a:cs typeface="Arial" panose="020B0604020202020204" pitchFamily="34" charset="0"/>
              </a:rPr>
              <a:t>has four </a:t>
            </a:r>
            <a:r>
              <a:rPr lang="en-US" sz="2400" spc="-5" dirty="0">
                <a:solidFill>
                  <a:srgbClr val="002060"/>
                </a:solidFill>
                <a:latin typeface="Arial" panose="020B0604020202020204" pitchFamily="34" charset="0"/>
                <a:cs typeface="Arial" panose="020B0604020202020204" pitchFamily="34" charset="0"/>
              </a:rPr>
              <a:t>phases: Planning, Risk Analysis, Engineering  </a:t>
            </a:r>
            <a:r>
              <a:rPr lang="en-US" sz="2400" dirty="0">
                <a:solidFill>
                  <a:srgbClr val="002060"/>
                </a:solidFill>
                <a:latin typeface="Arial" panose="020B0604020202020204" pitchFamily="34" charset="0"/>
                <a:cs typeface="Arial" panose="020B0604020202020204" pitchFamily="34" charset="0"/>
              </a:rPr>
              <a:t>and</a:t>
            </a:r>
            <a:r>
              <a:rPr lang="en-US" sz="2400" spc="10"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Evaluation.</a:t>
            </a:r>
          </a:p>
          <a:p>
            <a:pPr marR="5080" algn="just">
              <a:lnSpc>
                <a:spcPct val="150000"/>
              </a:lnSpc>
              <a:spcBef>
                <a:spcPts val="100"/>
              </a:spcBef>
              <a:buFont typeface="Wingdings" panose="05000000000000000000" pitchFamily="2" charset="2"/>
              <a:buChar char="§"/>
            </a:pPr>
            <a:r>
              <a:rPr lang="en-IN" sz="2400" dirty="0"/>
              <a:t>Spiral Model is a combination of a waterfall model and iterative model</a:t>
            </a:r>
            <a:r>
              <a:rPr lang="en-IN" sz="2400" dirty="0">
                <a:solidFill>
                  <a:srgbClr val="FF0000"/>
                </a:solidFill>
              </a:rPr>
              <a:t>. Each phase in spiral model begins with a design goal and ends with the client reviewing the progress.</a:t>
            </a:r>
            <a:r>
              <a:rPr lang="en-IN" sz="2400" dirty="0"/>
              <a:t> </a:t>
            </a:r>
            <a:endParaRPr lang="en-US" sz="2400" dirty="0">
              <a:solidFill>
                <a:srgbClr val="002060"/>
              </a:solidFill>
              <a:latin typeface="Arial" panose="020B0604020202020204" pitchFamily="34" charset="0"/>
              <a:cs typeface="Arial" panose="020B0604020202020204" pitchFamily="34" charset="0"/>
            </a:endParaRPr>
          </a:p>
          <a:p>
            <a:pPr marL="12700" marR="5080">
              <a:lnSpc>
                <a:spcPct val="150000"/>
              </a:lnSpc>
              <a:spcBef>
                <a:spcPts val="100"/>
              </a:spcBef>
            </a:pPr>
            <a:endParaRPr lang="en-US" dirty="0">
              <a:latin typeface="Times New Roman"/>
              <a:cs typeface="Times New Roman"/>
            </a:endParaRPr>
          </a:p>
          <a:p>
            <a:pPr marL="0" marR="5080" indent="0">
              <a:lnSpc>
                <a:spcPct val="150000"/>
              </a:lnSpc>
              <a:spcBef>
                <a:spcPts val="100"/>
              </a:spcBef>
              <a:buNone/>
            </a:pPr>
            <a:endParaRPr lang="en-US" dirty="0">
              <a:latin typeface="Times New Roman"/>
              <a:cs typeface="Times New Roman"/>
            </a:endParaRPr>
          </a:p>
        </p:txBody>
      </p:sp>
    </p:spTree>
    <p:extLst>
      <p:ext uri="{BB962C8B-B14F-4D97-AF65-F5344CB8AC3E}">
        <p14:creationId xmlns:p14="http://schemas.microsoft.com/office/powerpoint/2010/main" val="1542537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002060"/>
                </a:solidFill>
                <a:latin typeface="Arial" panose="020B0604020202020204" pitchFamily="34" charset="0"/>
                <a:cs typeface="Arial" panose="020B0604020202020204" pitchFamily="34" charset="0"/>
              </a:rPr>
              <a:t>Spiral Model By Boehm</a:t>
            </a:r>
          </a:p>
        </p:txBody>
      </p:sp>
      <p:sp>
        <p:nvSpPr>
          <p:cNvPr id="4" name="object 3"/>
          <p:cNvSpPr>
            <a:spLocks noGrp="1"/>
          </p:cNvSpPr>
          <p:nvPr>
            <p:ph idx="1"/>
          </p:nvPr>
        </p:nvSpPr>
        <p:spPr>
          <a:xfrm>
            <a:off x="2797629" y="1789612"/>
            <a:ext cx="6385560" cy="4243660"/>
          </a:xfrm>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357871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dmin\Desktop\SD-UML-CSBS\spiral model-roger pressman.png"/>
          <p:cNvPicPr>
            <a:picLocks noGrp="1" noChangeAspect="1" noChangeArrowheads="1"/>
          </p:cNvPicPr>
          <p:nvPr>
            <p:ph idx="1"/>
          </p:nvPr>
        </p:nvPicPr>
        <p:blipFill>
          <a:blip r:embed="rId2"/>
          <a:srcRect/>
          <a:stretch>
            <a:fillRect/>
          </a:stretch>
        </p:blipFill>
        <p:spPr bwMode="auto">
          <a:xfrm>
            <a:off x="1319349" y="1031966"/>
            <a:ext cx="7968341" cy="4617153"/>
          </a:xfrm>
          <a:prstGeom prst="rect">
            <a:avLst/>
          </a:prstGeom>
          <a:noFill/>
        </p:spPr>
      </p:pic>
    </p:spTree>
    <p:extLst>
      <p:ext uri="{BB962C8B-B14F-4D97-AF65-F5344CB8AC3E}">
        <p14:creationId xmlns:p14="http://schemas.microsoft.com/office/powerpoint/2010/main" val="416627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1.concept development</a:t>
            </a:r>
          </a:p>
          <a:p>
            <a:r>
              <a:rPr lang="en-IN" dirty="0"/>
              <a:t>2.system development</a:t>
            </a:r>
          </a:p>
          <a:p>
            <a:r>
              <a:rPr lang="en-IN" dirty="0"/>
              <a:t>3.system enhancement region </a:t>
            </a:r>
          </a:p>
          <a:p>
            <a:r>
              <a:rPr lang="en-IN" dirty="0"/>
              <a:t>4.system maintenance  </a:t>
            </a:r>
          </a:p>
          <a:p>
            <a:endParaRPr lang="en-IN" dirty="0"/>
          </a:p>
        </p:txBody>
      </p:sp>
    </p:spTree>
    <p:extLst>
      <p:ext uri="{BB962C8B-B14F-4D97-AF65-F5344CB8AC3E}">
        <p14:creationId xmlns:p14="http://schemas.microsoft.com/office/powerpoint/2010/main" val="411637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002060"/>
                </a:solidFill>
                <a:latin typeface="Arial" panose="020B0604020202020204" pitchFamily="34" charset="0"/>
                <a:cs typeface="Arial" panose="020B0604020202020204" pitchFamily="34" charset="0"/>
              </a:rPr>
              <a:t>Spiral Model</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sz="2400" dirty="0">
                <a:solidFill>
                  <a:srgbClr val="002060"/>
                </a:solidFill>
                <a:cs typeface="Times New Roman"/>
              </a:rPr>
              <a:t>Software project </a:t>
            </a:r>
            <a:r>
              <a:rPr lang="en-US" sz="2400" spc="-5" dirty="0">
                <a:solidFill>
                  <a:srgbClr val="002060"/>
                </a:solidFill>
                <a:cs typeface="Times New Roman"/>
              </a:rPr>
              <a:t>repeatedly passes </a:t>
            </a:r>
            <a:r>
              <a:rPr lang="en-US" sz="2400" dirty="0">
                <a:solidFill>
                  <a:srgbClr val="002060"/>
                </a:solidFill>
                <a:cs typeface="Times New Roman"/>
              </a:rPr>
              <a:t>through</a:t>
            </a:r>
            <a:r>
              <a:rPr lang="en-US" sz="2400" spc="70" dirty="0">
                <a:solidFill>
                  <a:srgbClr val="002060"/>
                </a:solidFill>
                <a:cs typeface="Times New Roman"/>
              </a:rPr>
              <a:t> </a:t>
            </a:r>
            <a:r>
              <a:rPr lang="en-US" sz="2400" spc="-5" dirty="0">
                <a:solidFill>
                  <a:srgbClr val="002060"/>
                </a:solidFill>
                <a:cs typeface="Times New Roman"/>
              </a:rPr>
              <a:t>these</a:t>
            </a:r>
            <a:r>
              <a:rPr lang="en-US" sz="2400" spc="10" dirty="0">
                <a:solidFill>
                  <a:srgbClr val="002060"/>
                </a:solidFill>
                <a:cs typeface="Times New Roman"/>
              </a:rPr>
              <a:t> </a:t>
            </a:r>
            <a:r>
              <a:rPr lang="en-US" sz="2400" dirty="0">
                <a:solidFill>
                  <a:srgbClr val="002060"/>
                </a:solidFill>
                <a:cs typeface="Times New Roman"/>
              </a:rPr>
              <a:t>four phases </a:t>
            </a:r>
            <a:r>
              <a:rPr lang="en-US" sz="2400" spc="-5" dirty="0">
                <a:solidFill>
                  <a:srgbClr val="002060"/>
                </a:solidFill>
                <a:cs typeface="Times New Roman"/>
              </a:rPr>
              <a:t>in</a:t>
            </a:r>
            <a:r>
              <a:rPr lang="en-US" sz="2400" spc="-65" dirty="0">
                <a:solidFill>
                  <a:srgbClr val="002060"/>
                </a:solidFill>
                <a:cs typeface="Times New Roman"/>
              </a:rPr>
              <a:t> </a:t>
            </a:r>
            <a:r>
              <a:rPr lang="en-US" sz="2400" spc="-5" dirty="0">
                <a:solidFill>
                  <a:srgbClr val="002060"/>
                </a:solidFill>
                <a:cs typeface="Times New Roman"/>
              </a:rPr>
              <a:t>iterations  (called</a:t>
            </a:r>
            <a:r>
              <a:rPr lang="en-US" sz="2400" dirty="0">
                <a:solidFill>
                  <a:srgbClr val="002060"/>
                </a:solidFill>
                <a:cs typeface="Times New Roman"/>
              </a:rPr>
              <a:t> </a:t>
            </a:r>
            <a:r>
              <a:rPr lang="en-US" sz="2400" spc="-5" dirty="0">
                <a:solidFill>
                  <a:srgbClr val="002060"/>
                </a:solidFill>
                <a:cs typeface="Times New Roman"/>
              </a:rPr>
              <a:t>Spirals).</a:t>
            </a:r>
          </a:p>
          <a:p>
            <a:pPr algn="just">
              <a:buFont typeface="Wingdings" panose="05000000000000000000" pitchFamily="2" charset="2"/>
              <a:buChar char="§"/>
            </a:pPr>
            <a:endParaRPr lang="en-US" sz="2400" spc="-5" dirty="0">
              <a:solidFill>
                <a:srgbClr val="002060"/>
              </a:solidFill>
              <a:cs typeface="Times New Roman"/>
            </a:endParaRPr>
          </a:p>
          <a:p>
            <a:pPr algn="just">
              <a:buFont typeface="Wingdings" panose="05000000000000000000" pitchFamily="2" charset="2"/>
              <a:buChar char="§"/>
            </a:pPr>
            <a:r>
              <a:rPr lang="en-US" sz="2400" dirty="0">
                <a:solidFill>
                  <a:srgbClr val="002060"/>
                </a:solidFill>
                <a:cs typeface="Times New Roman"/>
              </a:rPr>
              <a:t>The </a:t>
            </a:r>
            <a:r>
              <a:rPr lang="en-US" sz="2400" spc="-5" dirty="0">
                <a:solidFill>
                  <a:srgbClr val="002060"/>
                </a:solidFill>
                <a:cs typeface="Times New Roman"/>
              </a:rPr>
              <a:t>baseline spiral, starting in the </a:t>
            </a:r>
            <a:r>
              <a:rPr lang="en-US" sz="2400" dirty="0">
                <a:solidFill>
                  <a:srgbClr val="002060"/>
                </a:solidFill>
                <a:cs typeface="Times New Roman"/>
              </a:rPr>
              <a:t>planning phase, </a:t>
            </a:r>
            <a:r>
              <a:rPr lang="en-US" sz="2400" spc="-5" dirty="0">
                <a:solidFill>
                  <a:srgbClr val="002060"/>
                </a:solidFill>
                <a:cs typeface="Times New Roman"/>
              </a:rPr>
              <a:t>requirements </a:t>
            </a:r>
            <a:r>
              <a:rPr lang="en-US" sz="2400" dirty="0">
                <a:solidFill>
                  <a:srgbClr val="002060"/>
                </a:solidFill>
                <a:cs typeface="Times New Roman"/>
              </a:rPr>
              <a:t>are  </a:t>
            </a:r>
            <a:r>
              <a:rPr lang="en-US" sz="2400" spc="-5" dirty="0">
                <a:solidFill>
                  <a:srgbClr val="002060"/>
                </a:solidFill>
                <a:cs typeface="Times New Roman"/>
              </a:rPr>
              <a:t>gathered </a:t>
            </a:r>
            <a:r>
              <a:rPr lang="en-US" sz="2400" dirty="0">
                <a:solidFill>
                  <a:srgbClr val="002060"/>
                </a:solidFill>
                <a:cs typeface="Times New Roman"/>
              </a:rPr>
              <a:t>and </a:t>
            </a:r>
            <a:r>
              <a:rPr lang="en-US" sz="2400" spc="-5" dirty="0">
                <a:solidFill>
                  <a:srgbClr val="002060"/>
                </a:solidFill>
                <a:cs typeface="Times New Roman"/>
              </a:rPr>
              <a:t>risk is assessed. </a:t>
            </a:r>
            <a:r>
              <a:rPr lang="en-US" sz="2400" dirty="0">
                <a:solidFill>
                  <a:srgbClr val="002060"/>
                </a:solidFill>
                <a:cs typeface="Times New Roman"/>
              </a:rPr>
              <a:t>Each subsequent </a:t>
            </a:r>
            <a:r>
              <a:rPr lang="en-US" sz="2400" spc="-5" dirty="0">
                <a:solidFill>
                  <a:srgbClr val="002060"/>
                </a:solidFill>
                <a:cs typeface="Times New Roman"/>
              </a:rPr>
              <a:t>spirals </a:t>
            </a:r>
            <a:r>
              <a:rPr lang="en-US" sz="2400" dirty="0">
                <a:solidFill>
                  <a:srgbClr val="002060"/>
                </a:solidFill>
                <a:cs typeface="Times New Roman"/>
              </a:rPr>
              <a:t>builds on </a:t>
            </a:r>
            <a:r>
              <a:rPr lang="en-US" sz="2400" spc="-5" dirty="0">
                <a:solidFill>
                  <a:srgbClr val="002060"/>
                </a:solidFill>
                <a:cs typeface="Times New Roman"/>
              </a:rPr>
              <a:t>the  baseline</a:t>
            </a:r>
            <a:r>
              <a:rPr lang="en-US" sz="2400" spc="5" dirty="0">
                <a:solidFill>
                  <a:srgbClr val="002060"/>
                </a:solidFill>
                <a:cs typeface="Times New Roman"/>
              </a:rPr>
              <a:t> </a:t>
            </a:r>
            <a:r>
              <a:rPr lang="en-US" sz="2400" spc="-5" dirty="0">
                <a:solidFill>
                  <a:srgbClr val="002060"/>
                </a:solidFill>
                <a:cs typeface="Times New Roman"/>
              </a:rPr>
              <a:t>spiral</a:t>
            </a:r>
          </a:p>
          <a:p>
            <a:pPr algn="just">
              <a:buNone/>
            </a:pPr>
            <a:endParaRPr lang="en-US" sz="2400" spc="-5" dirty="0">
              <a:solidFill>
                <a:srgbClr val="002060"/>
              </a:solidFill>
              <a:cs typeface="Times New Roman"/>
            </a:endParaRPr>
          </a:p>
          <a:p>
            <a:pPr marL="469900" indent="-457200" algn="just">
              <a:lnSpc>
                <a:spcPct val="100000"/>
              </a:lnSpc>
              <a:spcBef>
                <a:spcPts val="1700"/>
              </a:spcBef>
              <a:buFont typeface="Wingdings" panose="05000000000000000000" pitchFamily="2" charset="2"/>
              <a:buChar char="§"/>
              <a:tabLst>
                <a:tab pos="355600" algn="l"/>
              </a:tabLst>
            </a:pPr>
            <a:r>
              <a:rPr lang="en-US" sz="2400" spc="-5" dirty="0">
                <a:solidFill>
                  <a:srgbClr val="002060"/>
                </a:solidFill>
                <a:cs typeface="Times New Roman"/>
              </a:rPr>
              <a:t>Both waterfall </a:t>
            </a:r>
            <a:r>
              <a:rPr lang="en-US" sz="2400" dirty="0">
                <a:solidFill>
                  <a:srgbClr val="002060"/>
                </a:solidFill>
                <a:cs typeface="Times New Roman"/>
              </a:rPr>
              <a:t>and </a:t>
            </a:r>
            <a:r>
              <a:rPr lang="en-US" sz="2400" spc="-5" dirty="0">
                <a:solidFill>
                  <a:srgbClr val="002060"/>
                </a:solidFill>
                <a:cs typeface="Times New Roman"/>
              </a:rPr>
              <a:t>prototype models </a:t>
            </a:r>
            <a:r>
              <a:rPr lang="en-US" sz="2400" dirty="0">
                <a:solidFill>
                  <a:srgbClr val="002060"/>
                </a:solidFill>
                <a:cs typeface="Times New Roman"/>
              </a:rPr>
              <a:t>are used </a:t>
            </a:r>
            <a:r>
              <a:rPr lang="en-US" sz="2400" spc="-5" dirty="0">
                <a:solidFill>
                  <a:srgbClr val="002060"/>
                </a:solidFill>
                <a:cs typeface="Times New Roman"/>
              </a:rPr>
              <a:t>in</a:t>
            </a:r>
            <a:r>
              <a:rPr lang="en-US" sz="2400" spc="45" dirty="0">
                <a:solidFill>
                  <a:srgbClr val="002060"/>
                </a:solidFill>
                <a:cs typeface="Times New Roman"/>
              </a:rPr>
              <a:t> </a:t>
            </a:r>
            <a:r>
              <a:rPr lang="en-US" sz="2400" spc="-10" dirty="0">
                <a:solidFill>
                  <a:srgbClr val="002060"/>
                </a:solidFill>
                <a:cs typeface="Times New Roman"/>
              </a:rPr>
              <a:t>it.</a:t>
            </a:r>
            <a:endParaRPr lang="en-US" sz="2400" dirty="0">
              <a:solidFill>
                <a:srgbClr val="002060"/>
              </a:solidFill>
              <a:cs typeface="Times New Roman"/>
            </a:endParaRPr>
          </a:p>
          <a:p>
            <a:endParaRPr lang="en-US" dirty="0"/>
          </a:p>
        </p:txBody>
      </p:sp>
    </p:spTree>
    <p:extLst>
      <p:ext uri="{BB962C8B-B14F-4D97-AF65-F5344CB8AC3E}">
        <p14:creationId xmlns:p14="http://schemas.microsoft.com/office/powerpoint/2010/main" val="3873979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55600" marR="5080" indent="-342900" algn="just">
              <a:lnSpc>
                <a:spcPct val="150000"/>
              </a:lnSpc>
              <a:spcBef>
                <a:spcPts val="500"/>
              </a:spcBef>
              <a:buFont typeface="Wingdings" panose="05000000000000000000" pitchFamily="2" charset="2"/>
              <a:buChar char="§"/>
              <a:tabLst>
                <a:tab pos="355600" algn="l"/>
              </a:tabLst>
            </a:pPr>
            <a:r>
              <a:rPr lang="en-US" sz="2400" dirty="0">
                <a:solidFill>
                  <a:srgbClr val="002060"/>
                </a:solidFill>
                <a:latin typeface="Arial" panose="020B0604020202020204" pitchFamily="34" charset="0"/>
                <a:cs typeface="Arial" panose="020B0604020202020204" pitchFamily="34" charset="0"/>
              </a:rPr>
              <a:t>Here we do </a:t>
            </a:r>
            <a:r>
              <a:rPr lang="en-US" sz="2400" spc="-5" dirty="0">
                <a:solidFill>
                  <a:srgbClr val="002060"/>
                </a:solidFill>
                <a:latin typeface="Arial" panose="020B0604020202020204" pitchFamily="34" charset="0"/>
                <a:cs typeface="Arial" panose="020B0604020202020204" pitchFamily="34" charset="0"/>
              </a:rPr>
              <a:t>software development </a:t>
            </a:r>
            <a:r>
              <a:rPr lang="en-US" sz="2400" spc="-10" dirty="0">
                <a:solidFill>
                  <a:srgbClr val="002060"/>
                </a:solidFill>
                <a:latin typeface="Arial" panose="020B0604020202020204" pitchFamily="34" charset="0"/>
                <a:cs typeface="Arial" panose="020B0604020202020204" pitchFamily="34" charset="0"/>
              </a:rPr>
              <a:t>systematically </a:t>
            </a:r>
            <a:r>
              <a:rPr lang="en-US" sz="2400" dirty="0">
                <a:solidFill>
                  <a:srgbClr val="002060"/>
                </a:solidFill>
                <a:latin typeface="Arial" panose="020B0604020202020204" pitchFamily="34" charset="0"/>
                <a:cs typeface="Arial" panose="020B0604020202020204" pitchFamily="34" charset="0"/>
              </a:rPr>
              <a:t>over the loops (adhering  </a:t>
            </a:r>
            <a:r>
              <a:rPr lang="en-US" sz="2400" spc="-5" dirty="0">
                <a:solidFill>
                  <a:srgbClr val="002060"/>
                </a:solidFill>
                <a:latin typeface="Arial" panose="020B0604020202020204" pitchFamily="34" charset="0"/>
                <a:cs typeface="Arial" panose="020B0604020202020204" pitchFamily="34" charset="0"/>
              </a:rPr>
              <a:t>to waterfall </a:t>
            </a:r>
            <a:r>
              <a:rPr lang="en-US" sz="2400" dirty="0">
                <a:solidFill>
                  <a:srgbClr val="002060"/>
                </a:solidFill>
                <a:latin typeface="Arial" panose="020B0604020202020204" pitchFamily="34" charset="0"/>
                <a:cs typeface="Arial" panose="020B0604020202020204" pitchFamily="34" charset="0"/>
              </a:rPr>
              <a:t>approach) and </a:t>
            </a:r>
            <a:r>
              <a:rPr lang="en-US" sz="2400" spc="-5" dirty="0">
                <a:solidFill>
                  <a:srgbClr val="002060"/>
                </a:solidFill>
                <a:latin typeface="Arial" panose="020B0604020202020204" pitchFamily="34" charset="0"/>
                <a:cs typeface="Arial" panose="020B0604020202020204" pitchFamily="34" charset="0"/>
              </a:rPr>
              <a:t>at the </a:t>
            </a:r>
            <a:r>
              <a:rPr lang="en-US" sz="2400" spc="-10" dirty="0">
                <a:solidFill>
                  <a:srgbClr val="002060"/>
                </a:solidFill>
                <a:latin typeface="Arial" panose="020B0604020202020204" pitchFamily="34" charset="0"/>
                <a:cs typeface="Arial" panose="020B0604020202020204" pitchFamily="34" charset="0"/>
              </a:rPr>
              <a:t>same time </a:t>
            </a:r>
            <a:r>
              <a:rPr lang="en-US" sz="2400" dirty="0">
                <a:solidFill>
                  <a:srgbClr val="002060"/>
                </a:solidFill>
                <a:latin typeface="Arial" panose="020B0604020202020204" pitchFamily="34" charset="0"/>
                <a:cs typeface="Arial" panose="020B0604020202020204" pitchFamily="34" charset="0"/>
              </a:rPr>
              <a:t>we </a:t>
            </a:r>
            <a:r>
              <a:rPr lang="en-US" sz="2400" spc="-5" dirty="0">
                <a:solidFill>
                  <a:srgbClr val="002060"/>
                </a:solidFill>
                <a:latin typeface="Arial" panose="020B0604020202020204" pitchFamily="34" charset="0"/>
                <a:cs typeface="Arial" panose="020B0604020202020204" pitchFamily="34" charset="0"/>
              </a:rPr>
              <a:t>make </a:t>
            </a:r>
            <a:r>
              <a:rPr lang="en-US" sz="2400" dirty="0">
                <a:solidFill>
                  <a:srgbClr val="002060"/>
                </a:solidFill>
                <a:latin typeface="Arial" panose="020B0604020202020204" pitchFamily="34" charset="0"/>
                <a:cs typeface="Arial" panose="020B0604020202020204" pitchFamily="34" charset="0"/>
              </a:rPr>
              <a:t>a </a:t>
            </a:r>
            <a:r>
              <a:rPr lang="en-US" sz="2400" spc="-5" dirty="0">
                <a:solidFill>
                  <a:srgbClr val="002060"/>
                </a:solidFill>
                <a:latin typeface="Arial" panose="020B0604020202020204" pitchFamily="34" charset="0"/>
                <a:cs typeface="Arial" panose="020B0604020202020204" pitchFamily="34" charset="0"/>
              </a:rPr>
              <a:t>prototype </a:t>
            </a:r>
            <a:r>
              <a:rPr lang="en-US" sz="2400" dirty="0">
                <a:solidFill>
                  <a:srgbClr val="002060"/>
                </a:solidFill>
                <a:latin typeface="Arial" panose="020B0604020202020204" pitchFamily="34" charset="0"/>
                <a:cs typeface="Arial" panose="020B0604020202020204" pitchFamily="34" charset="0"/>
              </a:rPr>
              <a:t>and show  </a:t>
            </a:r>
            <a:r>
              <a:rPr lang="en-US" sz="2400" spc="-5" dirty="0">
                <a:solidFill>
                  <a:srgbClr val="002060"/>
                </a:solidFill>
                <a:latin typeface="Arial" panose="020B0604020202020204" pitchFamily="34" charset="0"/>
                <a:cs typeface="Arial" panose="020B0604020202020204" pitchFamily="34" charset="0"/>
              </a:rPr>
              <a:t>it to </a:t>
            </a:r>
            <a:r>
              <a:rPr lang="en-US" sz="2400" dirty="0">
                <a:solidFill>
                  <a:srgbClr val="002060"/>
                </a:solidFill>
                <a:latin typeface="Arial" panose="020B0604020202020204" pitchFamily="34" charset="0"/>
                <a:cs typeface="Arial" panose="020B0604020202020204" pitchFamily="34" charset="0"/>
              </a:rPr>
              <a:t>user </a:t>
            </a:r>
            <a:r>
              <a:rPr lang="en-US" sz="2400" spc="-5" dirty="0">
                <a:solidFill>
                  <a:srgbClr val="002060"/>
                </a:solidFill>
                <a:latin typeface="Arial" panose="020B0604020202020204" pitchFamily="34" charset="0"/>
                <a:cs typeface="Arial" panose="020B0604020202020204" pitchFamily="34" charset="0"/>
              </a:rPr>
              <a:t>after completion </a:t>
            </a:r>
            <a:r>
              <a:rPr lang="en-US" sz="2400" dirty="0">
                <a:solidFill>
                  <a:srgbClr val="002060"/>
                </a:solidFill>
                <a:latin typeface="Arial" panose="020B0604020202020204" pitchFamily="34" charset="0"/>
                <a:cs typeface="Arial" panose="020B0604020202020204" pitchFamily="34" charset="0"/>
              </a:rPr>
              <a:t>of various phase (just </a:t>
            </a:r>
            <a:r>
              <a:rPr lang="en-US" sz="2400" spc="-5" dirty="0">
                <a:solidFill>
                  <a:srgbClr val="002060"/>
                </a:solidFill>
                <a:latin typeface="Arial" panose="020B0604020202020204" pitchFamily="34" charset="0"/>
                <a:cs typeface="Arial" panose="020B0604020202020204" pitchFamily="34" charset="0"/>
              </a:rPr>
              <a:t>in case </a:t>
            </a:r>
            <a:r>
              <a:rPr lang="en-US" sz="2400" dirty="0">
                <a:solidFill>
                  <a:srgbClr val="002060"/>
                </a:solidFill>
                <a:latin typeface="Arial" panose="020B0604020202020204" pitchFamily="34" charset="0"/>
                <a:cs typeface="Arial" panose="020B0604020202020204" pitchFamily="34" charset="0"/>
              </a:rPr>
              <a:t>of </a:t>
            </a:r>
            <a:r>
              <a:rPr lang="en-US" sz="2400" spc="-5" dirty="0">
                <a:solidFill>
                  <a:srgbClr val="002060"/>
                </a:solidFill>
                <a:latin typeface="Arial" panose="020B0604020202020204" pitchFamily="34" charset="0"/>
                <a:cs typeface="Arial" panose="020B0604020202020204" pitchFamily="34" charset="0"/>
              </a:rPr>
              <a:t>prototype  model).</a:t>
            </a:r>
            <a:endParaRPr lang="en-US" sz="2400" dirty="0">
              <a:solidFill>
                <a:srgbClr val="002060"/>
              </a:solidFill>
              <a:latin typeface="Arial" panose="020B0604020202020204" pitchFamily="34" charset="0"/>
              <a:cs typeface="Arial" panose="020B0604020202020204" pitchFamily="34" charset="0"/>
            </a:endParaRPr>
          </a:p>
          <a:p>
            <a:pPr marL="355600" indent="-342900" algn="just">
              <a:lnSpc>
                <a:spcPct val="100000"/>
              </a:lnSpc>
              <a:spcBef>
                <a:spcPts val="1700"/>
              </a:spcBef>
              <a:buFont typeface="Wingdings" panose="05000000000000000000" pitchFamily="2" charset="2"/>
              <a:buChar char="§"/>
              <a:tabLst>
                <a:tab pos="355600" algn="l"/>
              </a:tabLst>
            </a:pPr>
            <a:r>
              <a:rPr lang="en-US" sz="2400" spc="-5" dirty="0">
                <a:solidFill>
                  <a:srgbClr val="002060"/>
                </a:solidFill>
                <a:latin typeface="Arial" panose="020B0604020202020204" pitchFamily="34" charset="0"/>
                <a:cs typeface="Arial" panose="020B0604020202020204" pitchFamily="34" charset="0"/>
              </a:rPr>
              <a:t>This </a:t>
            </a:r>
            <a:r>
              <a:rPr lang="en-US" sz="2400" dirty="0">
                <a:solidFill>
                  <a:srgbClr val="002060"/>
                </a:solidFill>
                <a:latin typeface="Arial" panose="020B0604020202020204" pitchFamily="34" charset="0"/>
                <a:cs typeface="Arial" panose="020B0604020202020204" pitchFamily="34" charset="0"/>
              </a:rPr>
              <a:t>way we are </a:t>
            </a:r>
            <a:r>
              <a:rPr lang="en-US" sz="2400" spc="-5" dirty="0">
                <a:solidFill>
                  <a:srgbClr val="002060"/>
                </a:solidFill>
                <a:latin typeface="Arial" panose="020B0604020202020204" pitchFamily="34" charset="0"/>
                <a:cs typeface="Arial" panose="020B0604020202020204" pitchFamily="34" charset="0"/>
              </a:rPr>
              <a:t>able to </a:t>
            </a:r>
            <a:r>
              <a:rPr lang="en-US" sz="2400" dirty="0">
                <a:solidFill>
                  <a:srgbClr val="002060"/>
                </a:solidFill>
                <a:latin typeface="Arial" panose="020B0604020202020204" pitchFamily="34" charset="0"/>
                <a:cs typeface="Arial" panose="020B0604020202020204" pitchFamily="34" charset="0"/>
              </a:rPr>
              <a:t>reduce risks as </a:t>
            </a:r>
            <a:r>
              <a:rPr lang="en-US" sz="2400" spc="-5" dirty="0">
                <a:solidFill>
                  <a:srgbClr val="002060"/>
                </a:solidFill>
                <a:latin typeface="Arial" panose="020B0604020202020204" pitchFamily="34" charset="0"/>
                <a:cs typeface="Arial" panose="020B0604020202020204" pitchFamily="34" charset="0"/>
              </a:rPr>
              <a:t>well </a:t>
            </a:r>
            <a:r>
              <a:rPr lang="en-US" sz="2400" dirty="0">
                <a:solidFill>
                  <a:srgbClr val="002060"/>
                </a:solidFill>
                <a:latin typeface="Arial" panose="020B0604020202020204" pitchFamily="34" charset="0"/>
                <a:cs typeface="Arial" panose="020B0604020202020204" pitchFamily="34" charset="0"/>
              </a:rPr>
              <a:t>as </a:t>
            </a:r>
            <a:r>
              <a:rPr lang="en-US" sz="2400" spc="-5" dirty="0">
                <a:solidFill>
                  <a:srgbClr val="002060"/>
                </a:solidFill>
                <a:latin typeface="Arial" panose="020B0604020202020204" pitchFamily="34" charset="0"/>
                <a:cs typeface="Arial" panose="020B0604020202020204" pitchFamily="34" charset="0"/>
              </a:rPr>
              <a:t>follow </a:t>
            </a:r>
            <a:r>
              <a:rPr lang="en-US" sz="2400" spc="-10" dirty="0">
                <a:solidFill>
                  <a:srgbClr val="002060"/>
                </a:solidFill>
                <a:latin typeface="Arial" panose="020B0604020202020204" pitchFamily="34" charset="0"/>
                <a:cs typeface="Arial" panose="020B0604020202020204" pitchFamily="34" charset="0"/>
              </a:rPr>
              <a:t>systematic</a:t>
            </a:r>
            <a:r>
              <a:rPr lang="en-US" sz="2400" spc="35"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approach</a:t>
            </a:r>
          </a:p>
          <a:p>
            <a:pPr marL="0" indent="0">
              <a:buNone/>
            </a:pPr>
            <a:endParaRPr lang="en-US" dirty="0"/>
          </a:p>
        </p:txBody>
      </p:sp>
    </p:spTree>
    <p:extLst>
      <p:ext uri="{BB962C8B-B14F-4D97-AF65-F5344CB8AC3E}">
        <p14:creationId xmlns:p14="http://schemas.microsoft.com/office/powerpoint/2010/main" val="3074233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Arial" panose="020B0604020202020204" pitchFamily="34" charset="0"/>
                <a:cs typeface="Arial" panose="020B0604020202020204" pitchFamily="34" charset="0"/>
              </a:rPr>
              <a:t>Phases</a:t>
            </a:r>
          </a:p>
        </p:txBody>
      </p:sp>
      <p:sp>
        <p:nvSpPr>
          <p:cNvPr id="3" name="Content Placeholder 2"/>
          <p:cNvSpPr>
            <a:spLocks noGrp="1"/>
          </p:cNvSpPr>
          <p:nvPr>
            <p:ph idx="1"/>
          </p:nvPr>
        </p:nvSpPr>
        <p:spPr/>
        <p:txBody>
          <a:bodyPr>
            <a:normAutofit lnSpcReduction="10000"/>
          </a:bodyPr>
          <a:lstStyle/>
          <a:p>
            <a:pPr marL="12700">
              <a:lnSpc>
                <a:spcPct val="100000"/>
              </a:lnSpc>
              <a:spcBef>
                <a:spcPts val="100"/>
              </a:spcBef>
            </a:pPr>
            <a:r>
              <a:rPr lang="en-US" sz="2400" b="1" dirty="0">
                <a:solidFill>
                  <a:srgbClr val="002060"/>
                </a:solidFill>
                <a:latin typeface="Arial" panose="020B0604020202020204" pitchFamily="34" charset="0"/>
                <a:cs typeface="Arial" panose="020B0604020202020204" pitchFamily="34" charset="0"/>
              </a:rPr>
              <a:t>A </a:t>
            </a:r>
            <a:r>
              <a:rPr lang="en-US" sz="2400" b="1" spc="-5" dirty="0">
                <a:solidFill>
                  <a:srgbClr val="002060"/>
                </a:solidFill>
                <a:latin typeface="Arial" panose="020B0604020202020204" pitchFamily="34" charset="0"/>
                <a:cs typeface="Arial" panose="020B0604020202020204" pitchFamily="34" charset="0"/>
              </a:rPr>
              <a:t>spiral </a:t>
            </a:r>
            <a:r>
              <a:rPr lang="en-US" sz="2400" b="1" dirty="0">
                <a:solidFill>
                  <a:srgbClr val="002060"/>
                </a:solidFill>
                <a:latin typeface="Arial" panose="020B0604020202020204" pitchFamily="34" charset="0"/>
                <a:cs typeface="Arial" panose="020B0604020202020204" pitchFamily="34" charset="0"/>
              </a:rPr>
              <a:t>model </a:t>
            </a:r>
            <a:r>
              <a:rPr lang="en-US" sz="2400" b="1" spc="-5" dirty="0">
                <a:solidFill>
                  <a:srgbClr val="002060"/>
                </a:solidFill>
                <a:latin typeface="Arial" panose="020B0604020202020204" pitchFamily="34" charset="0"/>
                <a:cs typeface="Arial" panose="020B0604020202020204" pitchFamily="34" charset="0"/>
              </a:rPr>
              <a:t>has </a:t>
            </a:r>
            <a:r>
              <a:rPr lang="en-US" sz="2400" b="1" dirty="0">
                <a:solidFill>
                  <a:srgbClr val="002060"/>
                </a:solidFill>
                <a:latin typeface="Arial" panose="020B0604020202020204" pitchFamily="34" charset="0"/>
                <a:cs typeface="Arial" panose="020B0604020202020204" pitchFamily="34" charset="0"/>
              </a:rPr>
              <a:t>4 </a:t>
            </a:r>
            <a:r>
              <a:rPr lang="en-US" sz="2400" b="1" spc="-5" dirty="0">
                <a:solidFill>
                  <a:srgbClr val="002060"/>
                </a:solidFill>
                <a:latin typeface="Arial" panose="020B0604020202020204" pitchFamily="34" charset="0"/>
                <a:cs typeface="Arial" panose="020B0604020202020204" pitchFamily="34" charset="0"/>
              </a:rPr>
              <a:t>phases described</a:t>
            </a:r>
            <a:r>
              <a:rPr lang="en-US" sz="2400" b="1" spc="-45" dirty="0">
                <a:solidFill>
                  <a:srgbClr val="002060"/>
                </a:solidFill>
                <a:latin typeface="Arial" panose="020B0604020202020204" pitchFamily="34" charset="0"/>
                <a:cs typeface="Arial" panose="020B0604020202020204" pitchFamily="34" charset="0"/>
              </a:rPr>
              <a:t> </a:t>
            </a:r>
            <a:r>
              <a:rPr lang="en-US" sz="2400" b="1" spc="-5" dirty="0">
                <a:solidFill>
                  <a:srgbClr val="002060"/>
                </a:solidFill>
                <a:latin typeface="Arial" panose="020B0604020202020204" pitchFamily="34" charset="0"/>
                <a:cs typeface="Arial" panose="020B0604020202020204" pitchFamily="34" charset="0"/>
              </a:rPr>
              <a:t>below:</a:t>
            </a:r>
            <a:endParaRPr lang="en-US" sz="2400" dirty="0">
              <a:solidFill>
                <a:srgbClr val="002060"/>
              </a:solidFill>
              <a:latin typeface="Arial" panose="020B0604020202020204" pitchFamily="34" charset="0"/>
              <a:cs typeface="Arial" panose="020B0604020202020204" pitchFamily="34" charset="0"/>
            </a:endParaRPr>
          </a:p>
          <a:p>
            <a:pPr marL="0" indent="0">
              <a:lnSpc>
                <a:spcPct val="100000"/>
              </a:lnSpc>
              <a:spcBef>
                <a:spcPts val="50"/>
              </a:spcBef>
              <a:buNone/>
            </a:pPr>
            <a:endParaRPr lang="en-US" sz="2400" dirty="0">
              <a:solidFill>
                <a:srgbClr val="002060"/>
              </a:solidFill>
              <a:latin typeface="Arial" panose="020B0604020202020204" pitchFamily="34" charset="0"/>
              <a:cs typeface="Arial" panose="020B0604020202020204" pitchFamily="34" charset="0"/>
            </a:endParaRPr>
          </a:p>
          <a:p>
            <a:pPr marL="12700">
              <a:lnSpc>
                <a:spcPct val="100000"/>
              </a:lnSpc>
            </a:pPr>
            <a:r>
              <a:rPr lang="en-US" sz="2400" i="1" spc="-50" dirty="0">
                <a:solidFill>
                  <a:srgbClr val="002060"/>
                </a:solidFill>
                <a:latin typeface="Arial" panose="020B0604020202020204" pitchFamily="34" charset="0"/>
                <a:cs typeface="Arial" panose="020B0604020202020204" pitchFamily="34" charset="0"/>
              </a:rPr>
              <a:t>Planning</a:t>
            </a:r>
            <a:r>
              <a:rPr lang="en-US" sz="2400" i="1" dirty="0">
                <a:solidFill>
                  <a:srgbClr val="002060"/>
                </a:solidFill>
                <a:latin typeface="Arial" panose="020B0604020202020204" pitchFamily="34" charset="0"/>
                <a:cs typeface="Arial" panose="020B0604020202020204" pitchFamily="34" charset="0"/>
              </a:rPr>
              <a:t> phase</a:t>
            </a:r>
            <a:endParaRPr lang="en-US" sz="2400" dirty="0">
              <a:solidFill>
                <a:srgbClr val="002060"/>
              </a:solidFill>
              <a:latin typeface="Arial" panose="020B0604020202020204" pitchFamily="34" charset="0"/>
              <a:cs typeface="Arial" panose="020B0604020202020204" pitchFamily="34" charset="0"/>
            </a:endParaRPr>
          </a:p>
          <a:p>
            <a:pPr>
              <a:lnSpc>
                <a:spcPct val="100000"/>
              </a:lnSpc>
              <a:spcBef>
                <a:spcPts val="25"/>
              </a:spcBef>
            </a:pPr>
            <a:endParaRPr lang="en-US" sz="2400" dirty="0">
              <a:solidFill>
                <a:srgbClr val="002060"/>
              </a:solidFill>
              <a:latin typeface="Arial" panose="020B0604020202020204" pitchFamily="34" charset="0"/>
              <a:cs typeface="Arial" panose="020B0604020202020204" pitchFamily="34" charset="0"/>
            </a:endParaRPr>
          </a:p>
          <a:p>
            <a:pPr marL="12700">
              <a:lnSpc>
                <a:spcPct val="100000"/>
              </a:lnSpc>
            </a:pPr>
            <a:r>
              <a:rPr lang="en-US" sz="2400" i="1" spc="-85" dirty="0">
                <a:solidFill>
                  <a:srgbClr val="002060"/>
                </a:solidFill>
                <a:latin typeface="Arial" panose="020B0604020202020204" pitchFamily="34" charset="0"/>
                <a:cs typeface="Arial" panose="020B0604020202020204" pitchFamily="34" charset="0"/>
              </a:rPr>
              <a:t>Risk </a:t>
            </a:r>
            <a:r>
              <a:rPr lang="en-US" sz="2400" i="1" spc="-5" dirty="0">
                <a:solidFill>
                  <a:srgbClr val="002060"/>
                </a:solidFill>
                <a:latin typeface="Arial" panose="020B0604020202020204" pitchFamily="34" charset="0"/>
                <a:cs typeface="Arial" panose="020B0604020202020204" pitchFamily="34" charset="0"/>
              </a:rPr>
              <a:t>analysis</a:t>
            </a:r>
            <a:r>
              <a:rPr lang="en-US" sz="2400" i="1" spc="85" dirty="0">
                <a:solidFill>
                  <a:srgbClr val="002060"/>
                </a:solidFill>
                <a:latin typeface="Arial" panose="020B0604020202020204" pitchFamily="34" charset="0"/>
                <a:cs typeface="Arial" panose="020B0604020202020204" pitchFamily="34" charset="0"/>
              </a:rPr>
              <a:t> </a:t>
            </a:r>
            <a:r>
              <a:rPr lang="en-US" sz="2400" i="1" dirty="0">
                <a:solidFill>
                  <a:srgbClr val="002060"/>
                </a:solidFill>
                <a:latin typeface="Arial" panose="020B0604020202020204" pitchFamily="34" charset="0"/>
                <a:cs typeface="Arial" panose="020B0604020202020204" pitchFamily="34" charset="0"/>
              </a:rPr>
              <a:t>phase</a:t>
            </a:r>
            <a:endParaRPr lang="en-US" sz="2400" dirty="0">
              <a:solidFill>
                <a:srgbClr val="002060"/>
              </a:solidFill>
              <a:latin typeface="Arial" panose="020B0604020202020204" pitchFamily="34" charset="0"/>
              <a:cs typeface="Arial" panose="020B0604020202020204" pitchFamily="34" charset="0"/>
            </a:endParaRPr>
          </a:p>
          <a:p>
            <a:pPr>
              <a:lnSpc>
                <a:spcPct val="100000"/>
              </a:lnSpc>
              <a:spcBef>
                <a:spcPts val="25"/>
              </a:spcBef>
            </a:pPr>
            <a:endParaRPr lang="en-US" sz="2400" dirty="0">
              <a:solidFill>
                <a:srgbClr val="002060"/>
              </a:solidFill>
              <a:latin typeface="Arial" panose="020B0604020202020204" pitchFamily="34" charset="0"/>
              <a:cs typeface="Arial" panose="020B0604020202020204" pitchFamily="34" charset="0"/>
            </a:endParaRPr>
          </a:p>
          <a:p>
            <a:pPr marL="12700">
              <a:lnSpc>
                <a:spcPct val="100000"/>
              </a:lnSpc>
            </a:pPr>
            <a:r>
              <a:rPr lang="en-US" sz="2400" i="1" spc="-35" dirty="0">
                <a:solidFill>
                  <a:srgbClr val="002060"/>
                </a:solidFill>
                <a:latin typeface="Arial" panose="020B0604020202020204" pitchFamily="34" charset="0"/>
                <a:cs typeface="Arial" panose="020B0604020202020204" pitchFamily="34" charset="0"/>
              </a:rPr>
              <a:t>Engineering</a:t>
            </a:r>
            <a:r>
              <a:rPr lang="en-US" sz="2400" i="1" dirty="0">
                <a:solidFill>
                  <a:srgbClr val="002060"/>
                </a:solidFill>
                <a:latin typeface="Arial" panose="020B0604020202020204" pitchFamily="34" charset="0"/>
                <a:cs typeface="Arial" panose="020B0604020202020204" pitchFamily="34" charset="0"/>
              </a:rPr>
              <a:t> phase</a:t>
            </a:r>
            <a:endParaRPr lang="en-US" sz="2400" dirty="0">
              <a:solidFill>
                <a:srgbClr val="002060"/>
              </a:solidFill>
              <a:latin typeface="Arial" panose="020B0604020202020204" pitchFamily="34" charset="0"/>
              <a:cs typeface="Arial" panose="020B0604020202020204" pitchFamily="34" charset="0"/>
            </a:endParaRPr>
          </a:p>
          <a:p>
            <a:pPr>
              <a:lnSpc>
                <a:spcPct val="100000"/>
              </a:lnSpc>
              <a:spcBef>
                <a:spcPts val="25"/>
              </a:spcBef>
            </a:pPr>
            <a:endParaRPr lang="en-US" sz="2400" dirty="0">
              <a:solidFill>
                <a:srgbClr val="002060"/>
              </a:solidFill>
              <a:latin typeface="Arial" panose="020B0604020202020204" pitchFamily="34" charset="0"/>
              <a:cs typeface="Arial" panose="020B0604020202020204" pitchFamily="34" charset="0"/>
            </a:endParaRPr>
          </a:p>
          <a:p>
            <a:pPr marL="12700">
              <a:lnSpc>
                <a:spcPct val="100000"/>
              </a:lnSpc>
            </a:pPr>
            <a:r>
              <a:rPr lang="en-US" sz="2400" i="1" spc="-40" dirty="0">
                <a:solidFill>
                  <a:srgbClr val="002060"/>
                </a:solidFill>
                <a:latin typeface="Arial" panose="020B0604020202020204" pitchFamily="34" charset="0"/>
                <a:cs typeface="Arial" panose="020B0604020202020204" pitchFamily="34" charset="0"/>
              </a:rPr>
              <a:t>Evaluation</a:t>
            </a:r>
            <a:r>
              <a:rPr lang="en-US" sz="2400" i="1" dirty="0">
                <a:solidFill>
                  <a:srgbClr val="002060"/>
                </a:solidFill>
                <a:latin typeface="Arial" panose="020B0604020202020204" pitchFamily="34" charset="0"/>
                <a:cs typeface="Arial" panose="020B0604020202020204" pitchFamily="34" charset="0"/>
              </a:rPr>
              <a:t> phase</a:t>
            </a:r>
            <a:r>
              <a:rPr lang="en-US" sz="2400" dirty="0">
                <a:solidFill>
                  <a:srgbClr val="002060"/>
                </a:solidFill>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3436062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002060"/>
                </a:solidFill>
                <a:latin typeface="Arial" panose="020B0604020202020204" pitchFamily="34" charset="0"/>
                <a:cs typeface="Arial" panose="020B0604020202020204" pitchFamily="34" charset="0"/>
              </a:rPr>
              <a:t>Planning</a:t>
            </a:r>
          </a:p>
        </p:txBody>
      </p:sp>
      <p:sp>
        <p:nvSpPr>
          <p:cNvPr id="3" name="Content Placeholder 2"/>
          <p:cNvSpPr>
            <a:spLocks noGrp="1"/>
          </p:cNvSpPr>
          <p:nvPr>
            <p:ph idx="1"/>
          </p:nvPr>
        </p:nvSpPr>
        <p:spPr/>
        <p:txBody>
          <a:bodyPr>
            <a:normAutofit lnSpcReduction="10000"/>
          </a:bodyPr>
          <a:lstStyle/>
          <a:p>
            <a:pPr marL="495300" indent="-457200" algn="just">
              <a:lnSpc>
                <a:spcPct val="100000"/>
              </a:lnSpc>
              <a:spcBef>
                <a:spcPts val="100"/>
              </a:spcBef>
              <a:buFont typeface="Wingdings" panose="05000000000000000000" pitchFamily="2" charset="2"/>
              <a:buChar char="§"/>
              <a:tabLst>
                <a:tab pos="322580" algn="l"/>
              </a:tabLst>
            </a:pPr>
            <a:r>
              <a:rPr lang="en-US" spc="-5" dirty="0">
                <a:solidFill>
                  <a:srgbClr val="002060"/>
                </a:solidFill>
                <a:latin typeface="Arial" panose="020B0604020202020204" pitchFamily="34" charset="0"/>
                <a:cs typeface="Arial" panose="020B0604020202020204" pitchFamily="34" charset="0"/>
              </a:rPr>
              <a:t>Requirements </a:t>
            </a:r>
            <a:r>
              <a:rPr lang="en-US" dirty="0">
                <a:solidFill>
                  <a:srgbClr val="002060"/>
                </a:solidFill>
                <a:latin typeface="Arial" panose="020B0604020202020204" pitchFamily="34" charset="0"/>
                <a:cs typeface="Arial" panose="020B0604020202020204" pitchFamily="34" charset="0"/>
              </a:rPr>
              <a:t>are </a:t>
            </a:r>
            <a:r>
              <a:rPr lang="en-US" spc="-5" dirty="0">
                <a:solidFill>
                  <a:srgbClr val="002060"/>
                </a:solidFill>
                <a:latin typeface="Arial" panose="020B0604020202020204" pitchFamily="34" charset="0"/>
                <a:cs typeface="Arial" panose="020B0604020202020204" pitchFamily="34" charset="0"/>
              </a:rPr>
              <a:t>studied </a:t>
            </a:r>
            <a:r>
              <a:rPr lang="en-US" dirty="0">
                <a:solidFill>
                  <a:srgbClr val="002060"/>
                </a:solidFill>
                <a:latin typeface="Arial" panose="020B0604020202020204" pitchFamily="34" charset="0"/>
                <a:cs typeface="Arial" panose="020B0604020202020204" pitchFamily="34" charset="0"/>
              </a:rPr>
              <a:t>and</a:t>
            </a:r>
            <a:r>
              <a:rPr lang="en-US" spc="10" dirty="0">
                <a:solidFill>
                  <a:srgbClr val="002060"/>
                </a:solidFill>
                <a:latin typeface="Arial" panose="020B0604020202020204" pitchFamily="34" charset="0"/>
                <a:cs typeface="Arial" panose="020B0604020202020204" pitchFamily="34" charset="0"/>
              </a:rPr>
              <a:t> </a:t>
            </a:r>
            <a:r>
              <a:rPr lang="en-US" dirty="0">
                <a:solidFill>
                  <a:srgbClr val="002060"/>
                </a:solidFill>
                <a:latin typeface="Arial" panose="020B0604020202020204" pitchFamily="34" charset="0"/>
                <a:cs typeface="Arial" panose="020B0604020202020204" pitchFamily="34" charset="0"/>
              </a:rPr>
              <a:t>gathered.</a:t>
            </a:r>
          </a:p>
          <a:p>
            <a:pPr marL="495300" indent="-457200" algn="just">
              <a:lnSpc>
                <a:spcPct val="100000"/>
              </a:lnSpc>
              <a:spcBef>
                <a:spcPts val="1700"/>
              </a:spcBef>
              <a:buFont typeface="Wingdings" panose="05000000000000000000" pitchFamily="2" charset="2"/>
              <a:buChar char="§"/>
              <a:tabLst>
                <a:tab pos="322580" algn="l"/>
              </a:tabLst>
            </a:pPr>
            <a:r>
              <a:rPr lang="en-US" spc="-5" dirty="0">
                <a:solidFill>
                  <a:srgbClr val="002060"/>
                </a:solidFill>
                <a:latin typeface="Arial" panose="020B0604020202020204" pitchFamily="34" charset="0"/>
                <a:cs typeface="Arial" panose="020B0604020202020204" pitchFamily="34" charset="0"/>
              </a:rPr>
              <a:t>Feasibility</a:t>
            </a:r>
            <a:r>
              <a:rPr lang="en-US" spc="-10" dirty="0">
                <a:solidFill>
                  <a:srgbClr val="002060"/>
                </a:solidFill>
                <a:latin typeface="Arial" panose="020B0604020202020204" pitchFamily="34" charset="0"/>
                <a:cs typeface="Arial" panose="020B0604020202020204" pitchFamily="34" charset="0"/>
              </a:rPr>
              <a:t> </a:t>
            </a:r>
            <a:r>
              <a:rPr lang="en-US" spc="-5" dirty="0">
                <a:solidFill>
                  <a:srgbClr val="002060"/>
                </a:solidFill>
                <a:latin typeface="Arial" panose="020B0604020202020204" pitchFamily="34" charset="0"/>
                <a:cs typeface="Arial" panose="020B0604020202020204" pitchFamily="34" charset="0"/>
              </a:rPr>
              <a:t>study</a:t>
            </a:r>
            <a:endParaRPr lang="en-US" dirty="0">
              <a:solidFill>
                <a:srgbClr val="002060"/>
              </a:solidFill>
              <a:latin typeface="Arial" panose="020B0604020202020204" pitchFamily="34" charset="0"/>
              <a:cs typeface="Arial" panose="020B0604020202020204" pitchFamily="34" charset="0"/>
            </a:endParaRPr>
          </a:p>
          <a:p>
            <a:pPr marL="495300" indent="-457200" algn="just">
              <a:lnSpc>
                <a:spcPct val="100000"/>
              </a:lnSpc>
              <a:spcBef>
                <a:spcPts val="1700"/>
              </a:spcBef>
              <a:buFont typeface="Wingdings" panose="05000000000000000000" pitchFamily="2" charset="2"/>
              <a:buChar char="§"/>
              <a:tabLst>
                <a:tab pos="322580" algn="l"/>
              </a:tabLst>
            </a:pPr>
            <a:r>
              <a:rPr lang="en-US" spc="-5" dirty="0">
                <a:solidFill>
                  <a:srgbClr val="002060"/>
                </a:solidFill>
                <a:latin typeface="Arial" panose="020B0604020202020204" pitchFamily="34" charset="0"/>
                <a:cs typeface="Arial" panose="020B0604020202020204" pitchFamily="34" charset="0"/>
              </a:rPr>
              <a:t>Reviews </a:t>
            </a:r>
            <a:r>
              <a:rPr lang="en-US" dirty="0">
                <a:solidFill>
                  <a:srgbClr val="002060"/>
                </a:solidFill>
                <a:latin typeface="Arial" panose="020B0604020202020204" pitchFamily="34" charset="0"/>
                <a:cs typeface="Arial" panose="020B0604020202020204" pitchFamily="34" charset="0"/>
              </a:rPr>
              <a:t>and walkthroughs </a:t>
            </a:r>
            <a:r>
              <a:rPr lang="en-US" spc="-5" dirty="0">
                <a:solidFill>
                  <a:srgbClr val="002060"/>
                </a:solidFill>
                <a:latin typeface="Arial" panose="020B0604020202020204" pitchFamily="34" charset="0"/>
                <a:cs typeface="Arial" panose="020B0604020202020204" pitchFamily="34" charset="0"/>
              </a:rPr>
              <a:t>to streamline the</a:t>
            </a:r>
            <a:r>
              <a:rPr lang="en-US" spc="10" dirty="0">
                <a:solidFill>
                  <a:srgbClr val="002060"/>
                </a:solidFill>
                <a:latin typeface="Arial" panose="020B0604020202020204" pitchFamily="34" charset="0"/>
                <a:cs typeface="Arial" panose="020B0604020202020204" pitchFamily="34" charset="0"/>
              </a:rPr>
              <a:t> </a:t>
            </a:r>
            <a:r>
              <a:rPr lang="en-US" spc="-5" dirty="0">
                <a:solidFill>
                  <a:srgbClr val="002060"/>
                </a:solidFill>
                <a:latin typeface="Arial" panose="020B0604020202020204" pitchFamily="34" charset="0"/>
                <a:cs typeface="Arial" panose="020B0604020202020204" pitchFamily="34" charset="0"/>
              </a:rPr>
              <a:t>requirements</a:t>
            </a:r>
            <a:endParaRPr lang="en-US" dirty="0">
              <a:solidFill>
                <a:srgbClr val="002060"/>
              </a:solidFill>
              <a:latin typeface="Arial" panose="020B0604020202020204" pitchFamily="34" charset="0"/>
              <a:cs typeface="Arial" panose="020B0604020202020204" pitchFamily="34" charset="0"/>
            </a:endParaRPr>
          </a:p>
          <a:p>
            <a:pPr marL="495300" indent="-457200" algn="just">
              <a:lnSpc>
                <a:spcPct val="100000"/>
              </a:lnSpc>
              <a:spcBef>
                <a:spcPts val="1700"/>
              </a:spcBef>
              <a:buFont typeface="Wingdings" panose="05000000000000000000" pitchFamily="2" charset="2"/>
              <a:buChar char="§"/>
              <a:tabLst>
                <a:tab pos="322580" algn="l"/>
              </a:tabLst>
            </a:pPr>
            <a:r>
              <a:rPr lang="en-US" spc="-5" dirty="0">
                <a:solidFill>
                  <a:srgbClr val="002060"/>
                </a:solidFill>
                <a:latin typeface="Arial" panose="020B0604020202020204" pitchFamily="34" charset="0"/>
                <a:cs typeface="Arial" panose="020B0604020202020204" pitchFamily="34" charset="0"/>
              </a:rPr>
              <a:t>Requirements understanding</a:t>
            </a:r>
            <a:r>
              <a:rPr lang="en-US" dirty="0">
                <a:solidFill>
                  <a:srgbClr val="002060"/>
                </a:solidFill>
                <a:latin typeface="Arial" panose="020B0604020202020204" pitchFamily="34" charset="0"/>
                <a:cs typeface="Arial" panose="020B0604020202020204" pitchFamily="34" charset="0"/>
              </a:rPr>
              <a:t> document</a:t>
            </a:r>
          </a:p>
          <a:p>
            <a:pPr marL="495300" indent="-457200" algn="just">
              <a:lnSpc>
                <a:spcPct val="100000"/>
              </a:lnSpc>
              <a:spcBef>
                <a:spcPts val="1700"/>
              </a:spcBef>
              <a:buFont typeface="Wingdings" panose="05000000000000000000" pitchFamily="2" charset="2"/>
              <a:buChar char="§"/>
              <a:tabLst>
                <a:tab pos="322580" algn="l"/>
              </a:tabLst>
            </a:pPr>
            <a:r>
              <a:rPr lang="en-US" spc="-5" dirty="0">
                <a:solidFill>
                  <a:srgbClr val="002060"/>
                </a:solidFill>
                <a:latin typeface="Arial" panose="020B0604020202020204" pitchFamily="34" charset="0"/>
                <a:cs typeface="Arial" panose="020B0604020202020204" pitchFamily="34" charset="0"/>
              </a:rPr>
              <a:t>Finalized </a:t>
            </a:r>
            <a:r>
              <a:rPr lang="en-US" spc="-10" dirty="0">
                <a:solidFill>
                  <a:srgbClr val="002060"/>
                </a:solidFill>
                <a:latin typeface="Arial" panose="020B0604020202020204" pitchFamily="34" charset="0"/>
                <a:cs typeface="Arial" panose="020B0604020202020204" pitchFamily="34" charset="0"/>
              </a:rPr>
              <a:t>list </a:t>
            </a:r>
            <a:r>
              <a:rPr lang="en-US" dirty="0">
                <a:solidFill>
                  <a:srgbClr val="002060"/>
                </a:solidFill>
                <a:latin typeface="Arial" panose="020B0604020202020204" pitchFamily="34" charset="0"/>
                <a:cs typeface="Arial" panose="020B0604020202020204" pitchFamily="34" charset="0"/>
              </a:rPr>
              <a:t>of</a:t>
            </a:r>
            <a:r>
              <a:rPr lang="en-US" spc="15" dirty="0">
                <a:solidFill>
                  <a:srgbClr val="002060"/>
                </a:solidFill>
                <a:latin typeface="Arial" panose="020B0604020202020204" pitchFamily="34" charset="0"/>
                <a:cs typeface="Arial" panose="020B0604020202020204" pitchFamily="34" charset="0"/>
              </a:rPr>
              <a:t> </a:t>
            </a:r>
            <a:r>
              <a:rPr lang="en-US" spc="-5" dirty="0">
                <a:solidFill>
                  <a:srgbClr val="002060"/>
                </a:solidFill>
                <a:latin typeface="Arial" panose="020B0604020202020204" pitchFamily="34" charset="0"/>
                <a:cs typeface="Arial" panose="020B0604020202020204" pitchFamily="34" charset="0"/>
              </a:rPr>
              <a:t>requirements.</a:t>
            </a:r>
            <a:endParaRPr lang="en-US" dirty="0">
              <a:solidFill>
                <a:srgbClr val="002060"/>
              </a:solidFill>
              <a:latin typeface="Arial" panose="020B0604020202020204" pitchFamily="34" charset="0"/>
              <a:cs typeface="Arial" panose="020B0604020202020204" pitchFamily="34" charset="0"/>
            </a:endParaRPr>
          </a:p>
          <a:p>
            <a:pPr marL="494665" marR="582295" indent="-457200" algn="just">
              <a:lnSpc>
                <a:spcPct val="150000"/>
              </a:lnSpc>
              <a:spcBef>
                <a:spcPts val="500"/>
              </a:spcBef>
              <a:buFont typeface="Wingdings" panose="05000000000000000000" pitchFamily="2" charset="2"/>
              <a:buChar char="§"/>
              <a:tabLst>
                <a:tab pos="322580" algn="l"/>
              </a:tabLst>
            </a:pPr>
            <a:r>
              <a:rPr lang="en-US" dirty="0">
                <a:solidFill>
                  <a:srgbClr val="002060"/>
                </a:solidFill>
                <a:latin typeface="Arial" panose="020B0604020202020204" pitchFamily="34" charset="0"/>
                <a:cs typeface="Arial" panose="020B0604020202020204" pitchFamily="34" charset="0"/>
              </a:rPr>
              <a:t>The project is </a:t>
            </a:r>
            <a:r>
              <a:rPr lang="en-US" spc="-5" dirty="0">
                <a:solidFill>
                  <a:srgbClr val="002060"/>
                </a:solidFill>
                <a:latin typeface="Arial" panose="020B0604020202020204" pitchFamily="34" charset="0"/>
                <a:cs typeface="Arial" panose="020B0604020202020204" pitchFamily="34" charset="0"/>
              </a:rPr>
              <a:t>reviewed </a:t>
            </a:r>
            <a:r>
              <a:rPr lang="en-US" dirty="0">
                <a:solidFill>
                  <a:srgbClr val="002060"/>
                </a:solidFill>
                <a:latin typeface="Arial" panose="020B0604020202020204" pitchFamily="34" charset="0"/>
                <a:cs typeface="Arial" panose="020B0604020202020204" pitchFamily="34" charset="0"/>
              </a:rPr>
              <a:t>and a </a:t>
            </a:r>
            <a:r>
              <a:rPr lang="en-US" spc="-5" dirty="0">
                <a:solidFill>
                  <a:srgbClr val="002060"/>
                </a:solidFill>
                <a:latin typeface="Arial" panose="020B0604020202020204" pitchFamily="34" charset="0"/>
                <a:cs typeface="Arial" panose="020B0604020202020204" pitchFamily="34" charset="0"/>
              </a:rPr>
              <a:t>decision </a:t>
            </a:r>
            <a:r>
              <a:rPr lang="en-US" spc="-10" dirty="0">
                <a:solidFill>
                  <a:srgbClr val="002060"/>
                </a:solidFill>
                <a:latin typeface="Arial" panose="020B0604020202020204" pitchFamily="34" charset="0"/>
                <a:cs typeface="Arial" panose="020B0604020202020204" pitchFamily="34" charset="0"/>
              </a:rPr>
              <a:t>made </a:t>
            </a:r>
            <a:r>
              <a:rPr lang="en-US" dirty="0">
                <a:solidFill>
                  <a:srgbClr val="002060"/>
                </a:solidFill>
                <a:latin typeface="Arial" panose="020B0604020202020204" pitchFamily="34" charset="0"/>
                <a:cs typeface="Arial" panose="020B0604020202020204" pitchFamily="34" charset="0"/>
              </a:rPr>
              <a:t>whether  to continue </a:t>
            </a:r>
            <a:r>
              <a:rPr lang="en-US" spc="-5" dirty="0">
                <a:solidFill>
                  <a:srgbClr val="002060"/>
                </a:solidFill>
                <a:latin typeface="Arial" panose="020B0604020202020204" pitchFamily="34" charset="0"/>
                <a:cs typeface="Arial" panose="020B0604020202020204" pitchFamily="34" charset="0"/>
              </a:rPr>
              <a:t>with </a:t>
            </a:r>
            <a:r>
              <a:rPr lang="en-US" dirty="0">
                <a:solidFill>
                  <a:srgbClr val="002060"/>
                </a:solidFill>
                <a:latin typeface="Arial" panose="020B0604020202020204" pitchFamily="34" charset="0"/>
                <a:cs typeface="Arial" panose="020B0604020202020204" pitchFamily="34" charset="0"/>
              </a:rPr>
              <a:t>a further loop of </a:t>
            </a:r>
            <a:r>
              <a:rPr lang="en-US" spc="-5" dirty="0">
                <a:solidFill>
                  <a:srgbClr val="002060"/>
                </a:solidFill>
                <a:latin typeface="Arial" panose="020B0604020202020204" pitchFamily="34" charset="0"/>
                <a:cs typeface="Arial" panose="020B0604020202020204" pitchFamily="34" charset="0"/>
              </a:rPr>
              <a:t>the</a:t>
            </a:r>
            <a:r>
              <a:rPr lang="en-US" spc="15" dirty="0">
                <a:solidFill>
                  <a:srgbClr val="002060"/>
                </a:solidFill>
                <a:latin typeface="Arial" panose="020B0604020202020204" pitchFamily="34" charset="0"/>
                <a:cs typeface="Arial" panose="020B0604020202020204" pitchFamily="34" charset="0"/>
              </a:rPr>
              <a:t> </a:t>
            </a:r>
            <a:r>
              <a:rPr lang="en-US" spc="-5" dirty="0">
                <a:solidFill>
                  <a:srgbClr val="002060"/>
                </a:solidFill>
                <a:latin typeface="Arial" panose="020B0604020202020204" pitchFamily="34" charset="0"/>
                <a:cs typeface="Arial" panose="020B0604020202020204" pitchFamily="34" charset="0"/>
              </a:rPr>
              <a:t>spiral.</a:t>
            </a:r>
            <a:endParaRPr lang="en-US" dirty="0">
              <a:solidFill>
                <a:srgbClr val="002060"/>
              </a:solidFill>
              <a:latin typeface="Arial" panose="020B0604020202020204" pitchFamily="34" charset="0"/>
              <a:cs typeface="Arial" panose="020B0604020202020204" pitchFamily="34" charset="0"/>
            </a:endParaRPr>
          </a:p>
          <a:p>
            <a:pPr marL="494665" marR="30480" indent="-457200" algn="just">
              <a:lnSpc>
                <a:spcPct val="150000"/>
              </a:lnSpc>
              <a:spcBef>
                <a:spcPts val="490"/>
              </a:spcBef>
              <a:buFont typeface="Wingdings" panose="05000000000000000000" pitchFamily="2" charset="2"/>
              <a:buChar char="§"/>
              <a:tabLst>
                <a:tab pos="322580" algn="l"/>
              </a:tabLst>
            </a:pPr>
            <a:r>
              <a:rPr lang="en-US" spc="5" dirty="0">
                <a:solidFill>
                  <a:srgbClr val="002060"/>
                </a:solidFill>
                <a:latin typeface="Arial" panose="020B0604020202020204" pitchFamily="34" charset="0"/>
                <a:cs typeface="Arial" panose="020B0604020202020204" pitchFamily="34" charset="0"/>
              </a:rPr>
              <a:t>If </a:t>
            </a:r>
            <a:r>
              <a:rPr lang="en-US" dirty="0">
                <a:solidFill>
                  <a:srgbClr val="002060"/>
                </a:solidFill>
                <a:latin typeface="Arial" panose="020B0604020202020204" pitchFamily="34" charset="0"/>
                <a:cs typeface="Arial" panose="020B0604020202020204" pitchFamily="34" charset="0"/>
              </a:rPr>
              <a:t>it </a:t>
            </a:r>
            <a:r>
              <a:rPr lang="en-US" spc="-5" dirty="0">
                <a:solidFill>
                  <a:srgbClr val="002060"/>
                </a:solidFill>
                <a:latin typeface="Arial" panose="020B0604020202020204" pitchFamily="34" charset="0"/>
                <a:cs typeface="Arial" panose="020B0604020202020204" pitchFamily="34" charset="0"/>
              </a:rPr>
              <a:t>is decided to </a:t>
            </a:r>
            <a:r>
              <a:rPr lang="en-US" dirty="0">
                <a:solidFill>
                  <a:srgbClr val="002060"/>
                </a:solidFill>
                <a:latin typeface="Arial" panose="020B0604020202020204" pitchFamily="34" charset="0"/>
                <a:cs typeface="Arial" panose="020B0604020202020204" pitchFamily="34" charset="0"/>
              </a:rPr>
              <a:t>continue, plans are drawn up for </a:t>
            </a:r>
            <a:r>
              <a:rPr lang="en-US" spc="-5" dirty="0">
                <a:solidFill>
                  <a:srgbClr val="002060"/>
                </a:solidFill>
                <a:latin typeface="Arial" panose="020B0604020202020204" pitchFamily="34" charset="0"/>
                <a:cs typeface="Arial" panose="020B0604020202020204" pitchFamily="34" charset="0"/>
              </a:rPr>
              <a:t>the </a:t>
            </a:r>
            <a:r>
              <a:rPr lang="en-US" dirty="0">
                <a:solidFill>
                  <a:srgbClr val="002060"/>
                </a:solidFill>
                <a:latin typeface="Arial" panose="020B0604020202020204" pitchFamily="34" charset="0"/>
                <a:cs typeface="Arial" panose="020B0604020202020204" pitchFamily="34" charset="0"/>
              </a:rPr>
              <a:t>next  phase of the</a:t>
            </a:r>
            <a:r>
              <a:rPr lang="en-US" spc="-5" dirty="0">
                <a:solidFill>
                  <a:srgbClr val="002060"/>
                </a:solidFill>
                <a:latin typeface="Arial" panose="020B0604020202020204" pitchFamily="34" charset="0"/>
                <a:cs typeface="Arial" panose="020B0604020202020204" pitchFamily="34" charset="0"/>
              </a:rPr>
              <a:t> </a:t>
            </a:r>
            <a:r>
              <a:rPr lang="en-US" dirty="0">
                <a:solidFill>
                  <a:srgbClr val="002060"/>
                </a:solidFill>
                <a:latin typeface="Arial" panose="020B0604020202020204" pitchFamily="34" charset="0"/>
                <a:cs typeface="Arial" panose="020B0604020202020204" pitchFamily="34" charset="0"/>
              </a:rPr>
              <a:t>project</a:t>
            </a:r>
          </a:p>
        </p:txBody>
      </p:sp>
    </p:spTree>
    <p:extLst>
      <p:ext uri="{BB962C8B-B14F-4D97-AF65-F5344CB8AC3E}">
        <p14:creationId xmlns:p14="http://schemas.microsoft.com/office/powerpoint/2010/main" val="183973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Arial" panose="020B0604020202020204" pitchFamily="34" charset="0"/>
                <a:cs typeface="Arial" panose="020B0604020202020204" pitchFamily="34" charset="0"/>
              </a:rPr>
              <a:t>Risk Analysis</a:t>
            </a:r>
          </a:p>
        </p:txBody>
      </p:sp>
      <p:sp>
        <p:nvSpPr>
          <p:cNvPr id="3" name="Content Placeholder 2"/>
          <p:cNvSpPr>
            <a:spLocks noGrp="1"/>
          </p:cNvSpPr>
          <p:nvPr>
            <p:ph idx="1"/>
          </p:nvPr>
        </p:nvSpPr>
        <p:spPr/>
        <p:txBody>
          <a:bodyPr>
            <a:normAutofit fontScale="92500"/>
          </a:bodyPr>
          <a:lstStyle/>
          <a:p>
            <a:pPr marL="63500" marR="103505" algn="just">
              <a:lnSpc>
                <a:spcPct val="150000"/>
              </a:lnSpc>
              <a:spcBef>
                <a:spcPts val="100"/>
              </a:spcBef>
            </a:pPr>
            <a:r>
              <a:rPr lang="en-US" sz="2400" spc="-20" dirty="0">
                <a:solidFill>
                  <a:srgbClr val="002060"/>
                </a:solidFill>
                <a:latin typeface="Arial" panose="020B0604020202020204" pitchFamily="34" charset="0"/>
                <a:cs typeface="Arial" panose="020B0604020202020204" pitchFamily="34" charset="0"/>
              </a:rPr>
              <a:t>Requirements </a:t>
            </a:r>
            <a:r>
              <a:rPr lang="en-US" sz="2400" dirty="0">
                <a:solidFill>
                  <a:srgbClr val="002060"/>
                </a:solidFill>
                <a:latin typeface="Arial" panose="020B0604020202020204" pitchFamily="34" charset="0"/>
                <a:cs typeface="Arial" panose="020B0604020202020204" pitchFamily="34" charset="0"/>
              </a:rPr>
              <a:t>are </a:t>
            </a:r>
            <a:r>
              <a:rPr lang="en-US" sz="2400" spc="-5" dirty="0">
                <a:solidFill>
                  <a:srgbClr val="002060"/>
                </a:solidFill>
                <a:latin typeface="Arial" panose="020B0604020202020204" pitchFamily="34" charset="0"/>
                <a:cs typeface="Arial" panose="020B0604020202020204" pitchFamily="34" charset="0"/>
              </a:rPr>
              <a:t>studied </a:t>
            </a:r>
            <a:r>
              <a:rPr lang="en-US" sz="2400" dirty="0">
                <a:solidFill>
                  <a:srgbClr val="002060"/>
                </a:solidFill>
                <a:latin typeface="Arial" panose="020B0604020202020204" pitchFamily="34" charset="0"/>
                <a:cs typeface="Arial" panose="020B0604020202020204" pitchFamily="34" charset="0"/>
              </a:rPr>
              <a:t>and </a:t>
            </a:r>
            <a:r>
              <a:rPr lang="en-US" sz="2400" spc="-5" dirty="0">
                <a:solidFill>
                  <a:srgbClr val="002060"/>
                </a:solidFill>
                <a:latin typeface="Arial" panose="020B0604020202020204" pitchFamily="34" charset="0"/>
                <a:cs typeface="Arial" panose="020B0604020202020204" pitchFamily="34" charset="0"/>
              </a:rPr>
              <a:t>brain storming sessions </a:t>
            </a:r>
            <a:r>
              <a:rPr lang="en-US" sz="2400" dirty="0">
                <a:solidFill>
                  <a:srgbClr val="002060"/>
                </a:solidFill>
                <a:latin typeface="Arial" panose="020B0604020202020204" pitchFamily="34" charset="0"/>
                <a:cs typeface="Arial" panose="020B0604020202020204" pitchFamily="34" charset="0"/>
              </a:rPr>
              <a:t>are  done </a:t>
            </a:r>
            <a:r>
              <a:rPr lang="en-US" sz="2400" spc="-5" dirty="0">
                <a:solidFill>
                  <a:srgbClr val="002060"/>
                </a:solidFill>
                <a:latin typeface="Arial" panose="020B0604020202020204" pitchFamily="34" charset="0"/>
                <a:cs typeface="Arial" panose="020B0604020202020204" pitchFamily="34" charset="0"/>
              </a:rPr>
              <a:t>to identify the potential</a:t>
            </a:r>
            <a:r>
              <a:rPr lang="en-US" sz="2400" spc="15"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risks</a:t>
            </a:r>
            <a:endParaRPr lang="en-US" sz="2400" dirty="0">
              <a:solidFill>
                <a:srgbClr val="002060"/>
              </a:solidFill>
              <a:latin typeface="Arial" panose="020B0604020202020204" pitchFamily="34" charset="0"/>
              <a:cs typeface="Arial" panose="020B0604020202020204" pitchFamily="34" charset="0"/>
            </a:endParaRPr>
          </a:p>
          <a:p>
            <a:pPr algn="just">
              <a:lnSpc>
                <a:spcPct val="100000"/>
              </a:lnSpc>
              <a:spcBef>
                <a:spcPts val="35"/>
              </a:spcBef>
            </a:pPr>
            <a:endParaRPr lang="en-US" sz="2400" dirty="0">
              <a:solidFill>
                <a:srgbClr val="002060"/>
              </a:solidFill>
              <a:latin typeface="Arial" panose="020B0604020202020204" pitchFamily="34" charset="0"/>
              <a:cs typeface="Arial" panose="020B0604020202020204" pitchFamily="34" charset="0"/>
            </a:endParaRPr>
          </a:p>
          <a:p>
            <a:pPr marL="63500" marR="295910" algn="just">
              <a:lnSpc>
                <a:spcPct val="150000"/>
              </a:lnSpc>
            </a:pPr>
            <a:r>
              <a:rPr lang="en-US" sz="2400" spc="-45" dirty="0">
                <a:solidFill>
                  <a:srgbClr val="002060"/>
                </a:solidFill>
                <a:latin typeface="Arial" panose="020B0604020202020204" pitchFamily="34" charset="0"/>
                <a:cs typeface="Arial" panose="020B0604020202020204" pitchFamily="34" charset="0"/>
              </a:rPr>
              <a:t>Once </a:t>
            </a:r>
            <a:r>
              <a:rPr lang="en-US" sz="2400" dirty="0">
                <a:solidFill>
                  <a:srgbClr val="002060"/>
                </a:solidFill>
                <a:latin typeface="Arial" panose="020B0604020202020204" pitchFamily="34" charset="0"/>
                <a:cs typeface="Arial" panose="020B0604020202020204" pitchFamily="34" charset="0"/>
              </a:rPr>
              <a:t>the </a:t>
            </a:r>
            <a:r>
              <a:rPr lang="en-US" sz="2400" spc="-5" dirty="0">
                <a:solidFill>
                  <a:srgbClr val="002060"/>
                </a:solidFill>
                <a:latin typeface="Arial" panose="020B0604020202020204" pitchFamily="34" charset="0"/>
                <a:cs typeface="Arial" panose="020B0604020202020204" pitchFamily="34" charset="0"/>
              </a:rPr>
              <a:t>risks </a:t>
            </a:r>
            <a:r>
              <a:rPr lang="en-US" sz="2400" dirty="0">
                <a:solidFill>
                  <a:srgbClr val="002060"/>
                </a:solidFill>
                <a:latin typeface="Arial" panose="020B0604020202020204" pitchFamily="34" charset="0"/>
                <a:cs typeface="Arial" panose="020B0604020202020204" pitchFamily="34" charset="0"/>
              </a:rPr>
              <a:t>are </a:t>
            </a:r>
            <a:r>
              <a:rPr lang="en-US" sz="2400" spc="-5" dirty="0">
                <a:solidFill>
                  <a:srgbClr val="002060"/>
                </a:solidFill>
                <a:latin typeface="Arial" panose="020B0604020202020204" pitchFamily="34" charset="0"/>
                <a:cs typeface="Arial" panose="020B0604020202020204" pitchFamily="34" charset="0"/>
              </a:rPr>
              <a:t>identified </a:t>
            </a:r>
            <a:r>
              <a:rPr lang="en-US" sz="2400"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risk </a:t>
            </a:r>
            <a:r>
              <a:rPr lang="en-US" sz="2400" spc="-10" dirty="0">
                <a:solidFill>
                  <a:srgbClr val="002060"/>
                </a:solidFill>
                <a:latin typeface="Arial" panose="020B0604020202020204" pitchFamily="34" charset="0"/>
                <a:cs typeface="Arial" panose="020B0604020202020204" pitchFamily="34" charset="0"/>
              </a:rPr>
              <a:t>mitigation </a:t>
            </a:r>
            <a:r>
              <a:rPr lang="en-US" sz="2400" spc="-5" dirty="0">
                <a:solidFill>
                  <a:srgbClr val="002060"/>
                </a:solidFill>
                <a:latin typeface="Arial" panose="020B0604020202020204" pitchFamily="34" charset="0"/>
                <a:cs typeface="Arial" panose="020B0604020202020204" pitchFamily="34" charset="0"/>
              </a:rPr>
              <a:t>strategy </a:t>
            </a:r>
            <a:r>
              <a:rPr lang="en-US" sz="2400" dirty="0">
                <a:solidFill>
                  <a:srgbClr val="002060"/>
                </a:solidFill>
                <a:latin typeface="Arial" panose="020B0604020202020204" pitchFamily="34" charset="0"/>
                <a:cs typeface="Arial" panose="020B0604020202020204" pitchFamily="34" charset="0"/>
              </a:rPr>
              <a:t>is  planned and</a:t>
            </a:r>
            <a:r>
              <a:rPr lang="en-US" sz="2400" spc="15"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finalized</a:t>
            </a:r>
            <a:endParaRPr lang="en-US" sz="2400" dirty="0">
              <a:solidFill>
                <a:srgbClr val="002060"/>
              </a:solidFill>
              <a:latin typeface="Arial" panose="020B0604020202020204" pitchFamily="34" charset="0"/>
              <a:cs typeface="Arial" panose="020B0604020202020204" pitchFamily="34" charset="0"/>
            </a:endParaRPr>
          </a:p>
          <a:p>
            <a:pPr algn="just">
              <a:lnSpc>
                <a:spcPct val="100000"/>
              </a:lnSpc>
              <a:spcBef>
                <a:spcPts val="35"/>
              </a:spcBef>
            </a:pPr>
            <a:endParaRPr lang="en-US" sz="2400" dirty="0">
              <a:solidFill>
                <a:srgbClr val="002060"/>
              </a:solidFill>
              <a:latin typeface="Arial" panose="020B0604020202020204" pitchFamily="34" charset="0"/>
              <a:cs typeface="Arial" panose="020B0604020202020204" pitchFamily="34" charset="0"/>
            </a:endParaRPr>
          </a:p>
          <a:p>
            <a:pPr marL="63500" marR="43180" algn="just">
              <a:lnSpc>
                <a:spcPct val="150000"/>
              </a:lnSpc>
            </a:pPr>
            <a:r>
              <a:rPr lang="en-US" sz="2400" spc="-30" dirty="0">
                <a:solidFill>
                  <a:srgbClr val="002060"/>
                </a:solidFill>
                <a:latin typeface="Arial" panose="020B0604020202020204" pitchFamily="34" charset="0"/>
                <a:cs typeface="Arial" panose="020B0604020202020204" pitchFamily="34" charset="0"/>
              </a:rPr>
              <a:t>Document </a:t>
            </a:r>
            <a:r>
              <a:rPr lang="en-US" sz="2400" spc="-5" dirty="0">
                <a:solidFill>
                  <a:srgbClr val="002060"/>
                </a:solidFill>
                <a:latin typeface="Arial" panose="020B0604020202020204" pitchFamily="34" charset="0"/>
                <a:cs typeface="Arial" panose="020B0604020202020204" pitchFamily="34" charset="0"/>
              </a:rPr>
              <a:t>which highlights all the risks and its </a:t>
            </a:r>
            <a:r>
              <a:rPr lang="en-US" sz="2400" spc="-10" dirty="0">
                <a:solidFill>
                  <a:srgbClr val="002060"/>
                </a:solidFill>
                <a:latin typeface="Arial" panose="020B0604020202020204" pitchFamily="34" charset="0"/>
                <a:cs typeface="Arial" panose="020B0604020202020204" pitchFamily="34" charset="0"/>
              </a:rPr>
              <a:t>mitigation  </a:t>
            </a:r>
            <a:r>
              <a:rPr lang="en-US" sz="2400" dirty="0">
                <a:solidFill>
                  <a:srgbClr val="002060"/>
                </a:solidFill>
                <a:latin typeface="Arial" panose="020B0604020202020204" pitchFamily="34" charset="0"/>
                <a:cs typeface="Arial" panose="020B0604020202020204" pitchFamily="34" charset="0"/>
              </a:rPr>
              <a:t>plans</a:t>
            </a:r>
          </a:p>
        </p:txBody>
      </p:sp>
    </p:spTree>
    <p:extLst>
      <p:ext uri="{BB962C8B-B14F-4D97-AF65-F5344CB8AC3E}">
        <p14:creationId xmlns:p14="http://schemas.microsoft.com/office/powerpoint/2010/main" val="353929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12700">
              <a:lnSpc>
                <a:spcPct val="100000"/>
              </a:lnSpc>
            </a:pPr>
            <a:r>
              <a:rPr lang="en-US" i="1" spc="-35" dirty="0">
                <a:solidFill>
                  <a:srgbClr val="002060"/>
                </a:solidFill>
                <a:latin typeface="Arial" panose="020B0604020202020204" pitchFamily="34" charset="0"/>
                <a:cs typeface="Arial" panose="020B0604020202020204" pitchFamily="34" charset="0"/>
              </a:rPr>
              <a:t>      Engineering</a:t>
            </a:r>
            <a:r>
              <a:rPr lang="en-US" i="1" dirty="0">
                <a:solidFill>
                  <a:srgbClr val="002060"/>
                </a:solidFill>
                <a:latin typeface="Arial" panose="020B0604020202020204" pitchFamily="34" charset="0"/>
                <a:cs typeface="Arial" panose="020B0604020202020204" pitchFamily="34" charset="0"/>
              </a:rPr>
              <a:t> phase</a:t>
            </a:r>
            <a:endParaRPr lang="en-US" dirty="0">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12700" marR="5080">
              <a:lnSpc>
                <a:spcPct val="150000"/>
              </a:lnSpc>
              <a:spcBef>
                <a:spcPts val="100"/>
              </a:spcBef>
            </a:pPr>
            <a:r>
              <a:rPr lang="en-US" sz="2400" spc="-30" dirty="0">
                <a:solidFill>
                  <a:srgbClr val="002060"/>
                </a:solidFill>
                <a:latin typeface="Arial" panose="020B0604020202020204" pitchFamily="34" charset="0"/>
                <a:cs typeface="Arial" panose="020B0604020202020204" pitchFamily="34" charset="0"/>
              </a:rPr>
              <a:t>Actual </a:t>
            </a:r>
            <a:r>
              <a:rPr lang="en-US" sz="2400" dirty="0">
                <a:solidFill>
                  <a:srgbClr val="002060"/>
                </a:solidFill>
                <a:latin typeface="Arial" panose="020B0604020202020204" pitchFamily="34" charset="0"/>
                <a:cs typeface="Arial" panose="020B0604020202020204" pitchFamily="34" charset="0"/>
              </a:rPr>
              <a:t>development and </a:t>
            </a:r>
            <a:r>
              <a:rPr lang="en-US" sz="2400" spc="-5" dirty="0">
                <a:solidFill>
                  <a:srgbClr val="002060"/>
                </a:solidFill>
                <a:latin typeface="Arial" panose="020B0604020202020204" pitchFamily="34" charset="0"/>
                <a:cs typeface="Arial" panose="020B0604020202020204" pitchFamily="34" charset="0"/>
              </a:rPr>
              <a:t>testing if the software takes </a:t>
            </a:r>
            <a:r>
              <a:rPr lang="en-US" sz="2400" dirty="0">
                <a:solidFill>
                  <a:srgbClr val="002060"/>
                </a:solidFill>
                <a:latin typeface="Arial" panose="020B0604020202020204" pitchFamily="34" charset="0"/>
                <a:cs typeface="Arial" panose="020B0604020202020204" pitchFamily="34" charset="0"/>
              </a:rPr>
              <a:t>place </a:t>
            </a:r>
            <a:r>
              <a:rPr lang="en-US" sz="2400" spc="-5" dirty="0">
                <a:solidFill>
                  <a:srgbClr val="002060"/>
                </a:solidFill>
                <a:latin typeface="Arial" panose="020B0604020202020204" pitchFamily="34" charset="0"/>
                <a:cs typeface="Arial" panose="020B0604020202020204" pitchFamily="34" charset="0"/>
              </a:rPr>
              <a:t>in  this</a:t>
            </a:r>
            <a:r>
              <a:rPr lang="en-US" sz="2400" spc="-10"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phase</a:t>
            </a:r>
          </a:p>
          <a:p>
            <a:pPr marL="12700">
              <a:lnSpc>
                <a:spcPct val="100000"/>
              </a:lnSpc>
              <a:spcBef>
                <a:spcPts val="1700"/>
              </a:spcBef>
            </a:pPr>
            <a:r>
              <a:rPr lang="en-US" sz="2400" spc="-45" dirty="0">
                <a:solidFill>
                  <a:srgbClr val="002060"/>
                </a:solidFill>
                <a:latin typeface="Arial" panose="020B0604020202020204" pitchFamily="34" charset="0"/>
                <a:cs typeface="Arial" panose="020B0604020202020204" pitchFamily="34" charset="0"/>
              </a:rPr>
              <a:t>Code</a:t>
            </a:r>
            <a:endParaRPr lang="en-US" sz="2400" dirty="0">
              <a:solidFill>
                <a:srgbClr val="002060"/>
              </a:solidFill>
              <a:latin typeface="Arial" panose="020B0604020202020204" pitchFamily="34" charset="0"/>
              <a:cs typeface="Arial" panose="020B0604020202020204" pitchFamily="34" charset="0"/>
            </a:endParaRPr>
          </a:p>
          <a:p>
            <a:pPr marL="12700">
              <a:lnSpc>
                <a:spcPct val="100000"/>
              </a:lnSpc>
              <a:spcBef>
                <a:spcPts val="1700"/>
              </a:spcBef>
            </a:pPr>
            <a:r>
              <a:rPr lang="en-US" sz="2400" spc="-45" dirty="0">
                <a:solidFill>
                  <a:srgbClr val="002060"/>
                </a:solidFill>
                <a:latin typeface="Arial" panose="020B0604020202020204" pitchFamily="34" charset="0"/>
                <a:cs typeface="Arial" panose="020B0604020202020204" pitchFamily="34" charset="0"/>
              </a:rPr>
              <a:t>Test </a:t>
            </a:r>
            <a:r>
              <a:rPr lang="en-US" sz="2400" spc="-5" dirty="0">
                <a:solidFill>
                  <a:srgbClr val="002060"/>
                </a:solidFill>
                <a:latin typeface="Arial" panose="020B0604020202020204" pitchFamily="34" charset="0"/>
                <a:cs typeface="Arial" panose="020B0604020202020204" pitchFamily="34" charset="0"/>
              </a:rPr>
              <a:t>cases </a:t>
            </a:r>
            <a:r>
              <a:rPr lang="en-US" sz="2400" dirty="0">
                <a:solidFill>
                  <a:srgbClr val="002060"/>
                </a:solidFill>
                <a:latin typeface="Arial" panose="020B0604020202020204" pitchFamily="34" charset="0"/>
                <a:cs typeface="Arial" panose="020B0604020202020204" pitchFamily="34" charset="0"/>
              </a:rPr>
              <a:t>and </a:t>
            </a:r>
            <a:r>
              <a:rPr lang="en-US" sz="2400" spc="-5" dirty="0">
                <a:solidFill>
                  <a:srgbClr val="002060"/>
                </a:solidFill>
                <a:latin typeface="Arial" panose="020B0604020202020204" pitchFamily="34" charset="0"/>
                <a:cs typeface="Arial" panose="020B0604020202020204" pitchFamily="34" charset="0"/>
              </a:rPr>
              <a:t>test</a:t>
            </a:r>
            <a:r>
              <a:rPr lang="en-US" sz="2400" spc="45"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results</a:t>
            </a:r>
            <a:endParaRPr lang="en-US" sz="2400" dirty="0">
              <a:solidFill>
                <a:srgbClr val="002060"/>
              </a:solidFill>
              <a:latin typeface="Arial" panose="020B0604020202020204" pitchFamily="34" charset="0"/>
              <a:cs typeface="Arial" panose="020B0604020202020204" pitchFamily="34" charset="0"/>
            </a:endParaRPr>
          </a:p>
          <a:p>
            <a:pPr marL="12700">
              <a:lnSpc>
                <a:spcPct val="100000"/>
              </a:lnSpc>
              <a:spcBef>
                <a:spcPts val="1700"/>
              </a:spcBef>
            </a:pPr>
            <a:r>
              <a:rPr lang="en-US" sz="2400" spc="-45" dirty="0">
                <a:solidFill>
                  <a:srgbClr val="002060"/>
                </a:solidFill>
                <a:latin typeface="Arial" panose="020B0604020202020204" pitchFamily="34" charset="0"/>
                <a:cs typeface="Arial" panose="020B0604020202020204" pitchFamily="34" charset="0"/>
              </a:rPr>
              <a:t>Test </a:t>
            </a:r>
            <a:r>
              <a:rPr lang="en-US" sz="2400" dirty="0">
                <a:solidFill>
                  <a:srgbClr val="002060"/>
                </a:solidFill>
                <a:latin typeface="Arial" panose="020B0604020202020204" pitchFamily="34" charset="0"/>
                <a:cs typeface="Arial" panose="020B0604020202020204" pitchFamily="34" charset="0"/>
              </a:rPr>
              <a:t>summary </a:t>
            </a:r>
            <a:r>
              <a:rPr lang="en-US" sz="2400" spc="-5" dirty="0">
                <a:solidFill>
                  <a:srgbClr val="002060"/>
                </a:solidFill>
                <a:latin typeface="Arial" panose="020B0604020202020204" pitchFamily="34" charset="0"/>
                <a:cs typeface="Arial" panose="020B0604020202020204" pitchFamily="34" charset="0"/>
              </a:rPr>
              <a:t>report </a:t>
            </a:r>
            <a:r>
              <a:rPr lang="en-US" sz="2400" dirty="0">
                <a:solidFill>
                  <a:srgbClr val="002060"/>
                </a:solidFill>
                <a:latin typeface="Arial" panose="020B0604020202020204" pitchFamily="34" charset="0"/>
                <a:cs typeface="Arial" panose="020B0604020202020204" pitchFamily="34" charset="0"/>
              </a:rPr>
              <a:t>and </a:t>
            </a:r>
            <a:r>
              <a:rPr lang="en-US" sz="2400" spc="-5" dirty="0">
                <a:solidFill>
                  <a:srgbClr val="002060"/>
                </a:solidFill>
                <a:latin typeface="Arial" panose="020B0604020202020204" pitchFamily="34" charset="0"/>
                <a:cs typeface="Arial" panose="020B0604020202020204" pitchFamily="34" charset="0"/>
              </a:rPr>
              <a:t>defect</a:t>
            </a:r>
            <a:r>
              <a:rPr lang="en-US" sz="2400" spc="50"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report.</a:t>
            </a:r>
            <a:endParaRPr lang="en-US"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7695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Arial" panose="020B0604020202020204" pitchFamily="34" charset="0"/>
                <a:cs typeface="Arial" panose="020B0604020202020204" pitchFamily="34" charset="0"/>
              </a:rPr>
              <a:t>Evaluation</a:t>
            </a:r>
          </a:p>
        </p:txBody>
      </p:sp>
      <p:sp>
        <p:nvSpPr>
          <p:cNvPr id="3" name="Content Placeholder 2"/>
          <p:cNvSpPr>
            <a:spLocks noGrp="1"/>
          </p:cNvSpPr>
          <p:nvPr>
            <p:ph idx="1"/>
          </p:nvPr>
        </p:nvSpPr>
        <p:spPr/>
        <p:txBody>
          <a:bodyPr>
            <a:normAutofit/>
          </a:bodyPr>
          <a:lstStyle/>
          <a:p>
            <a:pPr marL="12700" marR="5080" algn="just">
              <a:lnSpc>
                <a:spcPct val="150000"/>
              </a:lnSpc>
              <a:spcBef>
                <a:spcPts val="100"/>
              </a:spcBef>
            </a:pPr>
            <a:r>
              <a:rPr lang="en-US" sz="2400" spc="-25" dirty="0">
                <a:solidFill>
                  <a:srgbClr val="002060"/>
                </a:solidFill>
                <a:latin typeface="Arial" panose="020B0604020202020204" pitchFamily="34" charset="0"/>
                <a:cs typeface="Arial" panose="020B0604020202020204" pitchFamily="34" charset="0"/>
              </a:rPr>
              <a:t>Customers </a:t>
            </a:r>
            <a:r>
              <a:rPr lang="en-US" sz="2400" spc="-5" dirty="0">
                <a:solidFill>
                  <a:srgbClr val="002060"/>
                </a:solidFill>
                <a:latin typeface="Arial" panose="020B0604020202020204" pitchFamily="34" charset="0"/>
                <a:cs typeface="Arial" panose="020B0604020202020204" pitchFamily="34" charset="0"/>
              </a:rPr>
              <a:t>evaluate the </a:t>
            </a:r>
            <a:r>
              <a:rPr lang="en-US" sz="2400" dirty="0">
                <a:solidFill>
                  <a:srgbClr val="002060"/>
                </a:solidFill>
                <a:latin typeface="Arial" panose="020B0604020202020204" pitchFamily="34" charset="0"/>
                <a:cs typeface="Arial" panose="020B0604020202020204" pitchFamily="34" charset="0"/>
              </a:rPr>
              <a:t>software and provide </a:t>
            </a:r>
            <a:r>
              <a:rPr lang="en-US" sz="2400" spc="-5" dirty="0">
                <a:solidFill>
                  <a:srgbClr val="002060"/>
                </a:solidFill>
                <a:latin typeface="Arial" panose="020B0604020202020204" pitchFamily="34" charset="0"/>
                <a:cs typeface="Arial" panose="020B0604020202020204" pitchFamily="34" charset="0"/>
              </a:rPr>
              <a:t>their </a:t>
            </a:r>
            <a:r>
              <a:rPr lang="en-US" sz="2400" dirty="0">
                <a:solidFill>
                  <a:srgbClr val="002060"/>
                </a:solidFill>
                <a:latin typeface="Arial" panose="020B0604020202020204" pitchFamily="34" charset="0"/>
                <a:cs typeface="Arial" panose="020B0604020202020204" pitchFamily="34" charset="0"/>
              </a:rPr>
              <a:t>feedback  and approval</a:t>
            </a:r>
          </a:p>
          <a:p>
            <a:pPr marL="12700" algn="just">
              <a:lnSpc>
                <a:spcPct val="100000"/>
              </a:lnSpc>
              <a:spcBef>
                <a:spcPts val="1700"/>
              </a:spcBef>
            </a:pPr>
            <a:r>
              <a:rPr lang="en-US" sz="2400" spc="-25" dirty="0">
                <a:solidFill>
                  <a:srgbClr val="002060"/>
                </a:solidFill>
                <a:latin typeface="Arial" panose="020B0604020202020204" pitchFamily="34" charset="0"/>
                <a:cs typeface="Arial" panose="020B0604020202020204" pitchFamily="34" charset="0"/>
              </a:rPr>
              <a:t>Features </a:t>
            </a:r>
            <a:r>
              <a:rPr lang="en-US" sz="2400" spc="-10" dirty="0">
                <a:solidFill>
                  <a:srgbClr val="002060"/>
                </a:solidFill>
                <a:latin typeface="Arial" panose="020B0604020202020204" pitchFamily="34" charset="0"/>
                <a:cs typeface="Arial" panose="020B0604020202020204" pitchFamily="34" charset="0"/>
              </a:rPr>
              <a:t>implemented</a:t>
            </a:r>
            <a:r>
              <a:rPr lang="en-US" sz="2400" spc="20"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document</a:t>
            </a:r>
          </a:p>
        </p:txBody>
      </p:sp>
    </p:spTree>
    <p:extLst>
      <p:ext uri="{BB962C8B-B14F-4D97-AF65-F5344CB8AC3E}">
        <p14:creationId xmlns:p14="http://schemas.microsoft.com/office/powerpoint/2010/main" val="1845392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460" y="470262"/>
            <a:ext cx="8596668" cy="850537"/>
          </a:xfrm>
        </p:spPr>
        <p:txBody>
          <a:bodyPr/>
          <a:lstStyle/>
          <a:p>
            <a:endParaRPr lang="en-IN" dirty="0"/>
          </a:p>
        </p:txBody>
      </p:sp>
      <p:pic>
        <p:nvPicPr>
          <p:cNvPr id="1026" name="Picture 2" descr="C:\Users\Admin\Desktop\SE-CSBS\spiral-model-diagram.png"/>
          <p:cNvPicPr>
            <a:picLocks noGrp="1" noChangeAspect="1" noChangeArrowheads="1"/>
          </p:cNvPicPr>
          <p:nvPr>
            <p:ph idx="1"/>
          </p:nvPr>
        </p:nvPicPr>
        <p:blipFill>
          <a:blip r:embed="rId2"/>
          <a:srcRect/>
          <a:stretch>
            <a:fillRect/>
          </a:stretch>
        </p:blipFill>
        <p:spPr bwMode="auto">
          <a:xfrm>
            <a:off x="2246811" y="1619794"/>
            <a:ext cx="5421085" cy="4422231"/>
          </a:xfrm>
          <a:prstGeom prst="rect">
            <a:avLst/>
          </a:prstGeom>
          <a:noFill/>
        </p:spPr>
      </p:pic>
    </p:spTree>
    <p:extLst>
      <p:ext uri="{BB962C8B-B14F-4D97-AF65-F5344CB8AC3E}">
        <p14:creationId xmlns:p14="http://schemas.microsoft.com/office/powerpoint/2010/main" val="1660099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3600" b="1" dirty="0">
                <a:latin typeface="Arial" panose="020B0604020202020204" pitchFamily="34" charset="0"/>
                <a:cs typeface="Arial" panose="020B0604020202020204" pitchFamily="34" charset="0"/>
              </a:rPr>
              <a:t>Comparison</a:t>
            </a:r>
          </a:p>
        </p:txBody>
      </p:sp>
      <p:sp>
        <p:nvSpPr>
          <p:cNvPr id="5" name="Text Placeholder 4"/>
          <p:cNvSpPr>
            <a:spLocks noGrp="1"/>
          </p:cNvSpPr>
          <p:nvPr>
            <p:ph type="body" idx="1"/>
          </p:nvPr>
        </p:nvSpPr>
        <p:spPr/>
        <p:txBody>
          <a:bodyPr/>
          <a:lstStyle/>
          <a:p>
            <a:pPr marL="50800">
              <a:lnSpc>
                <a:spcPct val="100000"/>
              </a:lnSpc>
              <a:spcBef>
                <a:spcPts val="100"/>
              </a:spcBef>
            </a:pPr>
            <a:r>
              <a:rPr lang="en-US" spc="-10" dirty="0">
                <a:solidFill>
                  <a:srgbClr val="0070C0"/>
                </a:solidFill>
                <a:latin typeface="Arial"/>
                <a:cs typeface="Arial"/>
              </a:rPr>
              <a:t>Spiral</a:t>
            </a:r>
            <a:r>
              <a:rPr lang="en-US" spc="-5" dirty="0">
                <a:solidFill>
                  <a:srgbClr val="0070C0"/>
                </a:solidFill>
                <a:latin typeface="Arial"/>
                <a:cs typeface="Arial"/>
              </a:rPr>
              <a:t> </a:t>
            </a:r>
            <a:r>
              <a:rPr lang="en-US" spc="-10" dirty="0">
                <a:solidFill>
                  <a:srgbClr val="0070C0"/>
                </a:solidFill>
                <a:latin typeface="Arial"/>
                <a:cs typeface="Arial"/>
              </a:rPr>
              <a:t>Model</a:t>
            </a:r>
            <a:endParaRPr lang="en-US" dirty="0">
              <a:solidFill>
                <a:srgbClr val="0070C0"/>
              </a:solidFill>
              <a:latin typeface="Arial"/>
              <a:cs typeface="Arial"/>
            </a:endParaRPr>
          </a:p>
        </p:txBody>
      </p:sp>
      <p:sp>
        <p:nvSpPr>
          <p:cNvPr id="6" name="Content Placeholder 5"/>
          <p:cNvSpPr>
            <a:spLocks noGrp="1"/>
          </p:cNvSpPr>
          <p:nvPr>
            <p:ph sz="half" idx="2"/>
          </p:nvPr>
        </p:nvSpPr>
        <p:spPr/>
        <p:txBody>
          <a:bodyPr>
            <a:normAutofit fontScale="85000" lnSpcReduction="10000"/>
          </a:bodyPr>
          <a:lstStyle/>
          <a:p>
            <a:pPr marL="508000" indent="-457200">
              <a:lnSpc>
                <a:spcPct val="100000"/>
              </a:lnSpc>
              <a:spcBef>
                <a:spcPts val="2190"/>
              </a:spcBef>
              <a:buFont typeface="Wingdings" panose="05000000000000000000" pitchFamily="2" charset="2"/>
              <a:buChar char="§"/>
              <a:tabLst>
                <a:tab pos="393700" algn="l"/>
              </a:tabLst>
            </a:pPr>
            <a:r>
              <a:rPr lang="en-US" sz="2600" spc="-5" dirty="0">
                <a:solidFill>
                  <a:srgbClr val="002060"/>
                </a:solidFill>
                <a:latin typeface="Arial" panose="020B0604020202020204" pitchFamily="34" charset="0"/>
                <a:cs typeface="Arial" panose="020B0604020202020204" pitchFamily="34" charset="0"/>
              </a:rPr>
              <a:t>Risk factors </a:t>
            </a:r>
            <a:r>
              <a:rPr lang="en-US" sz="2600" dirty="0">
                <a:solidFill>
                  <a:srgbClr val="002060"/>
                </a:solidFill>
                <a:latin typeface="Arial" panose="020B0604020202020204" pitchFamily="34" charset="0"/>
                <a:cs typeface="Arial" panose="020B0604020202020204" pitchFamily="34" charset="0"/>
              </a:rPr>
              <a:t>are</a:t>
            </a:r>
            <a:r>
              <a:rPr lang="en-US" sz="2600" spc="-45" dirty="0">
                <a:solidFill>
                  <a:srgbClr val="002060"/>
                </a:solidFill>
                <a:latin typeface="Arial" panose="020B0604020202020204" pitchFamily="34" charset="0"/>
                <a:cs typeface="Arial" panose="020B0604020202020204" pitchFamily="34" charset="0"/>
              </a:rPr>
              <a:t> </a:t>
            </a:r>
            <a:r>
              <a:rPr lang="en-US" sz="2600" dirty="0">
                <a:solidFill>
                  <a:srgbClr val="002060"/>
                </a:solidFill>
                <a:latin typeface="Arial" panose="020B0604020202020204" pitchFamily="34" charset="0"/>
                <a:cs typeface="Arial" panose="020B0604020202020204" pitchFamily="34" charset="0"/>
              </a:rPr>
              <a:t>considered.</a:t>
            </a:r>
          </a:p>
          <a:p>
            <a:pPr marL="508000" marR="373380" indent="-457200">
              <a:lnSpc>
                <a:spcPct val="100000"/>
              </a:lnSpc>
              <a:spcBef>
                <a:spcPts val="590"/>
              </a:spcBef>
              <a:buFont typeface="Wingdings" panose="05000000000000000000" pitchFamily="2" charset="2"/>
              <a:buChar char="§"/>
              <a:tabLst>
                <a:tab pos="393700" algn="l"/>
              </a:tabLst>
            </a:pPr>
            <a:r>
              <a:rPr lang="en-US" sz="2600" dirty="0">
                <a:solidFill>
                  <a:srgbClr val="002060"/>
                </a:solidFill>
                <a:latin typeface="Arial" panose="020B0604020202020204" pitchFamily="34" charset="0"/>
                <a:cs typeface="Arial" panose="020B0604020202020204" pitchFamily="34" charset="0"/>
              </a:rPr>
              <a:t>The </a:t>
            </a:r>
            <a:r>
              <a:rPr lang="en-US" sz="2600" spc="-5" dirty="0">
                <a:solidFill>
                  <a:srgbClr val="002060"/>
                </a:solidFill>
                <a:latin typeface="Arial" panose="020B0604020202020204" pitchFamily="34" charset="0"/>
                <a:cs typeface="Arial" panose="020B0604020202020204" pitchFamily="34" charset="0"/>
              </a:rPr>
              <a:t>requirements </a:t>
            </a:r>
            <a:r>
              <a:rPr lang="en-US" sz="2600" dirty="0">
                <a:solidFill>
                  <a:srgbClr val="002060"/>
                </a:solidFill>
                <a:latin typeface="Arial" panose="020B0604020202020204" pitchFamily="34" charset="0"/>
                <a:cs typeface="Arial" panose="020B0604020202020204" pitchFamily="34" charset="0"/>
              </a:rPr>
              <a:t>are</a:t>
            </a:r>
            <a:r>
              <a:rPr lang="en-US" sz="2600" spc="-60" dirty="0">
                <a:solidFill>
                  <a:srgbClr val="002060"/>
                </a:solidFill>
                <a:latin typeface="Arial" panose="020B0604020202020204" pitchFamily="34" charset="0"/>
                <a:cs typeface="Arial" panose="020B0604020202020204" pitchFamily="34" charset="0"/>
              </a:rPr>
              <a:t> </a:t>
            </a:r>
            <a:r>
              <a:rPr lang="en-US" sz="2600" dirty="0">
                <a:solidFill>
                  <a:srgbClr val="002060"/>
                </a:solidFill>
                <a:latin typeface="Arial" panose="020B0604020202020204" pitchFamily="34" charset="0"/>
                <a:cs typeface="Arial" panose="020B0604020202020204" pitchFamily="34" charset="0"/>
              </a:rPr>
              <a:t>not  </a:t>
            </a:r>
            <a:r>
              <a:rPr lang="en-US" sz="2600" spc="-5" dirty="0">
                <a:solidFill>
                  <a:srgbClr val="002060"/>
                </a:solidFill>
                <a:latin typeface="Arial" panose="020B0604020202020204" pitchFamily="34" charset="0"/>
                <a:cs typeface="Arial" panose="020B0604020202020204" pitchFamily="34" charset="0"/>
              </a:rPr>
              <a:t>freeze.</a:t>
            </a:r>
            <a:endParaRPr lang="en-US" sz="2600" dirty="0">
              <a:solidFill>
                <a:srgbClr val="002060"/>
              </a:solidFill>
              <a:latin typeface="Arial" panose="020B0604020202020204" pitchFamily="34" charset="0"/>
              <a:cs typeface="Arial" panose="020B0604020202020204" pitchFamily="34" charset="0"/>
            </a:endParaRPr>
          </a:p>
          <a:p>
            <a:pPr marL="508000" indent="-457200">
              <a:lnSpc>
                <a:spcPct val="100000"/>
              </a:lnSpc>
              <a:spcBef>
                <a:spcPts val="600"/>
              </a:spcBef>
              <a:buFont typeface="Wingdings" panose="05000000000000000000" pitchFamily="2" charset="2"/>
              <a:buChar char="§"/>
              <a:tabLst>
                <a:tab pos="393700" algn="l"/>
              </a:tabLst>
            </a:pPr>
            <a:r>
              <a:rPr lang="en-US" sz="2600" spc="-5" dirty="0">
                <a:solidFill>
                  <a:srgbClr val="002060"/>
                </a:solidFill>
                <a:latin typeface="Arial" panose="020B0604020202020204" pitchFamily="34" charset="0"/>
                <a:cs typeface="Arial" panose="020B0604020202020204" pitchFamily="34" charset="0"/>
              </a:rPr>
              <a:t>works </a:t>
            </a:r>
            <a:r>
              <a:rPr lang="en-US" sz="2600" spc="5" dirty="0">
                <a:solidFill>
                  <a:srgbClr val="002060"/>
                </a:solidFill>
                <a:latin typeface="Arial" panose="020B0604020202020204" pitchFamily="34" charset="0"/>
                <a:cs typeface="Arial" panose="020B0604020202020204" pitchFamily="34" charset="0"/>
              </a:rPr>
              <a:t>in</a:t>
            </a:r>
            <a:r>
              <a:rPr lang="en-US" sz="2600" spc="-10" dirty="0">
                <a:solidFill>
                  <a:srgbClr val="002060"/>
                </a:solidFill>
                <a:latin typeface="Arial" panose="020B0604020202020204" pitchFamily="34" charset="0"/>
                <a:cs typeface="Arial" panose="020B0604020202020204" pitchFamily="34" charset="0"/>
              </a:rPr>
              <a:t> </a:t>
            </a:r>
            <a:r>
              <a:rPr lang="en-US" sz="2600" dirty="0">
                <a:solidFill>
                  <a:srgbClr val="002060"/>
                </a:solidFill>
                <a:latin typeface="Arial" panose="020B0604020202020204" pitchFamily="34" charset="0"/>
                <a:cs typeface="Arial" panose="020B0604020202020204" pitchFamily="34" charset="0"/>
              </a:rPr>
              <a:t>loop.</a:t>
            </a:r>
          </a:p>
          <a:p>
            <a:pPr marL="508000" marR="667385" indent="-457200">
              <a:lnSpc>
                <a:spcPct val="100000"/>
              </a:lnSpc>
              <a:spcBef>
                <a:spcPts val="600"/>
              </a:spcBef>
              <a:buFont typeface="Wingdings" panose="05000000000000000000" pitchFamily="2" charset="2"/>
              <a:buChar char="§"/>
              <a:tabLst>
                <a:tab pos="393700" algn="l"/>
              </a:tabLst>
            </a:pPr>
            <a:r>
              <a:rPr lang="en-US" sz="2600" spc="-5" dirty="0">
                <a:solidFill>
                  <a:srgbClr val="002060"/>
                </a:solidFill>
                <a:latin typeface="Arial" panose="020B0604020202020204" pitchFamily="34" charset="0"/>
                <a:cs typeface="Arial" panose="020B0604020202020204" pitchFamily="34" charset="0"/>
              </a:rPr>
              <a:t>costly </a:t>
            </a:r>
            <a:r>
              <a:rPr lang="en-US" sz="2600" dirty="0">
                <a:solidFill>
                  <a:srgbClr val="002060"/>
                </a:solidFill>
                <a:latin typeface="Arial" panose="020B0604020202020204" pitchFamily="34" charset="0"/>
                <a:cs typeface="Arial" panose="020B0604020202020204" pitchFamily="34" charset="0"/>
              </a:rPr>
              <a:t>as </a:t>
            </a:r>
            <a:r>
              <a:rPr lang="en-US" sz="2600" spc="-5" dirty="0">
                <a:solidFill>
                  <a:srgbClr val="002060"/>
                </a:solidFill>
                <a:latin typeface="Arial" panose="020B0604020202020204" pitchFamily="34" charset="0"/>
                <a:cs typeface="Arial" panose="020B0604020202020204" pitchFamily="34" charset="0"/>
              </a:rPr>
              <a:t>Risk factor </a:t>
            </a:r>
            <a:r>
              <a:rPr lang="en-US" sz="2600" dirty="0">
                <a:solidFill>
                  <a:srgbClr val="002060"/>
                </a:solidFill>
                <a:latin typeface="Arial" panose="020B0604020202020204" pitchFamily="34" charset="0"/>
                <a:cs typeface="Arial" panose="020B0604020202020204" pitchFamily="34" charset="0"/>
              </a:rPr>
              <a:t>is  </a:t>
            </a:r>
            <a:r>
              <a:rPr lang="en-US" sz="2600" spc="-5" dirty="0">
                <a:solidFill>
                  <a:srgbClr val="002060"/>
                </a:solidFill>
                <a:latin typeface="Arial" panose="020B0604020202020204" pitchFamily="34" charset="0"/>
                <a:cs typeface="Arial" panose="020B0604020202020204" pitchFamily="34" charset="0"/>
              </a:rPr>
              <a:t>covered.</a:t>
            </a:r>
            <a:endParaRPr lang="en-US" sz="2600" dirty="0">
              <a:solidFill>
                <a:srgbClr val="002060"/>
              </a:solidFill>
              <a:latin typeface="Arial" panose="020B0604020202020204" pitchFamily="34" charset="0"/>
              <a:cs typeface="Arial" panose="020B0604020202020204" pitchFamily="34" charset="0"/>
            </a:endParaRPr>
          </a:p>
          <a:p>
            <a:pPr marL="508000" marR="619125" indent="-457200">
              <a:lnSpc>
                <a:spcPct val="100000"/>
              </a:lnSpc>
              <a:spcBef>
                <a:spcPts val="600"/>
              </a:spcBef>
              <a:buFont typeface="Wingdings" panose="05000000000000000000" pitchFamily="2" charset="2"/>
              <a:buChar char="§"/>
              <a:tabLst>
                <a:tab pos="393700" algn="l"/>
              </a:tabLst>
            </a:pPr>
            <a:r>
              <a:rPr lang="en-US" sz="2600" spc="-5" dirty="0">
                <a:solidFill>
                  <a:srgbClr val="002060"/>
                </a:solidFill>
                <a:latin typeface="Arial" panose="020B0604020202020204" pitchFamily="34" charset="0"/>
                <a:cs typeface="Arial" panose="020B0604020202020204" pitchFamily="34" charset="0"/>
              </a:rPr>
              <a:t>Better communication  between </a:t>
            </a:r>
            <a:r>
              <a:rPr lang="en-US" sz="2600" dirty="0">
                <a:solidFill>
                  <a:srgbClr val="002060"/>
                </a:solidFill>
                <a:latin typeface="Arial" panose="020B0604020202020204" pitchFamily="34" charset="0"/>
                <a:cs typeface="Arial" panose="020B0604020202020204" pitchFamily="34" charset="0"/>
              </a:rPr>
              <a:t>developer</a:t>
            </a:r>
            <a:r>
              <a:rPr lang="en-US" sz="2600" spc="-75" dirty="0">
                <a:solidFill>
                  <a:srgbClr val="002060"/>
                </a:solidFill>
                <a:latin typeface="Arial" panose="020B0604020202020204" pitchFamily="34" charset="0"/>
                <a:cs typeface="Arial" panose="020B0604020202020204" pitchFamily="34" charset="0"/>
              </a:rPr>
              <a:t> </a:t>
            </a:r>
            <a:r>
              <a:rPr lang="en-US" sz="2600" dirty="0">
                <a:solidFill>
                  <a:srgbClr val="002060"/>
                </a:solidFill>
                <a:latin typeface="Arial" panose="020B0604020202020204" pitchFamily="34" charset="0"/>
                <a:cs typeface="Arial" panose="020B0604020202020204" pitchFamily="34" charset="0"/>
              </a:rPr>
              <a:t>and  </a:t>
            </a:r>
            <a:r>
              <a:rPr lang="en-US" sz="2600" spc="-5" dirty="0">
                <a:solidFill>
                  <a:srgbClr val="002060"/>
                </a:solidFill>
                <a:latin typeface="Arial" panose="020B0604020202020204" pitchFamily="34" charset="0"/>
                <a:cs typeface="Arial" panose="020B0604020202020204" pitchFamily="34" charset="0"/>
              </a:rPr>
              <a:t>customer.</a:t>
            </a:r>
            <a:endParaRPr lang="en-US" sz="2600" dirty="0">
              <a:solidFill>
                <a:srgbClr val="002060"/>
              </a:solidFill>
              <a:latin typeface="Arial" panose="020B0604020202020204" pitchFamily="34" charset="0"/>
              <a:cs typeface="Arial" panose="020B0604020202020204" pitchFamily="34" charset="0"/>
            </a:endParaRPr>
          </a:p>
          <a:p>
            <a:endParaRPr lang="en-US" dirty="0"/>
          </a:p>
        </p:txBody>
      </p:sp>
      <p:sp>
        <p:nvSpPr>
          <p:cNvPr id="7" name="Text Placeholder 6"/>
          <p:cNvSpPr>
            <a:spLocks noGrp="1"/>
          </p:cNvSpPr>
          <p:nvPr>
            <p:ph type="body" sz="quarter" idx="3"/>
          </p:nvPr>
        </p:nvSpPr>
        <p:spPr/>
        <p:txBody>
          <a:bodyPr/>
          <a:lstStyle/>
          <a:p>
            <a:pPr marL="61594" algn="ctr">
              <a:lnSpc>
                <a:spcPct val="100000"/>
              </a:lnSpc>
              <a:spcBef>
                <a:spcPts val="100"/>
              </a:spcBef>
            </a:pPr>
            <a:r>
              <a:rPr lang="en-US" dirty="0">
                <a:solidFill>
                  <a:srgbClr val="FF0000"/>
                </a:solidFill>
                <a:latin typeface="Arial" panose="020B0604020202020204" pitchFamily="34" charset="0"/>
                <a:cs typeface="Arial" panose="020B0604020202020204" pitchFamily="34" charset="0"/>
              </a:rPr>
              <a:t>Waterfall</a:t>
            </a:r>
            <a:r>
              <a:rPr lang="en-US" spc="-10" dirty="0">
                <a:solidFill>
                  <a:srgbClr val="FF0000"/>
                </a:solidFill>
                <a:latin typeface="Arial" panose="020B0604020202020204" pitchFamily="34" charset="0"/>
                <a:cs typeface="Arial" panose="020B0604020202020204" pitchFamily="34" charset="0"/>
              </a:rPr>
              <a:t> model</a:t>
            </a:r>
          </a:p>
        </p:txBody>
      </p:sp>
      <p:sp>
        <p:nvSpPr>
          <p:cNvPr id="8" name="Content Placeholder 7"/>
          <p:cNvSpPr>
            <a:spLocks noGrp="1"/>
          </p:cNvSpPr>
          <p:nvPr>
            <p:ph sz="quarter" idx="4"/>
          </p:nvPr>
        </p:nvSpPr>
        <p:spPr/>
        <p:txBody>
          <a:bodyPr>
            <a:normAutofit fontScale="92500"/>
          </a:bodyPr>
          <a:lstStyle/>
          <a:p>
            <a:pPr marL="577215" marR="1165860" indent="-514350">
              <a:lnSpc>
                <a:spcPct val="100000"/>
              </a:lnSpc>
              <a:spcBef>
                <a:spcPts val="2190"/>
              </a:spcBef>
              <a:buFont typeface="Wingdings" panose="05000000000000000000" pitchFamily="2" charset="2"/>
              <a:buChar char="§"/>
              <a:tabLst>
                <a:tab pos="405130" algn="l"/>
              </a:tabLst>
            </a:pPr>
            <a:r>
              <a:rPr lang="en-US" sz="2400" spc="-5" dirty="0">
                <a:solidFill>
                  <a:srgbClr val="002060"/>
                </a:solidFill>
                <a:latin typeface="Arial" panose="020B0604020202020204" pitchFamily="34" charset="0"/>
                <a:cs typeface="Arial" panose="020B0604020202020204" pitchFamily="34" charset="0"/>
              </a:rPr>
              <a:t>Risk factors </a:t>
            </a:r>
            <a:r>
              <a:rPr lang="en-US" sz="2400" dirty="0">
                <a:solidFill>
                  <a:srgbClr val="002060"/>
                </a:solidFill>
                <a:latin typeface="Arial" panose="020B0604020202020204" pitchFamily="34" charset="0"/>
                <a:cs typeface="Arial" panose="020B0604020202020204" pitchFamily="34" charset="0"/>
              </a:rPr>
              <a:t>are</a:t>
            </a:r>
            <a:r>
              <a:rPr lang="en-US" sz="2400" spc="-50"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not  considered.</a:t>
            </a:r>
          </a:p>
          <a:p>
            <a:pPr marL="577850" indent="-514350">
              <a:lnSpc>
                <a:spcPct val="100000"/>
              </a:lnSpc>
              <a:spcBef>
                <a:spcPts val="590"/>
              </a:spcBef>
              <a:buFont typeface="Wingdings" panose="05000000000000000000" pitchFamily="2" charset="2"/>
              <a:buChar char="§"/>
              <a:tabLst>
                <a:tab pos="405130" algn="l"/>
              </a:tabLst>
            </a:pPr>
            <a:r>
              <a:rPr lang="en-US" sz="2400" dirty="0">
                <a:solidFill>
                  <a:srgbClr val="002060"/>
                </a:solidFill>
                <a:latin typeface="Arial" panose="020B0604020202020204" pitchFamily="34" charset="0"/>
                <a:cs typeface="Arial" panose="020B0604020202020204" pitchFamily="34" charset="0"/>
              </a:rPr>
              <a:t>The </a:t>
            </a:r>
            <a:r>
              <a:rPr lang="en-US" sz="2400" spc="-5" dirty="0">
                <a:solidFill>
                  <a:srgbClr val="002060"/>
                </a:solidFill>
                <a:latin typeface="Arial" panose="020B0604020202020204" pitchFamily="34" charset="0"/>
                <a:cs typeface="Arial" panose="020B0604020202020204" pitchFamily="34" charset="0"/>
              </a:rPr>
              <a:t>requirements </a:t>
            </a:r>
            <a:r>
              <a:rPr lang="en-US" sz="2400" dirty="0">
                <a:solidFill>
                  <a:srgbClr val="002060"/>
                </a:solidFill>
                <a:latin typeface="Arial" panose="020B0604020202020204" pitchFamily="34" charset="0"/>
                <a:cs typeface="Arial" panose="020B0604020202020204" pitchFamily="34" charset="0"/>
              </a:rPr>
              <a:t>are</a:t>
            </a:r>
            <a:r>
              <a:rPr lang="en-US" sz="2400" spc="-20"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freeze.</a:t>
            </a:r>
            <a:endParaRPr lang="en-US" sz="2400" dirty="0">
              <a:solidFill>
                <a:srgbClr val="002060"/>
              </a:solidFill>
              <a:latin typeface="Arial" panose="020B0604020202020204" pitchFamily="34" charset="0"/>
              <a:cs typeface="Arial" panose="020B0604020202020204" pitchFamily="34" charset="0"/>
            </a:endParaRPr>
          </a:p>
          <a:p>
            <a:pPr marL="577850" indent="-514350">
              <a:lnSpc>
                <a:spcPct val="100000"/>
              </a:lnSpc>
              <a:spcBef>
                <a:spcPts val="600"/>
              </a:spcBef>
              <a:buFont typeface="Wingdings" panose="05000000000000000000" pitchFamily="2" charset="2"/>
              <a:buChar char="§"/>
              <a:tabLst>
                <a:tab pos="405130" algn="l"/>
              </a:tabLst>
            </a:pPr>
            <a:r>
              <a:rPr lang="en-US" sz="2400" dirty="0">
                <a:solidFill>
                  <a:srgbClr val="002060"/>
                </a:solidFill>
                <a:latin typeface="Arial" panose="020B0604020202020204" pitchFamily="34" charset="0"/>
                <a:cs typeface="Arial" panose="020B0604020202020204" pitchFamily="34" charset="0"/>
              </a:rPr>
              <a:t>Is linear </a:t>
            </a:r>
            <a:r>
              <a:rPr lang="en-US" sz="2400" spc="-5" dirty="0">
                <a:solidFill>
                  <a:srgbClr val="002060"/>
                </a:solidFill>
                <a:latin typeface="Arial" panose="020B0604020202020204" pitchFamily="34" charset="0"/>
                <a:cs typeface="Arial" panose="020B0604020202020204" pitchFamily="34" charset="0"/>
              </a:rPr>
              <a:t>sequential</a:t>
            </a:r>
            <a:r>
              <a:rPr lang="en-US" sz="2400" spc="-45" dirty="0">
                <a:solidFill>
                  <a:srgbClr val="002060"/>
                </a:solidFill>
                <a:latin typeface="Arial" panose="020B0604020202020204" pitchFamily="34" charset="0"/>
                <a:cs typeface="Arial" panose="020B0604020202020204" pitchFamily="34" charset="0"/>
              </a:rPr>
              <a:t> </a:t>
            </a:r>
            <a:r>
              <a:rPr lang="en-US" sz="2400" spc="-5" dirty="0">
                <a:solidFill>
                  <a:srgbClr val="002060"/>
                </a:solidFill>
                <a:latin typeface="Arial" panose="020B0604020202020204" pitchFamily="34" charset="0"/>
                <a:cs typeface="Arial" panose="020B0604020202020204" pitchFamily="34" charset="0"/>
              </a:rPr>
              <a:t>model.</a:t>
            </a:r>
            <a:endParaRPr lang="en-US" sz="2400" dirty="0">
              <a:solidFill>
                <a:srgbClr val="002060"/>
              </a:solidFill>
              <a:latin typeface="Arial" panose="020B0604020202020204" pitchFamily="34" charset="0"/>
              <a:cs typeface="Arial" panose="020B0604020202020204" pitchFamily="34" charset="0"/>
            </a:endParaRPr>
          </a:p>
          <a:p>
            <a:pPr marL="577850" indent="-514350">
              <a:lnSpc>
                <a:spcPct val="100000"/>
              </a:lnSpc>
              <a:spcBef>
                <a:spcPts val="600"/>
              </a:spcBef>
              <a:buFont typeface="Wingdings" panose="05000000000000000000" pitchFamily="2" charset="2"/>
              <a:buChar char="§"/>
              <a:tabLst>
                <a:tab pos="405130" algn="l"/>
              </a:tabLst>
            </a:pPr>
            <a:r>
              <a:rPr lang="en-US" sz="2400" spc="-5" dirty="0">
                <a:solidFill>
                  <a:srgbClr val="002060"/>
                </a:solidFill>
                <a:latin typeface="Arial" panose="020B0604020202020204" pitchFamily="34" charset="0"/>
                <a:cs typeface="Arial" panose="020B0604020202020204" pitchFamily="34" charset="0"/>
              </a:rPr>
              <a:t>Not much </a:t>
            </a:r>
            <a:r>
              <a:rPr lang="en-US" sz="2400" dirty="0">
                <a:solidFill>
                  <a:srgbClr val="002060"/>
                </a:solidFill>
                <a:latin typeface="Arial" panose="020B0604020202020204" pitchFamily="34" charset="0"/>
                <a:cs typeface="Arial" panose="020B0604020202020204" pitchFamily="34" charset="0"/>
              </a:rPr>
              <a:t>costly.</a:t>
            </a:r>
          </a:p>
          <a:p>
            <a:pPr marL="577215" marR="170180" indent="-514350">
              <a:lnSpc>
                <a:spcPct val="100000"/>
              </a:lnSpc>
              <a:buFont typeface="Wingdings" panose="05000000000000000000" pitchFamily="2" charset="2"/>
              <a:buChar char="§"/>
              <a:tabLst>
                <a:tab pos="405130" algn="l"/>
              </a:tabLst>
            </a:pPr>
            <a:r>
              <a:rPr lang="en-US" sz="2400" spc="-5" dirty="0">
                <a:solidFill>
                  <a:srgbClr val="002060"/>
                </a:solidFill>
                <a:latin typeface="Arial" panose="020B0604020202020204" pitchFamily="34" charset="0"/>
                <a:cs typeface="Arial" panose="020B0604020202020204" pitchFamily="34" charset="0"/>
              </a:rPr>
              <a:t>Communication </a:t>
            </a:r>
            <a:r>
              <a:rPr lang="en-US" sz="2400" dirty="0">
                <a:solidFill>
                  <a:srgbClr val="002060"/>
                </a:solidFill>
                <a:latin typeface="Arial" panose="020B0604020202020204" pitchFamily="34" charset="0"/>
                <a:cs typeface="Arial" panose="020B0604020202020204" pitchFamily="34" charset="0"/>
              </a:rPr>
              <a:t>level is</a:t>
            </a:r>
            <a:r>
              <a:rPr lang="en-US" sz="2400" spc="-80" dirty="0">
                <a:solidFill>
                  <a:srgbClr val="002060"/>
                </a:solidFill>
                <a:latin typeface="Arial" panose="020B0604020202020204" pitchFamily="34" charset="0"/>
                <a:cs typeface="Arial" panose="020B0604020202020204" pitchFamily="34" charset="0"/>
              </a:rPr>
              <a:t> </a:t>
            </a:r>
            <a:r>
              <a:rPr lang="en-US" sz="2400" dirty="0">
                <a:solidFill>
                  <a:srgbClr val="002060"/>
                </a:solidFill>
                <a:latin typeface="Arial" panose="020B0604020202020204" pitchFamily="34" charset="0"/>
                <a:cs typeface="Arial" panose="020B0604020202020204" pitchFamily="34" charset="0"/>
              </a:rPr>
              <a:t>not  high</a:t>
            </a:r>
          </a:p>
        </p:txBody>
      </p:sp>
    </p:spTree>
    <p:extLst>
      <p:ext uri="{BB962C8B-B14F-4D97-AF65-F5344CB8AC3E}">
        <p14:creationId xmlns:p14="http://schemas.microsoft.com/office/powerpoint/2010/main" val="3420860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a:solidFill>
                  <a:srgbClr val="002060"/>
                </a:solidFill>
                <a:latin typeface="Arial" panose="020B0604020202020204" pitchFamily="34" charset="0"/>
                <a:cs typeface="Arial" panose="020B0604020202020204" pitchFamily="34" charset="0"/>
              </a:rPr>
              <a:t>Incremental Model</a:t>
            </a:r>
          </a:p>
        </p:txBody>
      </p:sp>
      <p:pic>
        <p:nvPicPr>
          <p:cNvPr id="6" name="Content Placeholder 5"/>
          <p:cNvPicPr>
            <a:picLocks noGrp="1" noChangeAspect="1"/>
          </p:cNvPicPr>
          <p:nvPr>
            <p:ph idx="1"/>
          </p:nvPr>
        </p:nvPicPr>
        <p:blipFill>
          <a:blip r:embed="rId2" cstate="print"/>
          <a:stretch>
            <a:fillRect/>
          </a:stretch>
        </p:blipFill>
        <p:spPr>
          <a:xfrm>
            <a:off x="677334" y="1390920"/>
            <a:ext cx="8337047" cy="4649272"/>
          </a:xfrm>
          <a:prstGeom prst="rect">
            <a:avLst/>
          </a:prstGeom>
        </p:spPr>
      </p:pic>
    </p:spTree>
    <p:extLst>
      <p:ext uri="{BB962C8B-B14F-4D97-AF65-F5344CB8AC3E}">
        <p14:creationId xmlns:p14="http://schemas.microsoft.com/office/powerpoint/2010/main" val="2076450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latin typeface="Arial" panose="020B0604020202020204" pitchFamily="34" charset="0"/>
                <a:cs typeface="Arial" panose="020B0604020202020204" pitchFamily="34" charset="0"/>
              </a:rPr>
              <a:t>Evolutionary Model</a:t>
            </a:r>
          </a:p>
        </p:txBody>
      </p:sp>
      <p:pic>
        <p:nvPicPr>
          <p:cNvPr id="4" name="Content Placeholder 3"/>
          <p:cNvPicPr>
            <a:picLocks noGrp="1" noChangeAspect="1"/>
          </p:cNvPicPr>
          <p:nvPr>
            <p:ph idx="1"/>
          </p:nvPr>
        </p:nvPicPr>
        <p:blipFill>
          <a:blip r:embed="rId2" cstate="print"/>
          <a:stretch>
            <a:fillRect/>
          </a:stretch>
        </p:blipFill>
        <p:spPr>
          <a:xfrm>
            <a:off x="1004552" y="1700010"/>
            <a:ext cx="8575558" cy="4224271"/>
          </a:xfrm>
          <a:prstGeom prst="rect">
            <a:avLst/>
          </a:prstGeom>
        </p:spPr>
      </p:pic>
    </p:spTree>
    <p:extLst>
      <p:ext uri="{BB962C8B-B14F-4D97-AF65-F5344CB8AC3E}">
        <p14:creationId xmlns:p14="http://schemas.microsoft.com/office/powerpoint/2010/main" val="3493949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846"/>
          </a:xfrm>
        </p:spPr>
        <p:txBody>
          <a:bodyPr>
            <a:normAutofit fontScale="90000"/>
          </a:bodyPr>
          <a:lstStyle/>
          <a:p>
            <a:r>
              <a:rPr lang="en-IN" dirty="0"/>
              <a:t>software cost estimation models</a:t>
            </a: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1700" y="1804988"/>
            <a:ext cx="7848600" cy="3800475"/>
          </a:xfrm>
        </p:spPr>
      </p:pic>
    </p:spTree>
    <p:extLst>
      <p:ext uri="{BB962C8B-B14F-4D97-AF65-F5344CB8AC3E}">
        <p14:creationId xmlns:p14="http://schemas.microsoft.com/office/powerpoint/2010/main" val="3275339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algn="ctr">
              <a:defRPr/>
            </a:pPr>
            <a:r>
              <a:rPr lang="en-US" sz="2800" b="1" dirty="0"/>
              <a:t> </a:t>
            </a:r>
            <a:br>
              <a:rPr lang="en-US" sz="2800" b="1" dirty="0"/>
            </a:br>
            <a:r>
              <a:rPr lang="en-US" sz="2800" b="1" dirty="0"/>
              <a:t> </a:t>
            </a:r>
            <a:r>
              <a:rPr lang="en-IN" sz="2800" dirty="0"/>
              <a:t>Milestones (</a:t>
            </a:r>
            <a:r>
              <a:rPr lang="en-US" sz="2800" b="1" dirty="0"/>
              <a:t>Checkpoints) of the Process</a:t>
            </a:r>
            <a:endParaRPr lang="en-US" sz="1800" dirty="0"/>
          </a:p>
        </p:txBody>
      </p:sp>
      <p:sp>
        <p:nvSpPr>
          <p:cNvPr id="61445" name="Rectangle 3"/>
          <p:cNvSpPr>
            <a:spLocks noChangeArrowheads="1"/>
          </p:cNvSpPr>
          <p:nvPr/>
        </p:nvSpPr>
        <p:spPr bwMode="auto">
          <a:xfrm>
            <a:off x="3657600" y="36576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n-US">
              <a:latin typeface="Arial" panose="020B0604020202020204" pitchFamily="34" charset="0"/>
            </a:endParaRPr>
          </a:p>
        </p:txBody>
      </p:sp>
      <p:sp>
        <p:nvSpPr>
          <p:cNvPr id="61446" name="Text Box 4"/>
          <p:cNvSpPr txBox="1">
            <a:spLocks noChangeArrowheads="1"/>
          </p:cNvSpPr>
          <p:nvPr/>
        </p:nvSpPr>
        <p:spPr bwMode="auto">
          <a:xfrm>
            <a:off x="1752600" y="1752601"/>
            <a:ext cx="8788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pPr>
            <a:r>
              <a:rPr lang="en-US" sz="2000" dirty="0"/>
              <a:t>It is important to have visible milestones in the life cycle , where</a:t>
            </a:r>
          </a:p>
          <a:p>
            <a:pPr>
              <a:buClr>
                <a:schemeClr val="accent2"/>
              </a:buClr>
              <a:buFont typeface="Wingdings" panose="05000000000000000000" pitchFamily="2" charset="2"/>
              <a:buNone/>
            </a:pPr>
            <a:r>
              <a:rPr lang="en-US" sz="2000" dirty="0"/>
              <a:t>various stakeholders meet to discuss progress and planes.</a:t>
            </a:r>
          </a:p>
        </p:txBody>
      </p:sp>
      <p:sp>
        <p:nvSpPr>
          <p:cNvPr id="61447" name="Text Box 5"/>
          <p:cNvSpPr txBox="1">
            <a:spLocks noChangeArrowheads="1"/>
          </p:cNvSpPr>
          <p:nvPr/>
        </p:nvSpPr>
        <p:spPr bwMode="auto">
          <a:xfrm>
            <a:off x="1755776" y="2590801"/>
            <a:ext cx="43678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pPr>
            <a:r>
              <a:rPr lang="en-US" sz="2000" dirty="0"/>
              <a:t>The purpose of this events is to:</a:t>
            </a:r>
          </a:p>
        </p:txBody>
      </p:sp>
      <p:sp>
        <p:nvSpPr>
          <p:cNvPr id="215046" name="Text Box 6"/>
          <p:cNvSpPr txBox="1">
            <a:spLocks noChangeArrowheads="1"/>
          </p:cNvSpPr>
          <p:nvPr/>
        </p:nvSpPr>
        <p:spPr bwMode="auto">
          <a:xfrm>
            <a:off x="1981201" y="3092450"/>
            <a:ext cx="81772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Char char="Ø"/>
            </a:pPr>
            <a:r>
              <a:rPr lang="en-US" dirty="0"/>
              <a:t> Synchronize stakeholder </a:t>
            </a:r>
            <a:r>
              <a:rPr lang="en-US" dirty="0">
                <a:solidFill>
                  <a:srgbClr val="FF0000"/>
                </a:solidFill>
              </a:rPr>
              <a:t>expectations</a:t>
            </a:r>
            <a:r>
              <a:rPr lang="en-US" dirty="0"/>
              <a:t> and </a:t>
            </a:r>
            <a:r>
              <a:rPr lang="en-US" dirty="0">
                <a:solidFill>
                  <a:srgbClr val="FF0000"/>
                </a:solidFill>
              </a:rPr>
              <a:t>achieve concurrence </a:t>
            </a:r>
            <a:r>
              <a:rPr lang="en-US" dirty="0"/>
              <a:t>on </a:t>
            </a:r>
          </a:p>
          <a:p>
            <a:pPr>
              <a:buClr>
                <a:schemeClr val="accent2"/>
              </a:buClr>
              <a:buFont typeface="Wingdings" panose="05000000000000000000" pitchFamily="2" charset="2"/>
              <a:buNone/>
            </a:pPr>
            <a:r>
              <a:rPr lang="en-US" dirty="0"/>
              <a:t>   the requirements, the design, and the plan.</a:t>
            </a:r>
          </a:p>
        </p:txBody>
      </p:sp>
      <p:sp>
        <p:nvSpPr>
          <p:cNvPr id="215047" name="Text Box 7"/>
          <p:cNvSpPr txBox="1">
            <a:spLocks noChangeArrowheads="1"/>
          </p:cNvSpPr>
          <p:nvPr/>
        </p:nvSpPr>
        <p:spPr bwMode="auto">
          <a:xfrm>
            <a:off x="1981200" y="3870326"/>
            <a:ext cx="39678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Char char="Ø"/>
            </a:pPr>
            <a:r>
              <a:rPr lang="en-US" sz="2000" dirty="0"/>
              <a:t> </a:t>
            </a:r>
            <a:r>
              <a:rPr lang="en-US" dirty="0">
                <a:solidFill>
                  <a:srgbClr val="FF0000"/>
                </a:solidFill>
              </a:rPr>
              <a:t>Synchronize related artifacts .</a:t>
            </a:r>
            <a:endParaRPr lang="en-US" dirty="0"/>
          </a:p>
        </p:txBody>
      </p:sp>
      <p:sp>
        <p:nvSpPr>
          <p:cNvPr id="215048" name="Text Box 8"/>
          <p:cNvSpPr txBox="1">
            <a:spLocks noChangeArrowheads="1"/>
          </p:cNvSpPr>
          <p:nvPr/>
        </p:nvSpPr>
        <p:spPr bwMode="auto">
          <a:xfrm>
            <a:off x="1981200" y="4433888"/>
            <a:ext cx="825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Char char="Ø"/>
            </a:pPr>
            <a:r>
              <a:rPr lang="en-US" dirty="0"/>
              <a:t> Identify the important risks, issues, and out-of-tolerance conditions</a:t>
            </a:r>
          </a:p>
        </p:txBody>
      </p:sp>
      <p:sp>
        <p:nvSpPr>
          <p:cNvPr id="215049" name="Text Box 9"/>
          <p:cNvSpPr txBox="1">
            <a:spLocks noChangeArrowheads="1"/>
          </p:cNvSpPr>
          <p:nvPr/>
        </p:nvSpPr>
        <p:spPr bwMode="auto">
          <a:xfrm>
            <a:off x="1981201" y="4967288"/>
            <a:ext cx="64690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Char char="Ø"/>
            </a:pPr>
            <a:r>
              <a:rPr lang="en-US"/>
              <a:t>Perform a global assessment for the whole life-cycle.</a:t>
            </a:r>
          </a:p>
        </p:txBody>
      </p:sp>
    </p:spTree>
    <p:extLst>
      <p:ext uri="{BB962C8B-B14F-4D97-AF65-F5344CB8AC3E}">
        <p14:creationId xmlns:p14="http://schemas.microsoft.com/office/powerpoint/2010/main" val="3291498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5046"/>
                                        </p:tgtEl>
                                        <p:attrNameLst>
                                          <p:attrName>style.visibility</p:attrName>
                                        </p:attrNameLst>
                                      </p:cBhvr>
                                      <p:to>
                                        <p:strVal val="visible"/>
                                      </p:to>
                                    </p:set>
                                    <p:anim calcmode="lin" valueType="num">
                                      <p:cBhvr additive="base">
                                        <p:cTn id="7" dur="500" fill="hold"/>
                                        <p:tgtEl>
                                          <p:spTgt spid="215046"/>
                                        </p:tgtEl>
                                        <p:attrNameLst>
                                          <p:attrName>ppt_x</p:attrName>
                                        </p:attrNameLst>
                                      </p:cBhvr>
                                      <p:tavLst>
                                        <p:tav tm="0">
                                          <p:val>
                                            <p:strVal val="0-#ppt_w/2"/>
                                          </p:val>
                                        </p:tav>
                                        <p:tav tm="100000">
                                          <p:val>
                                            <p:strVal val="#ppt_x"/>
                                          </p:val>
                                        </p:tav>
                                      </p:tavLst>
                                    </p:anim>
                                    <p:anim calcmode="lin" valueType="num">
                                      <p:cBhvr additive="base">
                                        <p:cTn id="8" dur="500" fill="hold"/>
                                        <p:tgtEl>
                                          <p:spTgt spid="21504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15047"/>
                                        </p:tgtEl>
                                        <p:attrNameLst>
                                          <p:attrName>style.visibility</p:attrName>
                                        </p:attrNameLst>
                                      </p:cBhvr>
                                      <p:to>
                                        <p:strVal val="visible"/>
                                      </p:to>
                                    </p:set>
                                    <p:anim calcmode="lin" valueType="num">
                                      <p:cBhvr additive="base">
                                        <p:cTn id="12" dur="500" fill="hold"/>
                                        <p:tgtEl>
                                          <p:spTgt spid="215047"/>
                                        </p:tgtEl>
                                        <p:attrNameLst>
                                          <p:attrName>ppt_x</p:attrName>
                                        </p:attrNameLst>
                                      </p:cBhvr>
                                      <p:tavLst>
                                        <p:tav tm="0">
                                          <p:val>
                                            <p:strVal val="0-#ppt_w/2"/>
                                          </p:val>
                                        </p:tav>
                                        <p:tav tm="100000">
                                          <p:val>
                                            <p:strVal val="#ppt_x"/>
                                          </p:val>
                                        </p:tav>
                                      </p:tavLst>
                                    </p:anim>
                                    <p:anim calcmode="lin" valueType="num">
                                      <p:cBhvr additive="base">
                                        <p:cTn id="13" dur="500" fill="hold"/>
                                        <p:tgtEl>
                                          <p:spTgt spid="215047"/>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15048"/>
                                        </p:tgtEl>
                                        <p:attrNameLst>
                                          <p:attrName>style.visibility</p:attrName>
                                        </p:attrNameLst>
                                      </p:cBhvr>
                                      <p:to>
                                        <p:strVal val="visible"/>
                                      </p:to>
                                    </p:set>
                                    <p:anim calcmode="lin" valueType="num">
                                      <p:cBhvr additive="base">
                                        <p:cTn id="17" dur="500" fill="hold"/>
                                        <p:tgtEl>
                                          <p:spTgt spid="215048"/>
                                        </p:tgtEl>
                                        <p:attrNameLst>
                                          <p:attrName>ppt_x</p:attrName>
                                        </p:attrNameLst>
                                      </p:cBhvr>
                                      <p:tavLst>
                                        <p:tav tm="0">
                                          <p:val>
                                            <p:strVal val="0-#ppt_w/2"/>
                                          </p:val>
                                        </p:tav>
                                        <p:tav tm="100000">
                                          <p:val>
                                            <p:strVal val="#ppt_x"/>
                                          </p:val>
                                        </p:tav>
                                      </p:tavLst>
                                    </p:anim>
                                    <p:anim calcmode="lin" valueType="num">
                                      <p:cBhvr additive="base">
                                        <p:cTn id="18" dur="500" fill="hold"/>
                                        <p:tgtEl>
                                          <p:spTgt spid="215048"/>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15049"/>
                                        </p:tgtEl>
                                        <p:attrNameLst>
                                          <p:attrName>style.visibility</p:attrName>
                                        </p:attrNameLst>
                                      </p:cBhvr>
                                      <p:to>
                                        <p:strVal val="visible"/>
                                      </p:to>
                                    </p:set>
                                    <p:anim calcmode="lin" valueType="num">
                                      <p:cBhvr additive="base">
                                        <p:cTn id="22" dur="500" fill="hold"/>
                                        <p:tgtEl>
                                          <p:spTgt spid="215049"/>
                                        </p:tgtEl>
                                        <p:attrNameLst>
                                          <p:attrName>ppt_x</p:attrName>
                                        </p:attrNameLst>
                                      </p:cBhvr>
                                      <p:tavLst>
                                        <p:tav tm="0">
                                          <p:val>
                                            <p:strVal val="0-#ppt_w/2"/>
                                          </p:val>
                                        </p:tav>
                                        <p:tav tm="100000">
                                          <p:val>
                                            <p:strVal val="#ppt_x"/>
                                          </p:val>
                                        </p:tav>
                                      </p:tavLst>
                                    </p:anim>
                                    <p:anim calcmode="lin" valueType="num">
                                      <p:cBhvr additive="base">
                                        <p:cTn id="23" dur="500" fill="hold"/>
                                        <p:tgtEl>
                                          <p:spTgt spid="2150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6" grpId="0"/>
      <p:bldP spid="215047" grpId="0"/>
      <p:bldP spid="215048" grpId="0"/>
      <p:bldP spid="2150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1201783" y="304801"/>
            <a:ext cx="8033657" cy="1216025"/>
          </a:xfrm>
        </p:spPr>
        <p:txBody>
          <a:bodyPr/>
          <a:lstStyle/>
          <a:p>
            <a:pPr algn="ctr">
              <a:defRPr/>
            </a:pPr>
            <a:br>
              <a:rPr lang="en-US" sz="2800" b="1" dirty="0"/>
            </a:br>
            <a:r>
              <a:rPr lang="en-US" sz="2800" b="1" dirty="0"/>
              <a:t> </a:t>
            </a:r>
            <a:r>
              <a:rPr lang="en-IN" sz="2800" dirty="0"/>
              <a:t>Milestones (</a:t>
            </a:r>
            <a:r>
              <a:rPr lang="en-US" sz="2800" dirty="0"/>
              <a:t>Checkpoints) of the Process</a:t>
            </a:r>
          </a:p>
        </p:txBody>
      </p:sp>
      <p:sp>
        <p:nvSpPr>
          <p:cNvPr id="62469" name="Rectangle 3"/>
          <p:cNvSpPr>
            <a:spLocks noChangeArrowheads="1"/>
          </p:cNvSpPr>
          <p:nvPr/>
        </p:nvSpPr>
        <p:spPr bwMode="auto">
          <a:xfrm>
            <a:off x="1524001" y="14742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endParaRPr lang="en-US">
              <a:latin typeface="Arial" panose="020B0604020202020204" pitchFamily="34" charset="0"/>
            </a:endParaRPr>
          </a:p>
        </p:txBody>
      </p:sp>
      <p:sp>
        <p:nvSpPr>
          <p:cNvPr id="62470" name="Text Box 4"/>
          <p:cNvSpPr txBox="1">
            <a:spLocks noChangeArrowheads="1"/>
          </p:cNvSpPr>
          <p:nvPr/>
        </p:nvSpPr>
        <p:spPr bwMode="auto">
          <a:xfrm>
            <a:off x="1905000" y="2667001"/>
            <a:ext cx="8458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AutoNum type="arabicPeriod"/>
            </a:pPr>
            <a:r>
              <a:rPr lang="en-US" sz="2000" dirty="0">
                <a:solidFill>
                  <a:schemeClr val="accent2"/>
                </a:solidFill>
              </a:rPr>
              <a:t>Major milestones</a:t>
            </a:r>
            <a:r>
              <a:rPr lang="en-US" sz="2000" dirty="0"/>
              <a:t> –</a:t>
            </a:r>
            <a:r>
              <a:rPr lang="en-IN" sz="2000" dirty="0"/>
              <a:t>These system wide events are held at the end of each development phase.</a:t>
            </a:r>
            <a:r>
              <a:rPr lang="en-US" sz="2000" dirty="0"/>
              <a:t>.</a:t>
            </a:r>
          </a:p>
          <a:p>
            <a:pPr>
              <a:buClr>
                <a:schemeClr val="accent2"/>
              </a:buClr>
              <a:buFont typeface="Wingdings" panose="05000000000000000000" pitchFamily="2" charset="2"/>
              <a:buAutoNum type="arabicPeriod"/>
            </a:pPr>
            <a:endParaRPr lang="en-US" sz="2000" dirty="0"/>
          </a:p>
        </p:txBody>
      </p:sp>
      <p:sp>
        <p:nvSpPr>
          <p:cNvPr id="62471" name="Text Box 5"/>
          <p:cNvSpPr txBox="1">
            <a:spLocks noChangeArrowheads="1"/>
          </p:cNvSpPr>
          <p:nvPr/>
        </p:nvSpPr>
        <p:spPr bwMode="auto">
          <a:xfrm>
            <a:off x="1752600" y="1739901"/>
            <a:ext cx="8204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pPr>
            <a:r>
              <a:rPr lang="en-US" sz="2100" dirty="0"/>
              <a:t>Three types of joint management reviews are conducted </a:t>
            </a:r>
          </a:p>
          <a:p>
            <a:pPr>
              <a:buClr>
                <a:schemeClr val="accent2"/>
              </a:buClr>
              <a:buFont typeface="Wingdings" panose="05000000000000000000" pitchFamily="2" charset="2"/>
              <a:buNone/>
            </a:pPr>
            <a:r>
              <a:rPr lang="en-US" sz="2100" dirty="0"/>
              <a:t>    throughout the process:</a:t>
            </a:r>
          </a:p>
        </p:txBody>
      </p:sp>
      <p:sp>
        <p:nvSpPr>
          <p:cNvPr id="62472" name="Text Box 6"/>
          <p:cNvSpPr txBox="1">
            <a:spLocks noChangeArrowheads="1"/>
          </p:cNvSpPr>
          <p:nvPr/>
        </p:nvSpPr>
        <p:spPr bwMode="auto">
          <a:xfrm>
            <a:off x="1905000" y="5029201"/>
            <a:ext cx="8458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None/>
            </a:pPr>
            <a:r>
              <a:rPr lang="en-US" sz="2000">
                <a:solidFill>
                  <a:schemeClr val="accent2"/>
                </a:solidFill>
              </a:rPr>
              <a:t>3.</a:t>
            </a:r>
            <a:r>
              <a:rPr lang="en-US" sz="2000"/>
              <a:t> </a:t>
            </a:r>
            <a:r>
              <a:rPr lang="en-US" sz="2000">
                <a:solidFill>
                  <a:schemeClr val="accent2"/>
                </a:solidFill>
              </a:rPr>
              <a:t>Status assessments</a:t>
            </a:r>
            <a:r>
              <a:rPr lang="en-US" sz="2000"/>
              <a:t> – periodic events provide management with frequent and regular insight into the progress being made.</a:t>
            </a:r>
          </a:p>
        </p:txBody>
      </p:sp>
      <p:sp>
        <p:nvSpPr>
          <p:cNvPr id="62473" name="Rectangle 7"/>
          <p:cNvSpPr>
            <a:spLocks noChangeArrowheads="1"/>
          </p:cNvSpPr>
          <p:nvPr/>
        </p:nvSpPr>
        <p:spPr bwMode="auto">
          <a:xfrm>
            <a:off x="1905000" y="3810000"/>
            <a:ext cx="8458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buClr>
                <a:schemeClr val="accent2"/>
              </a:buClr>
              <a:buFont typeface="Wingdings" panose="05000000000000000000" pitchFamily="2" charset="2"/>
              <a:buNone/>
            </a:pPr>
            <a:r>
              <a:rPr lang="en-US" sz="2100" dirty="0">
                <a:solidFill>
                  <a:schemeClr val="accent2"/>
                </a:solidFill>
              </a:rPr>
              <a:t>2.</a:t>
            </a:r>
            <a:r>
              <a:rPr lang="en-US" sz="2100" dirty="0"/>
              <a:t> </a:t>
            </a:r>
            <a:r>
              <a:rPr lang="en-US" sz="2100" dirty="0">
                <a:solidFill>
                  <a:schemeClr val="accent2"/>
                </a:solidFill>
              </a:rPr>
              <a:t>Minor milestones</a:t>
            </a:r>
            <a:r>
              <a:rPr lang="en-US" sz="2100" dirty="0"/>
              <a:t> – </a:t>
            </a:r>
            <a:r>
              <a:rPr lang="en-IN" dirty="0"/>
              <a:t>These iteration-focused events are conducted to review </a:t>
            </a:r>
            <a:r>
              <a:rPr lang="en-IN" dirty="0" err="1"/>
              <a:t>thecontent</a:t>
            </a:r>
            <a:r>
              <a:rPr lang="en-IN" dirty="0"/>
              <a:t> of an iteration in detail and to authorize continued work.</a:t>
            </a:r>
            <a:endParaRPr lang="en-US" dirty="0"/>
          </a:p>
        </p:txBody>
      </p:sp>
    </p:spTree>
    <p:extLst>
      <p:ext uri="{BB962C8B-B14F-4D97-AF65-F5344CB8AC3E}">
        <p14:creationId xmlns:p14="http://schemas.microsoft.com/office/powerpoint/2010/main" val="857190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833" y="435431"/>
            <a:ext cx="8653538" cy="435428"/>
          </a:xfrm>
        </p:spPr>
        <p:txBody>
          <a:bodyPr>
            <a:normAutofit fontScale="90000"/>
          </a:bodyPr>
          <a:lstStyle/>
          <a:p>
            <a:endParaRPr lang="en-IN" dirty="0"/>
          </a:p>
        </p:txBody>
      </p:sp>
      <p:pic>
        <p:nvPicPr>
          <p:cNvPr id="4" name="Table Placeholder 3"/>
          <p:cNvPicPr>
            <a:picLocks noGrp="1" noChangeAspect="1"/>
          </p:cNvPicPr>
          <p:nvPr>
            <p:ph type="tbl" idx="1"/>
          </p:nvPr>
        </p:nvPicPr>
        <p:blipFill>
          <a:blip r:embed="rId2">
            <a:extLst>
              <a:ext uri="{28A0092B-C50C-407E-A947-70E740481C1C}">
                <a14:useLocalDpi xmlns:a14="http://schemas.microsoft.com/office/drawing/2010/main" val="0"/>
              </a:ext>
            </a:extLst>
          </a:blip>
          <a:stretch>
            <a:fillRect/>
          </a:stretch>
        </p:blipFill>
        <p:spPr>
          <a:xfrm>
            <a:off x="1770744" y="991326"/>
            <a:ext cx="7431166" cy="4989286"/>
          </a:xfrm>
        </p:spPr>
      </p:pic>
    </p:spTree>
    <p:extLst>
      <p:ext uri="{BB962C8B-B14F-4D97-AF65-F5344CB8AC3E}">
        <p14:creationId xmlns:p14="http://schemas.microsoft.com/office/powerpoint/2010/main" val="850182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2818"/>
          </a:xfrm>
        </p:spPr>
        <p:txBody>
          <a:bodyPr>
            <a:normAutofit fontScale="90000"/>
          </a:bodyPr>
          <a:lstStyle/>
          <a:p>
            <a:endParaRPr lang="en-IN" dirty="0"/>
          </a:p>
        </p:txBody>
      </p:sp>
      <p:sp>
        <p:nvSpPr>
          <p:cNvPr id="3" name="Content Placeholder 2"/>
          <p:cNvSpPr>
            <a:spLocks noGrp="1"/>
          </p:cNvSpPr>
          <p:nvPr>
            <p:ph idx="1"/>
          </p:nvPr>
        </p:nvSpPr>
        <p:spPr>
          <a:xfrm>
            <a:off x="838200" y="1175657"/>
            <a:ext cx="10515600" cy="5001306"/>
          </a:xfrm>
        </p:spPr>
        <p:txBody>
          <a:bodyPr>
            <a:normAutofit/>
          </a:bodyPr>
          <a:lstStyle/>
          <a:p>
            <a:pPr marL="0" indent="0">
              <a:buNone/>
            </a:pPr>
            <a:r>
              <a:rPr lang="en-IN" sz="2400" b="1" dirty="0"/>
              <a:t>Project Controls</a:t>
            </a:r>
          </a:p>
          <a:p>
            <a:pPr fontAlgn="base"/>
            <a:r>
              <a:rPr lang="en-IN" sz="1400" b="1" dirty="0">
                <a:solidFill>
                  <a:srgbClr val="403F40"/>
                </a:solidFill>
                <a:latin typeface="Arial" pitchFamily="34" charset="0"/>
                <a:cs typeface="Arial" pitchFamily="34" charset="0"/>
              </a:rPr>
              <a:t>Project Control focuses on the factors that impact the schedule  and budget of your project. It is a key factor in keeping your   project  running smoothly.</a:t>
            </a:r>
          </a:p>
          <a:p>
            <a:r>
              <a:rPr lang="en-IN" sz="1400" b="1" dirty="0">
                <a:latin typeface="Arial" pitchFamily="34" charset="0"/>
                <a:cs typeface="Arial" pitchFamily="34" charset="0"/>
              </a:rPr>
              <a:t>Project controls are a sub-function and focus on just two parameters: cost and schedule. People management and quality control, for example, does not fall under the purview of project controls.</a:t>
            </a:r>
          </a:p>
          <a:p>
            <a:r>
              <a:rPr lang="en-IN" sz="1400" b="1" dirty="0">
                <a:latin typeface="Arial" pitchFamily="34" charset="0"/>
                <a:cs typeface="Arial" pitchFamily="34" charset="0"/>
              </a:rPr>
              <a:t>The main objective of project controls is to minimize the variance in costs and schedule from what was originally planned. </a:t>
            </a:r>
          </a:p>
          <a:p>
            <a:r>
              <a:rPr lang="en-IN" sz="1400" b="1" dirty="0">
                <a:latin typeface="Arial" pitchFamily="34" charset="0"/>
                <a:cs typeface="Arial" pitchFamily="34" charset="0"/>
              </a:rPr>
              <a:t>Controls acts as a safety harness to project management. Sometimes project managers can focus almost solely on delivery, which leaves less room to examine costs, deviation from the project plan, and other variables involved. Project controls introduce a necessary reality check for project managers, giving a more data-grounded view of how the project resources and objectives are trending over time.</a:t>
            </a:r>
          </a:p>
          <a:p>
            <a:pPr marL="0" indent="0">
              <a:buNone/>
            </a:pPr>
            <a:endParaRPr lang="en-IN" dirty="0"/>
          </a:p>
        </p:txBody>
      </p:sp>
    </p:spTree>
    <p:extLst>
      <p:ext uri="{BB962C8B-B14F-4D97-AF65-F5344CB8AC3E}">
        <p14:creationId xmlns:p14="http://schemas.microsoft.com/office/powerpoint/2010/main" val="2792347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7925"/>
          <a:stretch/>
        </p:blipFill>
        <p:spPr>
          <a:xfrm>
            <a:off x="751114" y="2368097"/>
            <a:ext cx="3661229" cy="3597663"/>
          </a:xfrm>
        </p:spPr>
      </p:pic>
      <p:sp>
        <p:nvSpPr>
          <p:cNvPr id="5" name="Rectangle 4"/>
          <p:cNvSpPr/>
          <p:nvPr/>
        </p:nvSpPr>
        <p:spPr>
          <a:xfrm>
            <a:off x="4688114" y="1146629"/>
            <a:ext cx="6702697" cy="4524315"/>
          </a:xfrm>
          <a:prstGeom prst="rect">
            <a:avLst/>
          </a:prstGeom>
        </p:spPr>
        <p:txBody>
          <a:bodyPr wrap="square">
            <a:spAutoFit/>
          </a:bodyPr>
          <a:lstStyle/>
          <a:p>
            <a:pPr fontAlgn="base">
              <a:lnSpc>
                <a:spcPct val="150000"/>
              </a:lnSpc>
              <a:buFont typeface="Arial" panose="020B0604020202020204" pitchFamily="34" charset="0"/>
              <a:buChar char="•"/>
            </a:pPr>
            <a:endParaRPr lang="en-IN" dirty="0">
              <a:solidFill>
                <a:srgbClr val="403F40"/>
              </a:solidFill>
              <a:latin typeface="HelveticaNeue"/>
            </a:endParaRPr>
          </a:p>
          <a:p>
            <a:pPr fontAlgn="base">
              <a:lnSpc>
                <a:spcPct val="150000"/>
              </a:lnSpc>
              <a:buFont typeface="Arial" panose="020B0604020202020204" pitchFamily="34" charset="0"/>
              <a:buChar char="•"/>
            </a:pPr>
            <a:r>
              <a:rPr lang="en-IN" dirty="0">
                <a:solidFill>
                  <a:srgbClr val="403F40"/>
                </a:solidFill>
                <a:latin typeface="HelveticaNeue"/>
              </a:rPr>
              <a:t>Scope creep – resulting in blow-out of cost and schedule</a:t>
            </a:r>
          </a:p>
          <a:p>
            <a:pPr fontAlgn="base">
              <a:lnSpc>
                <a:spcPct val="150000"/>
              </a:lnSpc>
              <a:buFont typeface="Arial" panose="020B0604020202020204" pitchFamily="34" charset="0"/>
              <a:buChar char="•"/>
            </a:pPr>
            <a:r>
              <a:rPr lang="en-IN" dirty="0">
                <a:solidFill>
                  <a:srgbClr val="403F40"/>
                </a:solidFill>
                <a:latin typeface="HelveticaNeue"/>
              </a:rPr>
              <a:t>Accuracy of estimations</a:t>
            </a:r>
          </a:p>
          <a:p>
            <a:pPr fontAlgn="base">
              <a:lnSpc>
                <a:spcPct val="150000"/>
              </a:lnSpc>
              <a:buFont typeface="Arial" panose="020B0604020202020204" pitchFamily="34" charset="0"/>
              <a:buChar char="•"/>
            </a:pPr>
            <a:r>
              <a:rPr lang="en-IN" dirty="0">
                <a:solidFill>
                  <a:srgbClr val="403F40"/>
                </a:solidFill>
                <a:latin typeface="HelveticaNeue"/>
              </a:rPr>
              <a:t>Optimum team size to maximise productivity</a:t>
            </a:r>
          </a:p>
          <a:p>
            <a:pPr fontAlgn="base">
              <a:lnSpc>
                <a:spcPct val="150000"/>
              </a:lnSpc>
              <a:buFont typeface="Arial" panose="020B0604020202020204" pitchFamily="34" charset="0"/>
              <a:buChar char="•"/>
            </a:pPr>
            <a:r>
              <a:rPr lang="en-IN" dirty="0">
                <a:solidFill>
                  <a:srgbClr val="403F40"/>
                </a:solidFill>
                <a:latin typeface="HelveticaNeue"/>
              </a:rPr>
              <a:t>The decision to employ phased development or single release</a:t>
            </a:r>
          </a:p>
          <a:p>
            <a:pPr fontAlgn="base">
              <a:lnSpc>
                <a:spcPct val="150000"/>
              </a:lnSpc>
              <a:buFont typeface="Arial" panose="020B0604020202020204" pitchFamily="34" charset="0"/>
              <a:buChar char="•"/>
            </a:pPr>
            <a:r>
              <a:rPr lang="en-IN" dirty="0">
                <a:solidFill>
                  <a:srgbClr val="403F40"/>
                </a:solidFill>
                <a:latin typeface="HelveticaNeue"/>
              </a:rPr>
              <a:t>The choice of methodology – will this result in overall lower costs?</a:t>
            </a:r>
          </a:p>
          <a:p>
            <a:pPr fontAlgn="base">
              <a:lnSpc>
                <a:spcPct val="150000"/>
              </a:lnSpc>
              <a:buFont typeface="Arial" panose="020B0604020202020204" pitchFamily="34" charset="0"/>
              <a:buChar char="•"/>
            </a:pPr>
            <a:r>
              <a:rPr lang="en-IN" dirty="0">
                <a:solidFill>
                  <a:srgbClr val="403F40"/>
                </a:solidFill>
                <a:latin typeface="HelveticaNeue"/>
              </a:rPr>
              <a:t>Impact on schedule when employing higher quality resources</a:t>
            </a:r>
          </a:p>
          <a:p>
            <a:pPr fontAlgn="base">
              <a:lnSpc>
                <a:spcPct val="150000"/>
              </a:lnSpc>
              <a:buFont typeface="Arial" panose="020B0604020202020204" pitchFamily="34" charset="0"/>
              <a:buChar char="•"/>
            </a:pPr>
            <a:r>
              <a:rPr lang="en-IN" dirty="0">
                <a:solidFill>
                  <a:srgbClr val="403F40"/>
                </a:solidFill>
                <a:latin typeface="HelveticaNeue"/>
              </a:rPr>
              <a:t>Is the project suffering from “analysis paralysis”?  What is the average time/cost for analysis phase?</a:t>
            </a:r>
          </a:p>
          <a:p>
            <a:pPr fontAlgn="base"/>
            <a:endParaRPr lang="en-US" b="0" i="0" dirty="0">
              <a:solidFill>
                <a:srgbClr val="403F40"/>
              </a:solidFill>
              <a:effectLst/>
              <a:latin typeface="HelveticaNeue"/>
            </a:endParaRPr>
          </a:p>
        </p:txBody>
      </p:sp>
      <p:sp>
        <p:nvSpPr>
          <p:cNvPr id="6" name="Rectangle 5"/>
          <p:cNvSpPr/>
          <p:nvPr/>
        </p:nvSpPr>
        <p:spPr>
          <a:xfrm>
            <a:off x="926542" y="500298"/>
            <a:ext cx="8393644" cy="646331"/>
          </a:xfrm>
          <a:prstGeom prst="rect">
            <a:avLst/>
          </a:prstGeom>
        </p:spPr>
        <p:txBody>
          <a:bodyPr wrap="none">
            <a:spAutoFit/>
          </a:bodyPr>
          <a:lstStyle/>
          <a:p>
            <a:r>
              <a:rPr lang="en-IN" sz="3600" dirty="0"/>
              <a:t>software project controls and reporting</a:t>
            </a:r>
          </a:p>
        </p:txBody>
      </p:sp>
    </p:spTree>
    <p:extLst>
      <p:ext uri="{BB962C8B-B14F-4D97-AF65-F5344CB8AC3E}">
        <p14:creationId xmlns:p14="http://schemas.microsoft.com/office/powerpoint/2010/main" val="1261728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5083" y="1167812"/>
            <a:ext cx="8596668" cy="3880773"/>
          </a:xfrm>
        </p:spPr>
        <p:txBody>
          <a:bodyPr>
            <a:normAutofit fontScale="92500" lnSpcReduction="20000"/>
          </a:bodyPr>
          <a:lstStyle/>
          <a:p>
            <a:pPr marL="0" indent="0">
              <a:buNone/>
            </a:pPr>
            <a:r>
              <a:rPr lang="en-IN" sz="1700" b="1" dirty="0">
                <a:solidFill>
                  <a:srgbClr val="FF0000"/>
                </a:solidFill>
                <a:latin typeface="Arial" pitchFamily="34" charset="0"/>
                <a:cs typeface="Arial" pitchFamily="34" charset="0"/>
              </a:rPr>
              <a:t>Reports </a:t>
            </a:r>
            <a:r>
              <a:rPr lang="en-IN" sz="1700" dirty="0">
                <a:latin typeface="Arial" pitchFamily="34" charset="0"/>
                <a:cs typeface="Arial" pitchFamily="34" charset="0"/>
              </a:rPr>
              <a:t>That Every Project Controls Team Should Have</a:t>
            </a:r>
          </a:p>
          <a:p>
            <a:pPr marL="0" indent="0">
              <a:buNone/>
            </a:pPr>
            <a:r>
              <a:rPr lang="en-IN" sz="1700" dirty="0">
                <a:latin typeface="Arial" pitchFamily="34" charset="0"/>
                <a:cs typeface="Arial" pitchFamily="34" charset="0"/>
              </a:rPr>
              <a:t>1. Cost Report</a:t>
            </a:r>
          </a:p>
          <a:p>
            <a:pPr marL="0" indent="0">
              <a:buNone/>
            </a:pPr>
            <a:r>
              <a:rPr lang="en-IN" sz="1700" dirty="0">
                <a:latin typeface="Arial" pitchFamily="34" charset="0"/>
                <a:cs typeface="Arial" pitchFamily="34" charset="0"/>
              </a:rPr>
              <a:t>One of the most frequently used tools for communication, a status report should include all metrics regarding project costs. </a:t>
            </a:r>
          </a:p>
          <a:p>
            <a:pPr marL="0" indent="0">
              <a:buNone/>
            </a:pPr>
            <a:r>
              <a:rPr lang="en-IN" sz="1700" dirty="0">
                <a:latin typeface="Arial" pitchFamily="34" charset="0"/>
                <a:cs typeface="Arial" pitchFamily="34" charset="0"/>
              </a:rPr>
              <a:t>2. Change Management Register</a:t>
            </a:r>
          </a:p>
          <a:p>
            <a:pPr marL="0" indent="0">
              <a:buNone/>
            </a:pPr>
            <a:r>
              <a:rPr lang="en-IN" sz="1700" dirty="0">
                <a:latin typeface="Arial" pitchFamily="34" charset="0"/>
                <a:cs typeface="Arial" pitchFamily="34" charset="0"/>
              </a:rPr>
              <a:t>Scope creep is a common challenge for most project managers. A change management register keeps track of change in scope from the initial statement of work or estimate. It identifies how much extra cost the project has to incur and how much the project may be delayed due to the addition in scope. </a:t>
            </a:r>
          </a:p>
          <a:p>
            <a:pPr marL="0" indent="0">
              <a:buNone/>
            </a:pPr>
            <a:r>
              <a:rPr lang="en-IN" sz="1700" dirty="0">
                <a:latin typeface="Arial" pitchFamily="34" charset="0"/>
                <a:cs typeface="Arial" pitchFamily="34" charset="0"/>
              </a:rPr>
              <a:t>3. Risk Register</a:t>
            </a:r>
          </a:p>
          <a:p>
            <a:pPr marL="0" indent="0">
              <a:buNone/>
            </a:pPr>
            <a:r>
              <a:rPr lang="en-IN" sz="1700" dirty="0">
                <a:latin typeface="Arial" pitchFamily="34" charset="0"/>
                <a:cs typeface="Arial" pitchFamily="34" charset="0"/>
              </a:rPr>
              <a:t>A risk register is a document that manages risks and records contingency .</a:t>
            </a:r>
          </a:p>
          <a:p>
            <a:pPr marL="0" indent="0">
              <a:buNone/>
            </a:pPr>
            <a:r>
              <a:rPr lang="en-IN" sz="1700" dirty="0">
                <a:latin typeface="Arial" pitchFamily="34" charset="0"/>
                <a:cs typeface="Arial" pitchFamily="34" charset="0"/>
              </a:rPr>
              <a:t>It works as a RAID (risk, action, issues, decision) log and is created at the beginning of a project, documenting risks, assumptions, issues, and dependencies. As a project progresses, the risk factors can change, and these changes are tracked in the risk register.</a:t>
            </a:r>
          </a:p>
          <a:p>
            <a:pPr marL="0" indent="0">
              <a:buNone/>
            </a:pPr>
            <a:endParaRPr lang="en-IN" dirty="0"/>
          </a:p>
          <a:p>
            <a:endParaRPr lang="en-IN" dirty="0"/>
          </a:p>
        </p:txBody>
      </p:sp>
    </p:spTree>
    <p:extLst>
      <p:ext uri="{BB962C8B-B14F-4D97-AF65-F5344CB8AC3E}">
        <p14:creationId xmlns:p14="http://schemas.microsoft.com/office/powerpoint/2010/main" val="3296328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8304"/>
          </a:xfrm>
        </p:spPr>
        <p:txBody>
          <a:bodyPr>
            <a:normAutofit fontScale="90000"/>
          </a:bodyPr>
          <a:lstStyle/>
          <a:p>
            <a:r>
              <a:rPr lang="en-IN" dirty="0"/>
              <a:t>SOFTWARE ECONOMICS</a:t>
            </a:r>
          </a:p>
        </p:txBody>
      </p:sp>
      <p:sp>
        <p:nvSpPr>
          <p:cNvPr id="3" name="Content Placeholder 2"/>
          <p:cNvSpPr>
            <a:spLocks noGrp="1"/>
          </p:cNvSpPr>
          <p:nvPr>
            <p:ph idx="1"/>
          </p:nvPr>
        </p:nvSpPr>
        <p:spPr>
          <a:xfrm>
            <a:off x="838200" y="1233714"/>
            <a:ext cx="10515600" cy="4943249"/>
          </a:xfrm>
        </p:spPr>
        <p:txBody>
          <a:bodyPr>
            <a:normAutofit/>
          </a:bodyPr>
          <a:lstStyle/>
          <a:p>
            <a:pPr marL="0" indent="0">
              <a:buNone/>
            </a:pPr>
            <a:r>
              <a:rPr lang="en-IN" dirty="0"/>
              <a:t>SOFTWARE ECONOMICS Most software cost models can be abstracted into a function of five basic parameters: size, process, personnel, environment, and required quality. </a:t>
            </a:r>
          </a:p>
          <a:p>
            <a:r>
              <a:rPr lang="en-IN" dirty="0"/>
              <a:t>1. The size of the end product (in human-generated components), which is typically quantified in terms of the number of source instructions or the number of function points required to develop the required functionality</a:t>
            </a:r>
          </a:p>
          <a:p>
            <a:r>
              <a:rPr lang="en-IN" dirty="0"/>
              <a:t> 2. The process used to produce the end product, in particular the ability of the process to avoid </a:t>
            </a:r>
            <a:r>
              <a:rPr lang="en-IN" dirty="0" err="1"/>
              <a:t>nonvalue</a:t>
            </a:r>
            <a:r>
              <a:rPr lang="en-IN" dirty="0"/>
              <a:t>-adding activities (rework, bureaucratic delays, communications overhead) </a:t>
            </a:r>
          </a:p>
          <a:p>
            <a:r>
              <a:rPr lang="en-IN" dirty="0"/>
              <a:t>3. The capabilities of software engineering personnel, and particularly their experience with the computer science issues and the applications domain issues of the project </a:t>
            </a:r>
          </a:p>
          <a:p>
            <a:r>
              <a:rPr lang="en-IN" dirty="0"/>
              <a:t>4. The environment, which is made up of the tools and techniques available to support efficient software development and to automate the process</a:t>
            </a:r>
          </a:p>
          <a:p>
            <a:r>
              <a:rPr lang="en-IN" dirty="0"/>
              <a:t> 5. The required quality of the product, including its features, performance, reliability, and adaptability.</a:t>
            </a:r>
          </a:p>
        </p:txBody>
      </p:sp>
    </p:spTree>
    <p:extLst>
      <p:ext uri="{BB962C8B-B14F-4D97-AF65-F5344CB8AC3E}">
        <p14:creationId xmlns:p14="http://schemas.microsoft.com/office/powerpoint/2010/main" val="1247607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Improving the process</a:t>
            </a:r>
          </a:p>
        </p:txBody>
      </p:sp>
      <p:sp>
        <p:nvSpPr>
          <p:cNvPr id="3" name="Content Placeholder 2"/>
          <p:cNvSpPr>
            <a:spLocks noGrp="1"/>
          </p:cNvSpPr>
          <p:nvPr>
            <p:ph idx="1"/>
          </p:nvPr>
        </p:nvSpPr>
        <p:spPr/>
        <p:txBody>
          <a:bodyPr/>
          <a:lstStyle/>
          <a:p>
            <a:r>
              <a:rPr lang="en-IN" dirty="0"/>
              <a:t>Meta process : An organization’s  policies ,procedures and practices for pursuing a s/w intensive line of business. Focus is  on organizational  economics, long term strategies and ROI. </a:t>
            </a:r>
          </a:p>
          <a:p>
            <a:r>
              <a:rPr lang="en-IN" dirty="0"/>
              <a:t>Macro process :A project’s  policies ,procedures and practices for producing a complete s/w product with in certain </a:t>
            </a:r>
            <a:r>
              <a:rPr lang="en-IN" dirty="0" err="1"/>
              <a:t>cost,schedule</a:t>
            </a:r>
            <a:r>
              <a:rPr lang="en-IN" dirty="0"/>
              <a:t>, quality constraint .</a:t>
            </a:r>
          </a:p>
          <a:p>
            <a:r>
              <a:rPr lang="en-IN" dirty="0"/>
              <a:t>Micro Process : A project  team’s policies ,procedures and practices for  achieving intermediate product  of the s/w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C:\Users\Admin\Desktop\SE-CSBS\software-project-management-31-638.jpg"/>
          <p:cNvPicPr>
            <a:picLocks noGrp="1" noChangeAspect="1" noChangeArrowheads="1"/>
          </p:cNvPicPr>
          <p:nvPr>
            <p:ph idx="1"/>
          </p:nvPr>
        </p:nvPicPr>
        <p:blipFill>
          <a:blip r:embed="rId2"/>
          <a:srcRect/>
          <a:stretch>
            <a:fillRect/>
          </a:stretch>
        </p:blipFill>
        <p:spPr bwMode="auto">
          <a:xfrm>
            <a:off x="1937544" y="3648869"/>
            <a:ext cx="6076950" cy="904875"/>
          </a:xfrm>
          <a:prstGeom prst="rect">
            <a:avLst/>
          </a:prstGeom>
          <a:noFill/>
        </p:spPr>
      </p:pic>
      <p:sp>
        <p:nvSpPr>
          <p:cNvPr id="5" name="Rectangle 4"/>
          <p:cNvSpPr/>
          <p:nvPr/>
        </p:nvSpPr>
        <p:spPr>
          <a:xfrm>
            <a:off x="862149" y="2622510"/>
            <a:ext cx="9013371" cy="646331"/>
          </a:xfrm>
          <a:prstGeom prst="rect">
            <a:avLst/>
          </a:prstGeom>
        </p:spPr>
        <p:txBody>
          <a:bodyPr wrap="square">
            <a:spAutoFit/>
          </a:bodyPr>
          <a:lstStyle/>
          <a:p>
            <a:r>
              <a:rPr lang="en-IN" dirty="0"/>
              <a:t>The relationships among these parameters and the estimated cost can be written as follows: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dirty="0"/>
              <a:t>Concepts of Risk and its mitigation</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89337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Espaço Reservado para Número de Slide 4"/>
          <p:cNvSpPr>
            <a:spLocks noGrp="1"/>
          </p:cNvSpPr>
          <p:nvPr>
            <p:ph type="sldNum" sz="quarter" idx="12"/>
          </p:nvPr>
        </p:nvSpPr>
        <p:spPr>
          <a:xfrm>
            <a:off x="4165600" y="6248400"/>
            <a:ext cx="3860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ctr"/>
            <a:fld id="{AFAE526B-66DE-45FD-8D6F-0089BB4F8660}" type="slidenum">
              <a:rPr lang="en-US" altLang="tr-TR" sz="1400">
                <a:latin typeface="Arial" charset="0"/>
              </a:rPr>
              <a:pPr algn="ctr"/>
              <a:t>28</a:t>
            </a:fld>
            <a:endParaRPr lang="en-US" altLang="tr-TR" sz="1400">
              <a:latin typeface="Arial" charset="0"/>
            </a:endParaRPr>
          </a:p>
        </p:txBody>
      </p:sp>
      <p:sp>
        <p:nvSpPr>
          <p:cNvPr id="5123" name="Rectangle 2"/>
          <p:cNvSpPr>
            <a:spLocks noGrp="1" noRot="1" noChangeArrowheads="1"/>
          </p:cNvSpPr>
          <p:nvPr>
            <p:ph type="title"/>
          </p:nvPr>
        </p:nvSpPr>
        <p:spPr>
          <a:xfrm>
            <a:off x="1953684" y="1112839"/>
            <a:ext cx="8752416" cy="485775"/>
          </a:xfrm>
        </p:spPr>
        <p:txBody>
          <a:bodyPr lIns="90487" tIns="44450" rIns="90487" bIns="44450">
            <a:normAutofit fontScale="90000"/>
          </a:bodyPr>
          <a:lstStyle/>
          <a:p>
            <a:pPr eaLnBrk="1" hangingPunct="1"/>
            <a:r>
              <a:rPr lang="en-US" altLang="tr-TR"/>
              <a:t>Project Risks</a:t>
            </a:r>
          </a:p>
        </p:txBody>
      </p:sp>
      <p:sp>
        <p:nvSpPr>
          <p:cNvPr id="5124" name="Freeform 3"/>
          <p:cNvSpPr>
            <a:spLocks/>
          </p:cNvSpPr>
          <p:nvPr/>
        </p:nvSpPr>
        <p:spPr bwMode="auto">
          <a:xfrm>
            <a:off x="2078567" y="1827213"/>
            <a:ext cx="5598584" cy="1903412"/>
          </a:xfrm>
          <a:custGeom>
            <a:avLst/>
            <a:gdLst>
              <a:gd name="T0" fmla="*/ 2147483646 w 2645"/>
              <a:gd name="T1" fmla="*/ 2147483646 h 1199"/>
              <a:gd name="T2" fmla="*/ 2147483646 w 2645"/>
              <a:gd name="T3" fmla="*/ 2147483646 h 1199"/>
              <a:gd name="T4" fmla="*/ 2147483646 w 2645"/>
              <a:gd name="T5" fmla="*/ 2147483646 h 1199"/>
              <a:gd name="T6" fmla="*/ 2147483646 w 2645"/>
              <a:gd name="T7" fmla="*/ 2147483646 h 1199"/>
              <a:gd name="T8" fmla="*/ 2147483646 w 2645"/>
              <a:gd name="T9" fmla="*/ 2147483646 h 1199"/>
              <a:gd name="T10" fmla="*/ 2147483646 w 2645"/>
              <a:gd name="T11" fmla="*/ 2147483646 h 1199"/>
              <a:gd name="T12" fmla="*/ 2147483646 w 2645"/>
              <a:gd name="T13" fmla="*/ 2147483646 h 1199"/>
              <a:gd name="T14" fmla="*/ 2147483646 w 2645"/>
              <a:gd name="T15" fmla="*/ 2147483646 h 1199"/>
              <a:gd name="T16" fmla="*/ 0 w 2645"/>
              <a:gd name="T17" fmla="*/ 2147483646 h 1199"/>
              <a:gd name="T18" fmla="*/ 2147483646 w 2645"/>
              <a:gd name="T19" fmla="*/ 2147483646 h 1199"/>
              <a:gd name="T20" fmla="*/ 2147483646 w 2645"/>
              <a:gd name="T21" fmla="*/ 2147483646 h 1199"/>
              <a:gd name="T22" fmla="*/ 2147483646 w 2645"/>
              <a:gd name="T23" fmla="*/ 2147483646 h 1199"/>
              <a:gd name="T24" fmla="*/ 2147483646 w 2645"/>
              <a:gd name="T25" fmla="*/ 0 h 1199"/>
              <a:gd name="T26" fmla="*/ 2147483646 w 2645"/>
              <a:gd name="T27" fmla="*/ 2147483646 h 1199"/>
              <a:gd name="T28" fmla="*/ 2147483646 w 2645"/>
              <a:gd name="T29" fmla="*/ 2147483646 h 1199"/>
              <a:gd name="T30" fmla="*/ 2147483646 w 2645"/>
              <a:gd name="T31" fmla="*/ 2147483646 h 1199"/>
              <a:gd name="T32" fmla="*/ 2147483646 w 2645"/>
              <a:gd name="T33" fmla="*/ 2147483646 h 1199"/>
              <a:gd name="T34" fmla="*/ 2147483646 w 2645"/>
              <a:gd name="T35" fmla="*/ 2147483646 h 11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645"/>
              <a:gd name="T55" fmla="*/ 0 h 1199"/>
              <a:gd name="T56" fmla="*/ 2645 w 2645"/>
              <a:gd name="T57" fmla="*/ 1199 h 11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645" h="1199">
                <a:moveTo>
                  <a:pt x="2644" y="851"/>
                </a:moveTo>
                <a:lnTo>
                  <a:pt x="2644" y="851"/>
                </a:lnTo>
                <a:lnTo>
                  <a:pt x="2219" y="932"/>
                </a:lnTo>
                <a:lnTo>
                  <a:pt x="2306" y="1013"/>
                </a:lnTo>
                <a:lnTo>
                  <a:pt x="1816" y="1132"/>
                </a:lnTo>
                <a:lnTo>
                  <a:pt x="1441" y="999"/>
                </a:lnTo>
                <a:lnTo>
                  <a:pt x="894" y="1132"/>
                </a:lnTo>
                <a:lnTo>
                  <a:pt x="389" y="1013"/>
                </a:lnTo>
                <a:lnTo>
                  <a:pt x="0" y="1198"/>
                </a:lnTo>
                <a:lnTo>
                  <a:pt x="144" y="703"/>
                </a:lnTo>
                <a:lnTo>
                  <a:pt x="101" y="37"/>
                </a:lnTo>
                <a:lnTo>
                  <a:pt x="829" y="200"/>
                </a:lnTo>
                <a:lnTo>
                  <a:pt x="1607" y="0"/>
                </a:lnTo>
                <a:lnTo>
                  <a:pt x="2255" y="333"/>
                </a:lnTo>
                <a:lnTo>
                  <a:pt x="2176" y="451"/>
                </a:lnTo>
                <a:lnTo>
                  <a:pt x="2349" y="666"/>
                </a:lnTo>
                <a:lnTo>
                  <a:pt x="2255" y="851"/>
                </a:lnTo>
                <a:lnTo>
                  <a:pt x="2630" y="851"/>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25" name="Freeform 4"/>
          <p:cNvSpPr>
            <a:spLocks/>
          </p:cNvSpPr>
          <p:nvPr/>
        </p:nvSpPr>
        <p:spPr bwMode="auto">
          <a:xfrm>
            <a:off x="2063751" y="1814513"/>
            <a:ext cx="5598583" cy="1905000"/>
          </a:xfrm>
          <a:custGeom>
            <a:avLst/>
            <a:gdLst>
              <a:gd name="T0" fmla="*/ 2147483646 w 2645"/>
              <a:gd name="T1" fmla="*/ 2147483646 h 1200"/>
              <a:gd name="T2" fmla="*/ 2147483646 w 2645"/>
              <a:gd name="T3" fmla="*/ 2147483646 h 1200"/>
              <a:gd name="T4" fmla="*/ 2147483646 w 2645"/>
              <a:gd name="T5" fmla="*/ 2147483646 h 1200"/>
              <a:gd name="T6" fmla="*/ 2147483646 w 2645"/>
              <a:gd name="T7" fmla="*/ 2147483646 h 1200"/>
              <a:gd name="T8" fmla="*/ 2147483646 w 2645"/>
              <a:gd name="T9" fmla="*/ 2147483646 h 1200"/>
              <a:gd name="T10" fmla="*/ 2147483646 w 2645"/>
              <a:gd name="T11" fmla="*/ 2147483646 h 1200"/>
              <a:gd name="T12" fmla="*/ 2147483646 w 2645"/>
              <a:gd name="T13" fmla="*/ 2147483646 h 1200"/>
              <a:gd name="T14" fmla="*/ 0 w 2645"/>
              <a:gd name="T15" fmla="*/ 2147483646 h 1200"/>
              <a:gd name="T16" fmla="*/ 2147483646 w 2645"/>
              <a:gd name="T17" fmla="*/ 2147483646 h 1200"/>
              <a:gd name="T18" fmla="*/ 2147483646 w 2645"/>
              <a:gd name="T19" fmla="*/ 2147483646 h 1200"/>
              <a:gd name="T20" fmla="*/ 2147483646 w 2645"/>
              <a:gd name="T21" fmla="*/ 2147483646 h 1200"/>
              <a:gd name="T22" fmla="*/ 2147483646 w 2645"/>
              <a:gd name="T23" fmla="*/ 0 h 1200"/>
              <a:gd name="T24" fmla="*/ 2147483646 w 2645"/>
              <a:gd name="T25" fmla="*/ 2147483646 h 1200"/>
              <a:gd name="T26" fmla="*/ 2147483646 w 2645"/>
              <a:gd name="T27" fmla="*/ 2147483646 h 1200"/>
              <a:gd name="T28" fmla="*/ 2147483646 w 2645"/>
              <a:gd name="T29" fmla="*/ 2147483646 h 1200"/>
              <a:gd name="T30" fmla="*/ 2147483646 w 2645"/>
              <a:gd name="T31" fmla="*/ 2147483646 h 1200"/>
              <a:gd name="T32" fmla="*/ 2147483646 w 2645"/>
              <a:gd name="T33" fmla="*/ 2147483646 h 12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45"/>
              <a:gd name="T52" fmla="*/ 0 h 1200"/>
              <a:gd name="T53" fmla="*/ 2645 w 2645"/>
              <a:gd name="T54" fmla="*/ 1200 h 120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45" h="1200">
                <a:moveTo>
                  <a:pt x="2644" y="851"/>
                </a:moveTo>
                <a:lnTo>
                  <a:pt x="2219" y="933"/>
                </a:lnTo>
                <a:lnTo>
                  <a:pt x="2306" y="1014"/>
                </a:lnTo>
                <a:lnTo>
                  <a:pt x="1816" y="1132"/>
                </a:lnTo>
                <a:lnTo>
                  <a:pt x="1441" y="999"/>
                </a:lnTo>
                <a:lnTo>
                  <a:pt x="894" y="1132"/>
                </a:lnTo>
                <a:lnTo>
                  <a:pt x="389" y="1014"/>
                </a:lnTo>
                <a:lnTo>
                  <a:pt x="0" y="1199"/>
                </a:lnTo>
                <a:lnTo>
                  <a:pt x="144" y="703"/>
                </a:lnTo>
                <a:lnTo>
                  <a:pt x="101" y="37"/>
                </a:lnTo>
                <a:lnTo>
                  <a:pt x="829" y="200"/>
                </a:lnTo>
                <a:lnTo>
                  <a:pt x="1607" y="0"/>
                </a:lnTo>
                <a:lnTo>
                  <a:pt x="2255" y="333"/>
                </a:lnTo>
                <a:lnTo>
                  <a:pt x="2176" y="452"/>
                </a:lnTo>
                <a:lnTo>
                  <a:pt x="2349" y="666"/>
                </a:lnTo>
                <a:lnTo>
                  <a:pt x="2255" y="851"/>
                </a:lnTo>
                <a:lnTo>
                  <a:pt x="2630" y="851"/>
                </a:lnTo>
              </a:path>
            </a:pathLst>
          </a:custGeom>
          <a:solidFill>
            <a:srgbClr val="790015"/>
          </a:solidFill>
          <a:ln w="25400" cap="rnd">
            <a:solidFill>
              <a:schemeClr val="tx1"/>
            </a:solidFill>
            <a:round/>
            <a:headEnd/>
            <a:tailEnd/>
          </a:ln>
        </p:spPr>
        <p:txBody>
          <a:bodyPr/>
          <a:lstStyle/>
          <a:p>
            <a:endParaRPr lang="en-IN"/>
          </a:p>
        </p:txBody>
      </p:sp>
      <p:sp>
        <p:nvSpPr>
          <p:cNvPr id="5126" name="Rectangle 5"/>
          <p:cNvSpPr>
            <a:spLocks noChangeArrowheads="1"/>
          </p:cNvSpPr>
          <p:nvPr/>
        </p:nvSpPr>
        <p:spPr bwMode="auto">
          <a:xfrm>
            <a:off x="5158318" y="5384800"/>
            <a:ext cx="5564716" cy="433388"/>
          </a:xfrm>
          <a:prstGeom prst="rect">
            <a:avLst/>
          </a:prstGeom>
          <a:solidFill>
            <a:srgbClr val="6633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eaLnBrk="1" hangingPunct="1"/>
            <a:endParaRPr lang="pt-BR" altLang="tr-TR" b="1">
              <a:latin typeface="Palatino" charset="0"/>
            </a:endParaRPr>
          </a:p>
        </p:txBody>
      </p:sp>
      <p:sp>
        <p:nvSpPr>
          <p:cNvPr id="5127" name="Rectangle 6"/>
          <p:cNvSpPr>
            <a:spLocks noChangeArrowheads="1"/>
          </p:cNvSpPr>
          <p:nvPr/>
        </p:nvSpPr>
        <p:spPr bwMode="auto">
          <a:xfrm>
            <a:off x="5160434" y="5386388"/>
            <a:ext cx="5560484" cy="431800"/>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pt-BR" altLang="tr-TR" b="1">
              <a:latin typeface="Palatino" charset="0"/>
            </a:endParaRPr>
          </a:p>
        </p:txBody>
      </p:sp>
      <p:sp>
        <p:nvSpPr>
          <p:cNvPr id="5128" name="Freeform 7"/>
          <p:cNvSpPr>
            <a:spLocks/>
          </p:cNvSpPr>
          <p:nvPr/>
        </p:nvSpPr>
        <p:spPr bwMode="auto">
          <a:xfrm>
            <a:off x="5175251" y="4446588"/>
            <a:ext cx="5583767" cy="952500"/>
          </a:xfrm>
          <a:custGeom>
            <a:avLst/>
            <a:gdLst>
              <a:gd name="T0" fmla="*/ 0 w 2638"/>
              <a:gd name="T1" fmla="*/ 2147483646 h 600"/>
              <a:gd name="T2" fmla="*/ 0 w 2638"/>
              <a:gd name="T3" fmla="*/ 2147483646 h 600"/>
              <a:gd name="T4" fmla="*/ 2147483646 w 2638"/>
              <a:gd name="T5" fmla="*/ 0 h 600"/>
              <a:gd name="T6" fmla="*/ 2147483646 w 2638"/>
              <a:gd name="T7" fmla="*/ 0 h 600"/>
              <a:gd name="T8" fmla="*/ 2147483646 w 2638"/>
              <a:gd name="T9" fmla="*/ 2147483646 h 600"/>
              <a:gd name="T10" fmla="*/ 0 w 2638"/>
              <a:gd name="T11" fmla="*/ 2147483646 h 600"/>
              <a:gd name="T12" fmla="*/ 0 60000 65536"/>
              <a:gd name="T13" fmla="*/ 0 60000 65536"/>
              <a:gd name="T14" fmla="*/ 0 60000 65536"/>
              <a:gd name="T15" fmla="*/ 0 60000 65536"/>
              <a:gd name="T16" fmla="*/ 0 60000 65536"/>
              <a:gd name="T17" fmla="*/ 0 60000 65536"/>
              <a:gd name="T18" fmla="*/ 0 w 2638"/>
              <a:gd name="T19" fmla="*/ 0 h 600"/>
              <a:gd name="T20" fmla="*/ 2638 w 2638"/>
              <a:gd name="T21" fmla="*/ 600 h 600"/>
            </a:gdLst>
            <a:ahLst/>
            <a:cxnLst>
              <a:cxn ang="T12">
                <a:pos x="T0" y="T1"/>
              </a:cxn>
              <a:cxn ang="T13">
                <a:pos x="T2" y="T3"/>
              </a:cxn>
              <a:cxn ang="T14">
                <a:pos x="T4" y="T5"/>
              </a:cxn>
              <a:cxn ang="T15">
                <a:pos x="T6" y="T7"/>
              </a:cxn>
              <a:cxn ang="T16">
                <a:pos x="T8" y="T9"/>
              </a:cxn>
              <a:cxn ang="T17">
                <a:pos x="T10" y="T11"/>
              </a:cxn>
            </a:cxnLst>
            <a:rect l="T18" t="T19" r="T20" b="T21"/>
            <a:pathLst>
              <a:path w="2638" h="600">
                <a:moveTo>
                  <a:pt x="0" y="599"/>
                </a:moveTo>
                <a:lnTo>
                  <a:pt x="0" y="599"/>
                </a:lnTo>
                <a:lnTo>
                  <a:pt x="648" y="0"/>
                </a:lnTo>
                <a:lnTo>
                  <a:pt x="2204" y="0"/>
                </a:lnTo>
                <a:lnTo>
                  <a:pt x="2637" y="599"/>
                </a:lnTo>
                <a:lnTo>
                  <a:pt x="0" y="599"/>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29" name="Freeform 8"/>
          <p:cNvSpPr>
            <a:spLocks/>
          </p:cNvSpPr>
          <p:nvPr/>
        </p:nvSpPr>
        <p:spPr bwMode="auto">
          <a:xfrm>
            <a:off x="5160433" y="4433889"/>
            <a:ext cx="5581651" cy="954087"/>
          </a:xfrm>
          <a:custGeom>
            <a:avLst/>
            <a:gdLst>
              <a:gd name="T0" fmla="*/ 0 w 2637"/>
              <a:gd name="T1" fmla="*/ 2147483646 h 601"/>
              <a:gd name="T2" fmla="*/ 2147483646 w 2637"/>
              <a:gd name="T3" fmla="*/ 0 h 601"/>
              <a:gd name="T4" fmla="*/ 2147483646 w 2637"/>
              <a:gd name="T5" fmla="*/ 0 h 601"/>
              <a:gd name="T6" fmla="*/ 2147483646 w 2637"/>
              <a:gd name="T7" fmla="*/ 2147483646 h 601"/>
              <a:gd name="T8" fmla="*/ 0 w 2637"/>
              <a:gd name="T9" fmla="*/ 2147483646 h 601"/>
              <a:gd name="T10" fmla="*/ 0 60000 65536"/>
              <a:gd name="T11" fmla="*/ 0 60000 65536"/>
              <a:gd name="T12" fmla="*/ 0 60000 65536"/>
              <a:gd name="T13" fmla="*/ 0 60000 65536"/>
              <a:gd name="T14" fmla="*/ 0 60000 65536"/>
              <a:gd name="T15" fmla="*/ 0 w 2637"/>
              <a:gd name="T16" fmla="*/ 0 h 601"/>
              <a:gd name="T17" fmla="*/ 2637 w 2637"/>
              <a:gd name="T18" fmla="*/ 601 h 601"/>
            </a:gdLst>
            <a:ahLst/>
            <a:cxnLst>
              <a:cxn ang="T10">
                <a:pos x="T0" y="T1"/>
              </a:cxn>
              <a:cxn ang="T11">
                <a:pos x="T2" y="T3"/>
              </a:cxn>
              <a:cxn ang="T12">
                <a:pos x="T4" y="T5"/>
              </a:cxn>
              <a:cxn ang="T13">
                <a:pos x="T6" y="T7"/>
              </a:cxn>
              <a:cxn ang="T14">
                <a:pos x="T8" y="T9"/>
              </a:cxn>
            </a:cxnLst>
            <a:rect l="T15" t="T16" r="T17" b="T18"/>
            <a:pathLst>
              <a:path w="2637" h="601">
                <a:moveTo>
                  <a:pt x="0" y="600"/>
                </a:moveTo>
                <a:lnTo>
                  <a:pt x="648" y="0"/>
                </a:lnTo>
                <a:lnTo>
                  <a:pt x="2204" y="0"/>
                </a:lnTo>
                <a:lnTo>
                  <a:pt x="2636" y="600"/>
                </a:lnTo>
                <a:lnTo>
                  <a:pt x="0" y="600"/>
                </a:lnTo>
              </a:path>
            </a:pathLst>
          </a:custGeom>
          <a:solidFill>
            <a:srgbClr val="EF9100"/>
          </a:solidFill>
          <a:ln w="25400" cap="rnd">
            <a:solidFill>
              <a:srgbClr val="000000"/>
            </a:solidFill>
            <a:round/>
            <a:headEnd/>
            <a:tailEnd/>
          </a:ln>
        </p:spPr>
        <p:txBody>
          <a:bodyPr/>
          <a:lstStyle/>
          <a:p>
            <a:endParaRPr lang="en-IN"/>
          </a:p>
        </p:txBody>
      </p:sp>
      <p:sp>
        <p:nvSpPr>
          <p:cNvPr id="5130" name="Freeform 9"/>
          <p:cNvSpPr>
            <a:spLocks/>
          </p:cNvSpPr>
          <p:nvPr/>
        </p:nvSpPr>
        <p:spPr bwMode="auto">
          <a:xfrm>
            <a:off x="7431618" y="3282951"/>
            <a:ext cx="1314449" cy="1165225"/>
          </a:xfrm>
          <a:custGeom>
            <a:avLst/>
            <a:gdLst>
              <a:gd name="T0" fmla="*/ 2147483646 w 621"/>
              <a:gd name="T1" fmla="*/ 2147483646 h 734"/>
              <a:gd name="T2" fmla="*/ 2147483646 w 621"/>
              <a:gd name="T3" fmla="*/ 2147483646 h 734"/>
              <a:gd name="T4" fmla="*/ 0 w 621"/>
              <a:gd name="T5" fmla="*/ 0 h 734"/>
              <a:gd name="T6" fmla="*/ 2147483646 w 621"/>
              <a:gd name="T7" fmla="*/ 0 h 734"/>
              <a:gd name="T8" fmla="*/ 2147483646 w 621"/>
              <a:gd name="T9" fmla="*/ 2147483646 h 734"/>
              <a:gd name="T10" fmla="*/ 2147483646 w 621"/>
              <a:gd name="T11" fmla="*/ 2147483646 h 734"/>
              <a:gd name="T12" fmla="*/ 0 60000 65536"/>
              <a:gd name="T13" fmla="*/ 0 60000 65536"/>
              <a:gd name="T14" fmla="*/ 0 60000 65536"/>
              <a:gd name="T15" fmla="*/ 0 60000 65536"/>
              <a:gd name="T16" fmla="*/ 0 60000 65536"/>
              <a:gd name="T17" fmla="*/ 0 60000 65536"/>
              <a:gd name="T18" fmla="*/ 0 w 621"/>
              <a:gd name="T19" fmla="*/ 0 h 734"/>
              <a:gd name="T20" fmla="*/ 621 w 621"/>
              <a:gd name="T21" fmla="*/ 734 h 734"/>
            </a:gdLst>
            <a:ahLst/>
            <a:cxnLst>
              <a:cxn ang="T12">
                <a:pos x="T0" y="T1"/>
              </a:cxn>
              <a:cxn ang="T13">
                <a:pos x="T2" y="T3"/>
              </a:cxn>
              <a:cxn ang="T14">
                <a:pos x="T4" y="T5"/>
              </a:cxn>
              <a:cxn ang="T15">
                <a:pos x="T6" y="T7"/>
              </a:cxn>
              <a:cxn ang="T16">
                <a:pos x="T8" y="T9"/>
              </a:cxn>
              <a:cxn ang="T17">
                <a:pos x="T10" y="T11"/>
              </a:cxn>
            </a:cxnLst>
            <a:rect l="T18" t="T19" r="T20" b="T21"/>
            <a:pathLst>
              <a:path w="621" h="734">
                <a:moveTo>
                  <a:pt x="101" y="733"/>
                </a:moveTo>
                <a:lnTo>
                  <a:pt x="101" y="733"/>
                </a:lnTo>
                <a:lnTo>
                  <a:pt x="0" y="0"/>
                </a:lnTo>
                <a:lnTo>
                  <a:pt x="620" y="0"/>
                </a:lnTo>
                <a:lnTo>
                  <a:pt x="533" y="733"/>
                </a:lnTo>
                <a:lnTo>
                  <a:pt x="101" y="733"/>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31" name="Freeform 10"/>
          <p:cNvSpPr>
            <a:spLocks/>
          </p:cNvSpPr>
          <p:nvPr/>
        </p:nvSpPr>
        <p:spPr bwMode="auto">
          <a:xfrm>
            <a:off x="7416800" y="3271839"/>
            <a:ext cx="1312333" cy="1163637"/>
          </a:xfrm>
          <a:custGeom>
            <a:avLst/>
            <a:gdLst>
              <a:gd name="T0" fmla="*/ 2147483646 w 620"/>
              <a:gd name="T1" fmla="*/ 2147483646 h 733"/>
              <a:gd name="T2" fmla="*/ 0 w 620"/>
              <a:gd name="T3" fmla="*/ 0 h 733"/>
              <a:gd name="T4" fmla="*/ 2147483646 w 620"/>
              <a:gd name="T5" fmla="*/ 0 h 733"/>
              <a:gd name="T6" fmla="*/ 2147483646 w 620"/>
              <a:gd name="T7" fmla="*/ 2147483646 h 733"/>
              <a:gd name="T8" fmla="*/ 2147483646 w 620"/>
              <a:gd name="T9" fmla="*/ 2147483646 h 733"/>
              <a:gd name="T10" fmla="*/ 0 60000 65536"/>
              <a:gd name="T11" fmla="*/ 0 60000 65536"/>
              <a:gd name="T12" fmla="*/ 0 60000 65536"/>
              <a:gd name="T13" fmla="*/ 0 60000 65536"/>
              <a:gd name="T14" fmla="*/ 0 60000 65536"/>
              <a:gd name="T15" fmla="*/ 0 w 620"/>
              <a:gd name="T16" fmla="*/ 0 h 733"/>
              <a:gd name="T17" fmla="*/ 620 w 620"/>
              <a:gd name="T18" fmla="*/ 733 h 733"/>
            </a:gdLst>
            <a:ahLst/>
            <a:cxnLst>
              <a:cxn ang="T10">
                <a:pos x="T0" y="T1"/>
              </a:cxn>
              <a:cxn ang="T11">
                <a:pos x="T2" y="T3"/>
              </a:cxn>
              <a:cxn ang="T12">
                <a:pos x="T4" y="T5"/>
              </a:cxn>
              <a:cxn ang="T13">
                <a:pos x="T6" y="T7"/>
              </a:cxn>
              <a:cxn ang="T14">
                <a:pos x="T8" y="T9"/>
              </a:cxn>
            </a:cxnLst>
            <a:rect l="T15" t="T16" r="T17" b="T18"/>
            <a:pathLst>
              <a:path w="620" h="733">
                <a:moveTo>
                  <a:pt x="101" y="732"/>
                </a:moveTo>
                <a:lnTo>
                  <a:pt x="0" y="0"/>
                </a:lnTo>
                <a:lnTo>
                  <a:pt x="619" y="0"/>
                </a:lnTo>
                <a:lnTo>
                  <a:pt x="533" y="732"/>
                </a:lnTo>
                <a:lnTo>
                  <a:pt x="101" y="732"/>
                </a:lnTo>
              </a:path>
            </a:pathLst>
          </a:custGeom>
          <a:solidFill>
            <a:schemeClr val="hlink"/>
          </a:solidFill>
          <a:ln w="25400" cap="rnd">
            <a:solidFill>
              <a:schemeClr val="tx1"/>
            </a:solidFill>
            <a:round/>
            <a:headEnd/>
            <a:tailEnd/>
          </a:ln>
        </p:spPr>
        <p:txBody>
          <a:bodyPr/>
          <a:lstStyle/>
          <a:p>
            <a:endParaRPr lang="en-IN"/>
          </a:p>
        </p:txBody>
      </p:sp>
      <p:sp>
        <p:nvSpPr>
          <p:cNvPr id="5132" name="Freeform 11"/>
          <p:cNvSpPr>
            <a:spLocks/>
          </p:cNvSpPr>
          <p:nvPr/>
        </p:nvSpPr>
        <p:spPr bwMode="auto">
          <a:xfrm>
            <a:off x="7294034" y="3306763"/>
            <a:ext cx="764117" cy="1504950"/>
          </a:xfrm>
          <a:custGeom>
            <a:avLst/>
            <a:gdLst>
              <a:gd name="T0" fmla="*/ 2147483646 w 361"/>
              <a:gd name="T1" fmla="*/ 0 h 948"/>
              <a:gd name="T2" fmla="*/ 2147483646 w 361"/>
              <a:gd name="T3" fmla="*/ 0 h 948"/>
              <a:gd name="T4" fmla="*/ 0 w 361"/>
              <a:gd name="T5" fmla="*/ 2147483646 h 948"/>
              <a:gd name="T6" fmla="*/ 2147483646 w 361"/>
              <a:gd name="T7" fmla="*/ 2147483646 h 948"/>
              <a:gd name="T8" fmla="*/ 0 60000 65536"/>
              <a:gd name="T9" fmla="*/ 0 60000 65536"/>
              <a:gd name="T10" fmla="*/ 0 60000 65536"/>
              <a:gd name="T11" fmla="*/ 0 60000 65536"/>
              <a:gd name="T12" fmla="*/ 0 w 361"/>
              <a:gd name="T13" fmla="*/ 0 h 948"/>
              <a:gd name="T14" fmla="*/ 361 w 361"/>
              <a:gd name="T15" fmla="*/ 948 h 948"/>
            </a:gdLst>
            <a:ahLst/>
            <a:cxnLst>
              <a:cxn ang="T8">
                <a:pos x="T0" y="T1"/>
              </a:cxn>
              <a:cxn ang="T9">
                <a:pos x="T2" y="T3"/>
              </a:cxn>
              <a:cxn ang="T10">
                <a:pos x="T4" y="T5"/>
              </a:cxn>
              <a:cxn ang="T11">
                <a:pos x="T6" y="T7"/>
              </a:cxn>
            </a:cxnLst>
            <a:rect l="T12" t="T13" r="T14" b="T15"/>
            <a:pathLst>
              <a:path w="361" h="948">
                <a:moveTo>
                  <a:pt x="65" y="0"/>
                </a:moveTo>
                <a:lnTo>
                  <a:pt x="65" y="0"/>
                </a:lnTo>
                <a:lnTo>
                  <a:pt x="0" y="599"/>
                </a:lnTo>
                <a:lnTo>
                  <a:pt x="360" y="947"/>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33" name="Freeform 12"/>
          <p:cNvSpPr>
            <a:spLocks/>
          </p:cNvSpPr>
          <p:nvPr/>
        </p:nvSpPr>
        <p:spPr bwMode="auto">
          <a:xfrm>
            <a:off x="7279218" y="3295650"/>
            <a:ext cx="764116" cy="1504950"/>
          </a:xfrm>
          <a:custGeom>
            <a:avLst/>
            <a:gdLst>
              <a:gd name="T0" fmla="*/ 2147483646 w 361"/>
              <a:gd name="T1" fmla="*/ 0 h 948"/>
              <a:gd name="T2" fmla="*/ 0 w 361"/>
              <a:gd name="T3" fmla="*/ 2147483646 h 948"/>
              <a:gd name="T4" fmla="*/ 2147483646 w 361"/>
              <a:gd name="T5" fmla="*/ 2147483646 h 948"/>
              <a:gd name="T6" fmla="*/ 0 60000 65536"/>
              <a:gd name="T7" fmla="*/ 0 60000 65536"/>
              <a:gd name="T8" fmla="*/ 0 60000 65536"/>
              <a:gd name="T9" fmla="*/ 0 w 361"/>
              <a:gd name="T10" fmla="*/ 0 h 948"/>
              <a:gd name="T11" fmla="*/ 361 w 361"/>
              <a:gd name="T12" fmla="*/ 948 h 948"/>
            </a:gdLst>
            <a:ahLst/>
            <a:cxnLst>
              <a:cxn ang="T6">
                <a:pos x="T0" y="T1"/>
              </a:cxn>
              <a:cxn ang="T7">
                <a:pos x="T2" y="T3"/>
              </a:cxn>
              <a:cxn ang="T8">
                <a:pos x="T4" y="T5"/>
              </a:cxn>
            </a:cxnLst>
            <a:rect l="T9" t="T10" r="T11" b="T12"/>
            <a:pathLst>
              <a:path w="361" h="948">
                <a:moveTo>
                  <a:pt x="65" y="0"/>
                </a:moveTo>
                <a:lnTo>
                  <a:pt x="0" y="599"/>
                </a:lnTo>
                <a:lnTo>
                  <a:pt x="360" y="947"/>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34" name="Freeform 13"/>
          <p:cNvSpPr>
            <a:spLocks/>
          </p:cNvSpPr>
          <p:nvPr/>
        </p:nvSpPr>
        <p:spPr bwMode="auto">
          <a:xfrm>
            <a:off x="8149167" y="3282951"/>
            <a:ext cx="626533" cy="1528763"/>
          </a:xfrm>
          <a:custGeom>
            <a:avLst/>
            <a:gdLst>
              <a:gd name="T0" fmla="*/ 2147483646 w 296"/>
              <a:gd name="T1" fmla="*/ 0 h 963"/>
              <a:gd name="T2" fmla="*/ 2147483646 w 296"/>
              <a:gd name="T3" fmla="*/ 0 h 963"/>
              <a:gd name="T4" fmla="*/ 2147483646 w 296"/>
              <a:gd name="T5" fmla="*/ 2147483646 h 963"/>
              <a:gd name="T6" fmla="*/ 0 w 296"/>
              <a:gd name="T7" fmla="*/ 2147483646 h 963"/>
              <a:gd name="T8" fmla="*/ 0 60000 65536"/>
              <a:gd name="T9" fmla="*/ 0 60000 65536"/>
              <a:gd name="T10" fmla="*/ 0 60000 65536"/>
              <a:gd name="T11" fmla="*/ 0 60000 65536"/>
              <a:gd name="T12" fmla="*/ 0 w 296"/>
              <a:gd name="T13" fmla="*/ 0 h 963"/>
              <a:gd name="T14" fmla="*/ 296 w 296"/>
              <a:gd name="T15" fmla="*/ 963 h 963"/>
            </a:gdLst>
            <a:ahLst/>
            <a:cxnLst>
              <a:cxn ang="T8">
                <a:pos x="T0" y="T1"/>
              </a:cxn>
              <a:cxn ang="T9">
                <a:pos x="T2" y="T3"/>
              </a:cxn>
              <a:cxn ang="T10">
                <a:pos x="T4" y="T5"/>
              </a:cxn>
              <a:cxn ang="T11">
                <a:pos x="T6" y="T7"/>
              </a:cxn>
            </a:cxnLst>
            <a:rect l="T12" t="T13" r="T14" b="T15"/>
            <a:pathLst>
              <a:path w="296" h="963">
                <a:moveTo>
                  <a:pt x="281" y="0"/>
                </a:moveTo>
                <a:lnTo>
                  <a:pt x="281" y="0"/>
                </a:lnTo>
                <a:lnTo>
                  <a:pt x="295" y="533"/>
                </a:lnTo>
                <a:lnTo>
                  <a:pt x="0" y="962"/>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35" name="Freeform 14"/>
          <p:cNvSpPr>
            <a:spLocks/>
          </p:cNvSpPr>
          <p:nvPr/>
        </p:nvSpPr>
        <p:spPr bwMode="auto">
          <a:xfrm>
            <a:off x="8132233" y="3271838"/>
            <a:ext cx="628651" cy="1528762"/>
          </a:xfrm>
          <a:custGeom>
            <a:avLst/>
            <a:gdLst>
              <a:gd name="T0" fmla="*/ 2147483646 w 297"/>
              <a:gd name="T1" fmla="*/ 0 h 963"/>
              <a:gd name="T2" fmla="*/ 2147483646 w 297"/>
              <a:gd name="T3" fmla="*/ 2147483646 h 963"/>
              <a:gd name="T4" fmla="*/ 0 w 297"/>
              <a:gd name="T5" fmla="*/ 2147483646 h 963"/>
              <a:gd name="T6" fmla="*/ 0 60000 65536"/>
              <a:gd name="T7" fmla="*/ 0 60000 65536"/>
              <a:gd name="T8" fmla="*/ 0 60000 65536"/>
              <a:gd name="T9" fmla="*/ 0 w 297"/>
              <a:gd name="T10" fmla="*/ 0 h 963"/>
              <a:gd name="T11" fmla="*/ 297 w 297"/>
              <a:gd name="T12" fmla="*/ 963 h 963"/>
            </a:gdLst>
            <a:ahLst/>
            <a:cxnLst>
              <a:cxn ang="T6">
                <a:pos x="T0" y="T1"/>
              </a:cxn>
              <a:cxn ang="T7">
                <a:pos x="T2" y="T3"/>
              </a:cxn>
              <a:cxn ang="T8">
                <a:pos x="T4" y="T5"/>
              </a:cxn>
            </a:cxnLst>
            <a:rect l="T9" t="T10" r="T11" b="T12"/>
            <a:pathLst>
              <a:path w="297" h="963">
                <a:moveTo>
                  <a:pt x="281" y="0"/>
                </a:moveTo>
                <a:lnTo>
                  <a:pt x="296" y="533"/>
                </a:lnTo>
                <a:lnTo>
                  <a:pt x="0" y="962"/>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136" name="Oval 15"/>
          <p:cNvSpPr>
            <a:spLocks noChangeArrowheads="1"/>
          </p:cNvSpPr>
          <p:nvPr/>
        </p:nvSpPr>
        <p:spPr bwMode="auto">
          <a:xfrm>
            <a:off x="7766052" y="2343151"/>
            <a:ext cx="563033" cy="962025"/>
          </a:xfrm>
          <a:prstGeom prst="ellipse">
            <a:avLst/>
          </a:prstGeom>
          <a:solidFill>
            <a:srgbClr val="FF0000"/>
          </a:solidFill>
          <a:ln>
            <a:noFill/>
          </a:ln>
          <a:extLst>
            <a:ext uri="{91240B29-F687-4F45-9708-019B960494DF}">
              <a14:hiddenLine xmlns:a14="http://schemas.microsoft.com/office/drawing/2010/main" w="127000">
                <a:solidFill>
                  <a:srgbClr val="000000"/>
                </a:solidFill>
                <a:round/>
                <a:headEnd/>
                <a:tailEnd/>
              </a14:hiddenLine>
            </a:ext>
          </a:extLst>
        </p:spPr>
        <p:txBody>
          <a:bodyPr wrap="none" anchor="ctr"/>
          <a:lstStyle/>
          <a:p>
            <a:pPr algn="ctr" eaLnBrk="1" hangingPunct="1"/>
            <a:endParaRPr lang="pt-BR" altLang="tr-TR" b="1">
              <a:latin typeface="Palatino" charset="0"/>
            </a:endParaRPr>
          </a:p>
        </p:txBody>
      </p:sp>
      <p:sp>
        <p:nvSpPr>
          <p:cNvPr id="5137" name="Oval 16"/>
          <p:cNvSpPr>
            <a:spLocks noChangeArrowheads="1"/>
          </p:cNvSpPr>
          <p:nvPr/>
        </p:nvSpPr>
        <p:spPr bwMode="auto">
          <a:xfrm>
            <a:off x="7768167" y="2343150"/>
            <a:ext cx="558800" cy="9604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pt-BR" altLang="tr-TR" b="1">
              <a:latin typeface="Palatino" charset="0"/>
            </a:endParaRPr>
          </a:p>
        </p:txBody>
      </p:sp>
      <p:sp>
        <p:nvSpPr>
          <p:cNvPr id="864273" name="Rectangle 17"/>
          <p:cNvSpPr>
            <a:spLocks noChangeArrowheads="1"/>
          </p:cNvSpPr>
          <p:nvPr/>
        </p:nvSpPr>
        <p:spPr bwMode="auto">
          <a:xfrm>
            <a:off x="2427817" y="2087563"/>
            <a:ext cx="2773194" cy="766877"/>
          </a:xfrm>
          <a:prstGeom prst="rect">
            <a:avLst/>
          </a:prstGeom>
          <a:noFill/>
          <a:ln w="12700">
            <a:noFill/>
            <a:miter lim="800000"/>
            <a:headEnd/>
            <a:tailEnd/>
          </a:ln>
          <a:effectLst/>
        </p:spPr>
        <p:txBody>
          <a:bodyPr wrap="none" lIns="90487" tIns="44450" rIns="90487" bIns="44450">
            <a:spAutoFit/>
          </a:bodyPr>
          <a:lstStyle/>
          <a:p>
            <a:pPr algn="ctr" eaLnBrk="1" hangingPunct="1">
              <a:defRPr/>
            </a:pPr>
            <a:r>
              <a:rPr lang="en-US" sz="2200" i="1">
                <a:solidFill>
                  <a:srgbClr val="DADADA"/>
                </a:solidFill>
                <a:effectLst>
                  <a:outerShdw blurRad="38100" dist="38100" dir="2700000" algn="tl">
                    <a:srgbClr val="000000"/>
                  </a:outerShdw>
                </a:effectLst>
                <a:latin typeface="Helvetica" charset="0"/>
              </a:rPr>
              <a:t>What can go wrong?</a:t>
            </a:r>
          </a:p>
          <a:p>
            <a:pPr algn="ctr" eaLnBrk="1" hangingPunct="1">
              <a:defRPr/>
            </a:pPr>
            <a:endParaRPr lang="en-US" sz="2200" i="1">
              <a:solidFill>
                <a:srgbClr val="DADADA"/>
              </a:solidFill>
              <a:effectLst>
                <a:outerShdw blurRad="38100" dist="38100" dir="2700000" algn="tl">
                  <a:srgbClr val="000000"/>
                </a:outerShdw>
              </a:effectLst>
              <a:latin typeface="Helvetica" charset="0"/>
            </a:endParaRPr>
          </a:p>
        </p:txBody>
      </p:sp>
      <p:sp>
        <p:nvSpPr>
          <p:cNvPr id="864274" name="Rectangle 18"/>
          <p:cNvSpPr>
            <a:spLocks noChangeArrowheads="1"/>
          </p:cNvSpPr>
          <p:nvPr/>
        </p:nvSpPr>
        <p:spPr bwMode="auto">
          <a:xfrm>
            <a:off x="2468034" y="2381251"/>
            <a:ext cx="3007232" cy="766877"/>
          </a:xfrm>
          <a:prstGeom prst="rect">
            <a:avLst/>
          </a:prstGeom>
          <a:noFill/>
          <a:ln w="12700">
            <a:noFill/>
            <a:miter lim="800000"/>
            <a:headEnd/>
            <a:tailEnd/>
          </a:ln>
          <a:effectLst/>
        </p:spPr>
        <p:txBody>
          <a:bodyPr wrap="none" lIns="90487" tIns="44450" rIns="90487" bIns="44450">
            <a:spAutoFit/>
          </a:bodyPr>
          <a:lstStyle/>
          <a:p>
            <a:pPr algn="ctr" eaLnBrk="1" hangingPunct="1">
              <a:defRPr/>
            </a:pPr>
            <a:r>
              <a:rPr lang="en-US" sz="2200" i="1">
                <a:solidFill>
                  <a:srgbClr val="DADADA"/>
                </a:solidFill>
                <a:effectLst>
                  <a:outerShdw blurRad="38100" dist="38100" dir="2700000" algn="tl">
                    <a:srgbClr val="000000"/>
                  </a:outerShdw>
                </a:effectLst>
                <a:latin typeface="Helvetica" charset="0"/>
              </a:rPr>
              <a:t>What is the likelihood?</a:t>
            </a:r>
          </a:p>
          <a:p>
            <a:pPr algn="ctr" eaLnBrk="1" hangingPunct="1">
              <a:defRPr/>
            </a:pPr>
            <a:endParaRPr lang="en-US" sz="2200" i="1">
              <a:solidFill>
                <a:srgbClr val="DADADA"/>
              </a:solidFill>
              <a:effectLst>
                <a:outerShdw blurRad="38100" dist="38100" dir="2700000" algn="tl">
                  <a:srgbClr val="000000"/>
                </a:outerShdw>
              </a:effectLst>
              <a:latin typeface="Helvetica" charset="0"/>
            </a:endParaRPr>
          </a:p>
        </p:txBody>
      </p:sp>
      <p:sp>
        <p:nvSpPr>
          <p:cNvPr id="864275" name="Rectangle 19"/>
          <p:cNvSpPr>
            <a:spLocks noChangeArrowheads="1"/>
          </p:cNvSpPr>
          <p:nvPr/>
        </p:nvSpPr>
        <p:spPr bwMode="auto">
          <a:xfrm>
            <a:off x="2434167" y="2674938"/>
            <a:ext cx="3432029" cy="766877"/>
          </a:xfrm>
          <a:prstGeom prst="rect">
            <a:avLst/>
          </a:prstGeom>
          <a:noFill/>
          <a:ln w="12700">
            <a:noFill/>
            <a:miter lim="800000"/>
            <a:headEnd/>
            <a:tailEnd/>
          </a:ln>
          <a:effectLst/>
        </p:spPr>
        <p:txBody>
          <a:bodyPr wrap="none" lIns="90487" tIns="44450" rIns="90487" bIns="44450">
            <a:spAutoFit/>
          </a:bodyPr>
          <a:lstStyle/>
          <a:p>
            <a:pPr algn="ctr" eaLnBrk="1" hangingPunct="1">
              <a:defRPr/>
            </a:pPr>
            <a:r>
              <a:rPr lang="en-US" sz="2200" i="1" dirty="0">
                <a:solidFill>
                  <a:srgbClr val="DADADA"/>
                </a:solidFill>
                <a:effectLst>
                  <a:outerShdw blurRad="38100" dist="38100" dir="2700000" algn="tl">
                    <a:srgbClr val="000000"/>
                  </a:outerShdw>
                </a:effectLst>
                <a:latin typeface="Helvetica" charset="0"/>
              </a:rPr>
              <a:t>What will the damage be?</a:t>
            </a:r>
          </a:p>
          <a:p>
            <a:pPr algn="ctr" eaLnBrk="1" hangingPunct="1">
              <a:defRPr/>
            </a:pPr>
            <a:endParaRPr lang="en-US" sz="2200" i="1" dirty="0">
              <a:solidFill>
                <a:srgbClr val="DADADA"/>
              </a:solidFill>
              <a:effectLst>
                <a:outerShdw blurRad="38100" dist="38100" dir="2700000" algn="tl">
                  <a:srgbClr val="000000"/>
                </a:outerShdw>
              </a:effectLst>
              <a:latin typeface="Helvetica" charset="0"/>
            </a:endParaRPr>
          </a:p>
        </p:txBody>
      </p:sp>
      <p:sp>
        <p:nvSpPr>
          <p:cNvPr id="864276" name="Rectangle 20"/>
          <p:cNvSpPr>
            <a:spLocks noChangeArrowheads="1"/>
          </p:cNvSpPr>
          <p:nvPr/>
        </p:nvSpPr>
        <p:spPr bwMode="auto">
          <a:xfrm>
            <a:off x="2444751" y="2968626"/>
            <a:ext cx="3369511" cy="428322"/>
          </a:xfrm>
          <a:prstGeom prst="rect">
            <a:avLst/>
          </a:prstGeom>
          <a:noFill/>
          <a:ln w="12700">
            <a:noFill/>
            <a:miter lim="800000"/>
            <a:headEnd/>
            <a:tailEnd/>
          </a:ln>
          <a:effectLst/>
        </p:spPr>
        <p:txBody>
          <a:bodyPr wrap="none" lIns="90487" tIns="44450" rIns="90487" bIns="44450">
            <a:spAutoFit/>
          </a:bodyPr>
          <a:lstStyle/>
          <a:p>
            <a:pPr algn="ctr" eaLnBrk="1" hangingPunct="1">
              <a:defRPr/>
            </a:pPr>
            <a:r>
              <a:rPr lang="en-US" sz="2200" i="1">
                <a:solidFill>
                  <a:srgbClr val="DADADA"/>
                </a:solidFill>
                <a:effectLst>
                  <a:outerShdw blurRad="38100" dist="38100" dir="2700000" algn="tl">
                    <a:srgbClr val="000000"/>
                  </a:outerShdw>
                </a:effectLst>
                <a:latin typeface="Helvetica" charset="0"/>
              </a:rPr>
              <a:t>What can we do about it?</a:t>
            </a:r>
          </a:p>
        </p:txBody>
      </p:sp>
      <p:sp>
        <p:nvSpPr>
          <p:cNvPr id="5142" name="Rectangle 21"/>
          <p:cNvSpPr>
            <a:spLocks noChangeArrowheads="1"/>
          </p:cNvSpPr>
          <p:nvPr/>
        </p:nvSpPr>
        <p:spPr bwMode="auto">
          <a:xfrm>
            <a:off x="6972301" y="5067300"/>
            <a:ext cx="2180167" cy="222250"/>
          </a:xfrm>
          <a:prstGeom prst="rect">
            <a:avLst/>
          </a:prstGeom>
          <a:solidFill>
            <a:schemeClr val="tx1"/>
          </a:solidFill>
          <a:ln>
            <a:noFill/>
          </a:ln>
          <a:extLst>
            <a:ext uri="{91240B29-F687-4F45-9708-019B960494DF}">
              <a14:hiddenLine xmlns:a14="http://schemas.microsoft.com/office/drawing/2010/main" w="127000">
                <a:solidFill>
                  <a:srgbClr val="000000"/>
                </a:solidFill>
                <a:miter lim="800000"/>
                <a:headEnd/>
                <a:tailEnd/>
              </a14:hiddenLine>
            </a:ext>
          </a:extLst>
        </p:spPr>
        <p:txBody>
          <a:bodyPr wrap="none" anchor="ctr"/>
          <a:lstStyle/>
          <a:p>
            <a:pPr algn="ctr" eaLnBrk="1" hangingPunct="1"/>
            <a:endParaRPr lang="pt-BR" altLang="tr-TR" b="1">
              <a:latin typeface="Palatino" charset="0"/>
            </a:endParaRPr>
          </a:p>
        </p:txBody>
      </p:sp>
      <p:sp>
        <p:nvSpPr>
          <p:cNvPr id="5143" name="Rectangle 22"/>
          <p:cNvSpPr>
            <a:spLocks noChangeArrowheads="1"/>
          </p:cNvSpPr>
          <p:nvPr/>
        </p:nvSpPr>
        <p:spPr bwMode="auto">
          <a:xfrm>
            <a:off x="6974418" y="5068888"/>
            <a:ext cx="2175933" cy="22066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pt-BR" altLang="tr-TR" b="1">
              <a:latin typeface="Palatino" charset="0"/>
            </a:endParaRPr>
          </a:p>
        </p:txBody>
      </p:sp>
    </p:spTree>
    <p:extLst>
      <p:ext uri="{BB962C8B-B14F-4D97-AF65-F5344CB8AC3E}">
        <p14:creationId xmlns:p14="http://schemas.microsoft.com/office/powerpoint/2010/main" val="411150999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tr-TR" dirty="0"/>
              <a:t>What Is Software Risk?</a:t>
            </a:r>
            <a:endParaRPr lang="en-IN" dirty="0"/>
          </a:p>
        </p:txBody>
      </p:sp>
      <p:sp>
        <p:nvSpPr>
          <p:cNvPr id="3" name="Content Placeholder 2"/>
          <p:cNvSpPr>
            <a:spLocks noGrp="1"/>
          </p:cNvSpPr>
          <p:nvPr>
            <p:ph idx="1"/>
          </p:nvPr>
        </p:nvSpPr>
        <p:spPr/>
        <p:txBody>
          <a:bodyPr>
            <a:normAutofit/>
          </a:bodyPr>
          <a:lstStyle/>
          <a:p>
            <a:pPr algn="just"/>
            <a:r>
              <a:rPr lang="en-US" altLang="tr-TR" sz="2400" dirty="0"/>
              <a:t>Risk is a potential problem that may or may not occur in the future. Risk is an </a:t>
            </a:r>
            <a:r>
              <a:rPr lang="en-US" altLang="tr-TR" sz="2400" u="sng" dirty="0">
                <a:solidFill>
                  <a:srgbClr val="FF0000"/>
                </a:solidFill>
              </a:rPr>
              <a:t>expectation</a:t>
            </a:r>
            <a:r>
              <a:rPr lang="en-US" altLang="tr-TR" sz="2400" dirty="0"/>
              <a:t> of loss. </a:t>
            </a:r>
            <a:endParaRPr lang="tr-TR" altLang="tr-TR" sz="2400" dirty="0"/>
          </a:p>
          <a:p>
            <a:pPr algn="just"/>
            <a:r>
              <a:rPr lang="en-US" altLang="tr-TR" sz="2400" dirty="0"/>
              <a:t>A possibility of suffering from loss in software development process is called a software risk. </a:t>
            </a:r>
            <a:endParaRPr lang="tr-TR" altLang="tr-TR" sz="2400" dirty="0"/>
          </a:p>
          <a:p>
            <a:pPr algn="just"/>
            <a:r>
              <a:rPr lang="en-US" altLang="tr-TR" sz="2400" dirty="0"/>
              <a:t>Loss can be anything, increase in production cost, development of poor quality software, not being able to complete the project on time. </a:t>
            </a:r>
            <a:endParaRPr lang="tr-TR" altLang="tr-TR" sz="2400" dirty="0"/>
          </a:p>
          <a:p>
            <a:pPr algn="just"/>
            <a:endParaRPr lang="en-IN" sz="2400" dirty="0"/>
          </a:p>
        </p:txBody>
      </p:sp>
    </p:spTree>
    <p:extLst>
      <p:ext uri="{BB962C8B-B14F-4D97-AF65-F5344CB8AC3E}">
        <p14:creationId xmlns:p14="http://schemas.microsoft.com/office/powerpoint/2010/main" val="3946535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fld id="{15F6ABE9-A3A4-4EE2-A5FC-BD16BA3CE7BF}" type="slidenum">
              <a:rPr lang="en-US" altLang="tr-TR" sz="1400"/>
              <a:pPr/>
              <a:t>30</a:t>
            </a:fld>
            <a:endParaRPr lang="en-US" altLang="tr-TR" sz="1400"/>
          </a:p>
        </p:txBody>
      </p:sp>
      <p:sp>
        <p:nvSpPr>
          <p:cNvPr id="9219" name="Rectangle 2"/>
          <p:cNvSpPr>
            <a:spLocks noGrp="1" noChangeArrowheads="1"/>
          </p:cNvSpPr>
          <p:nvPr>
            <p:ph type="title"/>
          </p:nvPr>
        </p:nvSpPr>
        <p:spPr>
          <a:xfrm>
            <a:off x="914400" y="228600"/>
            <a:ext cx="10363200" cy="1143000"/>
          </a:xfrm>
        </p:spPr>
        <p:txBody>
          <a:bodyPr/>
          <a:lstStyle/>
          <a:p>
            <a:pPr eaLnBrk="1" hangingPunct="1"/>
            <a:r>
              <a:rPr lang="en-US" altLang="tr-TR" dirty="0"/>
              <a:t>Definition of Risk</a:t>
            </a:r>
          </a:p>
        </p:txBody>
      </p:sp>
      <p:sp>
        <p:nvSpPr>
          <p:cNvPr id="9220" name="Rectangle 3"/>
          <p:cNvSpPr>
            <a:spLocks noGrp="1" noChangeArrowheads="1"/>
          </p:cNvSpPr>
          <p:nvPr>
            <p:ph type="body" idx="1"/>
          </p:nvPr>
        </p:nvSpPr>
        <p:spPr>
          <a:xfrm>
            <a:off x="914400" y="1447800"/>
            <a:ext cx="10363200" cy="4114800"/>
          </a:xfrm>
        </p:spPr>
        <p:txBody>
          <a:bodyPr/>
          <a:lstStyle/>
          <a:p>
            <a:pPr eaLnBrk="1" hangingPunct="1">
              <a:lnSpc>
                <a:spcPct val="90000"/>
              </a:lnSpc>
            </a:pPr>
            <a:r>
              <a:rPr lang="en-US" altLang="tr-TR" sz="2000" dirty="0"/>
              <a:t>A risk is a potential problem – it might happen and it might not</a:t>
            </a:r>
          </a:p>
          <a:p>
            <a:pPr eaLnBrk="1" hangingPunct="1">
              <a:lnSpc>
                <a:spcPct val="90000"/>
              </a:lnSpc>
            </a:pPr>
            <a:r>
              <a:rPr lang="en-US" altLang="tr-TR" sz="2000" dirty="0"/>
              <a:t>Two characteristics of risk</a:t>
            </a:r>
          </a:p>
          <a:p>
            <a:pPr lvl="1" eaLnBrk="1" hangingPunct="1">
              <a:lnSpc>
                <a:spcPct val="90000"/>
              </a:lnSpc>
            </a:pPr>
            <a:r>
              <a:rPr lang="en-US" altLang="tr-TR" sz="1800" dirty="0"/>
              <a:t>Uncertainty – the risk may or  may not happen.</a:t>
            </a:r>
          </a:p>
          <a:p>
            <a:pPr lvl="1" eaLnBrk="1" hangingPunct="1">
              <a:lnSpc>
                <a:spcPct val="90000"/>
              </a:lnSpc>
            </a:pPr>
            <a:r>
              <a:rPr lang="en-US" altLang="tr-TR" sz="1800" dirty="0"/>
              <a:t>Loss – If the risk becomes a reality and unwanted consequences or losses occur</a:t>
            </a:r>
          </a:p>
          <a:p>
            <a:pPr lvl="1" eaLnBrk="1" hangingPunct="1">
              <a:lnSpc>
                <a:spcPct val="90000"/>
              </a:lnSpc>
            </a:pPr>
            <a:endParaRPr lang="en-US" altLang="tr-TR" sz="1800" dirty="0"/>
          </a:p>
          <a:p>
            <a:pPr lvl="1" eaLnBrk="1" hangingPunct="1">
              <a:lnSpc>
                <a:spcPct val="90000"/>
              </a:lnSpc>
            </a:pPr>
            <a:endParaRPr lang="en-US" altLang="tr-TR" sz="1800" dirty="0"/>
          </a:p>
        </p:txBody>
      </p:sp>
    </p:spTree>
    <p:extLst>
      <p:ext uri="{BB962C8B-B14F-4D97-AF65-F5344CB8AC3E}">
        <p14:creationId xmlns:p14="http://schemas.microsoft.com/office/powerpoint/2010/main" val="1635125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850106"/>
          </a:xfrm>
        </p:spPr>
        <p:txBody>
          <a:bodyPr/>
          <a:lstStyle/>
          <a:p>
            <a:r>
              <a:rPr lang="en-US" altLang="tr-TR" dirty="0"/>
              <a:t>Risk Categorization</a:t>
            </a:r>
            <a:endParaRPr lang="en-IN" dirty="0"/>
          </a:p>
        </p:txBody>
      </p:sp>
      <p:sp>
        <p:nvSpPr>
          <p:cNvPr id="3" name="Content Placeholder 2"/>
          <p:cNvSpPr>
            <a:spLocks noGrp="1"/>
          </p:cNvSpPr>
          <p:nvPr>
            <p:ph idx="1"/>
          </p:nvPr>
        </p:nvSpPr>
        <p:spPr>
          <a:xfrm>
            <a:off x="609600" y="1196752"/>
            <a:ext cx="10972800" cy="4968552"/>
          </a:xfrm>
        </p:spPr>
        <p:txBody>
          <a:bodyPr>
            <a:noAutofit/>
          </a:bodyPr>
          <a:lstStyle/>
          <a:p>
            <a:pPr algn="just"/>
            <a:r>
              <a:rPr lang="en-US" altLang="tr-TR" sz="2400" dirty="0">
                <a:solidFill>
                  <a:srgbClr val="FF0000"/>
                </a:solidFill>
              </a:rPr>
              <a:t>Project risks :  </a:t>
            </a:r>
            <a:r>
              <a:rPr lang="en-IN" sz="2400" dirty="0"/>
              <a:t>Project risks threaten the project plan. That is, if project risks become real, it is likely that project schedule will slip and that costs will increase.</a:t>
            </a:r>
            <a:endParaRPr lang="en-US" altLang="tr-TR" sz="2400" dirty="0">
              <a:solidFill>
                <a:srgbClr val="FF0000"/>
              </a:solidFill>
            </a:endParaRPr>
          </a:p>
          <a:p>
            <a:pPr algn="just"/>
            <a:r>
              <a:rPr lang="en-US" altLang="tr-TR" sz="2400" dirty="0">
                <a:solidFill>
                  <a:srgbClr val="FF0000"/>
                </a:solidFill>
              </a:rPr>
              <a:t>Technical risks :</a:t>
            </a:r>
            <a:r>
              <a:rPr lang="en-IN" sz="2400" dirty="0"/>
              <a:t>Technical risks threaten the quality and timeliness of the software to be produced. If a technical risk becomes a reality, implementation may become difficult or impossible. </a:t>
            </a:r>
            <a:endParaRPr lang="en-US" altLang="tr-TR" sz="2400" dirty="0">
              <a:solidFill>
                <a:srgbClr val="FF0000"/>
              </a:solidFill>
            </a:endParaRPr>
          </a:p>
          <a:p>
            <a:pPr algn="just"/>
            <a:r>
              <a:rPr lang="en-US" altLang="tr-TR" sz="2400" dirty="0">
                <a:solidFill>
                  <a:srgbClr val="FF0000"/>
                </a:solidFill>
              </a:rPr>
              <a:t>Business risks :</a:t>
            </a:r>
            <a:r>
              <a:rPr lang="en-IN" sz="2400" dirty="0"/>
              <a:t>Business risks threaten the viability(working successfully) of the software to be built. </a:t>
            </a:r>
            <a:endParaRPr lang="en-US" altLang="tr-TR" sz="2400" dirty="0">
              <a:solidFill>
                <a:srgbClr val="FF0000"/>
              </a:solidFill>
            </a:endParaRPr>
          </a:p>
          <a:p>
            <a:pPr algn="just"/>
            <a:endParaRPr lang="en-US" altLang="tr-TR" sz="2400" dirty="0"/>
          </a:p>
          <a:p>
            <a:pPr lvl="4" algn="just"/>
            <a:endParaRPr lang="en-US" altLang="tr-TR" sz="2400" dirty="0"/>
          </a:p>
        </p:txBody>
      </p:sp>
    </p:spTree>
    <p:extLst>
      <p:ext uri="{BB962C8B-B14F-4D97-AF65-F5344CB8AC3E}">
        <p14:creationId xmlns:p14="http://schemas.microsoft.com/office/powerpoint/2010/main" val="4207401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87680"/>
          </a:xfrm>
        </p:spPr>
        <p:txBody>
          <a:bodyPr>
            <a:normAutofit fontScale="90000"/>
          </a:bodyPr>
          <a:lstStyle/>
          <a:p>
            <a:endParaRPr lang="en-IN" dirty="0"/>
          </a:p>
        </p:txBody>
      </p:sp>
      <p:sp>
        <p:nvSpPr>
          <p:cNvPr id="3" name="Content Placeholder 2"/>
          <p:cNvSpPr>
            <a:spLocks noGrp="1"/>
          </p:cNvSpPr>
          <p:nvPr>
            <p:ph idx="1"/>
          </p:nvPr>
        </p:nvSpPr>
        <p:spPr>
          <a:xfrm>
            <a:off x="677334" y="1345475"/>
            <a:ext cx="8596668" cy="4695888"/>
          </a:xfrm>
        </p:spPr>
        <p:txBody>
          <a:bodyPr>
            <a:normAutofit fontScale="92500"/>
          </a:bodyPr>
          <a:lstStyle/>
          <a:p>
            <a:pPr lvl="4" algn="just"/>
            <a:r>
              <a:rPr lang="en-US" altLang="tr-TR" sz="2200" dirty="0"/>
              <a:t>Market risk</a:t>
            </a:r>
          </a:p>
          <a:p>
            <a:pPr lvl="4" algn="just"/>
            <a:r>
              <a:rPr lang="en-US" altLang="tr-TR" sz="2200" dirty="0"/>
              <a:t>Strategic risk</a:t>
            </a:r>
          </a:p>
          <a:p>
            <a:pPr lvl="4" algn="just"/>
            <a:r>
              <a:rPr lang="en-US" altLang="tr-TR" sz="2200" dirty="0"/>
              <a:t>Sales risk</a:t>
            </a:r>
          </a:p>
          <a:p>
            <a:pPr lvl="4" algn="just"/>
            <a:r>
              <a:rPr lang="en-US" altLang="tr-TR" sz="2200" dirty="0"/>
              <a:t>Management risk</a:t>
            </a:r>
          </a:p>
          <a:p>
            <a:pPr lvl="4" algn="just"/>
            <a:r>
              <a:rPr lang="en-US" altLang="tr-TR" sz="2200" dirty="0"/>
              <a:t>Budget risk</a:t>
            </a:r>
          </a:p>
          <a:p>
            <a:pPr algn="just"/>
            <a:r>
              <a:rPr lang="en-US" altLang="tr-TR" sz="2400" dirty="0">
                <a:solidFill>
                  <a:srgbClr val="FF0000"/>
                </a:solidFill>
              </a:rPr>
              <a:t>Known risks :</a:t>
            </a:r>
            <a:r>
              <a:rPr lang="en-IN" sz="2400" dirty="0"/>
              <a:t>Known risks are those that can be uncovered after careful evaluation of the project plan</a:t>
            </a:r>
            <a:endParaRPr lang="en-US" altLang="tr-TR" sz="2400" dirty="0">
              <a:solidFill>
                <a:srgbClr val="FF0000"/>
              </a:solidFill>
            </a:endParaRPr>
          </a:p>
          <a:p>
            <a:pPr algn="just"/>
            <a:r>
              <a:rPr lang="en-US" altLang="tr-TR" sz="2400" dirty="0">
                <a:solidFill>
                  <a:srgbClr val="FF0000"/>
                </a:solidFill>
              </a:rPr>
              <a:t>Predictable risks:</a:t>
            </a:r>
            <a:r>
              <a:rPr lang="en-IN" sz="2400" dirty="0"/>
              <a:t>are extracted from past project experience (e.g., staff turnover, poor communication with the customer)</a:t>
            </a:r>
            <a:endParaRPr lang="en-US" altLang="tr-TR" sz="2400" dirty="0">
              <a:solidFill>
                <a:srgbClr val="FF0000"/>
              </a:solidFill>
            </a:endParaRPr>
          </a:p>
          <a:p>
            <a:pPr algn="just"/>
            <a:r>
              <a:rPr lang="en-US" altLang="tr-TR" sz="2400" dirty="0">
                <a:solidFill>
                  <a:srgbClr val="FF0000"/>
                </a:solidFill>
              </a:rPr>
              <a:t>Unpredictable risks:</a:t>
            </a:r>
            <a:r>
              <a:rPr lang="en-IN" sz="2400" dirty="0"/>
              <a:t>They do occur, but they are extremely difficult to identify in advance. </a:t>
            </a:r>
            <a:endParaRPr lang="en-US" altLang="tr-TR" sz="2400" dirty="0">
              <a:solidFill>
                <a:srgbClr val="FF0000"/>
              </a:solidFill>
            </a:endParaRPr>
          </a:p>
          <a:p>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92331"/>
            <a:ext cx="8596668" cy="5349031"/>
          </a:xfrm>
        </p:spPr>
        <p:txBody>
          <a:bodyPr>
            <a:normAutofit/>
          </a:bodyPr>
          <a:lstStyle/>
          <a:p>
            <a:pPr>
              <a:buNone/>
            </a:pPr>
            <a:r>
              <a:rPr lang="en-IN" sz="2800" dirty="0">
                <a:solidFill>
                  <a:srgbClr val="FF0000"/>
                </a:solidFill>
              </a:rPr>
              <a:t> </a:t>
            </a:r>
          </a:p>
          <a:p>
            <a:r>
              <a:rPr lang="en-IN" sz="2800" dirty="0">
                <a:solidFill>
                  <a:srgbClr val="FF0000"/>
                </a:solidFill>
              </a:rPr>
              <a:t>Reactive</a:t>
            </a:r>
            <a:r>
              <a:rPr lang="en-IN" sz="2800" dirty="0"/>
              <a:t> </a:t>
            </a:r>
            <a:r>
              <a:rPr lang="en-IN" sz="2800" dirty="0" err="1"/>
              <a:t>vs</a:t>
            </a:r>
            <a:r>
              <a:rPr lang="en-IN" sz="2800" dirty="0"/>
              <a:t> </a:t>
            </a:r>
            <a:r>
              <a:rPr lang="en-IN" sz="2800" dirty="0">
                <a:solidFill>
                  <a:srgbClr val="FF0000"/>
                </a:solidFill>
              </a:rPr>
              <a:t>Proactive</a:t>
            </a:r>
            <a:r>
              <a:rPr lang="en-IN" sz="2800" dirty="0"/>
              <a:t> risk strategy</a:t>
            </a:r>
          </a:p>
          <a:p>
            <a:pPr>
              <a:buNone/>
            </a:pPr>
            <a:r>
              <a:rPr lang="en-IN" sz="2400" dirty="0">
                <a:solidFill>
                  <a:schemeClr val="tx1"/>
                </a:solidFill>
              </a:rPr>
              <a:t>Reactive</a:t>
            </a:r>
            <a:r>
              <a:rPr lang="en-IN" sz="4000" dirty="0">
                <a:solidFill>
                  <a:srgbClr val="FF0000"/>
                </a:solidFill>
              </a:rPr>
              <a:t> </a:t>
            </a:r>
            <a:endParaRPr lang="en-IN" sz="4000" dirty="0"/>
          </a:p>
          <a:p>
            <a:pPr>
              <a:buNone/>
            </a:pPr>
            <a:r>
              <a:rPr lang="en-IN" dirty="0"/>
              <a:t>   “Indiana Jones school of risk management”. “Don’t worry, I’ll think of something!” </a:t>
            </a:r>
          </a:p>
          <a:p>
            <a:pPr marL="342900" lvl="1" indent="-342900">
              <a:buNone/>
            </a:pPr>
            <a:r>
              <a:rPr lang="en-US" dirty="0"/>
              <a:t>   project team reacts to risks when they occur</a:t>
            </a:r>
          </a:p>
          <a:p>
            <a:pPr marL="342900" lvl="1" indent="-342900">
              <a:buNone/>
            </a:pPr>
            <a:r>
              <a:rPr lang="en-US" dirty="0"/>
              <a:t>   fix on failure—resource are found and applied when the risk strikes</a:t>
            </a:r>
          </a:p>
          <a:p>
            <a:pPr marL="342900" lvl="1" indent="-342900">
              <a:buNone/>
            </a:pPr>
            <a:r>
              <a:rPr lang="en-US" b="1" dirty="0"/>
              <a:t> Proactive Risk Management</a:t>
            </a:r>
          </a:p>
          <a:p>
            <a:pPr marL="342900" lvl="1" indent="-342900">
              <a:buNone/>
            </a:pPr>
            <a:r>
              <a:rPr lang="en-IN" dirty="0"/>
              <a:t>      A proactive strategy begins long before technical work is initiated</a:t>
            </a:r>
          </a:p>
          <a:p>
            <a:pPr>
              <a:buNone/>
            </a:pPr>
            <a:r>
              <a:rPr lang="en-US" sz="800" dirty="0"/>
              <a:t> </a:t>
            </a:r>
            <a:endParaRPr lang="en-IN" sz="3600" dirty="0"/>
          </a:p>
          <a:p>
            <a:pPr lvl="1"/>
            <a:r>
              <a:rPr lang="en-IN" dirty="0"/>
              <a:t>Potential risks are </a:t>
            </a:r>
            <a:r>
              <a:rPr lang="en-IN" dirty="0" err="1"/>
              <a:t>identiﬁed</a:t>
            </a:r>
            <a:r>
              <a:rPr lang="en-IN" dirty="0"/>
              <a:t>, their probability and impact are assessed, and they are ranked by importance. Then, the software team establishes a plan for managing risk.</a:t>
            </a:r>
          </a:p>
          <a:p>
            <a:pPr marL="342900" lvl="1" indent="-342900">
              <a:buNone/>
            </a:pPr>
            <a:endParaRPr lang="en-IN" dirty="0"/>
          </a:p>
          <a:p>
            <a:pPr>
              <a:buNone/>
            </a:pPr>
            <a:endParaRPr lang="en-IN" sz="4000" dirty="0"/>
          </a:p>
        </p:txBody>
      </p:sp>
    </p:spTree>
    <p:extLst>
      <p:ext uri="{BB962C8B-B14F-4D97-AF65-F5344CB8AC3E}">
        <p14:creationId xmlns:p14="http://schemas.microsoft.com/office/powerpoint/2010/main" val="685864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Assessing Risk Impact</a:t>
            </a:r>
          </a:p>
        </p:txBody>
      </p:sp>
      <p:sp>
        <p:nvSpPr>
          <p:cNvPr id="3" name="Content Placeholder 2"/>
          <p:cNvSpPr>
            <a:spLocks noGrp="1"/>
          </p:cNvSpPr>
          <p:nvPr>
            <p:ph idx="1"/>
          </p:nvPr>
        </p:nvSpPr>
        <p:spPr>
          <a:xfrm>
            <a:off x="703460" y="1912395"/>
            <a:ext cx="8596668" cy="3469502"/>
          </a:xfrm>
        </p:spPr>
        <p:txBody>
          <a:bodyPr/>
          <a:lstStyle/>
          <a:p>
            <a:r>
              <a:rPr lang="en-IN" dirty="0"/>
              <a:t>Risk exposure, RE,</a:t>
            </a:r>
          </a:p>
          <a:p>
            <a:pPr>
              <a:buNone/>
            </a:pPr>
            <a:r>
              <a:rPr lang="en-IN" dirty="0"/>
              <a:t>    is determined using the following relationship [HAL98]:</a:t>
            </a:r>
          </a:p>
          <a:p>
            <a:pPr>
              <a:buNone/>
            </a:pPr>
            <a:r>
              <a:rPr lang="en-IN" dirty="0"/>
              <a:t>                                </a:t>
            </a:r>
          </a:p>
          <a:p>
            <a:pPr>
              <a:buNone/>
            </a:pPr>
            <a:r>
              <a:rPr lang="en-IN" dirty="0"/>
              <a:t>								 RE = P x C</a:t>
            </a:r>
          </a:p>
          <a:p>
            <a:pPr>
              <a:buNone/>
            </a:pPr>
            <a:r>
              <a:rPr lang="en-IN" dirty="0"/>
              <a:t> where P is the probability of occurrence for a risk, and C is the </a:t>
            </a:r>
            <a:r>
              <a:rPr lang="en-IN" dirty="0" err="1"/>
              <a:t>the</a:t>
            </a:r>
            <a:r>
              <a:rPr lang="en-IN" dirty="0"/>
              <a:t> cost to the project  if the risk occur.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buNone/>
            </a:pPr>
            <a:r>
              <a:rPr lang="en-IN" dirty="0"/>
              <a:t>Impact values:</a:t>
            </a:r>
          </a:p>
          <a:p>
            <a:r>
              <a:rPr lang="en-IN" dirty="0"/>
              <a:t> 1—catastrophic</a:t>
            </a:r>
          </a:p>
          <a:p>
            <a:r>
              <a:rPr lang="en-IN" dirty="0"/>
              <a:t> 2—critical</a:t>
            </a:r>
          </a:p>
          <a:p>
            <a:r>
              <a:rPr lang="en-IN" dirty="0"/>
              <a:t> 3—marginal </a:t>
            </a:r>
          </a:p>
          <a:p>
            <a:r>
              <a:rPr lang="en-IN" dirty="0"/>
              <a:t>4—negligible</a:t>
            </a:r>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table</a:t>
            </a:r>
          </a:p>
        </p:txBody>
      </p:sp>
      <p:graphicFrame>
        <p:nvGraphicFramePr>
          <p:cNvPr id="5" name="Table 4"/>
          <p:cNvGraphicFramePr>
            <a:graphicFrameLocks noGrp="1"/>
          </p:cNvGraphicFramePr>
          <p:nvPr/>
        </p:nvGraphicFramePr>
        <p:xfrm>
          <a:off x="1182914" y="2574593"/>
          <a:ext cx="7556135" cy="2301240"/>
        </p:xfrm>
        <a:graphic>
          <a:graphicData uri="http://schemas.openxmlformats.org/drawingml/2006/table">
            <a:tbl>
              <a:tblPr firstRow="1" bandRow="1">
                <a:tableStyleId>{5C22544A-7EE6-4342-B048-85BDC9FD1C3A}</a:tableStyleId>
              </a:tblPr>
              <a:tblGrid>
                <a:gridCol w="1511227">
                  <a:extLst>
                    <a:ext uri="{9D8B030D-6E8A-4147-A177-3AD203B41FA5}">
                      <a16:colId xmlns:a16="http://schemas.microsoft.com/office/drawing/2014/main" val="20000"/>
                    </a:ext>
                  </a:extLst>
                </a:gridCol>
                <a:gridCol w="1511227">
                  <a:extLst>
                    <a:ext uri="{9D8B030D-6E8A-4147-A177-3AD203B41FA5}">
                      <a16:colId xmlns:a16="http://schemas.microsoft.com/office/drawing/2014/main" val="20001"/>
                    </a:ext>
                  </a:extLst>
                </a:gridCol>
                <a:gridCol w="1511227">
                  <a:extLst>
                    <a:ext uri="{9D8B030D-6E8A-4147-A177-3AD203B41FA5}">
                      <a16:colId xmlns:a16="http://schemas.microsoft.com/office/drawing/2014/main" val="20002"/>
                    </a:ext>
                  </a:extLst>
                </a:gridCol>
                <a:gridCol w="1511227">
                  <a:extLst>
                    <a:ext uri="{9D8B030D-6E8A-4147-A177-3AD203B41FA5}">
                      <a16:colId xmlns:a16="http://schemas.microsoft.com/office/drawing/2014/main" val="20003"/>
                    </a:ext>
                  </a:extLst>
                </a:gridCol>
                <a:gridCol w="1511227">
                  <a:extLst>
                    <a:ext uri="{9D8B030D-6E8A-4147-A177-3AD203B41FA5}">
                      <a16:colId xmlns:a16="http://schemas.microsoft.com/office/drawing/2014/main" val="20004"/>
                    </a:ext>
                  </a:extLst>
                </a:gridCol>
              </a:tblGrid>
              <a:tr h="370840">
                <a:tc>
                  <a:txBody>
                    <a:bodyPr/>
                    <a:lstStyle/>
                    <a:p>
                      <a:r>
                        <a:rPr lang="en-IN" dirty="0"/>
                        <a:t> Risk </a:t>
                      </a:r>
                    </a:p>
                  </a:txBody>
                  <a:tcPr/>
                </a:tc>
                <a:tc>
                  <a:txBody>
                    <a:bodyPr/>
                    <a:lstStyle/>
                    <a:p>
                      <a:r>
                        <a:rPr lang="en-IN" dirty="0"/>
                        <a:t> category</a:t>
                      </a:r>
                    </a:p>
                  </a:txBody>
                  <a:tcPr/>
                </a:tc>
                <a:tc>
                  <a:txBody>
                    <a:bodyPr/>
                    <a:lstStyle/>
                    <a:p>
                      <a:r>
                        <a:rPr lang="en-IN" dirty="0"/>
                        <a:t>probability</a:t>
                      </a:r>
                    </a:p>
                  </a:txBody>
                  <a:tcPr/>
                </a:tc>
                <a:tc>
                  <a:txBody>
                    <a:bodyPr/>
                    <a:lstStyle/>
                    <a:p>
                      <a:r>
                        <a:rPr lang="en-IN" dirty="0"/>
                        <a:t>Impact </a:t>
                      </a:r>
                    </a:p>
                  </a:txBody>
                  <a:tcPr/>
                </a:tc>
                <a:tc>
                  <a:txBody>
                    <a:bodyPr/>
                    <a:lstStyle/>
                    <a:p>
                      <a:r>
                        <a:rPr lang="en-IN" dirty="0"/>
                        <a:t>RMMM (risk mitigation ,monitoring ,managing)</a:t>
                      </a:r>
                    </a:p>
                  </a:txBody>
                  <a:tcPr/>
                </a:tc>
                <a:extLst>
                  <a:ext uri="{0D108BD9-81ED-4DB2-BD59-A6C34878D82A}">
                    <a16:rowId xmlns:a16="http://schemas.microsoft.com/office/drawing/2014/main" val="10000"/>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1"/>
                  </a:ext>
                </a:extLst>
              </a:tr>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2"/>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003"/>
                  </a:ext>
                </a:extLst>
              </a:tr>
            </a:tbl>
          </a:graphicData>
        </a:graphic>
      </p:graphicFrame>
      <p:sp>
        <p:nvSpPr>
          <p:cNvPr id="6" name="Content Placeholder 5"/>
          <p:cNvSpPr>
            <a:spLocks noGrp="1"/>
          </p:cNvSpPr>
          <p:nvPr>
            <p:ph idx="1"/>
          </p:nvPr>
        </p:nvSpPr>
        <p:spPr>
          <a:xfrm>
            <a:off x="677334" y="1964646"/>
            <a:ext cx="8596668" cy="3880773"/>
          </a:xfrm>
        </p:spPr>
        <p:txBody>
          <a:bodyPr/>
          <a:lstStyle/>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C:\Users\Admin\Desktop\SE-CSBS\Risk+Table.jpg"/>
          <p:cNvPicPr>
            <a:picLocks noGrp="1" noChangeAspect="1" noChangeArrowheads="1"/>
          </p:cNvPicPr>
          <p:nvPr>
            <p:ph idx="1"/>
          </p:nvPr>
        </p:nvPicPr>
        <p:blipFill>
          <a:blip r:embed="rId2"/>
          <a:srcRect/>
          <a:stretch>
            <a:fillRect/>
          </a:stretch>
        </p:blipFill>
        <p:spPr bwMode="auto">
          <a:xfrm>
            <a:off x="1763486" y="2364377"/>
            <a:ext cx="7040879" cy="3500846"/>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RISK MITIGATION, MONITORING, AND MANAGEMENT</a:t>
            </a:r>
            <a:br>
              <a:rPr lang="en-IN" dirty="0"/>
            </a:br>
            <a:endParaRPr lang="en-IN" dirty="0"/>
          </a:p>
        </p:txBody>
      </p:sp>
      <p:sp>
        <p:nvSpPr>
          <p:cNvPr id="3" name="Content Placeholder 2"/>
          <p:cNvSpPr>
            <a:spLocks noGrp="1"/>
          </p:cNvSpPr>
          <p:nvPr>
            <p:ph idx="1"/>
          </p:nvPr>
        </p:nvSpPr>
        <p:spPr>
          <a:xfrm>
            <a:off x="690397" y="1977709"/>
            <a:ext cx="8596668" cy="3880773"/>
          </a:xfrm>
        </p:spPr>
        <p:txBody>
          <a:bodyPr/>
          <a:lstStyle/>
          <a:p>
            <a:endParaRPr lang="en-IN" dirty="0"/>
          </a:p>
          <a:p>
            <a:r>
              <a:rPr lang="en-IN" dirty="0"/>
              <a:t>Risk avoidance </a:t>
            </a:r>
          </a:p>
          <a:p>
            <a:r>
              <a:rPr lang="en-IN" dirty="0"/>
              <a:t>Risk monitoring </a:t>
            </a:r>
          </a:p>
          <a:p>
            <a:r>
              <a:rPr lang="en-IN" dirty="0"/>
              <a:t>Risk management and contingency planning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fld id="{82262460-D3E9-47DF-939E-88EAE2C5AB61}" type="slidenum">
              <a:rPr lang="en-US" altLang="tr-TR" sz="1400"/>
              <a:pPr/>
              <a:t>39</a:t>
            </a:fld>
            <a:endParaRPr lang="en-US" altLang="tr-TR" sz="1400"/>
          </a:p>
        </p:txBody>
      </p:sp>
      <p:sp>
        <p:nvSpPr>
          <p:cNvPr id="16387" name="Rectangle 2"/>
          <p:cNvSpPr>
            <a:spLocks noGrp="1" noChangeArrowheads="1"/>
          </p:cNvSpPr>
          <p:nvPr>
            <p:ph type="title"/>
          </p:nvPr>
        </p:nvSpPr>
        <p:spPr/>
        <p:txBody>
          <a:bodyPr/>
          <a:lstStyle/>
          <a:p>
            <a:pPr eaLnBrk="1" hangingPunct="1"/>
            <a:r>
              <a:rPr lang="en-US" altLang="tr-TR"/>
              <a:t>Steps for Risk Management</a:t>
            </a:r>
          </a:p>
        </p:txBody>
      </p:sp>
      <p:sp>
        <p:nvSpPr>
          <p:cNvPr id="4" name="Freeform 3"/>
          <p:cNvSpPr/>
          <p:nvPr/>
        </p:nvSpPr>
        <p:spPr>
          <a:xfrm>
            <a:off x="914400" y="1981201"/>
            <a:ext cx="8290984" cy="904875"/>
          </a:xfrm>
          <a:custGeom>
            <a:avLst/>
            <a:gdLst>
              <a:gd name="connsiteX0" fmla="*/ 0 w 6217920"/>
              <a:gd name="connsiteY0" fmla="*/ 90526 h 905256"/>
              <a:gd name="connsiteX1" fmla="*/ 90526 w 6217920"/>
              <a:gd name="connsiteY1" fmla="*/ 0 h 905256"/>
              <a:gd name="connsiteX2" fmla="*/ 6127394 w 6217920"/>
              <a:gd name="connsiteY2" fmla="*/ 0 h 905256"/>
              <a:gd name="connsiteX3" fmla="*/ 6217920 w 6217920"/>
              <a:gd name="connsiteY3" fmla="*/ 90526 h 905256"/>
              <a:gd name="connsiteX4" fmla="*/ 6217920 w 6217920"/>
              <a:gd name="connsiteY4" fmla="*/ 814730 h 905256"/>
              <a:gd name="connsiteX5" fmla="*/ 6127394 w 6217920"/>
              <a:gd name="connsiteY5" fmla="*/ 905256 h 905256"/>
              <a:gd name="connsiteX6" fmla="*/ 90526 w 6217920"/>
              <a:gd name="connsiteY6" fmla="*/ 905256 h 905256"/>
              <a:gd name="connsiteX7" fmla="*/ 0 w 6217920"/>
              <a:gd name="connsiteY7" fmla="*/ 814730 h 905256"/>
              <a:gd name="connsiteX8" fmla="*/ 0 w 6217920"/>
              <a:gd name="connsiteY8" fmla="*/ 90526 h 90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17920" h="905256">
                <a:moveTo>
                  <a:pt x="0" y="90526"/>
                </a:moveTo>
                <a:cubicBezTo>
                  <a:pt x="0" y="40530"/>
                  <a:pt x="40530" y="0"/>
                  <a:pt x="90526" y="0"/>
                </a:cubicBezTo>
                <a:lnTo>
                  <a:pt x="6127394" y="0"/>
                </a:lnTo>
                <a:cubicBezTo>
                  <a:pt x="6177390" y="0"/>
                  <a:pt x="6217920" y="40530"/>
                  <a:pt x="6217920" y="90526"/>
                </a:cubicBezTo>
                <a:lnTo>
                  <a:pt x="6217920" y="814730"/>
                </a:lnTo>
                <a:cubicBezTo>
                  <a:pt x="6217920" y="864726"/>
                  <a:pt x="6177390" y="905256"/>
                  <a:pt x="6127394" y="905256"/>
                </a:cubicBezTo>
                <a:lnTo>
                  <a:pt x="90526" y="905256"/>
                </a:lnTo>
                <a:cubicBezTo>
                  <a:pt x="40530" y="905256"/>
                  <a:pt x="0" y="864726"/>
                  <a:pt x="0" y="814730"/>
                </a:cubicBezTo>
                <a:lnTo>
                  <a:pt x="0" y="9052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5094" tIns="95094" rIns="1095402" bIns="95094" spcCol="1270" anchor="ctr"/>
          <a:lstStyle/>
          <a:p>
            <a:pPr defTabSz="800100">
              <a:lnSpc>
                <a:spcPct val="90000"/>
              </a:lnSpc>
              <a:spcAft>
                <a:spcPct val="35000"/>
              </a:spcAft>
              <a:defRPr/>
            </a:pPr>
            <a:r>
              <a:rPr lang="en-US" sz="1800" dirty="0"/>
              <a:t>Identify possible risks; recognize what can go wrong</a:t>
            </a:r>
            <a:endParaRPr lang="tr-TR" sz="1800" dirty="0"/>
          </a:p>
        </p:txBody>
      </p:sp>
      <p:sp>
        <p:nvSpPr>
          <p:cNvPr id="5" name="Freeform 4"/>
          <p:cNvSpPr/>
          <p:nvPr/>
        </p:nvSpPr>
        <p:spPr>
          <a:xfrm>
            <a:off x="1608667" y="3051176"/>
            <a:ext cx="8290984" cy="904875"/>
          </a:xfrm>
          <a:custGeom>
            <a:avLst/>
            <a:gdLst>
              <a:gd name="connsiteX0" fmla="*/ 0 w 6217920"/>
              <a:gd name="connsiteY0" fmla="*/ 90526 h 905256"/>
              <a:gd name="connsiteX1" fmla="*/ 90526 w 6217920"/>
              <a:gd name="connsiteY1" fmla="*/ 0 h 905256"/>
              <a:gd name="connsiteX2" fmla="*/ 6127394 w 6217920"/>
              <a:gd name="connsiteY2" fmla="*/ 0 h 905256"/>
              <a:gd name="connsiteX3" fmla="*/ 6217920 w 6217920"/>
              <a:gd name="connsiteY3" fmla="*/ 90526 h 905256"/>
              <a:gd name="connsiteX4" fmla="*/ 6217920 w 6217920"/>
              <a:gd name="connsiteY4" fmla="*/ 814730 h 905256"/>
              <a:gd name="connsiteX5" fmla="*/ 6127394 w 6217920"/>
              <a:gd name="connsiteY5" fmla="*/ 905256 h 905256"/>
              <a:gd name="connsiteX6" fmla="*/ 90526 w 6217920"/>
              <a:gd name="connsiteY6" fmla="*/ 905256 h 905256"/>
              <a:gd name="connsiteX7" fmla="*/ 0 w 6217920"/>
              <a:gd name="connsiteY7" fmla="*/ 814730 h 905256"/>
              <a:gd name="connsiteX8" fmla="*/ 0 w 6217920"/>
              <a:gd name="connsiteY8" fmla="*/ 90526 h 90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17920" h="905256">
                <a:moveTo>
                  <a:pt x="0" y="90526"/>
                </a:moveTo>
                <a:cubicBezTo>
                  <a:pt x="0" y="40530"/>
                  <a:pt x="40530" y="0"/>
                  <a:pt x="90526" y="0"/>
                </a:cubicBezTo>
                <a:lnTo>
                  <a:pt x="6127394" y="0"/>
                </a:lnTo>
                <a:cubicBezTo>
                  <a:pt x="6177390" y="0"/>
                  <a:pt x="6217920" y="40530"/>
                  <a:pt x="6217920" y="90526"/>
                </a:cubicBezTo>
                <a:lnTo>
                  <a:pt x="6217920" y="814730"/>
                </a:lnTo>
                <a:cubicBezTo>
                  <a:pt x="6217920" y="864726"/>
                  <a:pt x="6177390" y="905256"/>
                  <a:pt x="6127394" y="905256"/>
                </a:cubicBezTo>
                <a:lnTo>
                  <a:pt x="90526" y="905256"/>
                </a:lnTo>
                <a:cubicBezTo>
                  <a:pt x="40530" y="905256"/>
                  <a:pt x="0" y="864726"/>
                  <a:pt x="0" y="814730"/>
                </a:cubicBezTo>
                <a:lnTo>
                  <a:pt x="0" y="9052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5094" tIns="95094" rIns="1204262" bIns="95094" spcCol="1270" anchor="ctr"/>
          <a:lstStyle/>
          <a:p>
            <a:pPr defTabSz="800100">
              <a:lnSpc>
                <a:spcPct val="90000"/>
              </a:lnSpc>
              <a:spcAft>
                <a:spcPct val="35000"/>
              </a:spcAft>
              <a:defRPr/>
            </a:pPr>
            <a:r>
              <a:rPr lang="en-US" sz="1800"/>
              <a:t>Analyze each risk to estimate the probability that it will occur and the impact (i.e., damage) that it will do if it does occur</a:t>
            </a:r>
            <a:endParaRPr lang="tr-TR" sz="1800"/>
          </a:p>
        </p:txBody>
      </p:sp>
      <p:sp>
        <p:nvSpPr>
          <p:cNvPr id="6" name="Freeform 5"/>
          <p:cNvSpPr/>
          <p:nvPr/>
        </p:nvSpPr>
        <p:spPr>
          <a:xfrm>
            <a:off x="2292351" y="4121151"/>
            <a:ext cx="8290983" cy="904875"/>
          </a:xfrm>
          <a:custGeom>
            <a:avLst/>
            <a:gdLst>
              <a:gd name="connsiteX0" fmla="*/ 0 w 6217920"/>
              <a:gd name="connsiteY0" fmla="*/ 90526 h 905256"/>
              <a:gd name="connsiteX1" fmla="*/ 90526 w 6217920"/>
              <a:gd name="connsiteY1" fmla="*/ 0 h 905256"/>
              <a:gd name="connsiteX2" fmla="*/ 6127394 w 6217920"/>
              <a:gd name="connsiteY2" fmla="*/ 0 h 905256"/>
              <a:gd name="connsiteX3" fmla="*/ 6217920 w 6217920"/>
              <a:gd name="connsiteY3" fmla="*/ 90526 h 905256"/>
              <a:gd name="connsiteX4" fmla="*/ 6217920 w 6217920"/>
              <a:gd name="connsiteY4" fmla="*/ 814730 h 905256"/>
              <a:gd name="connsiteX5" fmla="*/ 6127394 w 6217920"/>
              <a:gd name="connsiteY5" fmla="*/ 905256 h 905256"/>
              <a:gd name="connsiteX6" fmla="*/ 90526 w 6217920"/>
              <a:gd name="connsiteY6" fmla="*/ 905256 h 905256"/>
              <a:gd name="connsiteX7" fmla="*/ 0 w 6217920"/>
              <a:gd name="connsiteY7" fmla="*/ 814730 h 905256"/>
              <a:gd name="connsiteX8" fmla="*/ 0 w 6217920"/>
              <a:gd name="connsiteY8" fmla="*/ 90526 h 90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17920" h="905256">
                <a:moveTo>
                  <a:pt x="0" y="90526"/>
                </a:moveTo>
                <a:cubicBezTo>
                  <a:pt x="0" y="40530"/>
                  <a:pt x="40530" y="0"/>
                  <a:pt x="90526" y="0"/>
                </a:cubicBezTo>
                <a:lnTo>
                  <a:pt x="6127394" y="0"/>
                </a:lnTo>
                <a:cubicBezTo>
                  <a:pt x="6177390" y="0"/>
                  <a:pt x="6217920" y="40530"/>
                  <a:pt x="6217920" y="90526"/>
                </a:cubicBezTo>
                <a:lnTo>
                  <a:pt x="6217920" y="814730"/>
                </a:lnTo>
                <a:cubicBezTo>
                  <a:pt x="6217920" y="864726"/>
                  <a:pt x="6177390" y="905256"/>
                  <a:pt x="6127394" y="905256"/>
                </a:cubicBezTo>
                <a:lnTo>
                  <a:pt x="90526" y="905256"/>
                </a:lnTo>
                <a:cubicBezTo>
                  <a:pt x="40530" y="905256"/>
                  <a:pt x="0" y="864726"/>
                  <a:pt x="0" y="814730"/>
                </a:cubicBezTo>
                <a:lnTo>
                  <a:pt x="0" y="9052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5094" tIns="95094" rIns="1196489" bIns="95094" spcCol="1270" anchor="ctr"/>
          <a:lstStyle/>
          <a:p>
            <a:pPr defTabSz="800100">
              <a:lnSpc>
                <a:spcPct val="90000"/>
              </a:lnSpc>
              <a:spcAft>
                <a:spcPct val="35000"/>
              </a:spcAft>
              <a:defRPr/>
            </a:pPr>
            <a:r>
              <a:rPr lang="en-US" sz="1800" dirty="0"/>
              <a:t>Rank the risks by probability and impact</a:t>
            </a:r>
            <a:br>
              <a:rPr lang="en-US" sz="1800" dirty="0"/>
            </a:br>
            <a:r>
              <a:rPr lang="en-US" sz="1800" dirty="0"/>
              <a:t> - Impact may be negligible, marginal, critical, and catastrophic</a:t>
            </a:r>
            <a:endParaRPr lang="tr-TR" sz="1800" dirty="0"/>
          </a:p>
        </p:txBody>
      </p:sp>
      <p:sp>
        <p:nvSpPr>
          <p:cNvPr id="7" name="Freeform 6"/>
          <p:cNvSpPr/>
          <p:nvPr/>
        </p:nvSpPr>
        <p:spPr>
          <a:xfrm>
            <a:off x="2986618" y="5191126"/>
            <a:ext cx="8290983" cy="904875"/>
          </a:xfrm>
          <a:custGeom>
            <a:avLst/>
            <a:gdLst>
              <a:gd name="connsiteX0" fmla="*/ 0 w 6217920"/>
              <a:gd name="connsiteY0" fmla="*/ 90526 h 905256"/>
              <a:gd name="connsiteX1" fmla="*/ 90526 w 6217920"/>
              <a:gd name="connsiteY1" fmla="*/ 0 h 905256"/>
              <a:gd name="connsiteX2" fmla="*/ 6127394 w 6217920"/>
              <a:gd name="connsiteY2" fmla="*/ 0 h 905256"/>
              <a:gd name="connsiteX3" fmla="*/ 6217920 w 6217920"/>
              <a:gd name="connsiteY3" fmla="*/ 90526 h 905256"/>
              <a:gd name="connsiteX4" fmla="*/ 6217920 w 6217920"/>
              <a:gd name="connsiteY4" fmla="*/ 814730 h 905256"/>
              <a:gd name="connsiteX5" fmla="*/ 6127394 w 6217920"/>
              <a:gd name="connsiteY5" fmla="*/ 905256 h 905256"/>
              <a:gd name="connsiteX6" fmla="*/ 90526 w 6217920"/>
              <a:gd name="connsiteY6" fmla="*/ 905256 h 905256"/>
              <a:gd name="connsiteX7" fmla="*/ 0 w 6217920"/>
              <a:gd name="connsiteY7" fmla="*/ 814730 h 905256"/>
              <a:gd name="connsiteX8" fmla="*/ 0 w 6217920"/>
              <a:gd name="connsiteY8" fmla="*/ 90526 h 90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17920" h="905256">
                <a:moveTo>
                  <a:pt x="0" y="90526"/>
                </a:moveTo>
                <a:cubicBezTo>
                  <a:pt x="0" y="40530"/>
                  <a:pt x="40530" y="0"/>
                  <a:pt x="90526" y="0"/>
                </a:cubicBezTo>
                <a:lnTo>
                  <a:pt x="6127394" y="0"/>
                </a:lnTo>
                <a:cubicBezTo>
                  <a:pt x="6177390" y="0"/>
                  <a:pt x="6217920" y="40530"/>
                  <a:pt x="6217920" y="90526"/>
                </a:cubicBezTo>
                <a:lnTo>
                  <a:pt x="6217920" y="814730"/>
                </a:lnTo>
                <a:cubicBezTo>
                  <a:pt x="6217920" y="864726"/>
                  <a:pt x="6177390" y="905256"/>
                  <a:pt x="6127394" y="905256"/>
                </a:cubicBezTo>
                <a:lnTo>
                  <a:pt x="90526" y="905256"/>
                </a:lnTo>
                <a:cubicBezTo>
                  <a:pt x="40530" y="905256"/>
                  <a:pt x="0" y="864726"/>
                  <a:pt x="0" y="814730"/>
                </a:cubicBezTo>
                <a:lnTo>
                  <a:pt x="0" y="9052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95094" tIns="95094" rIns="1204262" bIns="95094" spcCol="1270" anchor="ctr"/>
          <a:lstStyle/>
          <a:p>
            <a:pPr defTabSz="800100">
              <a:lnSpc>
                <a:spcPct val="90000"/>
              </a:lnSpc>
              <a:spcAft>
                <a:spcPct val="35000"/>
              </a:spcAft>
              <a:defRPr/>
            </a:pPr>
            <a:r>
              <a:rPr lang="en-US" sz="1800"/>
              <a:t>Develop a contingency plan to manage those risks having high probability and high impact</a:t>
            </a:r>
            <a:endParaRPr lang="tr-TR" sz="1800"/>
          </a:p>
        </p:txBody>
      </p:sp>
      <p:sp>
        <p:nvSpPr>
          <p:cNvPr id="8" name="Freeform 7"/>
          <p:cNvSpPr/>
          <p:nvPr/>
        </p:nvSpPr>
        <p:spPr>
          <a:xfrm>
            <a:off x="8420101" y="2674939"/>
            <a:ext cx="785284" cy="587375"/>
          </a:xfrm>
          <a:custGeom>
            <a:avLst/>
            <a:gdLst>
              <a:gd name="connsiteX0" fmla="*/ 0 w 588416"/>
              <a:gd name="connsiteY0" fmla="*/ 323629 h 588416"/>
              <a:gd name="connsiteX1" fmla="*/ 132394 w 588416"/>
              <a:gd name="connsiteY1" fmla="*/ 323629 h 588416"/>
              <a:gd name="connsiteX2" fmla="*/ 132394 w 588416"/>
              <a:gd name="connsiteY2" fmla="*/ 0 h 588416"/>
              <a:gd name="connsiteX3" fmla="*/ 456022 w 588416"/>
              <a:gd name="connsiteY3" fmla="*/ 0 h 588416"/>
              <a:gd name="connsiteX4" fmla="*/ 456022 w 588416"/>
              <a:gd name="connsiteY4" fmla="*/ 323629 h 588416"/>
              <a:gd name="connsiteX5" fmla="*/ 588416 w 588416"/>
              <a:gd name="connsiteY5" fmla="*/ 323629 h 588416"/>
              <a:gd name="connsiteX6" fmla="*/ 294208 w 588416"/>
              <a:gd name="connsiteY6" fmla="*/ 588416 h 588416"/>
              <a:gd name="connsiteX7" fmla="*/ 0 w 588416"/>
              <a:gd name="connsiteY7" fmla="*/ 323629 h 588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416" h="588416">
                <a:moveTo>
                  <a:pt x="0" y="323629"/>
                </a:moveTo>
                <a:lnTo>
                  <a:pt x="132394" y="323629"/>
                </a:lnTo>
                <a:lnTo>
                  <a:pt x="132394" y="0"/>
                </a:lnTo>
                <a:lnTo>
                  <a:pt x="456022" y="0"/>
                </a:lnTo>
                <a:lnTo>
                  <a:pt x="456022" y="323629"/>
                </a:lnTo>
                <a:lnTo>
                  <a:pt x="588416" y="323629"/>
                </a:lnTo>
                <a:lnTo>
                  <a:pt x="294208" y="588416"/>
                </a:lnTo>
                <a:lnTo>
                  <a:pt x="0" y="323629"/>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167954" tIns="35560" rIns="167954" bIns="181193" spcCol="1270" anchor="ctr"/>
          <a:lstStyle/>
          <a:p>
            <a:pPr algn="ctr" defTabSz="1244600">
              <a:lnSpc>
                <a:spcPct val="90000"/>
              </a:lnSpc>
              <a:spcAft>
                <a:spcPct val="35000"/>
              </a:spcAft>
              <a:defRPr/>
            </a:pPr>
            <a:endParaRPr lang="tr-TR" sz="2800"/>
          </a:p>
        </p:txBody>
      </p:sp>
      <p:sp>
        <p:nvSpPr>
          <p:cNvPr id="9" name="Freeform 8"/>
          <p:cNvSpPr/>
          <p:nvPr/>
        </p:nvSpPr>
        <p:spPr>
          <a:xfrm>
            <a:off x="9114367" y="3744914"/>
            <a:ext cx="785284" cy="587375"/>
          </a:xfrm>
          <a:custGeom>
            <a:avLst/>
            <a:gdLst>
              <a:gd name="connsiteX0" fmla="*/ 0 w 588416"/>
              <a:gd name="connsiteY0" fmla="*/ 323629 h 588416"/>
              <a:gd name="connsiteX1" fmla="*/ 132394 w 588416"/>
              <a:gd name="connsiteY1" fmla="*/ 323629 h 588416"/>
              <a:gd name="connsiteX2" fmla="*/ 132394 w 588416"/>
              <a:gd name="connsiteY2" fmla="*/ 0 h 588416"/>
              <a:gd name="connsiteX3" fmla="*/ 456022 w 588416"/>
              <a:gd name="connsiteY3" fmla="*/ 0 h 588416"/>
              <a:gd name="connsiteX4" fmla="*/ 456022 w 588416"/>
              <a:gd name="connsiteY4" fmla="*/ 323629 h 588416"/>
              <a:gd name="connsiteX5" fmla="*/ 588416 w 588416"/>
              <a:gd name="connsiteY5" fmla="*/ 323629 h 588416"/>
              <a:gd name="connsiteX6" fmla="*/ 294208 w 588416"/>
              <a:gd name="connsiteY6" fmla="*/ 588416 h 588416"/>
              <a:gd name="connsiteX7" fmla="*/ 0 w 588416"/>
              <a:gd name="connsiteY7" fmla="*/ 323629 h 588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416" h="588416">
                <a:moveTo>
                  <a:pt x="0" y="323629"/>
                </a:moveTo>
                <a:lnTo>
                  <a:pt x="132394" y="323629"/>
                </a:lnTo>
                <a:lnTo>
                  <a:pt x="132394" y="0"/>
                </a:lnTo>
                <a:lnTo>
                  <a:pt x="456022" y="0"/>
                </a:lnTo>
                <a:lnTo>
                  <a:pt x="456022" y="323629"/>
                </a:lnTo>
                <a:lnTo>
                  <a:pt x="588416" y="323629"/>
                </a:lnTo>
                <a:lnTo>
                  <a:pt x="294208" y="588416"/>
                </a:lnTo>
                <a:lnTo>
                  <a:pt x="0" y="323629"/>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167954" tIns="35560" rIns="167954" bIns="181193" spcCol="1270" anchor="ctr"/>
          <a:lstStyle/>
          <a:p>
            <a:pPr algn="ctr" defTabSz="1244600">
              <a:lnSpc>
                <a:spcPct val="90000"/>
              </a:lnSpc>
              <a:spcAft>
                <a:spcPct val="35000"/>
              </a:spcAft>
              <a:defRPr/>
            </a:pPr>
            <a:endParaRPr lang="tr-TR" sz="2800"/>
          </a:p>
        </p:txBody>
      </p:sp>
      <p:sp>
        <p:nvSpPr>
          <p:cNvPr id="10" name="Freeform 9"/>
          <p:cNvSpPr/>
          <p:nvPr/>
        </p:nvSpPr>
        <p:spPr>
          <a:xfrm>
            <a:off x="9798051" y="4814889"/>
            <a:ext cx="785283" cy="587375"/>
          </a:xfrm>
          <a:custGeom>
            <a:avLst/>
            <a:gdLst>
              <a:gd name="connsiteX0" fmla="*/ 0 w 588416"/>
              <a:gd name="connsiteY0" fmla="*/ 323629 h 588416"/>
              <a:gd name="connsiteX1" fmla="*/ 132394 w 588416"/>
              <a:gd name="connsiteY1" fmla="*/ 323629 h 588416"/>
              <a:gd name="connsiteX2" fmla="*/ 132394 w 588416"/>
              <a:gd name="connsiteY2" fmla="*/ 0 h 588416"/>
              <a:gd name="connsiteX3" fmla="*/ 456022 w 588416"/>
              <a:gd name="connsiteY3" fmla="*/ 0 h 588416"/>
              <a:gd name="connsiteX4" fmla="*/ 456022 w 588416"/>
              <a:gd name="connsiteY4" fmla="*/ 323629 h 588416"/>
              <a:gd name="connsiteX5" fmla="*/ 588416 w 588416"/>
              <a:gd name="connsiteY5" fmla="*/ 323629 h 588416"/>
              <a:gd name="connsiteX6" fmla="*/ 294208 w 588416"/>
              <a:gd name="connsiteY6" fmla="*/ 588416 h 588416"/>
              <a:gd name="connsiteX7" fmla="*/ 0 w 588416"/>
              <a:gd name="connsiteY7" fmla="*/ 323629 h 588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416" h="588416">
                <a:moveTo>
                  <a:pt x="0" y="323629"/>
                </a:moveTo>
                <a:lnTo>
                  <a:pt x="132394" y="323629"/>
                </a:lnTo>
                <a:lnTo>
                  <a:pt x="132394" y="0"/>
                </a:lnTo>
                <a:lnTo>
                  <a:pt x="456022" y="0"/>
                </a:lnTo>
                <a:lnTo>
                  <a:pt x="456022" y="323629"/>
                </a:lnTo>
                <a:lnTo>
                  <a:pt x="588416" y="323629"/>
                </a:lnTo>
                <a:lnTo>
                  <a:pt x="294208" y="588416"/>
                </a:lnTo>
                <a:lnTo>
                  <a:pt x="0" y="323629"/>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lIns="167954" tIns="35560" rIns="167954" bIns="181193" spcCol="1270" anchor="ctr"/>
          <a:lstStyle/>
          <a:p>
            <a:pPr algn="ctr" defTabSz="1244600">
              <a:lnSpc>
                <a:spcPct val="90000"/>
              </a:lnSpc>
              <a:spcAft>
                <a:spcPct val="35000"/>
              </a:spcAft>
              <a:defRPr/>
            </a:pPr>
            <a:endParaRPr lang="tr-TR" sz="2800"/>
          </a:p>
        </p:txBody>
      </p:sp>
    </p:spTree>
    <p:extLst>
      <p:ext uri="{BB962C8B-B14F-4D97-AF65-F5344CB8AC3E}">
        <p14:creationId xmlns:p14="http://schemas.microsoft.com/office/powerpoint/2010/main" val="1747315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271" y="452845"/>
            <a:ext cx="8596668" cy="1062446"/>
          </a:xfrm>
        </p:spPr>
        <p:txBody>
          <a:bodyPr>
            <a:normAutofit fontScale="90000"/>
          </a:bodyPr>
          <a:lstStyle/>
          <a:p>
            <a:pPr marL="0" indent="0"/>
            <a:r>
              <a:rPr lang="en-US" altLang="tr-TR" dirty="0">
                <a:solidFill>
                  <a:srgbClr val="FF0000"/>
                </a:solidFill>
              </a:rPr>
              <a:t>Risk Mitigation, Monitoring, and Management</a:t>
            </a:r>
            <a:br>
              <a:rPr lang="en-US" altLang="tr-TR" dirty="0">
                <a:solidFill>
                  <a:srgbClr val="FF0000"/>
                </a:solidFill>
              </a:rPr>
            </a:br>
            <a:r>
              <a:rPr lang="en-US" sz="3100" dirty="0">
                <a:solidFill>
                  <a:srgbClr val="FF0000"/>
                </a:solidFill>
              </a:rPr>
              <a:t>(RMMM)</a:t>
            </a:r>
            <a:br>
              <a:rPr lang="en-IN" sz="5400" dirty="0"/>
            </a:br>
            <a:endParaRPr lang="en-IN" dirty="0"/>
          </a:p>
        </p:txBody>
      </p:sp>
      <p:pic>
        <p:nvPicPr>
          <p:cNvPr id="2050" name="Picture 2" descr="C:\Users\Admin\Desktop\SE-CSBS\risk information sheet.gif"/>
          <p:cNvPicPr>
            <a:picLocks noGrp="1" noChangeAspect="1" noChangeArrowheads="1"/>
          </p:cNvPicPr>
          <p:nvPr>
            <p:ph idx="1"/>
          </p:nvPr>
        </p:nvPicPr>
        <p:blipFill>
          <a:blip r:embed="rId2"/>
          <a:srcRect/>
          <a:stretch>
            <a:fillRect/>
          </a:stretch>
        </p:blipFill>
        <p:spPr bwMode="auto">
          <a:xfrm>
            <a:off x="1267097" y="1410789"/>
            <a:ext cx="8138160" cy="4631238"/>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fld id="{F2830558-B41D-4ECE-98EC-EE7DE2365A42}" type="slidenum">
              <a:rPr lang="en-US" altLang="tr-TR" sz="1400"/>
              <a:pPr/>
              <a:t>41</a:t>
            </a:fld>
            <a:endParaRPr lang="en-US" altLang="tr-TR" sz="1400"/>
          </a:p>
        </p:txBody>
      </p:sp>
      <p:sp>
        <p:nvSpPr>
          <p:cNvPr id="23555" name="Rectangle 2"/>
          <p:cNvSpPr>
            <a:spLocks noGrp="1" noChangeArrowheads="1"/>
          </p:cNvSpPr>
          <p:nvPr>
            <p:ph type="title"/>
          </p:nvPr>
        </p:nvSpPr>
        <p:spPr>
          <a:xfrm>
            <a:off x="406400" y="76200"/>
            <a:ext cx="11277600" cy="1143000"/>
          </a:xfrm>
        </p:spPr>
        <p:txBody>
          <a:bodyPr/>
          <a:lstStyle/>
          <a:p>
            <a:pPr eaLnBrk="1" hangingPunct="1"/>
            <a:r>
              <a:rPr lang="en-US" altLang="tr-TR"/>
              <a:t>Questionnaire on Project Risk</a:t>
            </a:r>
          </a:p>
        </p:txBody>
      </p:sp>
      <p:sp>
        <p:nvSpPr>
          <p:cNvPr id="23556" name="Rectangle 3"/>
          <p:cNvSpPr>
            <a:spLocks noGrp="1" noChangeArrowheads="1"/>
          </p:cNvSpPr>
          <p:nvPr>
            <p:ph type="body" idx="1"/>
          </p:nvPr>
        </p:nvSpPr>
        <p:spPr>
          <a:xfrm>
            <a:off x="914400" y="1752600"/>
            <a:ext cx="10363200" cy="4114800"/>
          </a:xfrm>
        </p:spPr>
        <p:txBody>
          <a:bodyPr/>
          <a:lstStyle/>
          <a:p>
            <a:pPr marL="609600" indent="-609600" eaLnBrk="1" hangingPunct="1">
              <a:buFontTx/>
              <a:buAutoNum type="arabicParenR"/>
            </a:pPr>
            <a:r>
              <a:rPr lang="en-US" altLang="tr-TR" sz="2000"/>
              <a:t>Have top software and customer managers formally committed to support the project?</a:t>
            </a:r>
          </a:p>
          <a:p>
            <a:pPr marL="609600" indent="-609600" eaLnBrk="1" hangingPunct="1">
              <a:buFontTx/>
              <a:buAutoNum type="arabicParenR"/>
            </a:pPr>
            <a:r>
              <a:rPr lang="en-US" altLang="tr-TR" sz="2000"/>
              <a:t>Are end-users enthusiastically committed to the project and the system/product to be built?</a:t>
            </a:r>
          </a:p>
          <a:p>
            <a:pPr marL="609600" indent="-609600" eaLnBrk="1" hangingPunct="1">
              <a:buFontTx/>
              <a:buAutoNum type="arabicParenR"/>
            </a:pPr>
            <a:r>
              <a:rPr lang="en-US" altLang="tr-TR" sz="2000"/>
              <a:t>Are requirements fully understood by the software engineering team and its customers?</a:t>
            </a:r>
          </a:p>
          <a:p>
            <a:pPr marL="609600" indent="-609600" eaLnBrk="1" hangingPunct="1">
              <a:buFontTx/>
              <a:buAutoNum type="arabicParenR"/>
            </a:pPr>
            <a:r>
              <a:rPr lang="en-US" altLang="tr-TR" sz="2000"/>
              <a:t>Have customers been involved fully in the definition of requirements?</a:t>
            </a:r>
          </a:p>
          <a:p>
            <a:pPr marL="609600" indent="-609600" eaLnBrk="1" hangingPunct="1">
              <a:buFontTx/>
              <a:buAutoNum type="arabicParenR"/>
            </a:pPr>
            <a:r>
              <a:rPr lang="en-US" altLang="tr-TR" sz="2000"/>
              <a:t>Do end-users have realistic expectations?</a:t>
            </a:r>
          </a:p>
          <a:p>
            <a:pPr marL="609600" indent="-609600" eaLnBrk="1" hangingPunct="1">
              <a:buFontTx/>
              <a:buAutoNum type="arabicParenR"/>
            </a:pPr>
            <a:r>
              <a:rPr lang="en-US" altLang="tr-TR" sz="2000"/>
              <a:t>Is the project scope stable?</a:t>
            </a:r>
          </a:p>
          <a:p>
            <a:pPr marL="609600" indent="-609600" eaLnBrk="1" hangingPunct="1">
              <a:buFontTx/>
              <a:buAutoNum type="arabicParenR"/>
            </a:pPr>
            <a:endParaRPr lang="en-US" altLang="tr-TR" sz="2000"/>
          </a:p>
        </p:txBody>
      </p:sp>
      <p:sp>
        <p:nvSpPr>
          <p:cNvPr id="23558" name="Text Box 5"/>
          <p:cNvSpPr txBox="1">
            <a:spLocks noChangeArrowheads="1"/>
          </p:cNvSpPr>
          <p:nvPr/>
        </p:nvSpPr>
        <p:spPr bwMode="auto">
          <a:xfrm>
            <a:off x="4673600" y="6324600"/>
            <a:ext cx="18710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ctr" eaLnBrk="1" hangingPunct="1"/>
            <a:r>
              <a:rPr lang="en-US" altLang="tr-TR" sz="1600" u="none"/>
              <a:t>(More on next slide)</a:t>
            </a:r>
          </a:p>
        </p:txBody>
      </p:sp>
    </p:spTree>
    <p:extLst>
      <p:ext uri="{BB962C8B-B14F-4D97-AF65-F5344CB8AC3E}">
        <p14:creationId xmlns:p14="http://schemas.microsoft.com/office/powerpoint/2010/main" val="808150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fld id="{E6C178FE-E314-4A40-8B09-FEAD87B84184}" type="slidenum">
              <a:rPr lang="en-US" altLang="tr-TR" sz="1400"/>
              <a:pPr/>
              <a:t>42</a:t>
            </a:fld>
            <a:endParaRPr lang="en-US" altLang="tr-TR" sz="1400"/>
          </a:p>
        </p:txBody>
      </p:sp>
      <p:sp>
        <p:nvSpPr>
          <p:cNvPr id="24579" name="Rectangle 2"/>
          <p:cNvSpPr>
            <a:spLocks noGrp="1" noChangeArrowheads="1"/>
          </p:cNvSpPr>
          <p:nvPr>
            <p:ph type="title"/>
          </p:nvPr>
        </p:nvSpPr>
        <p:spPr>
          <a:xfrm>
            <a:off x="1016000" y="152400"/>
            <a:ext cx="10363200" cy="1143000"/>
          </a:xfrm>
        </p:spPr>
        <p:txBody>
          <a:bodyPr>
            <a:normAutofit/>
          </a:bodyPr>
          <a:lstStyle/>
          <a:p>
            <a:pPr eaLnBrk="1" hangingPunct="1"/>
            <a:r>
              <a:rPr lang="en-US" altLang="tr-TR"/>
              <a:t>Questionnaire on Project Risk (continued)</a:t>
            </a:r>
          </a:p>
        </p:txBody>
      </p:sp>
      <p:sp>
        <p:nvSpPr>
          <p:cNvPr id="24580" name="Rectangle 3"/>
          <p:cNvSpPr>
            <a:spLocks noGrp="1" noChangeArrowheads="1"/>
          </p:cNvSpPr>
          <p:nvPr>
            <p:ph type="body" idx="1"/>
          </p:nvPr>
        </p:nvSpPr>
        <p:spPr>
          <a:xfrm>
            <a:off x="914400" y="1752600"/>
            <a:ext cx="10363200" cy="4114800"/>
          </a:xfrm>
        </p:spPr>
        <p:txBody>
          <a:bodyPr/>
          <a:lstStyle/>
          <a:p>
            <a:pPr marL="609600" indent="-609600" eaLnBrk="1" hangingPunct="1">
              <a:buFontTx/>
              <a:buAutoNum type="arabicParenR" startAt="7"/>
            </a:pPr>
            <a:r>
              <a:rPr lang="en-US" altLang="tr-TR" sz="2000"/>
              <a:t>Does the software engineering team have the right mix of skills?</a:t>
            </a:r>
          </a:p>
          <a:p>
            <a:pPr marL="609600" indent="-609600" eaLnBrk="1" hangingPunct="1">
              <a:buFontTx/>
              <a:buAutoNum type="arabicParenR" startAt="7"/>
            </a:pPr>
            <a:r>
              <a:rPr lang="en-US" altLang="tr-TR" sz="2000"/>
              <a:t>Are project requirements stable?</a:t>
            </a:r>
          </a:p>
          <a:p>
            <a:pPr marL="609600" indent="-609600" eaLnBrk="1" hangingPunct="1">
              <a:buFontTx/>
              <a:buAutoNum type="arabicParenR" startAt="7"/>
            </a:pPr>
            <a:r>
              <a:rPr lang="en-US" altLang="tr-TR" sz="2000"/>
              <a:t>Does the project team have experience with the technology to be implemented?</a:t>
            </a:r>
          </a:p>
          <a:p>
            <a:pPr marL="609600" indent="-609600" eaLnBrk="1" hangingPunct="1">
              <a:buFontTx/>
              <a:buAutoNum type="arabicParenR" startAt="7"/>
            </a:pPr>
            <a:r>
              <a:rPr lang="en-US" altLang="tr-TR" sz="2000"/>
              <a:t>Is the number of people on the project team adequate to do the job?</a:t>
            </a:r>
          </a:p>
          <a:p>
            <a:pPr marL="609600" indent="-609600" eaLnBrk="1" hangingPunct="1">
              <a:buFontTx/>
              <a:buAutoNum type="arabicParenR" startAt="7"/>
            </a:pPr>
            <a:r>
              <a:rPr lang="en-US" altLang="tr-TR" sz="2000"/>
              <a:t>Do all customer/user constituencies agree on the importance of the project and on the requirements for the system/product to be built?</a:t>
            </a:r>
          </a:p>
        </p:txBody>
      </p:sp>
    </p:spTree>
    <p:extLst>
      <p:ext uri="{BB962C8B-B14F-4D97-AF65-F5344CB8AC3E}">
        <p14:creationId xmlns:p14="http://schemas.microsoft.com/office/powerpoint/2010/main" val="35341859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fld id="{C92AF0D4-DAD8-4C58-826D-D3E50EA83D30}" type="slidenum">
              <a:rPr lang="en-US" altLang="tr-TR" sz="1400"/>
              <a:pPr/>
              <a:t>43</a:t>
            </a:fld>
            <a:endParaRPr lang="en-US" altLang="tr-TR" sz="1400"/>
          </a:p>
        </p:txBody>
      </p:sp>
      <p:sp>
        <p:nvSpPr>
          <p:cNvPr id="25603" name="Rectangle 2"/>
          <p:cNvSpPr>
            <a:spLocks noGrp="1" noChangeArrowheads="1"/>
          </p:cNvSpPr>
          <p:nvPr>
            <p:ph type="title"/>
          </p:nvPr>
        </p:nvSpPr>
        <p:spPr>
          <a:xfrm>
            <a:off x="914400" y="152400"/>
            <a:ext cx="10363200" cy="1143000"/>
          </a:xfrm>
        </p:spPr>
        <p:txBody>
          <a:bodyPr/>
          <a:lstStyle/>
          <a:p>
            <a:pPr eaLnBrk="1" hangingPunct="1"/>
            <a:r>
              <a:rPr lang="en-US" altLang="tr-TR"/>
              <a:t>Risk Components and Drivers</a:t>
            </a:r>
          </a:p>
        </p:txBody>
      </p:sp>
      <p:sp>
        <p:nvSpPr>
          <p:cNvPr id="25604" name="Rectangle 3"/>
          <p:cNvSpPr>
            <a:spLocks noGrp="1" noChangeArrowheads="1"/>
          </p:cNvSpPr>
          <p:nvPr>
            <p:ph type="body" idx="1"/>
          </p:nvPr>
        </p:nvSpPr>
        <p:spPr>
          <a:xfrm>
            <a:off x="609600" y="1752600"/>
            <a:ext cx="11176000" cy="4114800"/>
          </a:xfrm>
        </p:spPr>
        <p:txBody>
          <a:bodyPr/>
          <a:lstStyle/>
          <a:p>
            <a:pPr eaLnBrk="1" hangingPunct="1">
              <a:lnSpc>
                <a:spcPct val="90000"/>
              </a:lnSpc>
            </a:pPr>
            <a:r>
              <a:rPr lang="en-US" altLang="tr-TR" sz="2000"/>
              <a:t>The project manager identifies the </a:t>
            </a:r>
            <a:r>
              <a:rPr lang="en-US" altLang="tr-TR" sz="2000" u="sng"/>
              <a:t>risk drivers</a:t>
            </a:r>
            <a:r>
              <a:rPr lang="en-US" altLang="tr-TR" sz="2000"/>
              <a:t> that affect the following risk components</a:t>
            </a:r>
          </a:p>
          <a:p>
            <a:pPr lvl="1" eaLnBrk="1" hangingPunct="1">
              <a:lnSpc>
                <a:spcPct val="90000"/>
              </a:lnSpc>
            </a:pPr>
            <a:r>
              <a:rPr lang="en-US" altLang="tr-TR" sz="1800" b="1"/>
              <a:t>Performance risk</a:t>
            </a:r>
            <a:r>
              <a:rPr lang="en-US" altLang="tr-TR" sz="1800"/>
              <a:t> - the degree of uncertainty that the product will meet its requirements and be fit for its intended use</a:t>
            </a:r>
          </a:p>
          <a:p>
            <a:pPr lvl="1" eaLnBrk="1" hangingPunct="1">
              <a:lnSpc>
                <a:spcPct val="90000"/>
              </a:lnSpc>
            </a:pPr>
            <a:r>
              <a:rPr lang="en-US" altLang="tr-TR" sz="1800" b="1"/>
              <a:t>Cost risk</a:t>
            </a:r>
            <a:r>
              <a:rPr lang="en-US" altLang="tr-TR" sz="1800"/>
              <a:t> - the degree of uncertainty that the project budget will be maintained</a:t>
            </a:r>
          </a:p>
          <a:p>
            <a:pPr lvl="1" eaLnBrk="1" hangingPunct="1">
              <a:lnSpc>
                <a:spcPct val="90000"/>
              </a:lnSpc>
            </a:pPr>
            <a:r>
              <a:rPr lang="en-US" altLang="tr-TR" sz="1800" b="1"/>
              <a:t>Support risk</a:t>
            </a:r>
            <a:r>
              <a:rPr lang="en-US" altLang="tr-TR" sz="1800"/>
              <a:t> - the degree of uncertainty that the resultant software will be easy to correct, adapt, and enhance</a:t>
            </a:r>
          </a:p>
          <a:p>
            <a:pPr lvl="1" eaLnBrk="1" hangingPunct="1">
              <a:lnSpc>
                <a:spcPct val="90000"/>
              </a:lnSpc>
            </a:pPr>
            <a:r>
              <a:rPr lang="en-US" altLang="tr-TR" sz="1800" b="1"/>
              <a:t>Schedule risk</a:t>
            </a:r>
            <a:r>
              <a:rPr lang="en-US" altLang="tr-TR" sz="1800"/>
              <a:t> - the degree of uncertainty that the project schedule will be maintained and that the product will be delivered on time</a:t>
            </a:r>
          </a:p>
          <a:p>
            <a:pPr eaLnBrk="1" hangingPunct="1">
              <a:lnSpc>
                <a:spcPct val="90000"/>
              </a:lnSpc>
            </a:pPr>
            <a:r>
              <a:rPr lang="en-US" altLang="tr-TR" sz="2000"/>
              <a:t>The impact of each risk driver on the risk component is divided into one of </a:t>
            </a:r>
            <a:r>
              <a:rPr lang="en-US" altLang="tr-TR" sz="2000" u="sng"/>
              <a:t>four impact levels</a:t>
            </a:r>
          </a:p>
          <a:p>
            <a:pPr lvl="1" eaLnBrk="1" hangingPunct="1">
              <a:lnSpc>
                <a:spcPct val="90000"/>
              </a:lnSpc>
            </a:pPr>
            <a:r>
              <a:rPr lang="en-US" altLang="tr-TR" sz="1800"/>
              <a:t>Negligible, marginal, critical, and catastrophic</a:t>
            </a:r>
          </a:p>
          <a:p>
            <a:pPr eaLnBrk="1" hangingPunct="1">
              <a:lnSpc>
                <a:spcPct val="90000"/>
              </a:lnSpc>
            </a:pPr>
            <a:r>
              <a:rPr lang="en-US" altLang="tr-TR" sz="2000"/>
              <a:t>Risk drivers can be assessed as impossible, improbable, probable, and frequent</a:t>
            </a:r>
          </a:p>
          <a:p>
            <a:pPr eaLnBrk="1" hangingPunct="1">
              <a:lnSpc>
                <a:spcPct val="90000"/>
              </a:lnSpc>
            </a:pPr>
            <a:endParaRPr lang="en-US" altLang="tr-TR" sz="2000"/>
          </a:p>
        </p:txBody>
      </p:sp>
    </p:spTree>
    <p:extLst>
      <p:ext uri="{BB962C8B-B14F-4D97-AF65-F5344CB8AC3E}">
        <p14:creationId xmlns:p14="http://schemas.microsoft.com/office/powerpoint/2010/main" val="14367524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8190"/>
            <a:ext cx="10972800" cy="6281130"/>
          </a:xfrm>
        </p:spPr>
        <p:txBody>
          <a:bodyPr/>
          <a:lstStyle/>
          <a:p>
            <a:pPr algn="just"/>
            <a:endParaRPr lang="en-US" altLang="tr-TR" sz="2000" u="sng" dirty="0"/>
          </a:p>
          <a:p>
            <a:pPr algn="just"/>
            <a:endParaRPr lang="en-US" altLang="tr-TR" sz="2000" u="sng" dirty="0"/>
          </a:p>
          <a:p>
            <a:pPr algn="just"/>
            <a:endParaRPr lang="en-US" altLang="tr-TR" sz="2000" u="sng" dirty="0"/>
          </a:p>
          <a:p>
            <a:pPr algn="just"/>
            <a:r>
              <a:rPr lang="en-US" altLang="tr-TR" sz="2000" u="sng" dirty="0">
                <a:solidFill>
                  <a:srgbClr val="FF0000"/>
                </a:solidFill>
              </a:rPr>
              <a:t>Risk mitigation</a:t>
            </a:r>
            <a:r>
              <a:rPr lang="en-US" altLang="tr-TR" sz="2000" dirty="0">
                <a:solidFill>
                  <a:srgbClr val="FF0000"/>
                </a:solidFill>
              </a:rPr>
              <a:t> (avoidance</a:t>
            </a:r>
            <a:r>
              <a:rPr lang="en-US" altLang="tr-TR" sz="2000" u="sng" dirty="0">
                <a:solidFill>
                  <a:srgbClr val="FF0000"/>
                </a:solidFill>
              </a:rPr>
              <a:t>)</a:t>
            </a:r>
            <a:r>
              <a:rPr lang="en-US" altLang="tr-TR" sz="2000" dirty="0"/>
              <a:t> is the primary strategy and is achieved through a plan.</a:t>
            </a:r>
          </a:p>
        </p:txBody>
      </p:sp>
      <p:sp>
        <p:nvSpPr>
          <p:cNvPr id="5" name="Rectangle 3"/>
          <p:cNvSpPr txBox="1">
            <a:spLocks noChangeArrowheads="1"/>
          </p:cNvSpPr>
          <p:nvPr/>
        </p:nvSpPr>
        <p:spPr>
          <a:xfrm>
            <a:off x="1274619" y="2348880"/>
            <a:ext cx="9753600" cy="3600400"/>
          </a:xfrm>
          <a:prstGeom prst="rect">
            <a:avLst/>
          </a:prstGeom>
          <a:ln>
            <a:solidFill>
              <a:schemeClr val="accent1"/>
            </a:solidFill>
            <a:miter lim="800000"/>
            <a:headEnd/>
            <a:tailEnd/>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buFont typeface="Wingdings" pitchFamily="2" charset="2"/>
              <a:buChar char="q"/>
            </a:pPr>
            <a:r>
              <a:rPr lang="en-US" altLang="tr-TR" sz="2000" u="sng" dirty="0"/>
              <a:t>Meet</a:t>
            </a:r>
            <a:r>
              <a:rPr lang="en-US" altLang="tr-TR" sz="2000" dirty="0"/>
              <a:t> with current staff to </a:t>
            </a:r>
            <a:r>
              <a:rPr lang="en-US" altLang="tr-TR" sz="2000" u="sng" dirty="0"/>
              <a:t>determine causes</a:t>
            </a:r>
            <a:r>
              <a:rPr lang="en-US" altLang="tr-TR" sz="2000" dirty="0"/>
              <a:t> for turnover (e.g., poor working conditions, low pay, competitive job market)</a:t>
            </a:r>
          </a:p>
          <a:p>
            <a:pPr algn="just">
              <a:lnSpc>
                <a:spcPct val="90000"/>
              </a:lnSpc>
              <a:buFont typeface="Wingdings" pitchFamily="2" charset="2"/>
              <a:buChar char="q"/>
            </a:pPr>
            <a:r>
              <a:rPr lang="en-US" altLang="tr-TR" sz="2000" u="sng" dirty="0"/>
              <a:t>Mitigate</a:t>
            </a:r>
            <a:r>
              <a:rPr lang="en-US" altLang="tr-TR" sz="2000" dirty="0"/>
              <a:t> those causes that are under our control before the project starts</a:t>
            </a:r>
          </a:p>
          <a:p>
            <a:pPr algn="just">
              <a:lnSpc>
                <a:spcPct val="90000"/>
              </a:lnSpc>
              <a:buFont typeface="Wingdings" pitchFamily="2" charset="2"/>
              <a:buChar char="q"/>
            </a:pPr>
            <a:r>
              <a:rPr lang="en-US" altLang="tr-TR" sz="2000" dirty="0"/>
              <a:t>Once the project commences, </a:t>
            </a:r>
            <a:r>
              <a:rPr lang="en-US" altLang="tr-TR" sz="2000" u="sng" dirty="0"/>
              <a:t>assume </a:t>
            </a:r>
            <a:r>
              <a:rPr lang="en-US" altLang="tr-TR" sz="2000" dirty="0"/>
              <a:t>turnover will occur and </a:t>
            </a:r>
            <a:r>
              <a:rPr lang="en-US" altLang="tr-TR" sz="2000" u="sng" dirty="0"/>
              <a:t>develop</a:t>
            </a:r>
            <a:r>
              <a:rPr lang="en-US" altLang="tr-TR" sz="2000" dirty="0"/>
              <a:t> techniques to ensure continuity when people leave</a:t>
            </a:r>
          </a:p>
          <a:p>
            <a:pPr algn="just">
              <a:lnSpc>
                <a:spcPct val="90000"/>
              </a:lnSpc>
              <a:buFont typeface="Wingdings" pitchFamily="2" charset="2"/>
              <a:buChar char="q"/>
            </a:pPr>
            <a:r>
              <a:rPr lang="en-US" altLang="tr-TR" sz="2000" u="sng" dirty="0"/>
              <a:t>Organize</a:t>
            </a:r>
            <a:r>
              <a:rPr lang="en-US" altLang="tr-TR" sz="2000" dirty="0"/>
              <a:t> project teams so that information about each development activity is </a:t>
            </a:r>
            <a:r>
              <a:rPr lang="en-US" altLang="tr-TR" sz="2000" u="sng" dirty="0"/>
              <a:t>widely dispersed</a:t>
            </a:r>
          </a:p>
          <a:p>
            <a:pPr algn="just">
              <a:lnSpc>
                <a:spcPct val="90000"/>
              </a:lnSpc>
              <a:buFont typeface="Wingdings" pitchFamily="2" charset="2"/>
              <a:buChar char="q"/>
            </a:pPr>
            <a:r>
              <a:rPr lang="en-US" altLang="tr-TR" sz="2000" u="sng" dirty="0"/>
              <a:t>Define</a:t>
            </a:r>
            <a:r>
              <a:rPr lang="en-US" altLang="tr-TR" sz="2000" dirty="0"/>
              <a:t> documentation standards and </a:t>
            </a:r>
            <a:r>
              <a:rPr lang="en-US" altLang="tr-TR" sz="2000" u="sng" dirty="0"/>
              <a:t>establish</a:t>
            </a:r>
            <a:r>
              <a:rPr lang="en-US" altLang="tr-TR" sz="2000" dirty="0"/>
              <a:t> mechanisms to ensure that documents are developed in a timely manner</a:t>
            </a:r>
          </a:p>
          <a:p>
            <a:pPr algn="just">
              <a:lnSpc>
                <a:spcPct val="90000"/>
              </a:lnSpc>
              <a:buFont typeface="Wingdings" pitchFamily="2" charset="2"/>
              <a:buChar char="q"/>
            </a:pPr>
            <a:r>
              <a:rPr lang="en-US" altLang="tr-TR" sz="2000" u="sng" dirty="0"/>
              <a:t>Conduct</a:t>
            </a:r>
            <a:r>
              <a:rPr lang="en-US" altLang="tr-TR" sz="2000" dirty="0"/>
              <a:t> peer reviews of all </a:t>
            </a:r>
            <a:r>
              <a:rPr lang="en-US" altLang="tr-TR" sz="2000" u="sng" dirty="0"/>
              <a:t>Assign</a:t>
            </a:r>
            <a:r>
              <a:rPr lang="en-US" altLang="tr-TR" sz="2000" dirty="0"/>
              <a:t> a backup staff members</a:t>
            </a:r>
          </a:p>
        </p:txBody>
      </p:sp>
    </p:spTree>
    <p:extLst>
      <p:ext uri="{BB962C8B-B14F-4D97-AF65-F5344CB8AC3E}">
        <p14:creationId xmlns:p14="http://schemas.microsoft.com/office/powerpoint/2010/main" val="12027430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US" altLang="tr-TR" sz="2000" dirty="0"/>
              <a:t>During </a:t>
            </a:r>
            <a:r>
              <a:rPr lang="en-US" altLang="tr-TR" sz="2000" u="sng" dirty="0">
                <a:solidFill>
                  <a:srgbClr val="FF0000"/>
                </a:solidFill>
              </a:rPr>
              <a:t>risk monitoring</a:t>
            </a:r>
            <a:r>
              <a:rPr lang="en-US" altLang="tr-TR" sz="2000" dirty="0"/>
              <a:t>, the project manager </a:t>
            </a:r>
            <a:r>
              <a:rPr lang="en-US" altLang="tr-TR" sz="2000" u="sng" dirty="0"/>
              <a:t>monitors</a:t>
            </a:r>
            <a:r>
              <a:rPr lang="en-US" altLang="tr-TR" sz="2000" dirty="0"/>
              <a:t> factors that may provide an </a:t>
            </a:r>
            <a:r>
              <a:rPr lang="en-US" altLang="tr-TR" sz="2000" u="sng" dirty="0"/>
              <a:t>indication</a:t>
            </a:r>
            <a:r>
              <a:rPr lang="en-US" altLang="tr-TR" sz="2000" dirty="0"/>
              <a:t> of whether a risk is becoming more or less likely.</a:t>
            </a:r>
          </a:p>
          <a:p>
            <a:pPr marL="0" indent="0" algn="just">
              <a:buNone/>
            </a:pPr>
            <a:endParaRPr lang="en-US" altLang="tr-TR" sz="2000" dirty="0"/>
          </a:p>
          <a:p>
            <a:pPr algn="just"/>
            <a:r>
              <a:rPr lang="en-US" altLang="tr-TR" sz="2000" u="sng" dirty="0">
                <a:solidFill>
                  <a:srgbClr val="FF0000"/>
                </a:solidFill>
              </a:rPr>
              <a:t>Risk management</a:t>
            </a:r>
            <a:r>
              <a:rPr lang="en-US" altLang="tr-TR" sz="2000" dirty="0">
                <a:solidFill>
                  <a:srgbClr val="FF0000"/>
                </a:solidFill>
              </a:rPr>
              <a:t> </a:t>
            </a:r>
            <a:r>
              <a:rPr lang="en-US" altLang="tr-TR" sz="2000" dirty="0"/>
              <a:t>and contingency planning </a:t>
            </a:r>
            <a:r>
              <a:rPr lang="en-US" altLang="tr-TR" sz="2000" u="sng" dirty="0"/>
              <a:t>assume</a:t>
            </a:r>
            <a:r>
              <a:rPr lang="en-US" altLang="tr-TR" sz="2000" dirty="0"/>
              <a:t> that mitigation efforts have </a:t>
            </a:r>
            <a:r>
              <a:rPr lang="en-US" altLang="tr-TR" sz="2000" u="sng" dirty="0"/>
              <a:t>failed</a:t>
            </a:r>
            <a:r>
              <a:rPr lang="en-US" altLang="tr-TR" sz="2000" dirty="0"/>
              <a:t> and that the risk has become a reality</a:t>
            </a:r>
          </a:p>
          <a:p>
            <a:pPr algn="just"/>
            <a:endParaRPr lang="en-US" altLang="tr-TR" sz="2000" dirty="0"/>
          </a:p>
          <a:p>
            <a:pPr algn="just"/>
            <a:r>
              <a:rPr lang="en-US" altLang="tr-TR" sz="2000" dirty="0"/>
              <a:t>RMMM steps incur </a:t>
            </a:r>
            <a:r>
              <a:rPr lang="en-US" altLang="tr-TR" sz="2000" u="sng" dirty="0"/>
              <a:t>additional</a:t>
            </a:r>
            <a:r>
              <a:rPr lang="en-US" altLang="tr-TR" sz="2000" dirty="0"/>
              <a:t> project cost</a:t>
            </a:r>
          </a:p>
          <a:p>
            <a:pPr marL="0" indent="0" algn="just">
              <a:buNone/>
            </a:pPr>
            <a:endParaRPr lang="en-US" altLang="tr-TR" sz="2000" dirty="0"/>
          </a:p>
          <a:p>
            <a:pPr algn="just"/>
            <a:r>
              <a:rPr lang="en-US" altLang="tr-TR" sz="2000" dirty="0"/>
              <a:t>Risk is </a:t>
            </a:r>
            <a:r>
              <a:rPr lang="en-US" altLang="tr-TR" sz="2000" u="sng" dirty="0"/>
              <a:t>not limited</a:t>
            </a:r>
            <a:r>
              <a:rPr lang="en-US" altLang="tr-TR" sz="2000" dirty="0"/>
              <a:t> to the software project itself</a:t>
            </a:r>
          </a:p>
          <a:p>
            <a:pPr lvl="1" algn="just"/>
            <a:r>
              <a:rPr lang="en-US" altLang="tr-TR" sz="2000" dirty="0"/>
              <a:t>Risks can occur after the software has been delivered to the user</a:t>
            </a:r>
          </a:p>
          <a:p>
            <a:endParaRPr lang="en-IN" dirty="0"/>
          </a:p>
        </p:txBody>
      </p:sp>
    </p:spTree>
    <p:extLst>
      <p:ext uri="{BB962C8B-B14F-4D97-AF65-F5344CB8AC3E}">
        <p14:creationId xmlns:p14="http://schemas.microsoft.com/office/powerpoint/2010/main" val="22046528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fld id="{E2B9A07A-3B70-4B8D-A114-3E693D28DCC7}" type="slidenum">
              <a:rPr lang="en-US" altLang="tr-TR" sz="1400"/>
              <a:pPr/>
              <a:t>46</a:t>
            </a:fld>
            <a:endParaRPr lang="en-US" altLang="tr-TR" sz="1400"/>
          </a:p>
        </p:txBody>
      </p:sp>
      <p:sp>
        <p:nvSpPr>
          <p:cNvPr id="37891" name="Rectangle 2"/>
          <p:cNvSpPr>
            <a:spLocks noGrp="1" noChangeArrowheads="1"/>
          </p:cNvSpPr>
          <p:nvPr>
            <p:ph type="title"/>
          </p:nvPr>
        </p:nvSpPr>
        <p:spPr>
          <a:xfrm>
            <a:off x="812800" y="228600"/>
            <a:ext cx="10363200" cy="1143000"/>
          </a:xfrm>
        </p:spPr>
        <p:txBody>
          <a:bodyPr/>
          <a:lstStyle/>
          <a:p>
            <a:pPr eaLnBrk="1" hangingPunct="1"/>
            <a:r>
              <a:rPr lang="en-US" altLang="tr-TR"/>
              <a:t>The RMMM Plan</a:t>
            </a:r>
          </a:p>
        </p:txBody>
      </p:sp>
      <p:sp>
        <p:nvSpPr>
          <p:cNvPr id="37892" name="Rectangle 3"/>
          <p:cNvSpPr>
            <a:spLocks noGrp="1" noChangeArrowheads="1"/>
          </p:cNvSpPr>
          <p:nvPr>
            <p:ph type="body" idx="1"/>
          </p:nvPr>
        </p:nvSpPr>
        <p:spPr>
          <a:xfrm>
            <a:off x="914400" y="1676400"/>
            <a:ext cx="10566400" cy="4114800"/>
          </a:xfrm>
        </p:spPr>
        <p:txBody>
          <a:bodyPr>
            <a:normAutofit lnSpcReduction="10000"/>
          </a:bodyPr>
          <a:lstStyle/>
          <a:p>
            <a:pPr algn="just" eaLnBrk="1" hangingPunct="1">
              <a:lnSpc>
                <a:spcPct val="90000"/>
              </a:lnSpc>
            </a:pPr>
            <a:r>
              <a:rPr lang="en-US" altLang="tr-TR" sz="2000" dirty="0"/>
              <a:t>The RMMM plan may be a part of the software development plan or may be a separate document</a:t>
            </a:r>
          </a:p>
          <a:p>
            <a:pPr algn="just" eaLnBrk="1" hangingPunct="1">
              <a:lnSpc>
                <a:spcPct val="90000"/>
              </a:lnSpc>
            </a:pPr>
            <a:r>
              <a:rPr lang="en-US" altLang="tr-TR" sz="2000" dirty="0"/>
              <a:t>Once RMMM has been documented and the project has begun, the risk mitigation, and monitoring steps begin</a:t>
            </a:r>
          </a:p>
          <a:p>
            <a:pPr lvl="1" algn="just" eaLnBrk="1" hangingPunct="1">
              <a:lnSpc>
                <a:spcPct val="90000"/>
              </a:lnSpc>
            </a:pPr>
            <a:r>
              <a:rPr lang="en-US" altLang="tr-TR" sz="2000" dirty="0"/>
              <a:t>Risk </a:t>
            </a:r>
            <a:r>
              <a:rPr lang="en-US" altLang="tr-TR" sz="2000" u="sng" dirty="0"/>
              <a:t>mitigation</a:t>
            </a:r>
            <a:r>
              <a:rPr lang="en-US" altLang="tr-TR" sz="2000" dirty="0"/>
              <a:t> is a problem </a:t>
            </a:r>
            <a:r>
              <a:rPr lang="en-US" altLang="tr-TR" sz="2000" u="sng" dirty="0"/>
              <a:t>avoidance</a:t>
            </a:r>
            <a:r>
              <a:rPr lang="en-US" altLang="tr-TR" sz="2000" dirty="0"/>
              <a:t> activity</a:t>
            </a:r>
          </a:p>
          <a:p>
            <a:pPr lvl="1" algn="just" eaLnBrk="1" hangingPunct="1">
              <a:lnSpc>
                <a:spcPct val="90000"/>
              </a:lnSpc>
            </a:pPr>
            <a:r>
              <a:rPr lang="en-US" altLang="tr-TR" sz="2000" dirty="0"/>
              <a:t>Risk </a:t>
            </a:r>
            <a:r>
              <a:rPr lang="en-US" altLang="tr-TR" sz="2000" u="sng" dirty="0"/>
              <a:t>monitoring</a:t>
            </a:r>
            <a:r>
              <a:rPr lang="en-US" altLang="tr-TR" sz="2000" dirty="0"/>
              <a:t> is a project </a:t>
            </a:r>
            <a:r>
              <a:rPr lang="en-US" altLang="tr-TR" sz="2000" u="sng" dirty="0"/>
              <a:t>tracking</a:t>
            </a:r>
            <a:r>
              <a:rPr lang="en-US" altLang="tr-TR" sz="2000" dirty="0"/>
              <a:t> activity</a:t>
            </a:r>
          </a:p>
          <a:p>
            <a:pPr algn="just" eaLnBrk="1" hangingPunct="1">
              <a:lnSpc>
                <a:spcPct val="90000"/>
              </a:lnSpc>
            </a:pPr>
            <a:r>
              <a:rPr lang="en-US" altLang="tr-TR" sz="2000" dirty="0"/>
              <a:t>Risk monitoring has </a:t>
            </a:r>
            <a:r>
              <a:rPr lang="en-US" altLang="tr-TR" sz="2000" u="sng" dirty="0"/>
              <a:t>three</a:t>
            </a:r>
            <a:r>
              <a:rPr lang="en-US" altLang="tr-TR" sz="2000" dirty="0"/>
              <a:t> objectives</a:t>
            </a:r>
          </a:p>
          <a:p>
            <a:pPr lvl="1" algn="just" eaLnBrk="1" hangingPunct="1">
              <a:lnSpc>
                <a:spcPct val="90000"/>
              </a:lnSpc>
            </a:pPr>
            <a:r>
              <a:rPr lang="en-US" altLang="tr-TR" sz="2000" dirty="0"/>
              <a:t>To </a:t>
            </a:r>
            <a:r>
              <a:rPr lang="en-US" altLang="tr-TR" sz="2000" u="sng" dirty="0"/>
              <a:t>assess</a:t>
            </a:r>
            <a:r>
              <a:rPr lang="en-US" altLang="tr-TR" sz="2000" dirty="0"/>
              <a:t> whether predicted risks do, in fact, </a:t>
            </a:r>
            <a:r>
              <a:rPr lang="en-US" altLang="tr-TR" sz="2000" u="sng" dirty="0"/>
              <a:t>occur</a:t>
            </a:r>
          </a:p>
          <a:p>
            <a:pPr lvl="1" algn="just" eaLnBrk="1" hangingPunct="1">
              <a:lnSpc>
                <a:spcPct val="90000"/>
              </a:lnSpc>
            </a:pPr>
            <a:r>
              <a:rPr lang="en-US" altLang="tr-TR" sz="2000" dirty="0"/>
              <a:t>To </a:t>
            </a:r>
            <a:r>
              <a:rPr lang="en-US" altLang="tr-TR" sz="2000" u="sng" dirty="0"/>
              <a:t>ensure</a:t>
            </a:r>
            <a:r>
              <a:rPr lang="en-US" altLang="tr-TR" sz="2000" dirty="0"/>
              <a:t> that risk aversion steps defined for the risk are being properly </a:t>
            </a:r>
            <a:r>
              <a:rPr lang="en-US" altLang="tr-TR" sz="2000" u="sng" dirty="0"/>
              <a:t>applied</a:t>
            </a:r>
          </a:p>
          <a:p>
            <a:pPr lvl="1" algn="just" eaLnBrk="1" hangingPunct="1">
              <a:lnSpc>
                <a:spcPct val="90000"/>
              </a:lnSpc>
            </a:pPr>
            <a:r>
              <a:rPr lang="en-US" altLang="tr-TR" sz="2000" dirty="0"/>
              <a:t>To </a:t>
            </a:r>
            <a:r>
              <a:rPr lang="en-US" altLang="tr-TR" sz="2000" u="sng" dirty="0"/>
              <a:t>collect</a:t>
            </a:r>
            <a:r>
              <a:rPr lang="en-US" altLang="tr-TR" sz="2000" dirty="0"/>
              <a:t> information that can be used for </a:t>
            </a:r>
            <a:r>
              <a:rPr lang="en-US" altLang="tr-TR" sz="2000" u="sng" dirty="0"/>
              <a:t>future</a:t>
            </a:r>
            <a:r>
              <a:rPr lang="en-US" altLang="tr-TR" sz="2000" dirty="0"/>
              <a:t> risk analysis</a:t>
            </a:r>
          </a:p>
          <a:p>
            <a:pPr algn="just" eaLnBrk="1" hangingPunct="1">
              <a:lnSpc>
                <a:spcPct val="90000"/>
              </a:lnSpc>
            </a:pPr>
            <a:r>
              <a:rPr lang="en-US" altLang="tr-TR" sz="2000" dirty="0"/>
              <a:t>The findings from risk monitoring may allow the project manager to ascertain what risks caused which problems throughout the project</a:t>
            </a:r>
          </a:p>
        </p:txBody>
      </p:sp>
    </p:spTree>
    <p:extLst>
      <p:ext uri="{BB962C8B-B14F-4D97-AF65-F5344CB8AC3E}">
        <p14:creationId xmlns:p14="http://schemas.microsoft.com/office/powerpoint/2010/main" val="20214752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2970</TotalTime>
  <Words>2481</Words>
  <Application>Microsoft Office PowerPoint</Application>
  <PresentationFormat>Widescreen</PresentationFormat>
  <Paragraphs>244</Paragraphs>
  <Slides>46</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46</vt:i4>
      </vt:variant>
    </vt:vector>
  </HeadingPairs>
  <TitlesOfParts>
    <vt:vector size="57" baseType="lpstr">
      <vt:lpstr>Arial</vt:lpstr>
      <vt:lpstr>Calibri</vt:lpstr>
      <vt:lpstr>Helvetica</vt:lpstr>
      <vt:lpstr>HelveticaNeue</vt:lpstr>
      <vt:lpstr>Palatino</vt:lpstr>
      <vt:lpstr>Times New Roman</vt:lpstr>
      <vt:lpstr>Trebuchet MS</vt:lpstr>
      <vt:lpstr>Verdana</vt:lpstr>
      <vt:lpstr>Wingdings</vt:lpstr>
      <vt:lpstr>Wingdings 3</vt:lpstr>
      <vt:lpstr>Facet</vt:lpstr>
      <vt:lpstr>UNIT 1-PART 2 SYLLABUS</vt:lpstr>
      <vt:lpstr>Spiral model</vt:lpstr>
      <vt:lpstr>Spiral Model By Boehm</vt:lpstr>
      <vt:lpstr>PowerPoint Presentation</vt:lpstr>
      <vt:lpstr>PowerPoint Presentation</vt:lpstr>
      <vt:lpstr>Spiral Model</vt:lpstr>
      <vt:lpstr>PowerPoint Presentation</vt:lpstr>
      <vt:lpstr>Phases</vt:lpstr>
      <vt:lpstr>Planning</vt:lpstr>
      <vt:lpstr>Risk Analysis</vt:lpstr>
      <vt:lpstr>      Engineering phase</vt:lpstr>
      <vt:lpstr>Evaluation</vt:lpstr>
      <vt:lpstr>PowerPoint Presentation</vt:lpstr>
      <vt:lpstr>Comparison</vt:lpstr>
      <vt:lpstr>Incremental Model</vt:lpstr>
      <vt:lpstr>Evolutionary Model</vt:lpstr>
      <vt:lpstr>software cost estimation models</vt:lpstr>
      <vt:lpstr>   Milestones (Checkpoints) of the Process</vt:lpstr>
      <vt:lpstr>  Milestones (Checkpoints) of the Process</vt:lpstr>
      <vt:lpstr>PowerPoint Presentation</vt:lpstr>
      <vt:lpstr>PowerPoint Presentation</vt:lpstr>
      <vt:lpstr>PowerPoint Presentation</vt:lpstr>
      <vt:lpstr>PowerPoint Presentation</vt:lpstr>
      <vt:lpstr>SOFTWARE ECONOMICS</vt:lpstr>
      <vt:lpstr>Improving the process</vt:lpstr>
      <vt:lpstr>PowerPoint Presentation</vt:lpstr>
      <vt:lpstr>Concepts of Risk and its mitigation</vt:lpstr>
      <vt:lpstr>Project Risks</vt:lpstr>
      <vt:lpstr>What Is Software Risk?</vt:lpstr>
      <vt:lpstr>Definition of Risk</vt:lpstr>
      <vt:lpstr>Risk Categorization</vt:lpstr>
      <vt:lpstr>PowerPoint Presentation</vt:lpstr>
      <vt:lpstr>PowerPoint Presentation</vt:lpstr>
      <vt:lpstr>Assessing Risk Impact</vt:lpstr>
      <vt:lpstr>PowerPoint Presentation</vt:lpstr>
      <vt:lpstr>Risk table</vt:lpstr>
      <vt:lpstr>PowerPoint Presentation</vt:lpstr>
      <vt:lpstr>RISK MITIGATION, MONITORING, AND MANAGEMENT </vt:lpstr>
      <vt:lpstr>Steps for Risk Management</vt:lpstr>
      <vt:lpstr>Risk Mitigation, Monitoring, and Management (RMMM) </vt:lpstr>
      <vt:lpstr>Questionnaire on Project Risk</vt:lpstr>
      <vt:lpstr>Questionnaire on Project Risk (continued)</vt:lpstr>
      <vt:lpstr>Risk Components and Drivers</vt:lpstr>
      <vt:lpstr>PowerPoint Presentation</vt:lpstr>
      <vt:lpstr>PowerPoint Presentation</vt:lpstr>
      <vt:lpstr>The RMMM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Madhu kandukuri</dc:creator>
  <cp:lastModifiedBy>Mr Peddarapu Ramakrishna Chowdary</cp:lastModifiedBy>
  <cp:revision>111</cp:revision>
  <dcterms:created xsi:type="dcterms:W3CDTF">2020-08-07T10:20:11Z</dcterms:created>
  <dcterms:modified xsi:type="dcterms:W3CDTF">2023-10-27T07:03:52Z</dcterms:modified>
</cp:coreProperties>
</file>