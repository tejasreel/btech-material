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</p:sldIdLst>
  <p:sldSz cx="4610100" cy="3460750"/>
  <p:notesSz cx="9388475" cy="710247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5" d="100"/>
          <a:sy n="125" d="100"/>
        </p:scale>
        <p:origin x="1500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67046" cy="355125"/>
          </a:xfrm>
          <a:prstGeom prst="rect">
            <a:avLst/>
          </a:prstGeom>
        </p:spPr>
        <p:txBody>
          <a:bodyPr vert="horz" lIns="186830" tIns="93415" rIns="186830" bIns="93415" rtlCol="0"/>
          <a:lstStyle>
            <a:lvl1pPr algn="l">
              <a:defRPr sz="25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8198" y="0"/>
            <a:ext cx="4067046" cy="355125"/>
          </a:xfrm>
          <a:prstGeom prst="rect">
            <a:avLst/>
          </a:prstGeom>
        </p:spPr>
        <p:txBody>
          <a:bodyPr vert="horz" lIns="186830" tIns="93415" rIns="186830" bIns="93415" rtlCol="0"/>
          <a:lstStyle>
            <a:lvl1pPr algn="r">
              <a:defRPr sz="2500"/>
            </a:lvl1pPr>
          </a:lstStyle>
          <a:p>
            <a:fld id="{900B0619-9CF1-4658-AD1B-CE4BC5DD36B0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98800" y="889000"/>
            <a:ext cx="3190875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86830" tIns="93415" rIns="186830" bIns="93415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555" y="3417660"/>
            <a:ext cx="7513366" cy="2798635"/>
          </a:xfrm>
          <a:prstGeom prst="rect">
            <a:avLst/>
          </a:prstGeom>
        </p:spPr>
        <p:txBody>
          <a:bodyPr vert="horz" lIns="186830" tIns="93415" rIns="186830" bIns="93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747353"/>
            <a:ext cx="4067046" cy="355123"/>
          </a:xfrm>
          <a:prstGeom prst="rect">
            <a:avLst/>
          </a:prstGeom>
        </p:spPr>
        <p:txBody>
          <a:bodyPr vert="horz" lIns="186830" tIns="93415" rIns="186830" bIns="93415" rtlCol="0" anchor="b"/>
          <a:lstStyle>
            <a:lvl1pPr algn="l">
              <a:defRPr sz="25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8198" y="6747353"/>
            <a:ext cx="4067046" cy="355123"/>
          </a:xfrm>
          <a:prstGeom prst="rect">
            <a:avLst/>
          </a:prstGeom>
        </p:spPr>
        <p:txBody>
          <a:bodyPr vert="horz" lIns="186830" tIns="93415" rIns="186830" bIns="93415" rtlCol="0" anchor="b"/>
          <a:lstStyle>
            <a:lvl1pPr algn="r">
              <a:defRPr sz="2500"/>
            </a:lvl1pPr>
          </a:lstStyle>
          <a:p>
            <a:fld id="{E1E3F4A5-CC14-4F6C-BD90-636324DF6B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297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250" y="60502"/>
            <a:ext cx="272288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1">
                <a:solidFill>
                  <a:srgbClr val="3232B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rgbClr val="3232B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95409" y="326240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53"/>
                </a:moveTo>
                <a:lnTo>
                  <a:pt x="43052" y="30353"/>
                </a:lnTo>
                <a:lnTo>
                  <a:pt x="43052" y="0"/>
                </a:lnTo>
                <a:lnTo>
                  <a:pt x="0" y="0"/>
                </a:lnTo>
                <a:lnTo>
                  <a:pt x="0" y="30353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15780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93580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44608" y="32521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799"/>
                </a:moveTo>
                <a:lnTo>
                  <a:pt x="43052" y="50799"/>
                </a:lnTo>
                <a:lnTo>
                  <a:pt x="43052" y="20446"/>
                </a:lnTo>
                <a:lnTo>
                  <a:pt x="0" y="20446"/>
                </a:lnTo>
                <a:lnTo>
                  <a:pt x="0" y="50799"/>
                </a:lnTo>
                <a:close/>
              </a:path>
              <a:path w="64135" h="50800">
                <a:moveTo>
                  <a:pt x="10540" y="20319"/>
                </a:moveTo>
                <a:lnTo>
                  <a:pt x="10540" y="10159"/>
                </a:lnTo>
                <a:lnTo>
                  <a:pt x="53720" y="10159"/>
                </a:lnTo>
                <a:lnTo>
                  <a:pt x="53720" y="40639"/>
                </a:lnTo>
                <a:lnTo>
                  <a:pt x="43560" y="40639"/>
                </a:lnTo>
              </a:path>
              <a:path w="64135" h="50800">
                <a:moveTo>
                  <a:pt x="20700" y="10159"/>
                </a:moveTo>
                <a:lnTo>
                  <a:pt x="20700" y="0"/>
                </a:lnTo>
                <a:lnTo>
                  <a:pt x="63880" y="0"/>
                </a:lnTo>
                <a:lnTo>
                  <a:pt x="63880" y="30479"/>
                </a:lnTo>
                <a:lnTo>
                  <a:pt x="53720" y="304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81489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36111" y="32648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47211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23411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89121" y="325211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12921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89121" y="3290214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54830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2" y="3282594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19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81" y="3256042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52" y="15240"/>
                </a:moveTo>
                <a:lnTo>
                  <a:pt x="30352" y="6858"/>
                </a:lnTo>
                <a:lnTo>
                  <a:pt x="23621" y="0"/>
                </a:lnTo>
                <a:lnTo>
                  <a:pt x="15112" y="0"/>
                </a:lnTo>
                <a:lnTo>
                  <a:pt x="6730" y="0"/>
                </a:lnTo>
                <a:lnTo>
                  <a:pt x="0" y="6858"/>
                </a:lnTo>
                <a:lnTo>
                  <a:pt x="0" y="15240"/>
                </a:lnTo>
                <a:lnTo>
                  <a:pt x="0" y="23622"/>
                </a:lnTo>
                <a:lnTo>
                  <a:pt x="6730" y="30480"/>
                </a:lnTo>
                <a:lnTo>
                  <a:pt x="15112" y="30480"/>
                </a:lnTo>
                <a:lnTo>
                  <a:pt x="23621" y="30480"/>
                </a:lnTo>
                <a:lnTo>
                  <a:pt x="30352" y="23622"/>
                </a:lnTo>
                <a:lnTo>
                  <a:pt x="30352" y="15240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21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39" y="50799"/>
                </a:moveTo>
                <a:lnTo>
                  <a:pt x="50395" y="48795"/>
                </a:lnTo>
                <a:lnTo>
                  <a:pt x="58483" y="43338"/>
                </a:lnTo>
                <a:lnTo>
                  <a:pt x="64000" y="35262"/>
                </a:lnTo>
                <a:lnTo>
                  <a:pt x="66039" y="25399"/>
                </a:lnTo>
                <a:lnTo>
                  <a:pt x="64035" y="15537"/>
                </a:lnTo>
                <a:lnTo>
                  <a:pt x="58578" y="7461"/>
                </a:lnTo>
                <a:lnTo>
                  <a:pt x="50502" y="2004"/>
                </a:lnTo>
                <a:lnTo>
                  <a:pt x="40639" y="0"/>
                </a:lnTo>
                <a:lnTo>
                  <a:pt x="30777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39" y="25399"/>
                </a:lnTo>
              </a:path>
              <a:path w="233679" h="50800">
                <a:moveTo>
                  <a:pt x="30479" y="17779"/>
                </a:moveTo>
                <a:lnTo>
                  <a:pt x="15239" y="30479"/>
                </a:lnTo>
                <a:lnTo>
                  <a:pt x="0" y="17779"/>
                </a:lnTo>
              </a:path>
              <a:path w="233679" h="50800">
                <a:moveTo>
                  <a:pt x="193039" y="50799"/>
                </a:moveTo>
                <a:lnTo>
                  <a:pt x="183177" y="48795"/>
                </a:lnTo>
                <a:lnTo>
                  <a:pt x="175101" y="43338"/>
                </a:lnTo>
                <a:lnTo>
                  <a:pt x="169644" y="35262"/>
                </a:lnTo>
                <a:lnTo>
                  <a:pt x="167639" y="25399"/>
                </a:lnTo>
                <a:lnTo>
                  <a:pt x="169644" y="15537"/>
                </a:lnTo>
                <a:lnTo>
                  <a:pt x="175101" y="7461"/>
                </a:lnTo>
                <a:lnTo>
                  <a:pt x="183177" y="2004"/>
                </a:lnTo>
                <a:lnTo>
                  <a:pt x="193039" y="0"/>
                </a:lnTo>
                <a:lnTo>
                  <a:pt x="202902" y="2004"/>
                </a:lnTo>
                <a:lnTo>
                  <a:pt x="210978" y="7461"/>
                </a:lnTo>
                <a:lnTo>
                  <a:pt x="216435" y="15537"/>
                </a:lnTo>
                <a:lnTo>
                  <a:pt x="218439" y="25399"/>
                </a:lnTo>
              </a:path>
              <a:path w="233679" h="50800">
                <a:moveTo>
                  <a:pt x="233679" y="17779"/>
                </a:moveTo>
                <a:lnTo>
                  <a:pt x="218439" y="30479"/>
                </a:lnTo>
                <a:lnTo>
                  <a:pt x="203199" y="177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95409" y="326240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53"/>
                </a:moveTo>
                <a:lnTo>
                  <a:pt x="43052" y="30353"/>
                </a:lnTo>
                <a:lnTo>
                  <a:pt x="43052" y="0"/>
                </a:lnTo>
                <a:lnTo>
                  <a:pt x="0" y="0"/>
                </a:lnTo>
                <a:lnTo>
                  <a:pt x="0" y="30353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15780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93580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44608" y="32521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799"/>
                </a:moveTo>
                <a:lnTo>
                  <a:pt x="43052" y="50799"/>
                </a:lnTo>
                <a:lnTo>
                  <a:pt x="43052" y="20446"/>
                </a:lnTo>
                <a:lnTo>
                  <a:pt x="0" y="20446"/>
                </a:lnTo>
                <a:lnTo>
                  <a:pt x="0" y="50799"/>
                </a:lnTo>
                <a:close/>
              </a:path>
              <a:path w="64135" h="50800">
                <a:moveTo>
                  <a:pt x="10540" y="20319"/>
                </a:moveTo>
                <a:lnTo>
                  <a:pt x="10540" y="10159"/>
                </a:lnTo>
                <a:lnTo>
                  <a:pt x="53720" y="10159"/>
                </a:lnTo>
                <a:lnTo>
                  <a:pt x="53720" y="40639"/>
                </a:lnTo>
                <a:lnTo>
                  <a:pt x="43560" y="40639"/>
                </a:lnTo>
              </a:path>
              <a:path w="64135" h="50800">
                <a:moveTo>
                  <a:pt x="20700" y="10159"/>
                </a:moveTo>
                <a:lnTo>
                  <a:pt x="20700" y="0"/>
                </a:lnTo>
                <a:lnTo>
                  <a:pt x="63880" y="0"/>
                </a:lnTo>
                <a:lnTo>
                  <a:pt x="63880" y="30479"/>
                </a:lnTo>
                <a:lnTo>
                  <a:pt x="53720" y="304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81489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36111" y="32648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47211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23411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89121" y="325211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12921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89121" y="3290214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54830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2" y="3282594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19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81" y="3256042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52" y="15240"/>
                </a:moveTo>
                <a:lnTo>
                  <a:pt x="30352" y="6858"/>
                </a:lnTo>
                <a:lnTo>
                  <a:pt x="23621" y="0"/>
                </a:lnTo>
                <a:lnTo>
                  <a:pt x="15112" y="0"/>
                </a:lnTo>
                <a:lnTo>
                  <a:pt x="6730" y="0"/>
                </a:lnTo>
                <a:lnTo>
                  <a:pt x="0" y="6858"/>
                </a:lnTo>
                <a:lnTo>
                  <a:pt x="0" y="15240"/>
                </a:lnTo>
                <a:lnTo>
                  <a:pt x="0" y="23622"/>
                </a:lnTo>
                <a:lnTo>
                  <a:pt x="6730" y="30480"/>
                </a:lnTo>
                <a:lnTo>
                  <a:pt x="15112" y="30480"/>
                </a:lnTo>
                <a:lnTo>
                  <a:pt x="23621" y="30480"/>
                </a:lnTo>
                <a:lnTo>
                  <a:pt x="30352" y="23622"/>
                </a:lnTo>
                <a:lnTo>
                  <a:pt x="30352" y="15240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21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39" y="50799"/>
                </a:moveTo>
                <a:lnTo>
                  <a:pt x="50395" y="48795"/>
                </a:lnTo>
                <a:lnTo>
                  <a:pt x="58483" y="43338"/>
                </a:lnTo>
                <a:lnTo>
                  <a:pt x="64000" y="35262"/>
                </a:lnTo>
                <a:lnTo>
                  <a:pt x="66039" y="25399"/>
                </a:lnTo>
                <a:lnTo>
                  <a:pt x="64035" y="15537"/>
                </a:lnTo>
                <a:lnTo>
                  <a:pt x="58578" y="7461"/>
                </a:lnTo>
                <a:lnTo>
                  <a:pt x="50502" y="2004"/>
                </a:lnTo>
                <a:lnTo>
                  <a:pt x="40639" y="0"/>
                </a:lnTo>
                <a:lnTo>
                  <a:pt x="30777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39" y="25399"/>
                </a:lnTo>
              </a:path>
              <a:path w="233679" h="50800">
                <a:moveTo>
                  <a:pt x="30479" y="17779"/>
                </a:moveTo>
                <a:lnTo>
                  <a:pt x="15239" y="30479"/>
                </a:lnTo>
                <a:lnTo>
                  <a:pt x="0" y="17779"/>
                </a:lnTo>
              </a:path>
              <a:path w="233679" h="50800">
                <a:moveTo>
                  <a:pt x="193039" y="50799"/>
                </a:moveTo>
                <a:lnTo>
                  <a:pt x="183177" y="48795"/>
                </a:lnTo>
                <a:lnTo>
                  <a:pt x="175101" y="43338"/>
                </a:lnTo>
                <a:lnTo>
                  <a:pt x="169644" y="35262"/>
                </a:lnTo>
                <a:lnTo>
                  <a:pt x="167639" y="25399"/>
                </a:lnTo>
                <a:lnTo>
                  <a:pt x="169644" y="15537"/>
                </a:lnTo>
                <a:lnTo>
                  <a:pt x="175101" y="7461"/>
                </a:lnTo>
                <a:lnTo>
                  <a:pt x="183177" y="2004"/>
                </a:lnTo>
                <a:lnTo>
                  <a:pt x="193039" y="0"/>
                </a:lnTo>
                <a:lnTo>
                  <a:pt x="202902" y="2004"/>
                </a:lnTo>
                <a:lnTo>
                  <a:pt x="210978" y="7461"/>
                </a:lnTo>
                <a:lnTo>
                  <a:pt x="216435" y="15537"/>
                </a:lnTo>
                <a:lnTo>
                  <a:pt x="218439" y="25399"/>
                </a:lnTo>
              </a:path>
              <a:path w="233679" h="50800">
                <a:moveTo>
                  <a:pt x="233679" y="17779"/>
                </a:moveTo>
                <a:lnTo>
                  <a:pt x="218439" y="30479"/>
                </a:lnTo>
                <a:lnTo>
                  <a:pt x="203199" y="177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250" y="60502"/>
            <a:ext cx="333438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630" y="568103"/>
            <a:ext cx="4340225" cy="2409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1">
                <a:solidFill>
                  <a:srgbClr val="3232B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slide" Target="slide1.xml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4.png"/><Relationship Id="rId16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slide" Target="slide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slide" Target="slide1.xml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4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slide" Target="slide1.xml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59.png"/><Relationship Id="rId5" Type="http://schemas.openxmlformats.org/officeDocument/2006/relationships/image" Target="../media/image54.png"/><Relationship Id="rId10" Type="http://schemas.openxmlformats.org/officeDocument/2006/relationships/image" Target="../media/image58.png"/><Relationship Id="rId4" Type="http://schemas.openxmlformats.org/officeDocument/2006/relationships/image" Target="../media/image53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7.png"/><Relationship Id="rId7" Type="http://schemas.openxmlformats.org/officeDocument/2006/relationships/image" Target="../media/image6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image" Target="../media/image51.png"/><Relationship Id="rId16" Type="http://schemas.openxmlformats.org/officeDocument/2006/relationships/image" Target="../media/image72.png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8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slide" Target="slide1.xml"/><Relationship Id="rId3" Type="http://schemas.openxmlformats.org/officeDocument/2006/relationships/image" Target="../media/image76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83.png"/><Relationship Id="rId5" Type="http://schemas.openxmlformats.org/officeDocument/2006/relationships/image" Target="../media/image78.png"/><Relationship Id="rId10" Type="http://schemas.openxmlformats.org/officeDocument/2006/relationships/image" Target="../media/image82.png"/><Relationship Id="rId4" Type="http://schemas.openxmlformats.org/officeDocument/2006/relationships/image" Target="../media/image77.png"/><Relationship Id="rId9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slide" Target="slide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2.png"/><Relationship Id="rId5" Type="http://schemas.openxmlformats.org/officeDocument/2006/relationships/image" Target="../media/image87.png"/><Relationship Id="rId10" Type="http://schemas.openxmlformats.org/officeDocument/2006/relationships/image" Target="../media/image91.png"/><Relationship Id="rId4" Type="http://schemas.openxmlformats.org/officeDocument/2006/relationships/image" Target="../media/image86.png"/><Relationship Id="rId9" Type="http://schemas.openxmlformats.org/officeDocument/2006/relationships/image" Target="../media/image9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86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8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slide" Target="slide1.xml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2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0.png"/><Relationship Id="rId5" Type="http://schemas.openxmlformats.org/officeDocument/2006/relationships/image" Target="../media/image105.png"/><Relationship Id="rId10" Type="http://schemas.openxmlformats.org/officeDocument/2006/relationships/image" Target="../media/image109.png"/><Relationship Id="rId4" Type="http://schemas.openxmlformats.org/officeDocument/2006/relationships/image" Target="../media/image104.png"/><Relationship Id="rId9" Type="http://schemas.openxmlformats.org/officeDocument/2006/relationships/image" Target="../media/image108.png"/><Relationship Id="rId14" Type="http://schemas.openxmlformats.org/officeDocument/2006/relationships/slide" Target="slide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2.png"/><Relationship Id="rId18" Type="http://schemas.openxmlformats.org/officeDocument/2006/relationships/image" Target="../media/image116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1.png"/><Relationship Id="rId17" Type="http://schemas.openxmlformats.org/officeDocument/2006/relationships/image" Target="../media/image115.png"/><Relationship Id="rId2" Type="http://schemas.openxmlformats.org/officeDocument/2006/relationships/image" Target="../media/image51.png"/><Relationship Id="rId16" Type="http://schemas.openxmlformats.org/officeDocument/2006/relationships/image" Target="../media/image114.png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0.png"/><Relationship Id="rId5" Type="http://schemas.openxmlformats.org/officeDocument/2006/relationships/image" Target="../media/image105.png"/><Relationship Id="rId15" Type="http://schemas.openxmlformats.org/officeDocument/2006/relationships/image" Target="../media/image113.png"/><Relationship Id="rId10" Type="http://schemas.openxmlformats.org/officeDocument/2006/relationships/image" Target="../media/image109.png"/><Relationship Id="rId19" Type="http://schemas.openxmlformats.org/officeDocument/2006/relationships/image" Target="../media/image117.png"/><Relationship Id="rId4" Type="http://schemas.openxmlformats.org/officeDocument/2006/relationships/image" Target="../media/image104.png"/><Relationship Id="rId9" Type="http://schemas.openxmlformats.org/officeDocument/2006/relationships/image" Target="../media/image108.png"/><Relationship Id="rId1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slide" Target="slide1.xml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5" Type="http://schemas.openxmlformats.org/officeDocument/2006/relationships/image" Target="../media/image120.png"/><Relationship Id="rId10" Type="http://schemas.openxmlformats.org/officeDocument/2006/relationships/image" Target="../media/image125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9.png"/><Relationship Id="rId7" Type="http://schemas.openxmlformats.org/officeDocument/2006/relationships/image" Target="../media/image132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10" Type="http://schemas.openxmlformats.org/officeDocument/2006/relationships/slide" Target="slide1.xml"/><Relationship Id="rId4" Type="http://schemas.openxmlformats.org/officeDocument/2006/relationships/image" Target="../media/image4.png"/><Relationship Id="rId9" Type="http://schemas.openxmlformats.org/officeDocument/2006/relationships/image" Target="../media/image13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5.png"/><Relationship Id="rId7" Type="http://schemas.openxmlformats.org/officeDocument/2006/relationships/image" Target="../media/image13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8.png"/><Relationship Id="rId9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1.png"/><Relationship Id="rId3" Type="http://schemas.openxmlformats.org/officeDocument/2006/relationships/image" Target="../media/image135.png"/><Relationship Id="rId7" Type="http://schemas.openxmlformats.org/officeDocument/2006/relationships/image" Target="../media/image138.png"/><Relationship Id="rId12" Type="http://schemas.openxmlformats.org/officeDocument/2006/relationships/image" Target="../media/image140.png"/><Relationship Id="rId2" Type="http://schemas.openxmlformats.org/officeDocument/2006/relationships/image" Target="../media/image51.png"/><Relationship Id="rId16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2.png"/><Relationship Id="rId5" Type="http://schemas.openxmlformats.org/officeDocument/2006/relationships/image" Target="../media/image136.png"/><Relationship Id="rId15" Type="http://schemas.openxmlformats.org/officeDocument/2006/relationships/image" Target="../media/image143.png"/><Relationship Id="rId10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14" Type="http://schemas.openxmlformats.org/officeDocument/2006/relationships/image" Target="../media/image14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4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Relationship Id="rId9" Type="http://schemas.openxmlformats.org/officeDocument/2006/relationships/slide" Target="slide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slide" Target="slide75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5.xml"/><Relationship Id="rId4" Type="http://schemas.openxmlformats.org/officeDocument/2006/relationships/image" Target="../media/image15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7" Type="http://schemas.openxmlformats.org/officeDocument/2006/relationships/slide" Target="slide75.xml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75.xml"/><Relationship Id="rId2" Type="http://schemas.openxmlformats.org/officeDocument/2006/relationships/image" Target="../media/image159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75.xml"/><Relationship Id="rId2" Type="http://schemas.openxmlformats.org/officeDocument/2006/relationships/image" Target="../media/image160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jpg"/><Relationship Id="rId2" Type="http://schemas.openxmlformats.org/officeDocument/2006/relationships/image" Target="../media/image161.jpg"/><Relationship Id="rId1" Type="http://schemas.openxmlformats.org/officeDocument/2006/relationships/slideLayout" Target="../slideLayouts/slideLayout5.xml"/><Relationship Id="rId4" Type="http://schemas.openxmlformats.org/officeDocument/2006/relationships/slide" Target="slide7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5.xml"/><Relationship Id="rId4" Type="http://schemas.openxmlformats.org/officeDocument/2006/relationships/slide" Target="slide7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5" Type="http://schemas.openxmlformats.org/officeDocument/2006/relationships/slide" Target="slide34.xml"/><Relationship Id="rId4" Type="http://schemas.openxmlformats.org/officeDocument/2006/relationships/image" Target="../media/image16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7" Type="http://schemas.openxmlformats.org/officeDocument/2006/relationships/slide" Target="slide34.xml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70.png"/><Relationship Id="rId7" Type="http://schemas.openxmlformats.org/officeDocument/2006/relationships/image" Target="../media/image17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72.png"/><Relationship Id="rId10" Type="http://schemas.openxmlformats.org/officeDocument/2006/relationships/slide" Target="slide34.xml"/><Relationship Id="rId4" Type="http://schemas.openxmlformats.org/officeDocument/2006/relationships/image" Target="../media/image171.png"/><Relationship Id="rId9" Type="http://schemas.openxmlformats.org/officeDocument/2006/relationships/image" Target="../media/image17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5" Type="http://schemas.openxmlformats.org/officeDocument/2006/relationships/slide" Target="slide34.xml"/><Relationship Id="rId4" Type="http://schemas.openxmlformats.org/officeDocument/2006/relationships/image" Target="../media/image17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slide" Target="slide34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5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image" Target="../media/image55.png"/><Relationship Id="rId7" Type="http://schemas.openxmlformats.org/officeDocument/2006/relationships/image" Target="../media/image18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5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55.png"/><Relationship Id="rId7" Type="http://schemas.openxmlformats.org/officeDocument/2006/relationships/image" Target="../media/image18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56.png"/><Relationship Id="rId9" Type="http://schemas.openxmlformats.org/officeDocument/2006/relationships/slide" Target="slide34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55.png"/><Relationship Id="rId7" Type="http://schemas.openxmlformats.org/officeDocument/2006/relationships/image" Target="../media/image18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10" Type="http://schemas.openxmlformats.org/officeDocument/2006/relationships/slide" Target="slide34.xml"/><Relationship Id="rId4" Type="http://schemas.openxmlformats.org/officeDocument/2006/relationships/image" Target="../media/image56.png"/><Relationship Id="rId9" Type="http://schemas.openxmlformats.org/officeDocument/2006/relationships/image" Target="../media/image18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183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34.xml"/><Relationship Id="rId5" Type="http://schemas.openxmlformats.org/officeDocument/2006/relationships/image" Target="../media/image186.png"/><Relationship Id="rId4" Type="http://schemas.openxmlformats.org/officeDocument/2006/relationships/image" Target="../media/image18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84.png"/><Relationship Id="rId7" Type="http://schemas.openxmlformats.org/officeDocument/2006/relationships/image" Target="../media/image187.png"/><Relationship Id="rId12" Type="http://schemas.openxmlformats.org/officeDocument/2006/relationships/slide" Target="slide34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190.png"/><Relationship Id="rId5" Type="http://schemas.openxmlformats.org/officeDocument/2006/relationships/image" Target="../media/image186.png"/><Relationship Id="rId10" Type="http://schemas.openxmlformats.org/officeDocument/2006/relationships/image" Target="../media/image189.png"/><Relationship Id="rId4" Type="http://schemas.openxmlformats.org/officeDocument/2006/relationships/image" Target="../media/image185.png"/><Relationship Id="rId9" Type="http://schemas.openxmlformats.org/officeDocument/2006/relationships/image" Target="../media/image18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slide" Target="slide34.xml"/><Relationship Id="rId3" Type="http://schemas.openxmlformats.org/officeDocument/2006/relationships/image" Target="../media/image184.png"/><Relationship Id="rId7" Type="http://schemas.openxmlformats.org/officeDocument/2006/relationships/image" Target="../media/image187.png"/><Relationship Id="rId12" Type="http://schemas.openxmlformats.org/officeDocument/2006/relationships/image" Target="../media/image19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190.png"/><Relationship Id="rId5" Type="http://schemas.openxmlformats.org/officeDocument/2006/relationships/image" Target="../media/image186.png"/><Relationship Id="rId10" Type="http://schemas.openxmlformats.org/officeDocument/2006/relationships/image" Target="../media/image189.png"/><Relationship Id="rId4" Type="http://schemas.openxmlformats.org/officeDocument/2006/relationships/image" Target="../media/image185.png"/><Relationship Id="rId9" Type="http://schemas.openxmlformats.org/officeDocument/2006/relationships/image" Target="../media/image18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7" Type="http://schemas.openxmlformats.org/officeDocument/2006/relationships/slide" Target="slide3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Relationship Id="rId9" Type="http://schemas.openxmlformats.org/officeDocument/2006/relationships/slide" Target="slide34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13" Type="http://schemas.openxmlformats.org/officeDocument/2006/relationships/image" Target="../media/image201.png"/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12" Type="http://schemas.openxmlformats.org/officeDocument/2006/relationships/image" Target="../media/image20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11" Type="http://schemas.openxmlformats.org/officeDocument/2006/relationships/image" Target="../media/image199.png"/><Relationship Id="rId5" Type="http://schemas.openxmlformats.org/officeDocument/2006/relationships/image" Target="../media/image194.png"/><Relationship Id="rId15" Type="http://schemas.openxmlformats.org/officeDocument/2006/relationships/slide" Target="slide34.xml"/><Relationship Id="rId10" Type="http://schemas.openxmlformats.org/officeDocument/2006/relationships/image" Target="../media/image198.png"/><Relationship Id="rId4" Type="http://schemas.openxmlformats.org/officeDocument/2006/relationships/image" Target="../media/image193.png"/><Relationship Id="rId9" Type="http://schemas.openxmlformats.org/officeDocument/2006/relationships/image" Target="../media/image45.png"/><Relationship Id="rId14" Type="http://schemas.openxmlformats.org/officeDocument/2006/relationships/image" Target="../media/image20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205.png"/><Relationship Id="rId7" Type="http://schemas.openxmlformats.org/officeDocument/2006/relationships/image" Target="../media/image20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5" Type="http://schemas.openxmlformats.org/officeDocument/2006/relationships/image" Target="../media/image207.png"/><Relationship Id="rId4" Type="http://schemas.openxmlformats.org/officeDocument/2006/relationships/image" Target="../media/image206.png"/><Relationship Id="rId9" Type="http://schemas.openxmlformats.org/officeDocument/2006/relationships/slide" Target="slide3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3" Type="http://schemas.openxmlformats.org/officeDocument/2006/relationships/image" Target="../media/image212.png"/><Relationship Id="rId7" Type="http://schemas.openxmlformats.org/officeDocument/2006/relationships/image" Target="../media/image21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.png"/><Relationship Id="rId5" Type="http://schemas.openxmlformats.org/officeDocument/2006/relationships/image" Target="../media/image214.png"/><Relationship Id="rId4" Type="http://schemas.openxmlformats.org/officeDocument/2006/relationships/image" Target="../media/image213.png"/><Relationship Id="rId9" Type="http://schemas.openxmlformats.org/officeDocument/2006/relationships/slide" Target="slide3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18.jp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slide" Target="slide34.xml"/><Relationship Id="rId3" Type="http://schemas.openxmlformats.org/officeDocument/2006/relationships/image" Target="../media/image219.png"/><Relationship Id="rId7" Type="http://schemas.openxmlformats.org/officeDocument/2006/relationships/image" Target="../media/image222.png"/><Relationship Id="rId12" Type="http://schemas.openxmlformats.org/officeDocument/2006/relationships/image" Target="../media/image22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11" Type="http://schemas.openxmlformats.org/officeDocument/2006/relationships/image" Target="../media/image226.png"/><Relationship Id="rId5" Type="http://schemas.openxmlformats.org/officeDocument/2006/relationships/image" Target="../media/image221.png"/><Relationship Id="rId10" Type="http://schemas.openxmlformats.org/officeDocument/2006/relationships/image" Target="../media/image225.png"/><Relationship Id="rId4" Type="http://schemas.openxmlformats.org/officeDocument/2006/relationships/image" Target="../media/image220.png"/><Relationship Id="rId9" Type="http://schemas.openxmlformats.org/officeDocument/2006/relationships/image" Target="../media/image22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28.jp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image" Target="../media/image231.png"/><Relationship Id="rId4" Type="http://schemas.openxmlformats.org/officeDocument/2006/relationships/image" Target="../media/image23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32.jp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image" Target="../media/image235.png"/><Relationship Id="rId4" Type="http://schemas.openxmlformats.org/officeDocument/2006/relationships/image" Target="../media/image23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slide" Target="slide34.xml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png"/><Relationship Id="rId5" Type="http://schemas.openxmlformats.org/officeDocument/2006/relationships/image" Target="../media/image235.png"/><Relationship Id="rId4" Type="http://schemas.openxmlformats.org/officeDocument/2006/relationships/image" Target="../media/image234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image" Target="../media/image94.png"/><Relationship Id="rId7" Type="http://schemas.openxmlformats.org/officeDocument/2006/relationships/image" Target="../media/image237.png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png"/><Relationship Id="rId5" Type="http://schemas.openxmlformats.org/officeDocument/2006/relationships/image" Target="../media/image235.png"/><Relationship Id="rId4" Type="http://schemas.openxmlformats.org/officeDocument/2006/relationships/image" Target="../media/image234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38.jp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5.xml"/><Relationship Id="rId5" Type="http://schemas.openxmlformats.org/officeDocument/2006/relationships/slide" Target="slide107.xml"/><Relationship Id="rId4" Type="http://schemas.openxmlformats.org/officeDocument/2006/relationships/image" Target="../media/image241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3" Type="http://schemas.openxmlformats.org/officeDocument/2006/relationships/image" Target="../media/image242.png"/><Relationship Id="rId7" Type="http://schemas.openxmlformats.org/officeDocument/2006/relationships/image" Target="../media/image24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244.png"/><Relationship Id="rId4" Type="http://schemas.openxmlformats.org/officeDocument/2006/relationships/image" Target="../media/image243.png"/><Relationship Id="rId9" Type="http://schemas.openxmlformats.org/officeDocument/2006/relationships/slide" Target="slide76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13" Type="http://schemas.openxmlformats.org/officeDocument/2006/relationships/image" Target="../media/image250.png"/><Relationship Id="rId3" Type="http://schemas.openxmlformats.org/officeDocument/2006/relationships/image" Target="../media/image242.png"/><Relationship Id="rId7" Type="http://schemas.openxmlformats.org/officeDocument/2006/relationships/image" Target="../media/image245.png"/><Relationship Id="rId12" Type="http://schemas.openxmlformats.org/officeDocument/2006/relationships/image" Target="../media/image24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248.png"/><Relationship Id="rId5" Type="http://schemas.openxmlformats.org/officeDocument/2006/relationships/image" Target="../media/image244.png"/><Relationship Id="rId10" Type="http://schemas.openxmlformats.org/officeDocument/2006/relationships/image" Target="../media/image247.png"/><Relationship Id="rId4" Type="http://schemas.openxmlformats.org/officeDocument/2006/relationships/image" Target="../media/image243.png"/><Relationship Id="rId9" Type="http://schemas.openxmlformats.org/officeDocument/2006/relationships/image" Target="../media/image70.png"/><Relationship Id="rId14" Type="http://schemas.openxmlformats.org/officeDocument/2006/relationships/slide" Target="slide76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13" Type="http://schemas.openxmlformats.org/officeDocument/2006/relationships/image" Target="../media/image250.png"/><Relationship Id="rId3" Type="http://schemas.openxmlformats.org/officeDocument/2006/relationships/image" Target="../media/image242.png"/><Relationship Id="rId7" Type="http://schemas.openxmlformats.org/officeDocument/2006/relationships/image" Target="../media/image245.png"/><Relationship Id="rId12" Type="http://schemas.openxmlformats.org/officeDocument/2006/relationships/image" Target="../media/image24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248.png"/><Relationship Id="rId5" Type="http://schemas.openxmlformats.org/officeDocument/2006/relationships/image" Target="../media/image244.png"/><Relationship Id="rId15" Type="http://schemas.openxmlformats.org/officeDocument/2006/relationships/slide" Target="slide76.xml"/><Relationship Id="rId10" Type="http://schemas.openxmlformats.org/officeDocument/2006/relationships/image" Target="../media/image247.png"/><Relationship Id="rId4" Type="http://schemas.openxmlformats.org/officeDocument/2006/relationships/image" Target="../media/image243.png"/><Relationship Id="rId9" Type="http://schemas.openxmlformats.org/officeDocument/2006/relationships/image" Target="../media/image70.png"/><Relationship Id="rId14" Type="http://schemas.openxmlformats.org/officeDocument/2006/relationships/image" Target="../media/image7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image" Target="../media/image253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254.png"/><Relationship Id="rId7" Type="http://schemas.openxmlformats.org/officeDocument/2006/relationships/image" Target="../media/image25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11" Type="http://schemas.openxmlformats.org/officeDocument/2006/relationships/slide" Target="slide76.xml"/><Relationship Id="rId5" Type="http://schemas.openxmlformats.org/officeDocument/2006/relationships/image" Target="../media/image256.png"/><Relationship Id="rId10" Type="http://schemas.openxmlformats.org/officeDocument/2006/relationships/image" Target="../media/image261.png"/><Relationship Id="rId4" Type="http://schemas.openxmlformats.org/officeDocument/2006/relationships/image" Target="../media/image255.png"/><Relationship Id="rId9" Type="http://schemas.openxmlformats.org/officeDocument/2006/relationships/image" Target="../media/image260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76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76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" Target="slide7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62.jp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1.xml"/><Relationship Id="rId4" Type="http://schemas.openxmlformats.org/officeDocument/2006/relationships/slide" Target="slide7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image" Target="../media/image265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image" Target="../media/image265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image" Target="../media/image26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image" Target="../media/image265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76.xml"/><Relationship Id="rId5" Type="http://schemas.openxmlformats.org/officeDocument/2006/relationships/image" Target="../media/image266.jpg"/><Relationship Id="rId4" Type="http://schemas.openxmlformats.org/officeDocument/2006/relationships/image" Target="../media/image265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67.jp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68.jp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69.jp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70.jp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7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image" Target="../media/image272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png"/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7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image" Target="../media/image27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png"/><Relationship Id="rId7" Type="http://schemas.openxmlformats.org/officeDocument/2006/relationships/slide" Target="slide76.xml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8.png"/><Relationship Id="rId5" Type="http://schemas.openxmlformats.org/officeDocument/2006/relationships/image" Target="../media/image277.png"/><Relationship Id="rId4" Type="http://schemas.openxmlformats.org/officeDocument/2006/relationships/image" Target="../media/image276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slide" Target="slide76.xml"/><Relationship Id="rId3" Type="http://schemas.openxmlformats.org/officeDocument/2006/relationships/image" Target="../media/image275.png"/><Relationship Id="rId7" Type="http://schemas.openxmlformats.org/officeDocument/2006/relationships/image" Target="../media/image27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8.png"/><Relationship Id="rId5" Type="http://schemas.openxmlformats.org/officeDocument/2006/relationships/image" Target="../media/image277.png"/><Relationship Id="rId4" Type="http://schemas.openxmlformats.org/officeDocument/2006/relationships/image" Target="../media/image276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80.jpg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80.jp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image" Target="../media/image281.jp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5.xml"/><Relationship Id="rId5" Type="http://schemas.openxmlformats.org/officeDocument/2006/relationships/slide" Target="slide130.xml"/><Relationship Id="rId4" Type="http://schemas.openxmlformats.org/officeDocument/2006/relationships/image" Target="../media/image24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08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08.xml"/><Relationship Id="rId4" Type="http://schemas.openxmlformats.org/officeDocument/2006/relationships/image" Target="../media/image283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png"/><Relationship Id="rId7" Type="http://schemas.openxmlformats.org/officeDocument/2006/relationships/slide" Target="slide10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6.png"/><Relationship Id="rId5" Type="http://schemas.openxmlformats.org/officeDocument/2006/relationships/image" Target="../media/image285.png"/><Relationship Id="rId4" Type="http://schemas.openxmlformats.org/officeDocument/2006/relationships/image" Target="../media/image199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png"/><Relationship Id="rId3" Type="http://schemas.openxmlformats.org/officeDocument/2006/relationships/image" Target="../media/image284.png"/><Relationship Id="rId7" Type="http://schemas.openxmlformats.org/officeDocument/2006/relationships/image" Target="../media/image28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6.png"/><Relationship Id="rId11" Type="http://schemas.openxmlformats.org/officeDocument/2006/relationships/slide" Target="slide108.xml"/><Relationship Id="rId5" Type="http://schemas.openxmlformats.org/officeDocument/2006/relationships/image" Target="../media/image285.png"/><Relationship Id="rId10" Type="http://schemas.openxmlformats.org/officeDocument/2006/relationships/image" Target="../media/image290.png"/><Relationship Id="rId4" Type="http://schemas.openxmlformats.org/officeDocument/2006/relationships/image" Target="../media/image199.png"/><Relationship Id="rId9" Type="http://schemas.openxmlformats.org/officeDocument/2006/relationships/image" Target="../media/image289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png"/><Relationship Id="rId3" Type="http://schemas.openxmlformats.org/officeDocument/2006/relationships/image" Target="../media/image212.png"/><Relationship Id="rId7" Type="http://schemas.openxmlformats.org/officeDocument/2006/relationships/image" Target="../media/image28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5" Type="http://schemas.openxmlformats.org/officeDocument/2006/relationships/image" Target="../media/image291.png"/><Relationship Id="rId10" Type="http://schemas.openxmlformats.org/officeDocument/2006/relationships/slide" Target="slide108.xml"/><Relationship Id="rId4" Type="http://schemas.openxmlformats.org/officeDocument/2006/relationships/image" Target="../media/image213.png"/><Relationship Id="rId9" Type="http://schemas.openxmlformats.org/officeDocument/2006/relationships/image" Target="../media/image293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image" Target="../media/image294.jpg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image" Target="../media/image295.jpg"/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image" Target="../media/image296.jpg"/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image" Target="../media/image297.jpg"/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303.png"/><Relationship Id="rId3" Type="http://schemas.openxmlformats.org/officeDocument/2006/relationships/image" Target="../media/image184.png"/><Relationship Id="rId7" Type="http://schemas.openxmlformats.org/officeDocument/2006/relationships/image" Target="../media/image196.png"/><Relationship Id="rId12" Type="http://schemas.openxmlformats.org/officeDocument/2006/relationships/image" Target="../media/image30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3.png"/><Relationship Id="rId11" Type="http://schemas.openxmlformats.org/officeDocument/2006/relationships/image" Target="../media/image301.png"/><Relationship Id="rId5" Type="http://schemas.openxmlformats.org/officeDocument/2006/relationships/image" Target="../media/image298.png"/><Relationship Id="rId10" Type="http://schemas.openxmlformats.org/officeDocument/2006/relationships/image" Target="../media/image300.png"/><Relationship Id="rId4" Type="http://schemas.openxmlformats.org/officeDocument/2006/relationships/image" Target="../media/image185.png"/><Relationship Id="rId9" Type="http://schemas.openxmlformats.org/officeDocument/2006/relationships/image" Target="../media/image299.png"/><Relationship Id="rId14" Type="http://schemas.openxmlformats.org/officeDocument/2006/relationships/slide" Target="slide108.xml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slide" Target="slide108.xml"/><Relationship Id="rId3" Type="http://schemas.openxmlformats.org/officeDocument/2006/relationships/image" Target="../media/image304.png"/><Relationship Id="rId7" Type="http://schemas.openxmlformats.org/officeDocument/2006/relationships/image" Target="../media/image30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7.png"/><Relationship Id="rId5" Type="http://schemas.openxmlformats.org/officeDocument/2006/relationships/image" Target="../media/image306.png"/><Relationship Id="rId4" Type="http://schemas.openxmlformats.org/officeDocument/2006/relationships/image" Target="../media/image305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png"/><Relationship Id="rId3" Type="http://schemas.openxmlformats.org/officeDocument/2006/relationships/image" Target="../media/image304.png"/><Relationship Id="rId7" Type="http://schemas.openxmlformats.org/officeDocument/2006/relationships/image" Target="../media/image30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7.png"/><Relationship Id="rId5" Type="http://schemas.openxmlformats.org/officeDocument/2006/relationships/image" Target="../media/image306.png"/><Relationship Id="rId4" Type="http://schemas.openxmlformats.org/officeDocument/2006/relationships/image" Target="../media/image305.png"/><Relationship Id="rId9" Type="http://schemas.openxmlformats.org/officeDocument/2006/relationships/slide" Target="slide108.xml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310.png"/><Relationship Id="rId7" Type="http://schemas.openxmlformats.org/officeDocument/2006/relationships/image" Target="../media/image31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5" Type="http://schemas.openxmlformats.org/officeDocument/2006/relationships/image" Target="../media/image312.png"/><Relationship Id="rId4" Type="http://schemas.openxmlformats.org/officeDocument/2006/relationships/image" Target="../media/image311.png"/><Relationship Id="rId9" Type="http://schemas.openxmlformats.org/officeDocument/2006/relationships/slide" Target="slide108.xml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310.png"/><Relationship Id="rId7" Type="http://schemas.openxmlformats.org/officeDocument/2006/relationships/image" Target="../media/image31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5" Type="http://schemas.openxmlformats.org/officeDocument/2006/relationships/image" Target="../media/image312.png"/><Relationship Id="rId10" Type="http://schemas.openxmlformats.org/officeDocument/2006/relationships/slide" Target="slide108.xml"/><Relationship Id="rId4" Type="http://schemas.openxmlformats.org/officeDocument/2006/relationships/image" Target="../media/image311.png"/><Relationship Id="rId9" Type="http://schemas.openxmlformats.org/officeDocument/2006/relationships/image" Target="../media/image316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310.png"/><Relationship Id="rId7" Type="http://schemas.openxmlformats.org/officeDocument/2006/relationships/image" Target="../media/image31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5" Type="http://schemas.openxmlformats.org/officeDocument/2006/relationships/image" Target="../media/image312.png"/><Relationship Id="rId10" Type="http://schemas.openxmlformats.org/officeDocument/2006/relationships/slide" Target="slide108.xml"/><Relationship Id="rId4" Type="http://schemas.openxmlformats.org/officeDocument/2006/relationships/image" Target="../media/image311.png"/><Relationship Id="rId9" Type="http://schemas.openxmlformats.org/officeDocument/2006/relationships/image" Target="../media/image316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310.png"/><Relationship Id="rId7" Type="http://schemas.openxmlformats.org/officeDocument/2006/relationships/image" Target="../media/image31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11" Type="http://schemas.openxmlformats.org/officeDocument/2006/relationships/slide" Target="slide108.xml"/><Relationship Id="rId5" Type="http://schemas.openxmlformats.org/officeDocument/2006/relationships/image" Target="../media/image312.png"/><Relationship Id="rId10" Type="http://schemas.openxmlformats.org/officeDocument/2006/relationships/image" Target="../media/image317.png"/><Relationship Id="rId4" Type="http://schemas.openxmlformats.org/officeDocument/2006/relationships/image" Target="../media/image311.png"/><Relationship Id="rId9" Type="http://schemas.openxmlformats.org/officeDocument/2006/relationships/image" Target="../media/image316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310.png"/><Relationship Id="rId7" Type="http://schemas.openxmlformats.org/officeDocument/2006/relationships/image" Target="../media/image314.png"/><Relationship Id="rId12" Type="http://schemas.openxmlformats.org/officeDocument/2006/relationships/slide" Target="slide108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11" Type="http://schemas.openxmlformats.org/officeDocument/2006/relationships/image" Target="../media/image318.png"/><Relationship Id="rId5" Type="http://schemas.openxmlformats.org/officeDocument/2006/relationships/image" Target="../media/image312.png"/><Relationship Id="rId10" Type="http://schemas.openxmlformats.org/officeDocument/2006/relationships/image" Target="../media/image317.png"/><Relationship Id="rId4" Type="http://schemas.openxmlformats.org/officeDocument/2006/relationships/image" Target="../media/image311.png"/><Relationship Id="rId9" Type="http://schemas.openxmlformats.org/officeDocument/2006/relationships/image" Target="../media/image316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image" Target="../media/image319.jpg"/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08.xml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slide" Target="slide108.xml"/><Relationship Id="rId3" Type="http://schemas.openxmlformats.org/officeDocument/2006/relationships/image" Target="../media/image321.png"/><Relationship Id="rId7" Type="http://schemas.openxmlformats.org/officeDocument/2006/relationships/image" Target="../media/image324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3.png"/><Relationship Id="rId5" Type="http://schemas.openxmlformats.org/officeDocument/2006/relationships/image" Target="../media/image322.png"/><Relationship Id="rId4" Type="http://schemas.openxmlformats.org/officeDocument/2006/relationships/image" Target="../media/image4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png"/><Relationship Id="rId2" Type="http://schemas.openxmlformats.org/officeDocument/2006/relationships/image" Target="../media/image325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08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png"/><Relationship Id="rId7" Type="http://schemas.openxmlformats.org/officeDocument/2006/relationships/slide" Target="slide108.xml"/><Relationship Id="rId2" Type="http://schemas.openxmlformats.org/officeDocument/2006/relationships/image" Target="../media/image3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8.png"/><Relationship Id="rId5" Type="http://schemas.openxmlformats.org/officeDocument/2006/relationships/image" Target="../media/image327.png"/><Relationship Id="rId4" Type="http://schemas.openxmlformats.org/officeDocument/2006/relationships/image" Target="../media/image168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slide" Target="slide137.xml"/><Relationship Id="rId4" Type="http://schemas.openxmlformats.org/officeDocument/2006/relationships/image" Target="../media/image3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5.xml"/><Relationship Id="rId6" Type="http://schemas.openxmlformats.org/officeDocument/2006/relationships/slide" Target="slide131.xml"/><Relationship Id="rId5" Type="http://schemas.openxmlformats.org/officeDocument/2006/relationships/hyperlink" Target="http://www.merriam-webster.com/" TargetMode="External"/><Relationship Id="rId4" Type="http://schemas.openxmlformats.org/officeDocument/2006/relationships/image" Target="../media/image331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merriam-webster.com/" TargetMode="External"/><Relationship Id="rId3" Type="http://schemas.openxmlformats.org/officeDocument/2006/relationships/image" Target="../media/image330.png"/><Relationship Id="rId7" Type="http://schemas.openxmlformats.org/officeDocument/2006/relationships/image" Target="../media/image334.jp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3.png"/><Relationship Id="rId5" Type="http://schemas.openxmlformats.org/officeDocument/2006/relationships/image" Target="../media/image332.png"/><Relationship Id="rId4" Type="http://schemas.openxmlformats.org/officeDocument/2006/relationships/image" Target="../media/image331.png"/><Relationship Id="rId9" Type="http://schemas.openxmlformats.org/officeDocument/2006/relationships/slide" Target="slide131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" Target="slide131.xml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png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31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" Target="slide131.xml"/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" Target="slide131.xml"/><Relationship Id="rId2" Type="http://schemas.openxmlformats.org/officeDocument/2006/relationships/image" Target="../media/image33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0893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423"/>
                </a:lnTo>
                <a:lnTo>
                  <a:pt x="4432554" y="82423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53363"/>
            <a:ext cx="4483735" cy="347345"/>
            <a:chOff x="87743" y="953363"/>
            <a:chExt cx="4483735" cy="3473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198854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186154"/>
              <a:ext cx="4381754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959510"/>
              <a:ext cx="50800" cy="2393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53363"/>
              <a:ext cx="4432935" cy="296545"/>
            </a:xfrm>
            <a:custGeom>
              <a:avLst/>
              <a:gdLst/>
              <a:ahLst/>
              <a:cxnLst/>
              <a:rect l="l" t="t" r="r" b="b"/>
              <a:pathLst>
                <a:path w="4432935" h="296544">
                  <a:moveTo>
                    <a:pt x="4432554" y="0"/>
                  </a:moveTo>
                  <a:lnTo>
                    <a:pt x="0" y="0"/>
                  </a:lnTo>
                  <a:lnTo>
                    <a:pt x="0" y="245490"/>
                  </a:lnTo>
                  <a:lnTo>
                    <a:pt x="4008" y="265215"/>
                  </a:lnTo>
                  <a:lnTo>
                    <a:pt x="14922" y="281368"/>
                  </a:lnTo>
                  <a:lnTo>
                    <a:pt x="31075" y="292282"/>
                  </a:lnTo>
                  <a:lnTo>
                    <a:pt x="50800" y="296290"/>
                  </a:lnTo>
                  <a:lnTo>
                    <a:pt x="4381754" y="296290"/>
                  </a:lnTo>
                  <a:lnTo>
                    <a:pt x="4401478" y="292282"/>
                  </a:lnTo>
                  <a:lnTo>
                    <a:pt x="4417631" y="281368"/>
                  </a:lnTo>
                  <a:lnTo>
                    <a:pt x="4428545" y="265215"/>
                  </a:lnTo>
                  <a:lnTo>
                    <a:pt x="4432554" y="24549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997559"/>
              <a:ext cx="0" cy="220345"/>
            </a:xfrm>
            <a:custGeom>
              <a:avLst/>
              <a:gdLst/>
              <a:ahLst/>
              <a:cxnLst/>
              <a:rect l="l" t="t" r="r" b="b"/>
              <a:pathLst>
                <a:path h="220344">
                  <a:moveTo>
                    <a:pt x="0" y="22034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9849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722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595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32762" y="957732"/>
            <a:ext cx="13430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Lexical</a:t>
            </a:r>
            <a:r>
              <a:rPr sz="1400" i="1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Semantics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5" name="object 1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1</a:t>
            </a:fld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Lexical</a:t>
            </a:r>
            <a:r>
              <a:rPr spc="125" dirty="0"/>
              <a:t> </a:t>
            </a:r>
            <a:r>
              <a:rPr spc="-10" dirty="0"/>
              <a:t>Semantics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51472"/>
            <a:ext cx="4483735" cy="774700"/>
            <a:chOff x="87743" y="551472"/>
            <a:chExt cx="4483735" cy="774700"/>
          </a:xfrm>
        </p:grpSpPr>
        <p:sp>
          <p:nvSpPr>
            <p:cNvPr id="4" name="object 4"/>
            <p:cNvSpPr/>
            <p:nvPr/>
          </p:nvSpPr>
          <p:spPr>
            <a:xfrm>
              <a:off x="87743" y="55147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2449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2425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1155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595718"/>
              <a:ext cx="50800" cy="62853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68832"/>
              <a:ext cx="4432935" cy="506730"/>
            </a:xfrm>
            <a:custGeom>
              <a:avLst/>
              <a:gdLst/>
              <a:ahLst/>
              <a:cxnLst/>
              <a:rect l="l" t="t" r="r" b="b"/>
              <a:pathLst>
                <a:path w="4432935" h="506730">
                  <a:moveTo>
                    <a:pt x="4432554" y="0"/>
                  </a:moveTo>
                  <a:lnTo>
                    <a:pt x="0" y="0"/>
                  </a:lnTo>
                  <a:lnTo>
                    <a:pt x="0" y="455422"/>
                  </a:lnTo>
                  <a:lnTo>
                    <a:pt x="4008" y="475146"/>
                  </a:lnTo>
                  <a:lnTo>
                    <a:pt x="14922" y="491299"/>
                  </a:lnTo>
                  <a:lnTo>
                    <a:pt x="31075" y="502213"/>
                  </a:lnTo>
                  <a:lnTo>
                    <a:pt x="50800" y="506222"/>
                  </a:lnTo>
                  <a:lnTo>
                    <a:pt x="4381754" y="506222"/>
                  </a:lnTo>
                  <a:lnTo>
                    <a:pt x="4401478" y="502213"/>
                  </a:lnTo>
                  <a:lnTo>
                    <a:pt x="4417631" y="491299"/>
                  </a:lnTo>
                  <a:lnTo>
                    <a:pt x="4428545" y="475146"/>
                  </a:lnTo>
                  <a:lnTo>
                    <a:pt x="4432554" y="45542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3383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h="609600">
                  <a:moveTo>
                    <a:pt x="0" y="6094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11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084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5957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477831"/>
            <a:ext cx="4342765" cy="78930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0"/>
              </a:spcBef>
            </a:pPr>
            <a:r>
              <a:rPr sz="950" b="1" dirty="0">
                <a:latin typeface="Trebuchet MS"/>
                <a:cs typeface="Trebuchet MS"/>
              </a:rPr>
              <a:t>Lexical</a:t>
            </a:r>
            <a:r>
              <a:rPr sz="950" b="1" spc="9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semantics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concerned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systematic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related </a:t>
            </a:r>
            <a:r>
              <a:rPr sz="950" dirty="0">
                <a:latin typeface="Trebuchet MS"/>
                <a:cs typeface="Trebuchet MS"/>
              </a:rPr>
              <a:t>connections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among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internal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meaning-related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structure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spc="-10" dirty="0">
                <a:latin typeface="Trebuchet MS"/>
                <a:cs typeface="Trebuchet MS"/>
              </a:rPr>
              <a:t>individual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6" name="object 1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BC8DCFE5-B3C2-4305-B051-ACB04AF88C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</a:t>
            </a:fld>
            <a:r>
              <a:rPr lang="en-IN" spc="-5" dirty="0"/>
              <a:t> </a:t>
            </a:r>
            <a:r>
              <a:rPr lang="en-IN" spc="-110" dirty="0"/>
              <a:t>/</a:t>
            </a:r>
            <a:r>
              <a:rPr lang="en-IN" spc="15" dirty="0"/>
              <a:t> </a:t>
            </a:r>
            <a:r>
              <a:rPr lang="en-IN"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Lexical</a:t>
            </a:r>
            <a:r>
              <a:rPr spc="125" dirty="0"/>
              <a:t> </a:t>
            </a:r>
            <a:r>
              <a:rPr spc="-10" dirty="0"/>
              <a:t>Semantics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51472"/>
            <a:ext cx="4483735" cy="774700"/>
            <a:chOff x="87743" y="551472"/>
            <a:chExt cx="4483735" cy="774700"/>
          </a:xfrm>
        </p:grpSpPr>
        <p:sp>
          <p:nvSpPr>
            <p:cNvPr id="4" name="object 4"/>
            <p:cNvSpPr/>
            <p:nvPr/>
          </p:nvSpPr>
          <p:spPr>
            <a:xfrm>
              <a:off x="87743" y="55147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2449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2425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1155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595718"/>
              <a:ext cx="50800" cy="62853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68832"/>
              <a:ext cx="4432935" cy="506730"/>
            </a:xfrm>
            <a:custGeom>
              <a:avLst/>
              <a:gdLst/>
              <a:ahLst/>
              <a:cxnLst/>
              <a:rect l="l" t="t" r="r" b="b"/>
              <a:pathLst>
                <a:path w="4432935" h="506730">
                  <a:moveTo>
                    <a:pt x="4432554" y="0"/>
                  </a:moveTo>
                  <a:lnTo>
                    <a:pt x="0" y="0"/>
                  </a:lnTo>
                  <a:lnTo>
                    <a:pt x="0" y="455422"/>
                  </a:lnTo>
                  <a:lnTo>
                    <a:pt x="4008" y="475146"/>
                  </a:lnTo>
                  <a:lnTo>
                    <a:pt x="14922" y="491299"/>
                  </a:lnTo>
                  <a:lnTo>
                    <a:pt x="31075" y="502213"/>
                  </a:lnTo>
                  <a:lnTo>
                    <a:pt x="50800" y="506222"/>
                  </a:lnTo>
                  <a:lnTo>
                    <a:pt x="4381754" y="506222"/>
                  </a:lnTo>
                  <a:lnTo>
                    <a:pt x="4401478" y="502213"/>
                  </a:lnTo>
                  <a:lnTo>
                    <a:pt x="4417631" y="491299"/>
                  </a:lnTo>
                  <a:lnTo>
                    <a:pt x="4428545" y="475146"/>
                  </a:lnTo>
                  <a:lnTo>
                    <a:pt x="4432554" y="45542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3383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h="609600">
                  <a:moveTo>
                    <a:pt x="0" y="6094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11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084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5957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426984"/>
            <a:ext cx="4483735" cy="455295"/>
            <a:chOff x="87743" y="1426984"/>
            <a:chExt cx="4483735" cy="455295"/>
          </a:xfrm>
        </p:grpSpPr>
        <p:sp>
          <p:nvSpPr>
            <p:cNvPr id="15" name="object 15"/>
            <p:cNvSpPr/>
            <p:nvPr/>
          </p:nvSpPr>
          <p:spPr>
            <a:xfrm>
              <a:off x="87743" y="1426984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1780362"/>
              <a:ext cx="101599" cy="1016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1767662"/>
              <a:ext cx="4381754" cy="114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298" y="1477543"/>
              <a:ext cx="50800" cy="30281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7743" y="1471371"/>
              <a:ext cx="4432935" cy="360045"/>
            </a:xfrm>
            <a:custGeom>
              <a:avLst/>
              <a:gdLst/>
              <a:ahLst/>
              <a:cxnLst/>
              <a:rect l="l" t="t" r="r" b="b"/>
              <a:pathLst>
                <a:path w="4432935" h="360044">
                  <a:moveTo>
                    <a:pt x="4432554" y="0"/>
                  </a:moveTo>
                  <a:lnTo>
                    <a:pt x="0" y="0"/>
                  </a:lnTo>
                  <a:lnTo>
                    <a:pt x="0" y="308990"/>
                  </a:lnTo>
                  <a:lnTo>
                    <a:pt x="4008" y="328715"/>
                  </a:lnTo>
                  <a:lnTo>
                    <a:pt x="14922" y="344868"/>
                  </a:lnTo>
                  <a:lnTo>
                    <a:pt x="31075" y="355782"/>
                  </a:lnTo>
                  <a:lnTo>
                    <a:pt x="50800" y="359790"/>
                  </a:lnTo>
                  <a:lnTo>
                    <a:pt x="4381754" y="359790"/>
                  </a:lnTo>
                  <a:lnTo>
                    <a:pt x="4401478" y="355782"/>
                  </a:lnTo>
                  <a:lnTo>
                    <a:pt x="4417631" y="344868"/>
                  </a:lnTo>
                  <a:lnTo>
                    <a:pt x="4428545" y="328715"/>
                  </a:lnTo>
                  <a:lnTo>
                    <a:pt x="4432554" y="30899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0310" y="1515694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h="283844">
                  <a:moveTo>
                    <a:pt x="0" y="2837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10" y="15029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4902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4775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25729" y="477831"/>
            <a:ext cx="4342765" cy="13208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0"/>
              </a:spcBef>
            </a:pPr>
            <a:r>
              <a:rPr sz="950" b="1" dirty="0">
                <a:latin typeface="Trebuchet MS"/>
                <a:cs typeface="Trebuchet MS"/>
              </a:rPr>
              <a:t>Lexical</a:t>
            </a:r>
            <a:r>
              <a:rPr sz="950" b="1" spc="9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semantics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concerned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systematic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related </a:t>
            </a:r>
            <a:r>
              <a:rPr sz="950" dirty="0">
                <a:latin typeface="Trebuchet MS"/>
                <a:cs typeface="Trebuchet MS"/>
              </a:rPr>
              <a:t>connections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among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internal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meaning-related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structure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spc="-10" dirty="0">
                <a:latin typeface="Trebuchet MS"/>
                <a:cs typeface="Trebuchet MS"/>
              </a:rPr>
              <a:t>individual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latin typeface="Trebuchet MS"/>
                <a:cs typeface="Trebuchet MS"/>
              </a:rPr>
              <a:t>To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identify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semantics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lexical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items, </a:t>
            </a:r>
            <a:r>
              <a:rPr sz="950" dirty="0">
                <a:latin typeface="Trebuchet MS"/>
                <a:cs typeface="Trebuchet MS"/>
              </a:rPr>
              <a:t>we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need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focus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b="1" spc="-10" dirty="0">
                <a:latin typeface="Trebuchet MS"/>
                <a:cs typeface="Trebuchet MS"/>
              </a:rPr>
              <a:t>lexeme</a:t>
            </a:r>
            <a:r>
              <a:rPr sz="950" spc="-10" dirty="0">
                <a:latin typeface="Trebuchet MS"/>
                <a:cs typeface="Trebuchet MS"/>
              </a:rPr>
              <a:t>,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individual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entry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lexicon.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6" name="object 2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C0D8AE5F-DCBD-4D54-8DBF-27149F716A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Lexical</a:t>
            </a:r>
            <a:r>
              <a:rPr spc="125" dirty="0"/>
              <a:t> </a:t>
            </a:r>
            <a:r>
              <a:rPr spc="-10" dirty="0"/>
              <a:t>Semantics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51472"/>
            <a:ext cx="4483735" cy="774700"/>
            <a:chOff x="87743" y="551472"/>
            <a:chExt cx="4483735" cy="774700"/>
          </a:xfrm>
        </p:grpSpPr>
        <p:sp>
          <p:nvSpPr>
            <p:cNvPr id="4" name="object 4"/>
            <p:cNvSpPr/>
            <p:nvPr/>
          </p:nvSpPr>
          <p:spPr>
            <a:xfrm>
              <a:off x="87743" y="55147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2449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2425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1155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595718"/>
              <a:ext cx="50800" cy="62853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68832"/>
              <a:ext cx="4432935" cy="506730"/>
            </a:xfrm>
            <a:custGeom>
              <a:avLst/>
              <a:gdLst/>
              <a:ahLst/>
              <a:cxnLst/>
              <a:rect l="l" t="t" r="r" b="b"/>
              <a:pathLst>
                <a:path w="4432935" h="506730">
                  <a:moveTo>
                    <a:pt x="4432554" y="0"/>
                  </a:moveTo>
                  <a:lnTo>
                    <a:pt x="0" y="0"/>
                  </a:lnTo>
                  <a:lnTo>
                    <a:pt x="0" y="455422"/>
                  </a:lnTo>
                  <a:lnTo>
                    <a:pt x="4008" y="475146"/>
                  </a:lnTo>
                  <a:lnTo>
                    <a:pt x="14922" y="491299"/>
                  </a:lnTo>
                  <a:lnTo>
                    <a:pt x="31075" y="502213"/>
                  </a:lnTo>
                  <a:lnTo>
                    <a:pt x="50800" y="506222"/>
                  </a:lnTo>
                  <a:lnTo>
                    <a:pt x="4381754" y="506222"/>
                  </a:lnTo>
                  <a:lnTo>
                    <a:pt x="4401478" y="502213"/>
                  </a:lnTo>
                  <a:lnTo>
                    <a:pt x="4417631" y="491299"/>
                  </a:lnTo>
                  <a:lnTo>
                    <a:pt x="4428545" y="475146"/>
                  </a:lnTo>
                  <a:lnTo>
                    <a:pt x="4432554" y="45542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3383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h="609600">
                  <a:moveTo>
                    <a:pt x="0" y="60947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11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084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5957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426984"/>
            <a:ext cx="4483735" cy="455295"/>
            <a:chOff x="87743" y="1426984"/>
            <a:chExt cx="4483735" cy="455295"/>
          </a:xfrm>
        </p:grpSpPr>
        <p:sp>
          <p:nvSpPr>
            <p:cNvPr id="15" name="object 15"/>
            <p:cNvSpPr/>
            <p:nvPr/>
          </p:nvSpPr>
          <p:spPr>
            <a:xfrm>
              <a:off x="87743" y="1426984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1780362"/>
              <a:ext cx="101599" cy="1016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1767662"/>
              <a:ext cx="4381754" cy="114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298" y="1477543"/>
              <a:ext cx="50800" cy="30281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7743" y="1471371"/>
              <a:ext cx="4432935" cy="360045"/>
            </a:xfrm>
            <a:custGeom>
              <a:avLst/>
              <a:gdLst/>
              <a:ahLst/>
              <a:cxnLst/>
              <a:rect l="l" t="t" r="r" b="b"/>
              <a:pathLst>
                <a:path w="4432935" h="360044">
                  <a:moveTo>
                    <a:pt x="4432554" y="0"/>
                  </a:moveTo>
                  <a:lnTo>
                    <a:pt x="0" y="0"/>
                  </a:lnTo>
                  <a:lnTo>
                    <a:pt x="0" y="308990"/>
                  </a:lnTo>
                  <a:lnTo>
                    <a:pt x="4008" y="328715"/>
                  </a:lnTo>
                  <a:lnTo>
                    <a:pt x="14922" y="344868"/>
                  </a:lnTo>
                  <a:lnTo>
                    <a:pt x="31075" y="355782"/>
                  </a:lnTo>
                  <a:lnTo>
                    <a:pt x="50800" y="359790"/>
                  </a:lnTo>
                  <a:lnTo>
                    <a:pt x="4381754" y="359790"/>
                  </a:lnTo>
                  <a:lnTo>
                    <a:pt x="4401478" y="355782"/>
                  </a:lnTo>
                  <a:lnTo>
                    <a:pt x="4417631" y="344868"/>
                  </a:lnTo>
                  <a:lnTo>
                    <a:pt x="4428545" y="328715"/>
                  </a:lnTo>
                  <a:lnTo>
                    <a:pt x="4432554" y="30899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0310" y="1515694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h="283844">
                  <a:moveTo>
                    <a:pt x="0" y="2837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10" y="15029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4902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4775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87743" y="1983092"/>
            <a:ext cx="4483735" cy="1212215"/>
            <a:chOff x="87743" y="1983092"/>
            <a:chExt cx="4483735" cy="1212215"/>
          </a:xfrm>
        </p:grpSpPr>
        <p:sp>
          <p:nvSpPr>
            <p:cNvPr id="25" name="object 25"/>
            <p:cNvSpPr/>
            <p:nvPr/>
          </p:nvSpPr>
          <p:spPr>
            <a:xfrm>
              <a:off x="87743" y="1983092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2146757"/>
              <a:ext cx="4432554" cy="5060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3093643"/>
              <a:ext cx="101599" cy="1016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3080943"/>
              <a:ext cx="4381754" cy="1143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2027326"/>
              <a:ext cx="50800" cy="106631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7743" y="2191054"/>
              <a:ext cx="4432935" cy="953769"/>
            </a:xfrm>
            <a:custGeom>
              <a:avLst/>
              <a:gdLst/>
              <a:ahLst/>
              <a:cxnLst/>
              <a:rect l="l" t="t" r="r" b="b"/>
              <a:pathLst>
                <a:path w="4432935" h="953769">
                  <a:moveTo>
                    <a:pt x="4432554" y="0"/>
                  </a:moveTo>
                  <a:lnTo>
                    <a:pt x="0" y="0"/>
                  </a:lnTo>
                  <a:lnTo>
                    <a:pt x="0" y="902588"/>
                  </a:lnTo>
                  <a:lnTo>
                    <a:pt x="4008" y="922313"/>
                  </a:lnTo>
                  <a:lnTo>
                    <a:pt x="14922" y="938466"/>
                  </a:lnTo>
                  <a:lnTo>
                    <a:pt x="31075" y="949380"/>
                  </a:lnTo>
                  <a:lnTo>
                    <a:pt x="50800" y="953388"/>
                  </a:lnTo>
                  <a:lnTo>
                    <a:pt x="4381754" y="953388"/>
                  </a:lnTo>
                  <a:lnTo>
                    <a:pt x="4401478" y="949380"/>
                  </a:lnTo>
                  <a:lnTo>
                    <a:pt x="4417631" y="938466"/>
                  </a:lnTo>
                  <a:lnTo>
                    <a:pt x="4428545" y="922313"/>
                  </a:lnTo>
                  <a:lnTo>
                    <a:pt x="4432554" y="90258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20309" y="2065451"/>
              <a:ext cx="0" cy="1047750"/>
            </a:xfrm>
            <a:custGeom>
              <a:avLst/>
              <a:gdLst/>
              <a:ahLst/>
              <a:cxnLst/>
              <a:rect l="l" t="t" r="r" b="b"/>
              <a:pathLst>
                <a:path h="1047750">
                  <a:moveTo>
                    <a:pt x="0" y="10472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20309" y="20527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20309" y="20400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09" y="20273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622880"/>
              <a:ext cx="64757" cy="6475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3004985"/>
              <a:ext cx="64757" cy="64757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25729" y="477831"/>
            <a:ext cx="4342765" cy="263207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0"/>
              </a:spcBef>
            </a:pPr>
            <a:r>
              <a:rPr sz="950" b="1" dirty="0">
                <a:latin typeface="Trebuchet MS"/>
                <a:cs typeface="Trebuchet MS"/>
              </a:rPr>
              <a:t>Lexical</a:t>
            </a:r>
            <a:r>
              <a:rPr sz="950" b="1" spc="9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semantics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concerned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systematic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related </a:t>
            </a:r>
            <a:r>
              <a:rPr sz="950" dirty="0">
                <a:latin typeface="Trebuchet MS"/>
                <a:cs typeface="Trebuchet MS"/>
              </a:rPr>
              <a:t>connections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among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internal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meaning-related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structure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spc="-10" dirty="0">
                <a:latin typeface="Trebuchet MS"/>
                <a:cs typeface="Trebuchet MS"/>
              </a:rPr>
              <a:t>individual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latin typeface="Trebuchet MS"/>
                <a:cs typeface="Trebuchet MS"/>
              </a:rPr>
              <a:t>To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identify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semantics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lexical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items, </a:t>
            </a:r>
            <a:r>
              <a:rPr sz="950" dirty="0">
                <a:latin typeface="Trebuchet MS"/>
                <a:cs typeface="Trebuchet MS"/>
              </a:rPr>
              <a:t>we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need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focus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b="1" spc="-10" dirty="0">
                <a:latin typeface="Trebuchet MS"/>
                <a:cs typeface="Trebuchet MS"/>
              </a:rPr>
              <a:t>lexeme</a:t>
            </a:r>
            <a:r>
              <a:rPr sz="950" spc="-10" dirty="0">
                <a:latin typeface="Trebuchet MS"/>
                <a:cs typeface="Trebuchet MS"/>
              </a:rPr>
              <a:t>,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individual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entry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lexicon.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What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is</a:t>
            </a:r>
            <a:r>
              <a:rPr sz="1100" i="1" spc="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</a:t>
            </a:r>
            <a:r>
              <a:rPr sz="1100" i="1" spc="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lexeme?</a:t>
            </a:r>
            <a:endParaRPr sz="1100">
              <a:latin typeface="Cambria"/>
              <a:cs typeface="Cambria"/>
            </a:endParaRPr>
          </a:p>
          <a:p>
            <a:pPr marL="12700" marR="247015">
              <a:lnSpc>
                <a:spcPct val="118900"/>
              </a:lnSpc>
              <a:spcBef>
                <a:spcPts val="135"/>
              </a:spcBef>
            </a:pPr>
            <a:r>
              <a:rPr sz="950" b="1" dirty="0">
                <a:latin typeface="Trebuchet MS"/>
                <a:cs typeface="Trebuchet MS"/>
              </a:rPr>
              <a:t>Lexeme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thought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pairing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particular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and </a:t>
            </a:r>
            <a:r>
              <a:rPr sz="950" dirty="0">
                <a:latin typeface="Trebuchet MS"/>
                <a:cs typeface="Trebuchet MS"/>
              </a:rPr>
              <a:t>phonological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some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sort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symbolic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representation.</a:t>
            </a:r>
            <a:endParaRPr sz="950">
              <a:latin typeface="Trebuchet MS"/>
              <a:cs typeface="Trebuchet MS"/>
            </a:endParaRPr>
          </a:p>
          <a:p>
            <a:pPr marL="289560" marR="158115">
              <a:lnSpc>
                <a:spcPct val="1188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Orthographic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form,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phonological</a:t>
            </a:r>
            <a:r>
              <a:rPr sz="950" spc="-10" dirty="0">
                <a:latin typeface="Trebuchet MS"/>
                <a:cs typeface="Trebuchet MS"/>
              </a:rPr>
              <a:t> form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refer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appropriate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form </a:t>
            </a:r>
            <a:r>
              <a:rPr sz="950" dirty="0">
                <a:latin typeface="Trebuchet MS"/>
                <a:cs typeface="Trebuchet MS"/>
              </a:rPr>
              <a:t>part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lexeme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spc="70" dirty="0">
                <a:latin typeface="Trebuchet MS"/>
                <a:cs typeface="Trebuchet MS"/>
              </a:rPr>
              <a:t>Sense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refers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lexeme’s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counterpart.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9" name="object 3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5F49AA15-4CD4-4BA7-A2D0-DD18DC1572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6629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113" y="652386"/>
            <a:ext cx="4038600" cy="225044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3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Example:</a:t>
            </a:r>
            <a:r>
              <a:rPr spc="105" dirty="0"/>
              <a:t> </a:t>
            </a:r>
            <a:r>
              <a:rPr spc="-20" dirty="0"/>
              <a:t>meaning</a:t>
            </a:r>
            <a:r>
              <a:rPr spc="30" dirty="0"/>
              <a:t> </a:t>
            </a:r>
            <a:r>
              <a:rPr spc="-10" dirty="0"/>
              <a:t>related</a:t>
            </a:r>
            <a:r>
              <a:rPr spc="30" dirty="0"/>
              <a:t> </a:t>
            </a:r>
            <a:r>
              <a:rPr spc="-10" dirty="0"/>
              <a:t>facts?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87590"/>
            <a:ext cx="4483735" cy="1405255"/>
            <a:chOff x="87743" y="587590"/>
            <a:chExt cx="4483735" cy="1405255"/>
          </a:xfrm>
        </p:grpSpPr>
        <p:sp>
          <p:nvSpPr>
            <p:cNvPr id="4" name="object 4"/>
            <p:cNvSpPr/>
            <p:nvPr/>
          </p:nvSpPr>
          <p:spPr>
            <a:xfrm>
              <a:off x="87743" y="58759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60615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89120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878507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31825"/>
              <a:ext cx="50800" cy="12593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04849"/>
              <a:ext cx="4432935" cy="1137285"/>
            </a:xfrm>
            <a:custGeom>
              <a:avLst/>
              <a:gdLst/>
              <a:ahLst/>
              <a:cxnLst/>
              <a:rect l="l" t="t" r="r" b="b"/>
              <a:pathLst>
                <a:path w="4432935" h="1137285">
                  <a:moveTo>
                    <a:pt x="4432554" y="0"/>
                  </a:moveTo>
                  <a:lnTo>
                    <a:pt x="0" y="0"/>
                  </a:lnTo>
                  <a:lnTo>
                    <a:pt x="0" y="1086358"/>
                  </a:lnTo>
                  <a:lnTo>
                    <a:pt x="4008" y="1106082"/>
                  </a:lnTo>
                  <a:lnTo>
                    <a:pt x="14922" y="1122235"/>
                  </a:lnTo>
                  <a:lnTo>
                    <a:pt x="31075" y="1133149"/>
                  </a:lnTo>
                  <a:lnTo>
                    <a:pt x="50800" y="1137158"/>
                  </a:lnTo>
                  <a:lnTo>
                    <a:pt x="4381754" y="1137158"/>
                  </a:lnTo>
                  <a:lnTo>
                    <a:pt x="4401478" y="1133149"/>
                  </a:lnTo>
                  <a:lnTo>
                    <a:pt x="4417631" y="1122235"/>
                  </a:lnTo>
                  <a:lnTo>
                    <a:pt x="4428545" y="1106082"/>
                  </a:lnTo>
                  <a:lnTo>
                    <a:pt x="4432554" y="108635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669975"/>
              <a:ext cx="0" cy="1240790"/>
            </a:xfrm>
            <a:custGeom>
              <a:avLst/>
              <a:gdLst/>
              <a:ahLst/>
              <a:cxnLst/>
              <a:rect l="l" t="t" r="r" b="b"/>
              <a:pathLst>
                <a:path h="1240789">
                  <a:moveTo>
                    <a:pt x="0" y="1240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6572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445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318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854621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3672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44675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656791"/>
              <a:ext cx="64757" cy="6475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5729" y="512943"/>
            <a:ext cx="4314190" cy="142113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Definitions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from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American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Heritage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Dictionary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(Morris,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1985)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18900"/>
              </a:lnSpc>
              <a:spcBef>
                <a:spcPts val="209"/>
              </a:spcBef>
            </a:pPr>
            <a:r>
              <a:rPr sz="950" b="1" dirty="0">
                <a:latin typeface="Trebuchet MS"/>
                <a:cs typeface="Trebuchet MS"/>
              </a:rPr>
              <a:t>right</a:t>
            </a:r>
            <a:r>
              <a:rPr sz="950" b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adj.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located near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 </a:t>
            </a:r>
            <a:r>
              <a:rPr sz="950" spc="-20" dirty="0">
                <a:latin typeface="Trebuchet MS"/>
                <a:cs typeface="Trebuchet MS"/>
              </a:rPr>
              <a:t>right</a:t>
            </a:r>
            <a:r>
              <a:rPr sz="950" dirty="0">
                <a:latin typeface="Trebuchet MS"/>
                <a:cs typeface="Trebuchet MS"/>
              </a:rPr>
              <a:t> hand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esp.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being 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 </a:t>
            </a:r>
            <a:r>
              <a:rPr sz="950" spc="-20" dirty="0">
                <a:latin typeface="Trebuchet MS"/>
                <a:cs typeface="Trebuchet MS"/>
              </a:rPr>
              <a:t>right</a:t>
            </a:r>
            <a:r>
              <a:rPr sz="950" dirty="0">
                <a:latin typeface="Trebuchet MS"/>
                <a:cs typeface="Trebuchet MS"/>
              </a:rPr>
              <a:t> when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facing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direction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observer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b="1" spc="-10" dirty="0">
                <a:latin typeface="Trebuchet MS"/>
                <a:cs typeface="Trebuchet MS"/>
              </a:rPr>
              <a:t>left</a:t>
            </a:r>
            <a:r>
              <a:rPr sz="950" b="1" spc="-3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adj.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located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near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side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body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than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right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b="1" dirty="0">
                <a:latin typeface="Trebuchet MS"/>
                <a:cs typeface="Trebuchet MS"/>
              </a:rPr>
              <a:t>red</a:t>
            </a:r>
            <a:r>
              <a:rPr sz="950" b="1" spc="-3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n.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color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blood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ruby</a:t>
            </a:r>
            <a:endParaRPr sz="950">
              <a:latin typeface="Trebuchet MS"/>
              <a:cs typeface="Trebuchet MS"/>
            </a:endParaRPr>
          </a:p>
          <a:p>
            <a:pPr marL="289560" marR="1193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blood</a:t>
            </a:r>
            <a:r>
              <a:rPr sz="950" b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n.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liquid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circulates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heart,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arteries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veins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spc="-10" dirty="0">
                <a:latin typeface="Trebuchet MS"/>
                <a:cs typeface="Trebuchet MS"/>
              </a:rPr>
              <a:t>animals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0" name="object 20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464A88D-A6B9-42D9-8F21-9C3B63CD264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6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Example:</a:t>
            </a:r>
            <a:r>
              <a:rPr spc="105" dirty="0"/>
              <a:t> </a:t>
            </a:r>
            <a:r>
              <a:rPr spc="-20" dirty="0"/>
              <a:t>meaning</a:t>
            </a:r>
            <a:r>
              <a:rPr spc="30" dirty="0"/>
              <a:t> </a:t>
            </a:r>
            <a:r>
              <a:rPr spc="-10" dirty="0"/>
              <a:t>related</a:t>
            </a:r>
            <a:r>
              <a:rPr spc="30" dirty="0"/>
              <a:t> </a:t>
            </a:r>
            <a:r>
              <a:rPr spc="-10" dirty="0"/>
              <a:t>facts?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87590"/>
            <a:ext cx="4483735" cy="1405255"/>
            <a:chOff x="87743" y="587590"/>
            <a:chExt cx="4483735" cy="1405255"/>
          </a:xfrm>
        </p:grpSpPr>
        <p:sp>
          <p:nvSpPr>
            <p:cNvPr id="4" name="object 4"/>
            <p:cNvSpPr/>
            <p:nvPr/>
          </p:nvSpPr>
          <p:spPr>
            <a:xfrm>
              <a:off x="87743" y="58759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60615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89120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878507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31825"/>
              <a:ext cx="50800" cy="12593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04849"/>
              <a:ext cx="4432935" cy="1137285"/>
            </a:xfrm>
            <a:custGeom>
              <a:avLst/>
              <a:gdLst/>
              <a:ahLst/>
              <a:cxnLst/>
              <a:rect l="l" t="t" r="r" b="b"/>
              <a:pathLst>
                <a:path w="4432935" h="1137285">
                  <a:moveTo>
                    <a:pt x="4432554" y="0"/>
                  </a:moveTo>
                  <a:lnTo>
                    <a:pt x="0" y="0"/>
                  </a:lnTo>
                  <a:lnTo>
                    <a:pt x="0" y="1086358"/>
                  </a:lnTo>
                  <a:lnTo>
                    <a:pt x="4008" y="1106082"/>
                  </a:lnTo>
                  <a:lnTo>
                    <a:pt x="14922" y="1122235"/>
                  </a:lnTo>
                  <a:lnTo>
                    <a:pt x="31075" y="1133149"/>
                  </a:lnTo>
                  <a:lnTo>
                    <a:pt x="50800" y="1137158"/>
                  </a:lnTo>
                  <a:lnTo>
                    <a:pt x="4381754" y="1137158"/>
                  </a:lnTo>
                  <a:lnTo>
                    <a:pt x="4401478" y="1133149"/>
                  </a:lnTo>
                  <a:lnTo>
                    <a:pt x="4417631" y="1122235"/>
                  </a:lnTo>
                  <a:lnTo>
                    <a:pt x="4428545" y="1106082"/>
                  </a:lnTo>
                  <a:lnTo>
                    <a:pt x="4432554" y="108635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669975"/>
              <a:ext cx="0" cy="1240790"/>
            </a:xfrm>
            <a:custGeom>
              <a:avLst/>
              <a:gdLst/>
              <a:ahLst/>
              <a:cxnLst/>
              <a:rect l="l" t="t" r="r" b="b"/>
              <a:pathLst>
                <a:path h="1240789">
                  <a:moveTo>
                    <a:pt x="0" y="1240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6572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445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318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854621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3672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44675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656791"/>
              <a:ext cx="64757" cy="64757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87743" y="2093938"/>
            <a:ext cx="4483735" cy="1047750"/>
            <a:chOff x="87743" y="2093938"/>
            <a:chExt cx="4483735" cy="1047750"/>
          </a:xfrm>
        </p:grpSpPr>
        <p:sp>
          <p:nvSpPr>
            <p:cNvPr id="19" name="object 19"/>
            <p:cNvSpPr/>
            <p:nvPr/>
          </p:nvSpPr>
          <p:spPr>
            <a:xfrm>
              <a:off x="87743" y="2093938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3039465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3026765"/>
              <a:ext cx="4381754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144496"/>
              <a:ext cx="50800" cy="89496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138400"/>
              <a:ext cx="4432935" cy="951865"/>
            </a:xfrm>
            <a:custGeom>
              <a:avLst/>
              <a:gdLst/>
              <a:ahLst/>
              <a:cxnLst/>
              <a:rect l="l" t="t" r="r" b="b"/>
              <a:pathLst>
                <a:path w="4432935" h="951864">
                  <a:moveTo>
                    <a:pt x="4432554" y="0"/>
                  </a:moveTo>
                  <a:lnTo>
                    <a:pt x="0" y="0"/>
                  </a:lnTo>
                  <a:lnTo>
                    <a:pt x="0" y="901064"/>
                  </a:lnTo>
                  <a:lnTo>
                    <a:pt x="4008" y="920789"/>
                  </a:lnTo>
                  <a:lnTo>
                    <a:pt x="14922" y="936942"/>
                  </a:lnTo>
                  <a:lnTo>
                    <a:pt x="31075" y="947856"/>
                  </a:lnTo>
                  <a:lnTo>
                    <a:pt x="50800" y="951864"/>
                  </a:lnTo>
                  <a:lnTo>
                    <a:pt x="4381754" y="951864"/>
                  </a:lnTo>
                  <a:lnTo>
                    <a:pt x="4401478" y="947856"/>
                  </a:lnTo>
                  <a:lnTo>
                    <a:pt x="4417631" y="936942"/>
                  </a:lnTo>
                  <a:lnTo>
                    <a:pt x="4428545" y="920789"/>
                  </a:lnTo>
                  <a:lnTo>
                    <a:pt x="4432554" y="90106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182596"/>
              <a:ext cx="0" cy="876300"/>
            </a:xfrm>
            <a:custGeom>
              <a:avLst/>
              <a:gdLst/>
              <a:ahLst/>
              <a:cxnLst/>
              <a:rect l="l" t="t" r="r" b="b"/>
              <a:pathLst>
                <a:path h="876300">
                  <a:moveTo>
                    <a:pt x="0" y="8759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1698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1571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1444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188095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398128"/>
              <a:ext cx="64757" cy="6475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1597" y="2780233"/>
              <a:ext cx="64757" cy="6475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25729" y="512943"/>
            <a:ext cx="4334510" cy="25444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Definitions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from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American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Heritage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Dictionary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(Morris,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1985)</a:t>
            </a:r>
            <a:endParaRPr sz="1100">
              <a:latin typeface="Cambria"/>
              <a:cs typeface="Cambria"/>
            </a:endParaRPr>
          </a:p>
          <a:p>
            <a:pPr marL="289560" marR="25400">
              <a:lnSpc>
                <a:spcPct val="118900"/>
              </a:lnSpc>
              <a:spcBef>
                <a:spcPts val="209"/>
              </a:spcBef>
            </a:pPr>
            <a:r>
              <a:rPr sz="950" b="1" dirty="0">
                <a:latin typeface="Trebuchet MS"/>
                <a:cs typeface="Trebuchet MS"/>
              </a:rPr>
              <a:t>right</a:t>
            </a:r>
            <a:r>
              <a:rPr sz="950" b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adj.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located near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 </a:t>
            </a:r>
            <a:r>
              <a:rPr sz="950" spc="-20" dirty="0">
                <a:latin typeface="Trebuchet MS"/>
                <a:cs typeface="Trebuchet MS"/>
              </a:rPr>
              <a:t>right</a:t>
            </a:r>
            <a:r>
              <a:rPr sz="950" dirty="0">
                <a:latin typeface="Trebuchet MS"/>
                <a:cs typeface="Trebuchet MS"/>
              </a:rPr>
              <a:t> hand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esp.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being 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 </a:t>
            </a:r>
            <a:r>
              <a:rPr sz="950" spc="-20" dirty="0">
                <a:latin typeface="Trebuchet MS"/>
                <a:cs typeface="Trebuchet MS"/>
              </a:rPr>
              <a:t>right</a:t>
            </a:r>
            <a:r>
              <a:rPr sz="950" dirty="0">
                <a:latin typeface="Trebuchet MS"/>
                <a:cs typeface="Trebuchet MS"/>
              </a:rPr>
              <a:t> when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facing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direction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observer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b="1" spc="-10" dirty="0">
                <a:latin typeface="Trebuchet MS"/>
                <a:cs typeface="Trebuchet MS"/>
              </a:rPr>
              <a:t>left</a:t>
            </a:r>
            <a:r>
              <a:rPr sz="950" b="1" spc="-3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adj.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located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near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side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body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than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right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b="1" dirty="0">
                <a:latin typeface="Trebuchet MS"/>
                <a:cs typeface="Trebuchet MS"/>
              </a:rPr>
              <a:t>red</a:t>
            </a:r>
            <a:r>
              <a:rPr sz="950" b="1" spc="-3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n.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color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blood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ruby</a:t>
            </a:r>
            <a:endParaRPr sz="950">
              <a:latin typeface="Trebuchet MS"/>
              <a:cs typeface="Trebuchet MS"/>
            </a:endParaRPr>
          </a:p>
          <a:p>
            <a:pPr marL="289560" marR="140335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blood</a:t>
            </a:r>
            <a:r>
              <a:rPr sz="950" b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n.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liquid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circulates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heart,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arteries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veins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spc="-10" dirty="0">
                <a:latin typeface="Trebuchet MS"/>
                <a:cs typeface="Trebuchet MS"/>
              </a:rPr>
              <a:t>animals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entries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description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lexemes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terms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other lexemes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Definitions make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85" dirty="0">
                <a:latin typeface="Trebuchet MS"/>
                <a:cs typeface="Trebuchet MS"/>
              </a:rPr>
              <a:t>it</a:t>
            </a:r>
            <a:r>
              <a:rPr sz="950" dirty="0">
                <a:latin typeface="Trebuchet MS"/>
                <a:cs typeface="Trebuchet MS"/>
              </a:rPr>
              <a:t> clear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right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 </a:t>
            </a:r>
            <a:r>
              <a:rPr sz="950" i="1" spc="-85" dirty="0">
                <a:latin typeface="Trebuchet MS"/>
                <a:cs typeface="Trebuchet MS"/>
              </a:rPr>
              <a:t>left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 </a:t>
            </a:r>
            <a:r>
              <a:rPr sz="950" spc="-10" dirty="0">
                <a:latin typeface="Trebuchet MS"/>
                <a:cs typeface="Trebuchet MS"/>
              </a:rPr>
              <a:t>similar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lexemes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that </a:t>
            </a:r>
            <a:r>
              <a:rPr sz="950" dirty="0">
                <a:latin typeface="Trebuchet MS"/>
                <a:cs typeface="Trebuchet MS"/>
              </a:rPr>
              <a:t>stand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some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alternation,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opposition,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another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dirty="0">
                <a:latin typeface="Trebuchet MS"/>
                <a:cs typeface="Trebuchet MS"/>
              </a:rPr>
              <a:t> can glean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red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 a </a:t>
            </a:r>
            <a:r>
              <a:rPr sz="950" spc="-25" dirty="0">
                <a:latin typeface="Trebuchet MS"/>
                <a:cs typeface="Trebuchet MS"/>
              </a:rPr>
              <a:t>color,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85" dirty="0">
                <a:latin typeface="Trebuchet MS"/>
                <a:cs typeface="Trebuchet MS"/>
              </a:rPr>
              <a:t>it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 be applied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dirty="0">
                <a:latin typeface="Trebuchet MS"/>
                <a:cs typeface="Trebuchet MS"/>
              </a:rPr>
              <a:t> both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blood </a:t>
            </a:r>
            <a:r>
              <a:rPr sz="950" spc="-25" dirty="0">
                <a:latin typeface="Trebuchet MS"/>
                <a:cs typeface="Trebuchet MS"/>
              </a:rPr>
              <a:t>and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215"/>
              </a:spcBef>
            </a:pPr>
            <a:r>
              <a:rPr sz="950" i="1" spc="-10" dirty="0">
                <a:latin typeface="Trebuchet MS"/>
                <a:cs typeface="Trebuchet MS"/>
              </a:rPr>
              <a:t>rubies</a:t>
            </a:r>
            <a:r>
              <a:rPr sz="950" spc="-10" dirty="0">
                <a:latin typeface="Trebuchet MS"/>
                <a:cs typeface="Trebuchet MS"/>
              </a:rPr>
              <a:t>,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blood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liquid.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3" name="object 33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6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6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2C3BF2D0-ADA7-4D30-8A85-105F7945B74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25139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Relations</a:t>
            </a:r>
            <a:r>
              <a:rPr spc="-25" dirty="0"/>
              <a:t> </a:t>
            </a:r>
            <a:r>
              <a:rPr spc="-20" dirty="0"/>
              <a:t>between </a:t>
            </a:r>
            <a:r>
              <a:rPr spc="-10" dirty="0"/>
              <a:t>word</a:t>
            </a:r>
            <a:r>
              <a:rPr spc="-25" dirty="0"/>
              <a:t> </a:t>
            </a:r>
            <a:r>
              <a:rPr spc="-10" dirty="0"/>
              <a:t>meanings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84732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954222"/>
            <a:ext cx="655320" cy="1496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5100"/>
              </a:lnSpc>
              <a:spcBef>
                <a:spcPts val="90"/>
              </a:spcBef>
            </a:pPr>
            <a:r>
              <a:rPr sz="950" spc="-10" dirty="0">
                <a:latin typeface="Trebuchet MS"/>
                <a:cs typeface="Trebuchet MS"/>
              </a:rPr>
              <a:t>Homonymy Polysemy Synonymy Antonymy Hypernymy Hyponymy Meronymy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94765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504797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714830"/>
            <a:ext cx="64757" cy="647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1924862"/>
            <a:ext cx="64757" cy="647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597" y="2134895"/>
            <a:ext cx="64757" cy="6475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597" y="2344928"/>
            <a:ext cx="64757" cy="6475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2" name="object 12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5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60502"/>
            <a:ext cx="85534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Homonymy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7743" y="458508"/>
            <a:ext cx="4483735" cy="629920"/>
            <a:chOff x="87743" y="458508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45850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63153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986269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973569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502742"/>
              <a:ext cx="50800" cy="4835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675754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5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40880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281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5154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5027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383887"/>
            <a:ext cx="4176395" cy="6191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9"/>
              </a:spcBef>
            </a:pPr>
            <a:r>
              <a:rPr sz="950" b="1" dirty="0">
                <a:latin typeface="Trebuchet MS"/>
                <a:cs typeface="Trebuchet MS"/>
              </a:rPr>
              <a:t>Homonymy</a:t>
            </a:r>
            <a:r>
              <a:rPr sz="950" b="1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defined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holds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unrelated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meanings.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47DBB054-02AB-4A20-99B0-28378CF988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85534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Homonymy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458508"/>
            <a:ext cx="4483735" cy="629920"/>
            <a:chOff x="87743" y="458508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45850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63153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986269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973569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502742"/>
              <a:ext cx="50800" cy="4835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675754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5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40880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281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5154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5027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151039"/>
            <a:ext cx="4483735" cy="666115"/>
            <a:chOff x="87743" y="1151039"/>
            <a:chExt cx="4483735" cy="666115"/>
          </a:xfrm>
        </p:grpSpPr>
        <p:sp>
          <p:nvSpPr>
            <p:cNvPr id="15" name="object 15"/>
            <p:cNvSpPr/>
            <p:nvPr/>
          </p:nvSpPr>
          <p:spPr>
            <a:xfrm>
              <a:off x="87743" y="115103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324051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1715262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1702562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195273"/>
              <a:ext cx="50800" cy="5199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368298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3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3"/>
                  </a:lnTo>
                  <a:lnTo>
                    <a:pt x="4381754" y="397763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10" y="1233424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4">
                  <a:moveTo>
                    <a:pt x="0" y="5008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2206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2079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0" y="11952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418069"/>
              <a:ext cx="64757" cy="647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1628102"/>
              <a:ext cx="64757" cy="6475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25729" y="383887"/>
            <a:ext cx="4176395" cy="13493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9"/>
              </a:spcBef>
            </a:pPr>
            <a:r>
              <a:rPr sz="950" b="1" dirty="0">
                <a:latin typeface="Trebuchet MS"/>
                <a:cs typeface="Trebuchet MS"/>
              </a:rPr>
              <a:t>Homonymy</a:t>
            </a:r>
            <a:r>
              <a:rPr sz="950" b="1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defined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holds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unrelated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meanings.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Examples</a:t>
            </a:r>
            <a:endParaRPr sz="1100">
              <a:latin typeface="Cambria"/>
              <a:cs typeface="Cambria"/>
            </a:endParaRPr>
          </a:p>
          <a:p>
            <a:pPr marL="289560" marR="718185">
              <a:lnSpc>
                <a:spcPts val="1650"/>
              </a:lnSpc>
              <a:spcBef>
                <a:spcPts val="25"/>
              </a:spcBef>
            </a:pPr>
            <a:r>
              <a:rPr sz="950" dirty="0">
                <a:latin typeface="Trebuchet MS"/>
                <a:cs typeface="Trebuchet MS"/>
              </a:rPr>
              <a:t>Bat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(wooden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stick-</a:t>
            </a:r>
            <a:r>
              <a:rPr sz="950" dirty="0">
                <a:latin typeface="Trebuchet MS"/>
                <a:cs typeface="Trebuchet MS"/>
              </a:rPr>
              <a:t>like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thing)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(flying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mammal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thing) </a:t>
            </a:r>
            <a:r>
              <a:rPr sz="950" dirty="0">
                <a:latin typeface="Trebuchet MS"/>
                <a:cs typeface="Trebuchet MS"/>
              </a:rPr>
              <a:t>Bank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(financial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institution)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Bank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(riverside)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9" name="object 2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55385" y="3339672"/>
            <a:ext cx="19875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 dirty="0">
              <a:latin typeface="Cambria"/>
              <a:cs typeface="Cambria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8161A368-F3DA-4FAB-89C3-5BB557191E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2876334"/>
            <a:ext cx="262254" cy="579542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</a:t>
            </a:fld>
            <a:r>
              <a:rPr lang="en-IN" spc="-5" dirty="0"/>
              <a:t> </a:t>
            </a:r>
            <a:r>
              <a:rPr lang="en-IN" spc="-110" dirty="0"/>
              <a:t>/</a:t>
            </a:r>
            <a:r>
              <a:rPr lang="en-IN" spc="15" dirty="0"/>
              <a:t> </a:t>
            </a:r>
            <a:r>
              <a:rPr lang="en-IN"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85534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Homonymy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458508"/>
            <a:ext cx="4483735" cy="629920"/>
            <a:chOff x="87743" y="458508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45850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63153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986269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973569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502742"/>
              <a:ext cx="50800" cy="4835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675754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5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40880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281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5154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5027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151039"/>
            <a:ext cx="4483735" cy="666115"/>
            <a:chOff x="87743" y="1151039"/>
            <a:chExt cx="4483735" cy="666115"/>
          </a:xfrm>
        </p:grpSpPr>
        <p:sp>
          <p:nvSpPr>
            <p:cNvPr id="15" name="object 15"/>
            <p:cNvSpPr/>
            <p:nvPr/>
          </p:nvSpPr>
          <p:spPr>
            <a:xfrm>
              <a:off x="87743" y="115103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324051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1715262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1702562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195273"/>
              <a:ext cx="50800" cy="5199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368298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3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3"/>
                  </a:lnTo>
                  <a:lnTo>
                    <a:pt x="4381754" y="397763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10" y="1233424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4">
                  <a:moveTo>
                    <a:pt x="0" y="5008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2206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2079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0" y="11952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418069"/>
              <a:ext cx="64757" cy="647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1628102"/>
              <a:ext cx="64757" cy="64757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87743" y="1880031"/>
            <a:ext cx="4483735" cy="1431925"/>
            <a:chOff x="87743" y="1880031"/>
            <a:chExt cx="4483735" cy="1431925"/>
          </a:xfrm>
        </p:grpSpPr>
        <p:sp>
          <p:nvSpPr>
            <p:cNvPr id="28" name="object 28"/>
            <p:cNvSpPr/>
            <p:nvPr/>
          </p:nvSpPr>
          <p:spPr>
            <a:xfrm>
              <a:off x="87743" y="188003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744" y="2053043"/>
              <a:ext cx="4432554" cy="5060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8544" y="3209963"/>
              <a:ext cx="101599" cy="1015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9344" y="3197263"/>
              <a:ext cx="4381754" cy="114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20298" y="1924266"/>
              <a:ext cx="50800" cy="128569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7743" y="2097316"/>
              <a:ext cx="4432935" cy="1163955"/>
            </a:xfrm>
            <a:custGeom>
              <a:avLst/>
              <a:gdLst/>
              <a:ahLst/>
              <a:cxnLst/>
              <a:rect l="l" t="t" r="r" b="b"/>
              <a:pathLst>
                <a:path w="4432935" h="1163954">
                  <a:moveTo>
                    <a:pt x="4432554" y="0"/>
                  </a:moveTo>
                  <a:lnTo>
                    <a:pt x="0" y="0"/>
                  </a:lnTo>
                  <a:lnTo>
                    <a:pt x="0" y="1112647"/>
                  </a:lnTo>
                  <a:lnTo>
                    <a:pt x="4008" y="1132371"/>
                  </a:lnTo>
                  <a:lnTo>
                    <a:pt x="14922" y="1148524"/>
                  </a:lnTo>
                  <a:lnTo>
                    <a:pt x="31075" y="1159438"/>
                  </a:lnTo>
                  <a:lnTo>
                    <a:pt x="50800" y="1163447"/>
                  </a:lnTo>
                  <a:lnTo>
                    <a:pt x="4381754" y="1163447"/>
                  </a:lnTo>
                  <a:lnTo>
                    <a:pt x="4401478" y="1159438"/>
                  </a:lnTo>
                  <a:lnTo>
                    <a:pt x="4417631" y="1148524"/>
                  </a:lnTo>
                  <a:lnTo>
                    <a:pt x="4428545" y="1132371"/>
                  </a:lnTo>
                  <a:lnTo>
                    <a:pt x="4432554" y="1112647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09" y="1962315"/>
              <a:ext cx="0" cy="1266825"/>
            </a:xfrm>
            <a:custGeom>
              <a:avLst/>
              <a:gdLst/>
              <a:ahLst/>
              <a:cxnLst/>
              <a:rect l="l" t="t" r="r" b="b"/>
              <a:pathLst>
                <a:path h="1266825">
                  <a:moveTo>
                    <a:pt x="0" y="12666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20309" y="19496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09" y="19369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20309" y="19242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1597" y="2529167"/>
              <a:ext cx="64757" cy="6475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1597" y="2739199"/>
              <a:ext cx="64757" cy="64757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25729" y="383887"/>
            <a:ext cx="4199255" cy="284289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 marR="27940">
              <a:lnSpc>
                <a:spcPct val="118900"/>
              </a:lnSpc>
              <a:spcBef>
                <a:spcPts val="209"/>
              </a:spcBef>
            </a:pPr>
            <a:r>
              <a:rPr sz="950" b="1" dirty="0">
                <a:latin typeface="Trebuchet MS"/>
                <a:cs typeface="Trebuchet MS"/>
              </a:rPr>
              <a:t>Homonymy</a:t>
            </a:r>
            <a:r>
              <a:rPr sz="950" b="1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defined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holds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unrelated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meanings.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Examples</a:t>
            </a:r>
            <a:endParaRPr sz="1100">
              <a:latin typeface="Cambria"/>
              <a:cs typeface="Cambria"/>
            </a:endParaRPr>
          </a:p>
          <a:p>
            <a:pPr marL="289560" marR="741045">
              <a:lnSpc>
                <a:spcPts val="1650"/>
              </a:lnSpc>
              <a:spcBef>
                <a:spcPts val="55"/>
              </a:spcBef>
            </a:pPr>
            <a:r>
              <a:rPr sz="950" dirty="0">
                <a:latin typeface="Trebuchet MS"/>
                <a:cs typeface="Trebuchet MS"/>
              </a:rPr>
              <a:t>Bat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(wooden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stick-</a:t>
            </a:r>
            <a:r>
              <a:rPr sz="950" dirty="0">
                <a:latin typeface="Trebuchet MS"/>
                <a:cs typeface="Trebuchet MS"/>
              </a:rPr>
              <a:t>like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thing)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(flying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mammal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thing) </a:t>
            </a:r>
            <a:r>
              <a:rPr sz="950" dirty="0">
                <a:latin typeface="Trebuchet MS"/>
                <a:cs typeface="Trebuchet MS"/>
              </a:rPr>
              <a:t>Bank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(financial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institution)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Bank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(riverside)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100" i="1" spc="-35" dirty="0">
                <a:solidFill>
                  <a:srgbClr val="FF0000"/>
                </a:solidFill>
                <a:latin typeface="Cambria"/>
                <a:cs typeface="Cambria"/>
              </a:rPr>
              <a:t>homophones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 and</a:t>
            </a:r>
            <a:r>
              <a:rPr sz="1100" i="1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homographs</a:t>
            </a:r>
            <a:endParaRPr sz="1100">
              <a:latin typeface="Cambria"/>
              <a:cs typeface="Cambria"/>
            </a:endParaRPr>
          </a:p>
          <a:p>
            <a:pPr marL="12700" marR="334010">
              <a:lnSpc>
                <a:spcPct val="118900"/>
              </a:lnSpc>
              <a:spcBef>
                <a:spcPts val="209"/>
              </a:spcBef>
            </a:pPr>
            <a:r>
              <a:rPr sz="950" b="1" spc="50" dirty="0">
                <a:latin typeface="Trebuchet MS"/>
                <a:cs typeface="Trebuchet MS"/>
              </a:rPr>
              <a:t>homophones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pronunciation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different </a:t>
            </a:r>
            <a:r>
              <a:rPr sz="950" spc="-10" dirty="0">
                <a:latin typeface="Trebuchet MS"/>
                <a:cs typeface="Trebuchet MS"/>
              </a:rPr>
              <a:t>spellings.</a:t>
            </a:r>
            <a:endParaRPr sz="950">
              <a:latin typeface="Trebuchet MS"/>
              <a:cs typeface="Trebuchet MS"/>
            </a:endParaRPr>
          </a:p>
          <a:p>
            <a:pPr marL="289560" marR="3069590">
              <a:lnSpc>
                <a:spcPct val="145100"/>
              </a:lnSpc>
            </a:pPr>
            <a:r>
              <a:rPr sz="950" spc="-30" dirty="0">
                <a:latin typeface="Trebuchet MS"/>
                <a:cs typeface="Trebuchet MS"/>
              </a:rPr>
              <a:t>write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right </a:t>
            </a:r>
            <a:r>
              <a:rPr sz="950" dirty="0">
                <a:latin typeface="Trebuchet MS"/>
                <a:cs typeface="Trebuchet MS"/>
              </a:rPr>
              <a:t>piece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vs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peace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800"/>
              </a:lnSpc>
              <a:spcBef>
                <a:spcPts val="295"/>
              </a:spcBef>
            </a:pPr>
            <a:r>
              <a:rPr sz="950" b="1" spc="55" dirty="0">
                <a:latin typeface="Trebuchet MS"/>
                <a:cs typeface="Trebuchet MS"/>
              </a:rPr>
              <a:t>homographs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lexemes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different </a:t>
            </a:r>
            <a:r>
              <a:rPr sz="950" dirty="0">
                <a:latin typeface="Trebuchet MS"/>
                <a:cs typeface="Trebuchet MS"/>
              </a:rPr>
              <a:t>meaning.</a:t>
            </a:r>
            <a:r>
              <a:rPr sz="950" spc="1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Ex:</a:t>
            </a:r>
            <a:r>
              <a:rPr sz="950" spc="130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bass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42" name="object 42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8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8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7753A6E5-45EC-4A0C-9D55-5F89DA8ABBA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Problems</a:t>
            </a:r>
            <a:r>
              <a:rPr spc="30" dirty="0"/>
              <a:t> </a:t>
            </a:r>
            <a:r>
              <a:rPr dirty="0"/>
              <a:t>for</a:t>
            </a:r>
            <a:r>
              <a:rPr spc="35" dirty="0"/>
              <a:t> </a:t>
            </a:r>
            <a:r>
              <a:rPr spc="55" dirty="0"/>
              <a:t>NLP</a:t>
            </a:r>
            <a:r>
              <a:rPr spc="30" dirty="0"/>
              <a:t> </a:t>
            </a:r>
            <a:r>
              <a:rPr spc="-10" dirty="0"/>
              <a:t>applications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13955"/>
            <a:ext cx="4483735" cy="457834"/>
            <a:chOff x="87743" y="913955"/>
            <a:chExt cx="4483735" cy="457834"/>
          </a:xfrm>
        </p:grpSpPr>
        <p:sp>
          <p:nvSpPr>
            <p:cNvPr id="4" name="object 4"/>
            <p:cNvSpPr/>
            <p:nvPr/>
          </p:nvSpPr>
          <p:spPr>
            <a:xfrm>
              <a:off x="87743" y="91395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8696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6963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5693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58189"/>
              <a:ext cx="50800" cy="31144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31201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96327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4">
                  <a:moveTo>
                    <a:pt x="0" y="292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835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70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58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839308"/>
            <a:ext cx="3070225" cy="44704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Text-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to-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Speech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70" dirty="0">
                <a:latin typeface="Trebuchet MS"/>
                <a:cs typeface="Trebuchet MS"/>
              </a:rPr>
              <a:t>Same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phonological </a:t>
            </a:r>
            <a:r>
              <a:rPr sz="950" spc="-20" dirty="0">
                <a:latin typeface="Trebuchet MS"/>
                <a:cs typeface="Trebuchet MS"/>
              </a:rPr>
              <a:t>form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D19A831-91C5-4CBC-A554-6FEAD5E3E8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Problems</a:t>
            </a:r>
            <a:r>
              <a:rPr spc="30" dirty="0"/>
              <a:t> </a:t>
            </a:r>
            <a:r>
              <a:rPr dirty="0"/>
              <a:t>for</a:t>
            </a:r>
            <a:r>
              <a:rPr spc="35" dirty="0"/>
              <a:t> </a:t>
            </a:r>
            <a:r>
              <a:rPr spc="55" dirty="0"/>
              <a:t>NLP</a:t>
            </a:r>
            <a:r>
              <a:rPr spc="30" dirty="0"/>
              <a:t> </a:t>
            </a:r>
            <a:r>
              <a:rPr spc="-10" dirty="0"/>
              <a:t>applications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13955"/>
            <a:ext cx="4483735" cy="457834"/>
            <a:chOff x="87743" y="913955"/>
            <a:chExt cx="4483735" cy="457834"/>
          </a:xfrm>
        </p:grpSpPr>
        <p:sp>
          <p:nvSpPr>
            <p:cNvPr id="4" name="object 4"/>
            <p:cNvSpPr/>
            <p:nvPr/>
          </p:nvSpPr>
          <p:spPr>
            <a:xfrm>
              <a:off x="87743" y="91395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8696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6963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5693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58189"/>
              <a:ext cx="50800" cy="31144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31201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96327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4">
                  <a:moveTo>
                    <a:pt x="0" y="292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835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70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58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472361"/>
            <a:ext cx="4483735" cy="457834"/>
            <a:chOff x="87743" y="1472361"/>
            <a:chExt cx="4483735" cy="457834"/>
          </a:xfrm>
        </p:grpSpPr>
        <p:sp>
          <p:nvSpPr>
            <p:cNvPr id="15" name="object 15"/>
            <p:cNvSpPr/>
            <p:nvPr/>
          </p:nvSpPr>
          <p:spPr>
            <a:xfrm>
              <a:off x="87743" y="147236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645373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1828050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1815350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298" y="1516595"/>
              <a:ext cx="50800" cy="31145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689620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10" y="1554746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5419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5292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0" y="15165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729" y="839308"/>
            <a:ext cx="3070225" cy="10052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Text-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to-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Speech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70" dirty="0">
                <a:latin typeface="Trebuchet MS"/>
                <a:cs typeface="Trebuchet MS"/>
              </a:rPr>
              <a:t>Same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phonological </a:t>
            </a:r>
            <a:r>
              <a:rPr sz="950" spc="-20" dirty="0">
                <a:latin typeface="Trebuchet MS"/>
                <a:cs typeface="Trebuchet MS"/>
              </a:rPr>
              <a:t>form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Information</a:t>
            </a:r>
            <a:r>
              <a:rPr sz="1100" i="1" spc="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Retrieval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950" spc="-25" dirty="0">
                <a:latin typeface="Trebuchet MS"/>
                <a:cs typeface="Trebuchet MS"/>
              </a:rPr>
              <a:t>Different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form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endParaRPr sz="600" dirty="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6DABC8F3-D7AB-40AC-930C-3C524AEFEA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Problems</a:t>
            </a:r>
            <a:r>
              <a:rPr spc="30" dirty="0"/>
              <a:t> </a:t>
            </a:r>
            <a:r>
              <a:rPr dirty="0"/>
              <a:t>for</a:t>
            </a:r>
            <a:r>
              <a:rPr spc="35" dirty="0"/>
              <a:t> </a:t>
            </a:r>
            <a:r>
              <a:rPr spc="55" dirty="0"/>
              <a:t>NLP</a:t>
            </a:r>
            <a:r>
              <a:rPr spc="30" dirty="0"/>
              <a:t> </a:t>
            </a:r>
            <a:r>
              <a:rPr spc="-10" dirty="0"/>
              <a:t>applications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13955"/>
            <a:ext cx="4483735" cy="457834"/>
            <a:chOff x="87743" y="913955"/>
            <a:chExt cx="4483735" cy="457834"/>
          </a:xfrm>
        </p:grpSpPr>
        <p:sp>
          <p:nvSpPr>
            <p:cNvPr id="4" name="object 4"/>
            <p:cNvSpPr/>
            <p:nvPr/>
          </p:nvSpPr>
          <p:spPr>
            <a:xfrm>
              <a:off x="87743" y="91395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8696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6963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5693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58189"/>
              <a:ext cx="50800" cy="31144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31201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96327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4">
                  <a:moveTo>
                    <a:pt x="0" y="292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835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70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58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472361"/>
            <a:ext cx="4483735" cy="457834"/>
            <a:chOff x="87743" y="1472361"/>
            <a:chExt cx="4483735" cy="457834"/>
          </a:xfrm>
        </p:grpSpPr>
        <p:sp>
          <p:nvSpPr>
            <p:cNvPr id="15" name="object 15"/>
            <p:cNvSpPr/>
            <p:nvPr/>
          </p:nvSpPr>
          <p:spPr>
            <a:xfrm>
              <a:off x="87743" y="147236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645373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1828050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1815350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298" y="1516595"/>
              <a:ext cx="50800" cy="31145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689620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10" y="1554746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10" y="15419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10" y="15292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10" y="151659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87743" y="2030768"/>
            <a:ext cx="4483735" cy="621030"/>
            <a:chOff x="87743" y="2030768"/>
            <a:chExt cx="4483735" cy="621030"/>
          </a:xfrm>
        </p:grpSpPr>
        <p:sp>
          <p:nvSpPr>
            <p:cNvPr id="26" name="object 26"/>
            <p:cNvSpPr/>
            <p:nvPr/>
          </p:nvSpPr>
          <p:spPr>
            <a:xfrm>
              <a:off x="87743" y="20307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203792"/>
              <a:ext cx="4432554" cy="5060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549931"/>
              <a:ext cx="101599" cy="1015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537231"/>
              <a:ext cx="4381754" cy="114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075014"/>
              <a:ext cx="50800" cy="47491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7743" y="2248052"/>
              <a:ext cx="4432935" cy="353060"/>
            </a:xfrm>
            <a:custGeom>
              <a:avLst/>
              <a:gdLst/>
              <a:ahLst/>
              <a:cxnLst/>
              <a:rect l="l" t="t" r="r" b="b"/>
              <a:pathLst>
                <a:path w="4432935" h="353060">
                  <a:moveTo>
                    <a:pt x="4432554" y="0"/>
                  </a:moveTo>
                  <a:lnTo>
                    <a:pt x="0" y="0"/>
                  </a:lnTo>
                  <a:lnTo>
                    <a:pt x="0" y="301878"/>
                  </a:lnTo>
                  <a:lnTo>
                    <a:pt x="4008" y="321603"/>
                  </a:lnTo>
                  <a:lnTo>
                    <a:pt x="14922" y="337756"/>
                  </a:lnTo>
                  <a:lnTo>
                    <a:pt x="31075" y="348670"/>
                  </a:lnTo>
                  <a:lnTo>
                    <a:pt x="50800" y="352678"/>
                  </a:lnTo>
                  <a:lnTo>
                    <a:pt x="4381754" y="352678"/>
                  </a:lnTo>
                  <a:lnTo>
                    <a:pt x="4401478" y="348670"/>
                  </a:lnTo>
                  <a:lnTo>
                    <a:pt x="4417631" y="337756"/>
                  </a:lnTo>
                  <a:lnTo>
                    <a:pt x="4428545" y="321603"/>
                  </a:lnTo>
                  <a:lnTo>
                    <a:pt x="4432554" y="30187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20309" y="2113051"/>
              <a:ext cx="0" cy="455930"/>
            </a:xfrm>
            <a:custGeom>
              <a:avLst/>
              <a:gdLst/>
              <a:ahLst/>
              <a:cxnLst/>
              <a:rect l="l" t="t" r="r" b="b"/>
              <a:pathLst>
                <a:path h="455930">
                  <a:moveTo>
                    <a:pt x="0" y="45593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20309" y="21004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09" y="20877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20309" y="207500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25729" y="839308"/>
            <a:ext cx="3070225" cy="17291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Text-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to-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Speech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70" dirty="0">
                <a:latin typeface="Trebuchet MS"/>
                <a:cs typeface="Trebuchet MS"/>
              </a:rPr>
              <a:t>Same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phonological </a:t>
            </a:r>
            <a:r>
              <a:rPr sz="950" spc="-20" dirty="0">
                <a:latin typeface="Trebuchet MS"/>
                <a:cs typeface="Trebuchet MS"/>
              </a:rPr>
              <a:t>form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Information</a:t>
            </a:r>
            <a:r>
              <a:rPr sz="1100" i="1" spc="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Retrieval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950" spc="-25" dirty="0">
                <a:latin typeface="Trebuchet MS"/>
                <a:cs typeface="Trebuchet MS"/>
              </a:rPr>
              <a:t>Different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orthographic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form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Speech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Recognition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50" spc="-65" dirty="0">
                <a:latin typeface="Trebuchet MS"/>
                <a:cs typeface="Trebuchet MS"/>
              </a:rPr>
              <a:t>to,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55" dirty="0">
                <a:latin typeface="Trebuchet MS"/>
                <a:cs typeface="Trebuchet MS"/>
              </a:rPr>
              <a:t>two,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too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i="1" spc="-20" dirty="0">
                <a:latin typeface="Trebuchet MS"/>
                <a:cs typeface="Trebuchet MS"/>
              </a:rPr>
              <a:t>Perfect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homonyms</a:t>
            </a:r>
            <a:r>
              <a:rPr sz="950" i="1" spc="7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are</a:t>
            </a:r>
            <a:r>
              <a:rPr sz="950" i="1" spc="7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also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problematic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2872226A-6F9B-46C0-8757-25F48473DB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Polysemy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41819"/>
            <a:ext cx="4483735" cy="667385"/>
            <a:chOff x="87743" y="741819"/>
            <a:chExt cx="4483735" cy="667385"/>
          </a:xfrm>
        </p:grpSpPr>
        <p:sp>
          <p:nvSpPr>
            <p:cNvPr id="4" name="object 4"/>
            <p:cNvSpPr/>
            <p:nvPr/>
          </p:nvSpPr>
          <p:spPr>
            <a:xfrm>
              <a:off x="87743" y="741819"/>
              <a:ext cx="4432935" cy="187325"/>
            </a:xfrm>
            <a:custGeom>
              <a:avLst/>
              <a:gdLst/>
              <a:ahLst/>
              <a:cxnLst/>
              <a:rect l="l" t="t" r="r" b="b"/>
              <a:pathLst>
                <a:path w="4432935" h="18732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944"/>
                  </a:lnTo>
                  <a:lnTo>
                    <a:pt x="4432554" y="18694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1607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30728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94587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786053"/>
              <a:ext cx="50800" cy="52123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60323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3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3"/>
                  </a:lnTo>
                  <a:lnTo>
                    <a:pt x="4381754" y="397763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824179"/>
              <a:ext cx="0" cy="502284"/>
            </a:xfrm>
            <a:custGeom>
              <a:avLst/>
              <a:gdLst/>
              <a:ahLst/>
              <a:cxnLst/>
              <a:rect l="l" t="t" r="r" b="b"/>
              <a:pathLst>
                <a:path h="502284">
                  <a:moveTo>
                    <a:pt x="0" y="50215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114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7987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7860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10094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20127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668417"/>
            <a:ext cx="3399154" cy="6572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Multiple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b="1" i="1" dirty="0">
                <a:solidFill>
                  <a:srgbClr val="3232B2"/>
                </a:solidFill>
                <a:latin typeface="Times New Roman"/>
                <a:cs typeface="Times New Roman"/>
              </a:rPr>
              <a:t>related</a:t>
            </a:r>
            <a:r>
              <a:rPr sz="1100" b="1" i="1" spc="-50" dirty="0">
                <a:solidFill>
                  <a:srgbClr val="3232B2"/>
                </a:solidFill>
                <a:latin typeface="Times New Roman"/>
                <a:cs typeface="Times New Roman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meanings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within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single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lexeme.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ts val="1650"/>
              </a:lnSpc>
              <a:spcBef>
                <a:spcPts val="25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bank</a:t>
            </a:r>
            <a:r>
              <a:rPr sz="950" i="1" spc="1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constructed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1875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out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local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brick. </a:t>
            </a: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withdrew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money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bank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29EBFFC6-6ABD-4792-908C-7AC55CAB21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Polysemy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41819"/>
            <a:ext cx="4483735" cy="667385"/>
            <a:chOff x="87743" y="741819"/>
            <a:chExt cx="4483735" cy="667385"/>
          </a:xfrm>
        </p:grpSpPr>
        <p:sp>
          <p:nvSpPr>
            <p:cNvPr id="4" name="object 4"/>
            <p:cNvSpPr/>
            <p:nvPr/>
          </p:nvSpPr>
          <p:spPr>
            <a:xfrm>
              <a:off x="87743" y="741819"/>
              <a:ext cx="4432935" cy="187325"/>
            </a:xfrm>
            <a:custGeom>
              <a:avLst/>
              <a:gdLst/>
              <a:ahLst/>
              <a:cxnLst/>
              <a:rect l="l" t="t" r="r" b="b"/>
              <a:pathLst>
                <a:path w="4432935" h="18732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944"/>
                  </a:lnTo>
                  <a:lnTo>
                    <a:pt x="4432554" y="18694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1607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30728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94587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786053"/>
              <a:ext cx="50800" cy="52123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60323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3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3"/>
                  </a:lnTo>
                  <a:lnTo>
                    <a:pt x="4381754" y="397763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824179"/>
              <a:ext cx="0" cy="502284"/>
            </a:xfrm>
            <a:custGeom>
              <a:avLst/>
              <a:gdLst/>
              <a:ahLst/>
              <a:cxnLst/>
              <a:rect l="l" t="t" r="r" b="b"/>
              <a:pathLst>
                <a:path h="502284">
                  <a:moveTo>
                    <a:pt x="0" y="50215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114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7987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7860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10094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20127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510004"/>
            <a:ext cx="4483735" cy="633095"/>
            <a:chOff x="87743" y="1510004"/>
            <a:chExt cx="4483735" cy="633095"/>
          </a:xfrm>
        </p:grpSpPr>
        <p:sp>
          <p:nvSpPr>
            <p:cNvPr id="17" name="object 17"/>
            <p:cNvSpPr/>
            <p:nvPr/>
          </p:nvSpPr>
          <p:spPr>
            <a:xfrm>
              <a:off x="87743" y="1510004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1673669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041182"/>
              <a:ext cx="101599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028482"/>
              <a:ext cx="4381754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1554251"/>
              <a:ext cx="50800" cy="48693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1717967"/>
              <a:ext cx="4432935" cy="374015"/>
            </a:xfrm>
            <a:custGeom>
              <a:avLst/>
              <a:gdLst/>
              <a:ahLst/>
              <a:cxnLst/>
              <a:rect l="l" t="t" r="r" b="b"/>
              <a:pathLst>
                <a:path w="4432935" h="374014">
                  <a:moveTo>
                    <a:pt x="4432554" y="0"/>
                  </a:moveTo>
                  <a:lnTo>
                    <a:pt x="0" y="0"/>
                  </a:lnTo>
                  <a:lnTo>
                    <a:pt x="0" y="323215"/>
                  </a:lnTo>
                  <a:lnTo>
                    <a:pt x="4008" y="342939"/>
                  </a:lnTo>
                  <a:lnTo>
                    <a:pt x="14922" y="359092"/>
                  </a:lnTo>
                  <a:lnTo>
                    <a:pt x="31075" y="370006"/>
                  </a:lnTo>
                  <a:lnTo>
                    <a:pt x="50800" y="374015"/>
                  </a:lnTo>
                  <a:lnTo>
                    <a:pt x="4381754" y="374015"/>
                  </a:lnTo>
                  <a:lnTo>
                    <a:pt x="4401478" y="370006"/>
                  </a:lnTo>
                  <a:lnTo>
                    <a:pt x="4417631" y="359092"/>
                  </a:lnTo>
                  <a:lnTo>
                    <a:pt x="4428545" y="342939"/>
                  </a:lnTo>
                  <a:lnTo>
                    <a:pt x="4432554" y="32321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592364"/>
              <a:ext cx="0" cy="467995"/>
            </a:xfrm>
            <a:custGeom>
              <a:avLst/>
              <a:gdLst/>
              <a:ahLst/>
              <a:cxnLst/>
              <a:rect l="l" t="t" r="r" b="b"/>
              <a:pathLst>
                <a:path h="467994">
                  <a:moveTo>
                    <a:pt x="0" y="46786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5796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5669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5542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1767687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1977720"/>
              <a:ext cx="64757" cy="64757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87743" y="2243912"/>
            <a:ext cx="4483735" cy="666115"/>
            <a:chOff x="87743" y="2243912"/>
            <a:chExt cx="4483735" cy="666115"/>
          </a:xfrm>
        </p:grpSpPr>
        <p:sp>
          <p:nvSpPr>
            <p:cNvPr id="30" name="object 30"/>
            <p:cNvSpPr/>
            <p:nvPr/>
          </p:nvSpPr>
          <p:spPr>
            <a:xfrm>
              <a:off x="87743" y="224391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744" y="2416924"/>
              <a:ext cx="4432554" cy="5060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8544" y="2808135"/>
              <a:ext cx="101599" cy="1016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9344" y="2795435"/>
              <a:ext cx="4381754" cy="114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20298" y="2288146"/>
              <a:ext cx="50800" cy="51998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7743" y="2461171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4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4"/>
                  </a:lnTo>
                  <a:lnTo>
                    <a:pt x="4381754" y="397764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09" y="2326297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4">
                  <a:moveTo>
                    <a:pt x="0" y="5008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20309" y="23135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20309" y="23008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20309" y="228814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1597" y="2510942"/>
              <a:ext cx="64757" cy="6475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1597" y="2720975"/>
              <a:ext cx="64757" cy="64757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25729" y="668417"/>
            <a:ext cx="3535045" cy="215773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Multiple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b="1" i="1" dirty="0">
                <a:solidFill>
                  <a:srgbClr val="3232B2"/>
                </a:solidFill>
                <a:latin typeface="Times New Roman"/>
                <a:cs typeface="Times New Roman"/>
              </a:rPr>
              <a:t>related</a:t>
            </a:r>
            <a:r>
              <a:rPr sz="1100" b="1" i="1" spc="-50" dirty="0">
                <a:solidFill>
                  <a:srgbClr val="3232B2"/>
                </a:solidFill>
                <a:latin typeface="Times New Roman"/>
                <a:cs typeface="Times New Roman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meanings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within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single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lexeme.</a:t>
            </a:r>
            <a:endParaRPr sz="1100">
              <a:latin typeface="Cambria"/>
              <a:cs typeface="Cambria"/>
            </a:endParaRPr>
          </a:p>
          <a:p>
            <a:pPr marL="289560" marR="140970">
              <a:lnSpc>
                <a:spcPts val="1650"/>
              </a:lnSpc>
              <a:spcBef>
                <a:spcPts val="55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bank</a:t>
            </a:r>
            <a:r>
              <a:rPr sz="950" i="1" spc="1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constructed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1875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out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local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brick. </a:t>
            </a: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withdrew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money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bank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Are</a:t>
            </a: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those </a:t>
            </a: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same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sense?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950" spc="70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1: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“The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building </a:t>
            </a:r>
            <a:r>
              <a:rPr sz="950" dirty="0">
                <a:latin typeface="Trebuchet MS"/>
                <a:cs typeface="Trebuchet MS"/>
              </a:rPr>
              <a:t>belonging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0" dirty="0">
                <a:latin typeface="Trebuchet MS"/>
                <a:cs typeface="Trebuchet MS"/>
              </a:rPr>
              <a:t> financial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institution”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70" dirty="0">
                <a:latin typeface="Trebuchet MS"/>
                <a:cs typeface="Trebuchet MS"/>
              </a:rPr>
              <a:t>Sense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2: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“A </a:t>
            </a:r>
            <a:r>
              <a:rPr sz="950" spc="-10" dirty="0">
                <a:latin typeface="Trebuchet MS"/>
                <a:cs typeface="Trebuchet MS"/>
              </a:rPr>
              <a:t>financial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institution”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25" dirty="0">
                <a:solidFill>
                  <a:srgbClr val="007F00"/>
                </a:solidFill>
                <a:latin typeface="Cambria"/>
                <a:cs typeface="Cambria"/>
              </a:rPr>
              <a:t>Another</a:t>
            </a:r>
            <a:r>
              <a:rPr sz="1100" i="1" spc="-20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example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ts val="1650"/>
              </a:lnSpc>
              <a:spcBef>
                <a:spcPts val="25"/>
              </a:spcBef>
            </a:pPr>
            <a:r>
              <a:rPr sz="950" dirty="0">
                <a:latin typeface="Trebuchet MS"/>
                <a:cs typeface="Trebuchet MS"/>
              </a:rPr>
              <a:t>Heavy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snow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caused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roof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school</a:t>
            </a:r>
            <a:r>
              <a:rPr sz="950" i="1" spc="1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collapse.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school</a:t>
            </a:r>
            <a:r>
              <a:rPr sz="950" i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hired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teachers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year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than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ever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before.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0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2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20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666E7A74-132E-4AAF-9078-553E841D71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16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Polysemy:</a:t>
            </a:r>
            <a:r>
              <a:rPr spc="60" dirty="0"/>
              <a:t> </a:t>
            </a:r>
            <a:r>
              <a:rPr spc="-10" dirty="0"/>
              <a:t>multiple</a:t>
            </a:r>
            <a:r>
              <a:rPr spc="-15" dirty="0"/>
              <a:t> </a:t>
            </a:r>
            <a:r>
              <a:rPr spc="-10" dirty="0"/>
              <a:t>related meanings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61708"/>
            <a:ext cx="4483735" cy="625475"/>
            <a:chOff x="87743" y="761708"/>
            <a:chExt cx="4483735" cy="625475"/>
          </a:xfrm>
        </p:grpSpPr>
        <p:sp>
          <p:nvSpPr>
            <p:cNvPr id="4" name="object 4"/>
            <p:cNvSpPr/>
            <p:nvPr/>
          </p:nvSpPr>
          <p:spPr>
            <a:xfrm>
              <a:off x="87743" y="76170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34720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8510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72400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05942"/>
              <a:ext cx="50800" cy="4791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79030"/>
              <a:ext cx="4432935" cy="356870"/>
            </a:xfrm>
            <a:custGeom>
              <a:avLst/>
              <a:gdLst/>
              <a:ahLst/>
              <a:cxnLst/>
              <a:rect l="l" t="t" r="r" b="b"/>
              <a:pathLst>
                <a:path w="4432935" h="356869">
                  <a:moveTo>
                    <a:pt x="4432554" y="0"/>
                  </a:moveTo>
                  <a:lnTo>
                    <a:pt x="0" y="0"/>
                  </a:lnTo>
                  <a:lnTo>
                    <a:pt x="0" y="306069"/>
                  </a:lnTo>
                  <a:lnTo>
                    <a:pt x="4008" y="325794"/>
                  </a:lnTo>
                  <a:lnTo>
                    <a:pt x="14922" y="341947"/>
                  </a:lnTo>
                  <a:lnTo>
                    <a:pt x="31075" y="352861"/>
                  </a:lnTo>
                  <a:lnTo>
                    <a:pt x="50800" y="356869"/>
                  </a:lnTo>
                  <a:lnTo>
                    <a:pt x="4381754" y="356869"/>
                  </a:lnTo>
                  <a:lnTo>
                    <a:pt x="4401478" y="352861"/>
                  </a:lnTo>
                  <a:lnTo>
                    <a:pt x="4417631" y="341947"/>
                  </a:lnTo>
                  <a:lnTo>
                    <a:pt x="4428545" y="325794"/>
                  </a:lnTo>
                  <a:lnTo>
                    <a:pt x="4432554" y="30606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844029"/>
              <a:ext cx="0" cy="460375"/>
            </a:xfrm>
            <a:custGeom>
              <a:avLst/>
              <a:gdLst/>
              <a:ahLst/>
              <a:cxnLst/>
              <a:rect l="l" t="t" r="r" b="b"/>
              <a:pathLst>
                <a:path h="460375">
                  <a:moveTo>
                    <a:pt x="0" y="4601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313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186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059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690249"/>
            <a:ext cx="2673350" cy="61277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Often,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relationships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are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systematic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latin typeface="Trebuchet MS"/>
                <a:cs typeface="Trebuchet MS"/>
              </a:rPr>
              <a:t>E.g.,</a:t>
            </a:r>
            <a:r>
              <a:rPr sz="950" spc="-10" dirty="0">
                <a:latin typeface="Trebuchet MS"/>
                <a:cs typeface="Trebuchet MS"/>
              </a:rPr>
              <a:t> building </a:t>
            </a:r>
            <a:r>
              <a:rPr sz="950" dirty="0">
                <a:latin typeface="Trebuchet MS"/>
                <a:cs typeface="Trebuchet MS"/>
              </a:rPr>
              <a:t>vs.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organization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i="1" dirty="0">
                <a:latin typeface="Trebuchet MS"/>
                <a:cs typeface="Trebuchet MS"/>
              </a:rPr>
              <a:t>school,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spc="-30" dirty="0">
                <a:latin typeface="Trebuchet MS"/>
                <a:cs typeface="Trebuchet MS"/>
              </a:rPr>
              <a:t>university,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hospital,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church,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supermarket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0D341F5-19CC-426C-A4C8-8698FB5D38B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Polysemy:</a:t>
            </a:r>
            <a:r>
              <a:rPr spc="60" dirty="0"/>
              <a:t> </a:t>
            </a:r>
            <a:r>
              <a:rPr spc="-10" dirty="0"/>
              <a:t>multiple</a:t>
            </a:r>
            <a:r>
              <a:rPr spc="-15" dirty="0"/>
              <a:t> </a:t>
            </a:r>
            <a:r>
              <a:rPr spc="-10" dirty="0"/>
              <a:t>related meanings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61708"/>
            <a:ext cx="4483735" cy="625475"/>
            <a:chOff x="87743" y="761708"/>
            <a:chExt cx="4483735" cy="625475"/>
          </a:xfrm>
        </p:grpSpPr>
        <p:sp>
          <p:nvSpPr>
            <p:cNvPr id="4" name="object 4"/>
            <p:cNvSpPr/>
            <p:nvPr/>
          </p:nvSpPr>
          <p:spPr>
            <a:xfrm>
              <a:off x="87743" y="76170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34720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8510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72400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05942"/>
              <a:ext cx="50800" cy="4791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79030"/>
              <a:ext cx="4432935" cy="356870"/>
            </a:xfrm>
            <a:custGeom>
              <a:avLst/>
              <a:gdLst/>
              <a:ahLst/>
              <a:cxnLst/>
              <a:rect l="l" t="t" r="r" b="b"/>
              <a:pathLst>
                <a:path w="4432935" h="356869">
                  <a:moveTo>
                    <a:pt x="4432554" y="0"/>
                  </a:moveTo>
                  <a:lnTo>
                    <a:pt x="0" y="0"/>
                  </a:lnTo>
                  <a:lnTo>
                    <a:pt x="0" y="306069"/>
                  </a:lnTo>
                  <a:lnTo>
                    <a:pt x="4008" y="325794"/>
                  </a:lnTo>
                  <a:lnTo>
                    <a:pt x="14922" y="341947"/>
                  </a:lnTo>
                  <a:lnTo>
                    <a:pt x="31075" y="352861"/>
                  </a:lnTo>
                  <a:lnTo>
                    <a:pt x="50800" y="356869"/>
                  </a:lnTo>
                  <a:lnTo>
                    <a:pt x="4381754" y="356869"/>
                  </a:lnTo>
                  <a:lnTo>
                    <a:pt x="4401478" y="352861"/>
                  </a:lnTo>
                  <a:lnTo>
                    <a:pt x="4417631" y="341947"/>
                  </a:lnTo>
                  <a:lnTo>
                    <a:pt x="4428545" y="325794"/>
                  </a:lnTo>
                  <a:lnTo>
                    <a:pt x="4432554" y="30606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844029"/>
              <a:ext cx="0" cy="460375"/>
            </a:xfrm>
            <a:custGeom>
              <a:avLst/>
              <a:gdLst/>
              <a:ahLst/>
              <a:cxnLst/>
              <a:rect l="l" t="t" r="r" b="b"/>
              <a:pathLst>
                <a:path h="460375">
                  <a:moveTo>
                    <a:pt x="0" y="46012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313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186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059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487817"/>
            <a:ext cx="4483735" cy="1392555"/>
            <a:chOff x="87743" y="1487817"/>
            <a:chExt cx="4483735" cy="1392555"/>
          </a:xfrm>
        </p:grpSpPr>
        <p:sp>
          <p:nvSpPr>
            <p:cNvPr id="15" name="object 15"/>
            <p:cNvSpPr/>
            <p:nvPr/>
          </p:nvSpPr>
          <p:spPr>
            <a:xfrm>
              <a:off x="87743" y="148781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660842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778302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765602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532064"/>
              <a:ext cx="50800" cy="124623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705152"/>
              <a:ext cx="4432935" cy="1123950"/>
            </a:xfrm>
            <a:custGeom>
              <a:avLst/>
              <a:gdLst/>
              <a:ahLst/>
              <a:cxnLst/>
              <a:rect l="l" t="t" r="r" b="b"/>
              <a:pathLst>
                <a:path w="4432935" h="1123950">
                  <a:moveTo>
                    <a:pt x="4432554" y="0"/>
                  </a:moveTo>
                  <a:lnTo>
                    <a:pt x="0" y="0"/>
                  </a:lnTo>
                  <a:lnTo>
                    <a:pt x="0" y="1073150"/>
                  </a:lnTo>
                  <a:lnTo>
                    <a:pt x="4008" y="1092874"/>
                  </a:lnTo>
                  <a:lnTo>
                    <a:pt x="14922" y="1109027"/>
                  </a:lnTo>
                  <a:lnTo>
                    <a:pt x="31075" y="1119941"/>
                  </a:lnTo>
                  <a:lnTo>
                    <a:pt x="50800" y="1123950"/>
                  </a:lnTo>
                  <a:lnTo>
                    <a:pt x="4381754" y="1123950"/>
                  </a:lnTo>
                  <a:lnTo>
                    <a:pt x="4401478" y="1119941"/>
                  </a:lnTo>
                  <a:lnTo>
                    <a:pt x="4417631" y="1109027"/>
                  </a:lnTo>
                  <a:lnTo>
                    <a:pt x="4428545" y="1092874"/>
                  </a:lnTo>
                  <a:lnTo>
                    <a:pt x="4432554" y="107315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570151"/>
              <a:ext cx="0" cy="1227455"/>
            </a:xfrm>
            <a:custGeom>
              <a:avLst/>
              <a:gdLst/>
              <a:ahLst/>
              <a:cxnLst/>
              <a:rect l="l" t="t" r="r" b="b"/>
              <a:pathLst>
                <a:path h="1227455">
                  <a:moveTo>
                    <a:pt x="0" y="12272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5574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5447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5320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754848"/>
              <a:ext cx="64757" cy="647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136965"/>
              <a:ext cx="64757" cy="6475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519070"/>
              <a:ext cx="64757" cy="6475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25729" y="690249"/>
            <a:ext cx="4300855" cy="210629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Often,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relationships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are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systematic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latin typeface="Trebuchet MS"/>
                <a:cs typeface="Trebuchet MS"/>
              </a:rPr>
              <a:t>E.g.,</a:t>
            </a:r>
            <a:r>
              <a:rPr sz="950" spc="-10" dirty="0">
                <a:latin typeface="Trebuchet MS"/>
                <a:cs typeface="Trebuchet MS"/>
              </a:rPr>
              <a:t> building </a:t>
            </a:r>
            <a:r>
              <a:rPr sz="950" dirty="0">
                <a:latin typeface="Trebuchet MS"/>
                <a:cs typeface="Trebuchet MS"/>
              </a:rPr>
              <a:t>vs.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organization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i="1" dirty="0">
                <a:latin typeface="Trebuchet MS"/>
                <a:cs typeface="Trebuchet MS"/>
              </a:rPr>
              <a:t>school,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spc="-30" dirty="0">
                <a:latin typeface="Trebuchet MS"/>
                <a:cs typeface="Trebuchet MS"/>
              </a:rPr>
              <a:t>university,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hospital,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church,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supermarket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007F00"/>
                </a:solidFill>
                <a:latin typeface="Cambria"/>
                <a:cs typeface="Cambria"/>
              </a:rPr>
              <a:t>More</a:t>
            </a:r>
            <a:r>
              <a:rPr sz="1100" i="1" spc="-50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examples: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13999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Author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(Jane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Austen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wrote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Emma)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1100" spc="-280" dirty="0">
                <a:latin typeface="Lucida Sans Unicode"/>
                <a:cs typeface="Lucida Sans Unicode"/>
              </a:rPr>
              <a:t>↔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Works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Author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(I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really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love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Jane </a:t>
            </a:r>
            <a:r>
              <a:rPr sz="950" spc="-10" dirty="0">
                <a:latin typeface="Trebuchet MS"/>
                <a:cs typeface="Trebuchet MS"/>
              </a:rPr>
              <a:t>Austen)</a:t>
            </a:r>
            <a:endParaRPr sz="950">
              <a:latin typeface="Trebuchet MS"/>
              <a:cs typeface="Trebuchet MS"/>
            </a:endParaRPr>
          </a:p>
          <a:p>
            <a:pPr marL="289560" marR="173990">
              <a:lnSpc>
                <a:spcPct val="113999"/>
              </a:lnSpc>
              <a:spcBef>
                <a:spcPts val="175"/>
              </a:spcBef>
            </a:pPr>
            <a:r>
              <a:rPr sz="950" dirty="0">
                <a:latin typeface="Trebuchet MS"/>
                <a:cs typeface="Trebuchet MS"/>
              </a:rPr>
              <a:t>Animal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(The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chicken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domesticated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Asia)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1100" spc="-280" dirty="0">
                <a:latin typeface="Lucida Sans Unicode"/>
                <a:cs typeface="Lucida Sans Unicode"/>
              </a:rPr>
              <a:t>↔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Meat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(The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chicken </a:t>
            </a:r>
            <a:r>
              <a:rPr sz="950" dirty="0">
                <a:latin typeface="Trebuchet MS"/>
                <a:cs typeface="Trebuchet MS"/>
              </a:rPr>
              <a:t>was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overcooked)</a:t>
            </a:r>
            <a:endParaRPr sz="950">
              <a:latin typeface="Trebuchet MS"/>
              <a:cs typeface="Trebuchet MS"/>
            </a:endParaRPr>
          </a:p>
          <a:p>
            <a:pPr marL="289560" marR="167640">
              <a:lnSpc>
                <a:spcPct val="113999"/>
              </a:lnSpc>
              <a:spcBef>
                <a:spcPts val="180"/>
              </a:spcBef>
            </a:pPr>
            <a:r>
              <a:rPr sz="950" spc="-10" dirty="0">
                <a:latin typeface="Trebuchet MS"/>
                <a:cs typeface="Trebuchet MS"/>
              </a:rPr>
              <a:t>Tree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(Plums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beautiful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blossoms)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1100" spc="-280" dirty="0">
                <a:latin typeface="Lucida Sans Unicode"/>
                <a:cs typeface="Lucida Sans Unicode"/>
              </a:rPr>
              <a:t>↔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Fruit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(I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ate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preserved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plum </a:t>
            </a:r>
            <a:r>
              <a:rPr sz="950" spc="-10" dirty="0">
                <a:latin typeface="Trebuchet MS"/>
                <a:cs typeface="Trebuchet MS"/>
              </a:rPr>
              <a:t>yesterday)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3AEE35E9-6328-490E-8CCA-696AA0837CD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Polysemy:</a:t>
            </a:r>
            <a:r>
              <a:rPr spc="60" dirty="0"/>
              <a:t> </a:t>
            </a:r>
            <a:r>
              <a:rPr spc="-10" dirty="0"/>
              <a:t>multiple</a:t>
            </a:r>
            <a:r>
              <a:rPr spc="-15" dirty="0"/>
              <a:t> </a:t>
            </a:r>
            <a:r>
              <a:rPr spc="-10" dirty="0"/>
              <a:t>related meanings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53744"/>
            <a:ext cx="4483735" cy="909319"/>
            <a:chOff x="87743" y="953744"/>
            <a:chExt cx="4483735" cy="909319"/>
          </a:xfrm>
        </p:grpSpPr>
        <p:sp>
          <p:nvSpPr>
            <p:cNvPr id="4" name="object 4"/>
            <p:cNvSpPr/>
            <p:nvPr/>
          </p:nvSpPr>
          <p:spPr>
            <a:xfrm>
              <a:off x="87743" y="953744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75"/>
                  </a:lnTo>
                  <a:lnTo>
                    <a:pt x="4432554" y="18097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2205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61248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48548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97978"/>
              <a:ext cx="50800" cy="7632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66380"/>
              <a:ext cx="4432935" cy="645795"/>
            </a:xfrm>
            <a:custGeom>
              <a:avLst/>
              <a:gdLst/>
              <a:ahLst/>
              <a:cxnLst/>
              <a:rect l="l" t="t" r="r" b="b"/>
              <a:pathLst>
                <a:path w="4432935" h="645794">
                  <a:moveTo>
                    <a:pt x="4432554" y="0"/>
                  </a:moveTo>
                  <a:lnTo>
                    <a:pt x="0" y="0"/>
                  </a:lnTo>
                  <a:lnTo>
                    <a:pt x="0" y="594868"/>
                  </a:lnTo>
                  <a:lnTo>
                    <a:pt x="4008" y="614592"/>
                  </a:lnTo>
                  <a:lnTo>
                    <a:pt x="14922" y="630745"/>
                  </a:lnTo>
                  <a:lnTo>
                    <a:pt x="31075" y="641659"/>
                  </a:lnTo>
                  <a:lnTo>
                    <a:pt x="50800" y="645668"/>
                  </a:lnTo>
                  <a:lnTo>
                    <a:pt x="4381754" y="645668"/>
                  </a:lnTo>
                  <a:lnTo>
                    <a:pt x="4401478" y="641659"/>
                  </a:lnTo>
                  <a:lnTo>
                    <a:pt x="4417631" y="630745"/>
                  </a:lnTo>
                  <a:lnTo>
                    <a:pt x="4428545" y="614592"/>
                  </a:lnTo>
                  <a:lnTo>
                    <a:pt x="4432554" y="59486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036078"/>
              <a:ext cx="0" cy="744220"/>
            </a:xfrm>
            <a:custGeom>
              <a:avLst/>
              <a:gdLst/>
              <a:ahLst/>
              <a:cxnLst/>
              <a:rect l="l" t="t" r="r" b="b"/>
              <a:pathLst>
                <a:path h="744219">
                  <a:moveTo>
                    <a:pt x="0" y="744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10233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10106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979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1606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26095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874466"/>
            <a:ext cx="2693035" cy="65659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Zeugma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test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ts val="1650"/>
              </a:lnSpc>
              <a:spcBef>
                <a:spcPts val="25"/>
              </a:spcBef>
            </a:pP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flights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serve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breakfast?</a:t>
            </a:r>
            <a:r>
              <a:rPr sz="950" spc="70" dirty="0">
                <a:latin typeface="Trebuchet MS"/>
                <a:cs typeface="Trebuchet MS"/>
              </a:rPr>
              <a:t> Does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Midwest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Express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i="1" spc="20" dirty="0">
                <a:latin typeface="Trebuchet MS"/>
                <a:cs typeface="Trebuchet MS"/>
              </a:rPr>
              <a:t>serve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Philadelphia?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507F3E5E-4EC4-4CB9-8430-98E3A233148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Polysemy:</a:t>
            </a:r>
            <a:r>
              <a:rPr spc="60" dirty="0"/>
              <a:t> </a:t>
            </a:r>
            <a:r>
              <a:rPr spc="-10" dirty="0"/>
              <a:t>multiple</a:t>
            </a:r>
            <a:r>
              <a:rPr spc="-15" dirty="0"/>
              <a:t> </a:t>
            </a:r>
            <a:r>
              <a:rPr spc="-10" dirty="0"/>
              <a:t>related meanings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53744"/>
            <a:ext cx="4483735" cy="909319"/>
            <a:chOff x="87743" y="953744"/>
            <a:chExt cx="4483735" cy="909319"/>
          </a:xfrm>
        </p:grpSpPr>
        <p:sp>
          <p:nvSpPr>
            <p:cNvPr id="4" name="object 4"/>
            <p:cNvSpPr/>
            <p:nvPr/>
          </p:nvSpPr>
          <p:spPr>
            <a:xfrm>
              <a:off x="87743" y="953744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75"/>
                  </a:lnTo>
                  <a:lnTo>
                    <a:pt x="4432554" y="18097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2205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61248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48548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97978"/>
              <a:ext cx="50800" cy="7632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66380"/>
              <a:ext cx="4432935" cy="645795"/>
            </a:xfrm>
            <a:custGeom>
              <a:avLst/>
              <a:gdLst/>
              <a:ahLst/>
              <a:cxnLst/>
              <a:rect l="l" t="t" r="r" b="b"/>
              <a:pathLst>
                <a:path w="4432935" h="645794">
                  <a:moveTo>
                    <a:pt x="4432554" y="0"/>
                  </a:moveTo>
                  <a:lnTo>
                    <a:pt x="0" y="0"/>
                  </a:lnTo>
                  <a:lnTo>
                    <a:pt x="0" y="594868"/>
                  </a:lnTo>
                  <a:lnTo>
                    <a:pt x="4008" y="614592"/>
                  </a:lnTo>
                  <a:lnTo>
                    <a:pt x="14922" y="630745"/>
                  </a:lnTo>
                  <a:lnTo>
                    <a:pt x="31075" y="641659"/>
                  </a:lnTo>
                  <a:lnTo>
                    <a:pt x="50800" y="645668"/>
                  </a:lnTo>
                  <a:lnTo>
                    <a:pt x="4381754" y="645668"/>
                  </a:lnTo>
                  <a:lnTo>
                    <a:pt x="4401478" y="641659"/>
                  </a:lnTo>
                  <a:lnTo>
                    <a:pt x="4417631" y="630745"/>
                  </a:lnTo>
                  <a:lnTo>
                    <a:pt x="4428545" y="614592"/>
                  </a:lnTo>
                  <a:lnTo>
                    <a:pt x="4432554" y="59486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036078"/>
              <a:ext cx="0" cy="744220"/>
            </a:xfrm>
            <a:custGeom>
              <a:avLst/>
              <a:gdLst/>
              <a:ahLst/>
              <a:cxnLst/>
              <a:rect l="l" t="t" r="r" b="b"/>
              <a:pathLst>
                <a:path h="744219">
                  <a:moveTo>
                    <a:pt x="0" y="744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10233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10106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979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1606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26095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874466"/>
            <a:ext cx="3091180" cy="9048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Zeugma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test</a:t>
            </a:r>
            <a:endParaRPr sz="1100">
              <a:latin typeface="Cambria"/>
              <a:cs typeface="Cambria"/>
            </a:endParaRPr>
          </a:p>
          <a:p>
            <a:pPr marL="289560" marR="403225">
              <a:lnSpc>
                <a:spcPts val="1650"/>
              </a:lnSpc>
              <a:spcBef>
                <a:spcPts val="55"/>
              </a:spcBef>
            </a:pP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flights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serve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breakfast?</a:t>
            </a:r>
            <a:r>
              <a:rPr sz="950" spc="70" dirty="0">
                <a:latin typeface="Trebuchet MS"/>
                <a:cs typeface="Trebuchet MS"/>
              </a:rPr>
              <a:t> Does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Midwest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Express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i="1" spc="20" dirty="0">
                <a:latin typeface="Trebuchet MS"/>
                <a:cs typeface="Trebuchet MS"/>
              </a:rPr>
              <a:t>serve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Philadelphia?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950" spc="60" dirty="0">
                <a:latin typeface="Trebuchet MS"/>
                <a:cs typeface="Trebuchet MS"/>
              </a:rPr>
              <a:t>*</a:t>
            </a:r>
            <a:r>
              <a:rPr sz="950" i="1" spc="60" dirty="0">
                <a:latin typeface="Trebuchet MS"/>
                <a:cs typeface="Trebuchet MS"/>
              </a:rPr>
              <a:t>Does </a:t>
            </a:r>
            <a:r>
              <a:rPr sz="950" i="1" dirty="0">
                <a:latin typeface="Trebuchet MS"/>
                <a:cs typeface="Trebuchet MS"/>
              </a:rPr>
              <a:t>Midwest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Express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serve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breakfast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and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spc="80" dirty="0">
                <a:latin typeface="Trebuchet MS"/>
                <a:cs typeface="Trebuchet MS"/>
              </a:rPr>
              <a:t>San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spc="65" dirty="0">
                <a:latin typeface="Trebuchet MS"/>
                <a:cs typeface="Trebuchet MS"/>
              </a:rPr>
              <a:t>Jose?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EEB3D8F-AE5E-40F8-8398-6EB91402B0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Polysemy:</a:t>
            </a:r>
            <a:r>
              <a:rPr spc="60" dirty="0"/>
              <a:t> </a:t>
            </a:r>
            <a:r>
              <a:rPr spc="-10" dirty="0"/>
              <a:t>multiple</a:t>
            </a:r>
            <a:r>
              <a:rPr spc="-15" dirty="0"/>
              <a:t> </a:t>
            </a:r>
            <a:r>
              <a:rPr spc="-10" dirty="0"/>
              <a:t>related meanings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53744"/>
            <a:ext cx="4483735" cy="909319"/>
            <a:chOff x="87743" y="953744"/>
            <a:chExt cx="4483735" cy="909319"/>
          </a:xfrm>
        </p:grpSpPr>
        <p:sp>
          <p:nvSpPr>
            <p:cNvPr id="4" name="object 4"/>
            <p:cNvSpPr/>
            <p:nvPr/>
          </p:nvSpPr>
          <p:spPr>
            <a:xfrm>
              <a:off x="87743" y="953744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75"/>
                  </a:lnTo>
                  <a:lnTo>
                    <a:pt x="4432554" y="18097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2205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61248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48548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97978"/>
              <a:ext cx="50800" cy="7632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66380"/>
              <a:ext cx="4432935" cy="645795"/>
            </a:xfrm>
            <a:custGeom>
              <a:avLst/>
              <a:gdLst/>
              <a:ahLst/>
              <a:cxnLst/>
              <a:rect l="l" t="t" r="r" b="b"/>
              <a:pathLst>
                <a:path w="4432935" h="645794">
                  <a:moveTo>
                    <a:pt x="4432554" y="0"/>
                  </a:moveTo>
                  <a:lnTo>
                    <a:pt x="0" y="0"/>
                  </a:lnTo>
                  <a:lnTo>
                    <a:pt x="0" y="594868"/>
                  </a:lnTo>
                  <a:lnTo>
                    <a:pt x="4008" y="614592"/>
                  </a:lnTo>
                  <a:lnTo>
                    <a:pt x="14922" y="630745"/>
                  </a:lnTo>
                  <a:lnTo>
                    <a:pt x="31075" y="641659"/>
                  </a:lnTo>
                  <a:lnTo>
                    <a:pt x="50800" y="645668"/>
                  </a:lnTo>
                  <a:lnTo>
                    <a:pt x="4381754" y="645668"/>
                  </a:lnTo>
                  <a:lnTo>
                    <a:pt x="4401478" y="641659"/>
                  </a:lnTo>
                  <a:lnTo>
                    <a:pt x="4417631" y="630745"/>
                  </a:lnTo>
                  <a:lnTo>
                    <a:pt x="4428545" y="614592"/>
                  </a:lnTo>
                  <a:lnTo>
                    <a:pt x="4432554" y="59486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036078"/>
              <a:ext cx="0" cy="744220"/>
            </a:xfrm>
            <a:custGeom>
              <a:avLst/>
              <a:gdLst/>
              <a:ahLst/>
              <a:cxnLst/>
              <a:rect l="l" t="t" r="r" b="b"/>
              <a:pathLst>
                <a:path h="744219">
                  <a:moveTo>
                    <a:pt x="0" y="7442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10233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10106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9797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1606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26095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963978"/>
            <a:ext cx="4483735" cy="628015"/>
            <a:chOff x="87743" y="1963978"/>
            <a:chExt cx="4483735" cy="628015"/>
          </a:xfrm>
        </p:grpSpPr>
        <p:sp>
          <p:nvSpPr>
            <p:cNvPr id="17" name="object 17"/>
            <p:cNvSpPr/>
            <p:nvPr/>
          </p:nvSpPr>
          <p:spPr>
            <a:xfrm>
              <a:off x="87743" y="1963978"/>
              <a:ext cx="4432935" cy="358140"/>
            </a:xfrm>
            <a:custGeom>
              <a:avLst/>
              <a:gdLst/>
              <a:ahLst/>
              <a:cxnLst/>
              <a:rect l="l" t="t" r="r" b="b"/>
              <a:pathLst>
                <a:path w="4432935" h="358139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357759"/>
                  </a:lnTo>
                  <a:lnTo>
                    <a:pt x="4432554" y="357759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2309063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490241"/>
              <a:ext cx="101599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477541"/>
              <a:ext cx="4381754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2008213"/>
              <a:ext cx="50800" cy="48202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2353335"/>
              <a:ext cx="4432935" cy="187960"/>
            </a:xfrm>
            <a:custGeom>
              <a:avLst/>
              <a:gdLst/>
              <a:ahLst/>
              <a:cxnLst/>
              <a:rect l="l" t="t" r="r" b="b"/>
              <a:pathLst>
                <a:path w="4432935" h="187960">
                  <a:moveTo>
                    <a:pt x="4432554" y="0"/>
                  </a:moveTo>
                  <a:lnTo>
                    <a:pt x="0" y="0"/>
                  </a:lnTo>
                  <a:lnTo>
                    <a:pt x="0" y="136906"/>
                  </a:lnTo>
                  <a:lnTo>
                    <a:pt x="4008" y="156630"/>
                  </a:lnTo>
                  <a:lnTo>
                    <a:pt x="14922" y="172783"/>
                  </a:lnTo>
                  <a:lnTo>
                    <a:pt x="31075" y="183697"/>
                  </a:lnTo>
                  <a:lnTo>
                    <a:pt x="50800" y="187706"/>
                  </a:lnTo>
                  <a:lnTo>
                    <a:pt x="4381754" y="187706"/>
                  </a:lnTo>
                  <a:lnTo>
                    <a:pt x="4401478" y="183697"/>
                  </a:lnTo>
                  <a:lnTo>
                    <a:pt x="4417631" y="172783"/>
                  </a:lnTo>
                  <a:lnTo>
                    <a:pt x="4428545" y="156630"/>
                  </a:lnTo>
                  <a:lnTo>
                    <a:pt x="4432554" y="13690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2046376"/>
              <a:ext cx="0" cy="462915"/>
            </a:xfrm>
            <a:custGeom>
              <a:avLst/>
              <a:gdLst/>
              <a:ahLst/>
              <a:cxnLst/>
              <a:rect l="l" t="t" r="r" b="b"/>
              <a:pathLst>
                <a:path h="462914">
                  <a:moveTo>
                    <a:pt x="0" y="46291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0336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0209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0082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25729" y="874466"/>
            <a:ext cx="4104004" cy="16338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Zeugma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test</a:t>
            </a:r>
            <a:endParaRPr sz="1100">
              <a:latin typeface="Cambria"/>
              <a:cs typeface="Cambria"/>
            </a:endParaRPr>
          </a:p>
          <a:p>
            <a:pPr marL="289560" marR="1416050">
              <a:lnSpc>
                <a:spcPts val="1650"/>
              </a:lnSpc>
              <a:spcBef>
                <a:spcPts val="55"/>
              </a:spcBef>
            </a:pP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flights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serve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breakfast?</a:t>
            </a:r>
            <a:r>
              <a:rPr sz="950" spc="70" dirty="0">
                <a:latin typeface="Trebuchet MS"/>
                <a:cs typeface="Trebuchet MS"/>
              </a:rPr>
              <a:t> Does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Midwest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20" dirty="0">
                <a:latin typeface="Trebuchet MS"/>
                <a:cs typeface="Trebuchet MS"/>
              </a:rPr>
              <a:t>Express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i="1" spc="20" dirty="0">
                <a:latin typeface="Trebuchet MS"/>
                <a:cs typeface="Trebuchet MS"/>
              </a:rPr>
              <a:t>serve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Philadelphia?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950" spc="60" dirty="0">
                <a:latin typeface="Trebuchet MS"/>
                <a:cs typeface="Trebuchet MS"/>
              </a:rPr>
              <a:t>*</a:t>
            </a:r>
            <a:r>
              <a:rPr sz="950" i="1" spc="60" dirty="0">
                <a:latin typeface="Trebuchet MS"/>
                <a:cs typeface="Trebuchet MS"/>
              </a:rPr>
              <a:t>Does </a:t>
            </a:r>
            <a:r>
              <a:rPr sz="950" i="1" dirty="0">
                <a:latin typeface="Trebuchet MS"/>
                <a:cs typeface="Trebuchet MS"/>
              </a:rPr>
              <a:t>Midwest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Express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serve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breakfast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and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spc="80" dirty="0">
                <a:latin typeface="Trebuchet MS"/>
                <a:cs typeface="Trebuchet MS"/>
              </a:rPr>
              <a:t>San</a:t>
            </a:r>
            <a:r>
              <a:rPr sz="950" i="1" spc="60" dirty="0">
                <a:latin typeface="Trebuchet MS"/>
                <a:cs typeface="Trebuchet MS"/>
              </a:rPr>
              <a:t> </a:t>
            </a:r>
            <a:r>
              <a:rPr sz="950" i="1" spc="65" dirty="0">
                <a:latin typeface="Trebuchet MS"/>
                <a:cs typeface="Trebuchet MS"/>
              </a:rPr>
              <a:t>Jose?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950">
              <a:latin typeface="Trebuchet MS"/>
              <a:cs typeface="Trebuchet MS"/>
            </a:endParaRPr>
          </a:p>
          <a:p>
            <a:pPr marL="12700" marR="354330">
              <a:lnSpc>
                <a:spcPct val="102600"/>
              </a:lnSpc>
            </a:pP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Combine</a:t>
            </a: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45" dirty="0">
                <a:solidFill>
                  <a:srgbClr val="FF0000"/>
                </a:solidFill>
                <a:latin typeface="Cambria"/>
                <a:cs typeface="Cambria"/>
              </a:rPr>
              <a:t>two</a:t>
            </a:r>
            <a:r>
              <a:rPr sz="1100" i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separate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uses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lexeme into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single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example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using conjunction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Since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85" dirty="0">
                <a:latin typeface="Trebuchet MS"/>
                <a:cs typeface="Trebuchet MS"/>
              </a:rPr>
              <a:t>it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sounds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weird,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two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senses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serve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9" name="object 2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E4BE989D-271D-46CE-9D08-CF0AD9B380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7645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Synonymy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96264"/>
            <a:ext cx="4483735" cy="1500505"/>
            <a:chOff x="87743" y="796264"/>
            <a:chExt cx="4483735" cy="1500505"/>
          </a:xfrm>
        </p:grpSpPr>
        <p:sp>
          <p:nvSpPr>
            <p:cNvPr id="4" name="object 4"/>
            <p:cNvSpPr/>
            <p:nvPr/>
          </p:nvSpPr>
          <p:spPr>
            <a:xfrm>
              <a:off x="87743" y="79626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69289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19515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18245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40498"/>
              <a:ext cx="50800" cy="13546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13548"/>
              <a:ext cx="4432935" cy="1232535"/>
            </a:xfrm>
            <a:custGeom>
              <a:avLst/>
              <a:gdLst/>
              <a:ahLst/>
              <a:cxnLst/>
              <a:rect l="l" t="t" r="r" b="b"/>
              <a:pathLst>
                <a:path w="4432935" h="1232535">
                  <a:moveTo>
                    <a:pt x="4432554" y="0"/>
                  </a:moveTo>
                  <a:lnTo>
                    <a:pt x="0" y="0"/>
                  </a:lnTo>
                  <a:lnTo>
                    <a:pt x="0" y="1181608"/>
                  </a:lnTo>
                  <a:lnTo>
                    <a:pt x="4008" y="1201332"/>
                  </a:lnTo>
                  <a:lnTo>
                    <a:pt x="14922" y="1217485"/>
                  </a:lnTo>
                  <a:lnTo>
                    <a:pt x="31075" y="1228399"/>
                  </a:lnTo>
                  <a:lnTo>
                    <a:pt x="50800" y="1232408"/>
                  </a:lnTo>
                  <a:lnTo>
                    <a:pt x="4381754" y="1232408"/>
                  </a:lnTo>
                  <a:lnTo>
                    <a:pt x="4401478" y="1228399"/>
                  </a:lnTo>
                  <a:lnTo>
                    <a:pt x="4417631" y="1217485"/>
                  </a:lnTo>
                  <a:lnTo>
                    <a:pt x="4428545" y="1201332"/>
                  </a:lnTo>
                  <a:lnTo>
                    <a:pt x="4432554" y="118160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78547"/>
              <a:ext cx="0" cy="1336040"/>
            </a:xfrm>
            <a:custGeom>
              <a:avLst/>
              <a:gdLst/>
              <a:ahLst/>
              <a:cxnLst/>
              <a:rect l="l" t="t" r="r" b="b"/>
              <a:pathLst>
                <a:path h="1336039">
                  <a:moveTo>
                    <a:pt x="0" y="13356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658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531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404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63294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73327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483360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693392"/>
              <a:ext cx="64757" cy="647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903425"/>
              <a:ext cx="64757" cy="6475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113457"/>
              <a:ext cx="64757" cy="64757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87743" y="2397874"/>
            <a:ext cx="4483735" cy="430530"/>
            <a:chOff x="87743" y="2397874"/>
            <a:chExt cx="4483735" cy="430530"/>
          </a:xfrm>
        </p:grpSpPr>
        <p:sp>
          <p:nvSpPr>
            <p:cNvPr id="21" name="object 21"/>
            <p:cNvSpPr/>
            <p:nvPr/>
          </p:nvSpPr>
          <p:spPr>
            <a:xfrm>
              <a:off x="87743" y="2397874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8544" y="2726448"/>
              <a:ext cx="101600" cy="1016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9344" y="2713748"/>
              <a:ext cx="4381754" cy="114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20298" y="2448445"/>
              <a:ext cx="50800" cy="27800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7743" y="2442349"/>
              <a:ext cx="4432935" cy="335280"/>
            </a:xfrm>
            <a:custGeom>
              <a:avLst/>
              <a:gdLst/>
              <a:ahLst/>
              <a:cxnLst/>
              <a:rect l="l" t="t" r="r" b="b"/>
              <a:pathLst>
                <a:path w="4432935" h="335280">
                  <a:moveTo>
                    <a:pt x="4432554" y="0"/>
                  </a:moveTo>
                  <a:lnTo>
                    <a:pt x="0" y="0"/>
                  </a:lnTo>
                  <a:lnTo>
                    <a:pt x="0" y="284099"/>
                  </a:lnTo>
                  <a:lnTo>
                    <a:pt x="4008" y="303823"/>
                  </a:lnTo>
                  <a:lnTo>
                    <a:pt x="14922" y="319976"/>
                  </a:lnTo>
                  <a:lnTo>
                    <a:pt x="31075" y="330890"/>
                  </a:lnTo>
                  <a:lnTo>
                    <a:pt x="50800" y="334899"/>
                  </a:lnTo>
                  <a:lnTo>
                    <a:pt x="4381754" y="334899"/>
                  </a:lnTo>
                  <a:lnTo>
                    <a:pt x="4401478" y="330890"/>
                  </a:lnTo>
                  <a:lnTo>
                    <a:pt x="4417631" y="319976"/>
                  </a:lnTo>
                  <a:lnTo>
                    <a:pt x="4428545" y="303823"/>
                  </a:lnTo>
                  <a:lnTo>
                    <a:pt x="4432554" y="28409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486545"/>
              <a:ext cx="0" cy="259079"/>
            </a:xfrm>
            <a:custGeom>
              <a:avLst/>
              <a:gdLst/>
              <a:ahLst/>
              <a:cxnLst/>
              <a:rect l="l" t="t" r="r" b="b"/>
              <a:pathLst>
                <a:path h="259080">
                  <a:moveTo>
                    <a:pt x="0" y="25895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4738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0309" y="24611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0309" y="24484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0330" y="721561"/>
            <a:ext cx="4183379" cy="20478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1100" i="1" spc="-65" dirty="0">
                <a:solidFill>
                  <a:srgbClr val="3232B2"/>
                </a:solidFill>
                <a:latin typeface="Cambria"/>
                <a:cs typeface="Cambria"/>
              </a:rPr>
              <a:t>Words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55" dirty="0">
                <a:solidFill>
                  <a:srgbClr val="3232B2"/>
                </a:solidFill>
                <a:latin typeface="Cambria"/>
                <a:cs typeface="Cambria"/>
              </a:rPr>
              <a:t>that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have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same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meaning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in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some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or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all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contexts.</a:t>
            </a:r>
            <a:endParaRPr sz="1100">
              <a:latin typeface="Cambria"/>
              <a:cs typeface="Cambria"/>
            </a:endParaRPr>
          </a:p>
          <a:p>
            <a:pPr marL="314960" marR="2977515">
              <a:lnSpc>
                <a:spcPts val="1650"/>
              </a:lnSpc>
              <a:spcBef>
                <a:spcPts val="55"/>
              </a:spcBef>
            </a:pPr>
            <a:r>
              <a:rPr sz="950" spc="-35" dirty="0">
                <a:latin typeface="Trebuchet MS"/>
                <a:cs typeface="Trebuchet MS"/>
              </a:rPr>
              <a:t>filbert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hazelnut </a:t>
            </a:r>
            <a:r>
              <a:rPr sz="950" dirty="0">
                <a:latin typeface="Trebuchet MS"/>
                <a:cs typeface="Trebuchet MS"/>
              </a:rPr>
              <a:t>couch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sofa</a:t>
            </a:r>
            <a:endParaRPr sz="950">
              <a:latin typeface="Trebuchet MS"/>
              <a:cs typeface="Trebuchet MS"/>
            </a:endParaRPr>
          </a:p>
          <a:p>
            <a:pPr marL="314960" marR="2972435">
              <a:lnSpc>
                <a:spcPts val="1650"/>
              </a:lnSpc>
              <a:spcBef>
                <a:spcPts val="5"/>
              </a:spcBef>
            </a:pPr>
            <a:r>
              <a:rPr sz="950" dirty="0">
                <a:latin typeface="Trebuchet MS"/>
                <a:cs typeface="Trebuchet MS"/>
              </a:rPr>
              <a:t>big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large </a:t>
            </a:r>
            <a:r>
              <a:rPr sz="950" dirty="0">
                <a:latin typeface="Trebuchet MS"/>
                <a:cs typeface="Trebuchet MS"/>
              </a:rPr>
              <a:t>automobile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car </a:t>
            </a:r>
            <a:r>
              <a:rPr sz="950" spc="-10" dirty="0">
                <a:latin typeface="Trebuchet MS"/>
                <a:cs typeface="Trebuchet MS"/>
              </a:rPr>
              <a:t>vomit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throw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up </a:t>
            </a:r>
            <a:r>
              <a:rPr sz="950" spc="-20" dirty="0">
                <a:latin typeface="Trebuchet MS"/>
                <a:cs typeface="Trebuchet MS"/>
              </a:rPr>
              <a:t>water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229" dirty="0">
                <a:latin typeface="Trebuchet MS"/>
                <a:cs typeface="Trebuchet MS"/>
              </a:rPr>
              <a:t>/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H</a:t>
            </a:r>
            <a:r>
              <a:rPr sz="1200" spc="-37" baseline="-10416" dirty="0">
                <a:latin typeface="Cambria"/>
                <a:cs typeface="Cambria"/>
              </a:rPr>
              <a:t>2</a:t>
            </a:r>
            <a:r>
              <a:rPr sz="1100" i="1" spc="-25" dirty="0">
                <a:latin typeface="Cambria"/>
                <a:cs typeface="Cambria"/>
              </a:rPr>
              <a:t>O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950">
              <a:latin typeface="Cambria"/>
              <a:cs typeface="Cambria"/>
            </a:endParaRPr>
          </a:p>
          <a:p>
            <a:pPr marL="38100" marR="17780">
              <a:lnSpc>
                <a:spcPct val="118800"/>
              </a:lnSpc>
            </a:pPr>
            <a:r>
              <a:rPr sz="950" dirty="0">
                <a:latin typeface="Trebuchet MS"/>
                <a:cs typeface="Trebuchet MS"/>
              </a:rPr>
              <a:t>Two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lexemes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synonyms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successfully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substituted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each </a:t>
            </a:r>
            <a:r>
              <a:rPr sz="950" spc="-10" dirty="0">
                <a:latin typeface="Trebuchet MS"/>
                <a:cs typeface="Trebuchet MS"/>
              </a:rPr>
              <a:t>other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situations.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11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Synonymy:</a:t>
            </a:r>
            <a:r>
              <a:rPr spc="8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10" dirty="0"/>
              <a:t>relation</a:t>
            </a:r>
            <a:r>
              <a:rPr spc="5" dirty="0"/>
              <a:t> </a:t>
            </a:r>
            <a:r>
              <a:rPr spc="-20" dirty="0"/>
              <a:t>between</a:t>
            </a:r>
            <a:r>
              <a:rPr spc="10" dirty="0"/>
              <a:t> </a:t>
            </a:r>
            <a:r>
              <a:rPr spc="-10" dirty="0"/>
              <a:t>senses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52081"/>
            <a:ext cx="4483735" cy="667385"/>
            <a:chOff x="87743" y="852081"/>
            <a:chExt cx="4483735" cy="667385"/>
          </a:xfrm>
        </p:grpSpPr>
        <p:sp>
          <p:nvSpPr>
            <p:cNvPr id="4" name="object 4"/>
            <p:cNvSpPr/>
            <p:nvPr/>
          </p:nvSpPr>
          <p:spPr>
            <a:xfrm>
              <a:off x="87743" y="85208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250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17802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05102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96315"/>
              <a:ext cx="50800" cy="5214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69441"/>
              <a:ext cx="4432935" cy="399415"/>
            </a:xfrm>
            <a:custGeom>
              <a:avLst/>
              <a:gdLst/>
              <a:ahLst/>
              <a:cxnLst/>
              <a:rect l="l" t="t" r="r" b="b"/>
              <a:pathLst>
                <a:path w="4432935" h="399415">
                  <a:moveTo>
                    <a:pt x="4432554" y="0"/>
                  </a:moveTo>
                  <a:lnTo>
                    <a:pt x="0" y="0"/>
                  </a:lnTo>
                  <a:lnTo>
                    <a:pt x="0" y="348361"/>
                  </a:lnTo>
                  <a:lnTo>
                    <a:pt x="4008" y="368085"/>
                  </a:lnTo>
                  <a:lnTo>
                    <a:pt x="14922" y="384238"/>
                  </a:lnTo>
                  <a:lnTo>
                    <a:pt x="31075" y="395152"/>
                  </a:lnTo>
                  <a:lnTo>
                    <a:pt x="50800" y="399161"/>
                  </a:lnTo>
                  <a:lnTo>
                    <a:pt x="4381754" y="399161"/>
                  </a:lnTo>
                  <a:lnTo>
                    <a:pt x="4401478" y="395152"/>
                  </a:lnTo>
                  <a:lnTo>
                    <a:pt x="4417631" y="384238"/>
                  </a:lnTo>
                  <a:lnTo>
                    <a:pt x="4428545" y="368085"/>
                  </a:lnTo>
                  <a:lnTo>
                    <a:pt x="4432554" y="34836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34440"/>
              <a:ext cx="0" cy="502920"/>
            </a:xfrm>
            <a:custGeom>
              <a:avLst/>
              <a:gdLst/>
              <a:ahLst/>
              <a:cxnLst/>
              <a:rect l="l" t="t" r="r" b="b"/>
              <a:pathLst>
                <a:path h="502919">
                  <a:moveTo>
                    <a:pt x="0" y="5024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217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090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963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19111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29143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497888"/>
            <a:ext cx="2710180" cy="93662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950" dirty="0">
                <a:latin typeface="Trebuchet MS"/>
                <a:cs typeface="Trebuchet MS"/>
              </a:rPr>
              <a:t>Consider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big</a:t>
            </a:r>
            <a:r>
              <a:rPr sz="950" i="1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large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Are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40" dirty="0">
                <a:solidFill>
                  <a:srgbClr val="3232B2"/>
                </a:solidFill>
                <a:latin typeface="Cambria"/>
                <a:cs typeface="Cambria"/>
              </a:rPr>
              <a:t>they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synonyms?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How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b="1" spc="50" dirty="0">
                <a:latin typeface="Trebuchet MS"/>
                <a:cs typeface="Trebuchet MS"/>
              </a:rPr>
              <a:t>big</a:t>
            </a:r>
            <a:r>
              <a:rPr sz="950" b="1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plane?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Would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flying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large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small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plane?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D3516DE-59E9-4BAF-8B30-176A0226691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Synonymy:</a:t>
            </a:r>
            <a:r>
              <a:rPr spc="8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10" dirty="0"/>
              <a:t>relation</a:t>
            </a:r>
            <a:r>
              <a:rPr spc="5" dirty="0"/>
              <a:t> </a:t>
            </a:r>
            <a:r>
              <a:rPr spc="-20" dirty="0"/>
              <a:t>between</a:t>
            </a:r>
            <a:r>
              <a:rPr spc="10" dirty="0"/>
              <a:t> </a:t>
            </a:r>
            <a:r>
              <a:rPr spc="-10" dirty="0"/>
              <a:t>senses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52081"/>
            <a:ext cx="4483735" cy="667385"/>
            <a:chOff x="87743" y="852081"/>
            <a:chExt cx="4483735" cy="667385"/>
          </a:xfrm>
        </p:grpSpPr>
        <p:sp>
          <p:nvSpPr>
            <p:cNvPr id="4" name="object 4"/>
            <p:cNvSpPr/>
            <p:nvPr/>
          </p:nvSpPr>
          <p:spPr>
            <a:xfrm>
              <a:off x="87743" y="85208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250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17802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05102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96315"/>
              <a:ext cx="50800" cy="5214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69441"/>
              <a:ext cx="4432935" cy="399415"/>
            </a:xfrm>
            <a:custGeom>
              <a:avLst/>
              <a:gdLst/>
              <a:ahLst/>
              <a:cxnLst/>
              <a:rect l="l" t="t" r="r" b="b"/>
              <a:pathLst>
                <a:path w="4432935" h="399415">
                  <a:moveTo>
                    <a:pt x="4432554" y="0"/>
                  </a:moveTo>
                  <a:lnTo>
                    <a:pt x="0" y="0"/>
                  </a:lnTo>
                  <a:lnTo>
                    <a:pt x="0" y="348361"/>
                  </a:lnTo>
                  <a:lnTo>
                    <a:pt x="4008" y="368085"/>
                  </a:lnTo>
                  <a:lnTo>
                    <a:pt x="14922" y="384238"/>
                  </a:lnTo>
                  <a:lnTo>
                    <a:pt x="31075" y="395152"/>
                  </a:lnTo>
                  <a:lnTo>
                    <a:pt x="50800" y="399161"/>
                  </a:lnTo>
                  <a:lnTo>
                    <a:pt x="4381754" y="399161"/>
                  </a:lnTo>
                  <a:lnTo>
                    <a:pt x="4401478" y="395152"/>
                  </a:lnTo>
                  <a:lnTo>
                    <a:pt x="4417631" y="384238"/>
                  </a:lnTo>
                  <a:lnTo>
                    <a:pt x="4428545" y="368085"/>
                  </a:lnTo>
                  <a:lnTo>
                    <a:pt x="4432554" y="34836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34440"/>
              <a:ext cx="0" cy="502920"/>
            </a:xfrm>
            <a:custGeom>
              <a:avLst/>
              <a:gdLst/>
              <a:ahLst/>
              <a:cxnLst/>
              <a:rect l="l" t="t" r="r" b="b"/>
              <a:pathLst>
                <a:path h="502919">
                  <a:moveTo>
                    <a:pt x="0" y="5024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217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090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963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19111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29143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620520"/>
            <a:ext cx="4483735" cy="658495"/>
            <a:chOff x="87743" y="1620520"/>
            <a:chExt cx="4483735" cy="658495"/>
          </a:xfrm>
        </p:grpSpPr>
        <p:sp>
          <p:nvSpPr>
            <p:cNvPr id="17" name="object 17"/>
            <p:cNvSpPr/>
            <p:nvPr/>
          </p:nvSpPr>
          <p:spPr>
            <a:xfrm>
              <a:off x="87743" y="1620520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1784184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176881"/>
              <a:ext cx="101599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164181"/>
              <a:ext cx="4381754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1664754"/>
              <a:ext cx="50800" cy="51212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1828520"/>
              <a:ext cx="4432935" cy="399415"/>
            </a:xfrm>
            <a:custGeom>
              <a:avLst/>
              <a:gdLst/>
              <a:ahLst/>
              <a:cxnLst/>
              <a:rect l="l" t="t" r="r" b="b"/>
              <a:pathLst>
                <a:path w="4432935" h="399414">
                  <a:moveTo>
                    <a:pt x="4432554" y="0"/>
                  </a:moveTo>
                  <a:lnTo>
                    <a:pt x="0" y="0"/>
                  </a:lnTo>
                  <a:lnTo>
                    <a:pt x="0" y="348360"/>
                  </a:lnTo>
                  <a:lnTo>
                    <a:pt x="4008" y="368085"/>
                  </a:lnTo>
                  <a:lnTo>
                    <a:pt x="14922" y="384238"/>
                  </a:lnTo>
                  <a:lnTo>
                    <a:pt x="31075" y="395152"/>
                  </a:lnTo>
                  <a:lnTo>
                    <a:pt x="50800" y="399160"/>
                  </a:lnTo>
                  <a:lnTo>
                    <a:pt x="4381754" y="399160"/>
                  </a:lnTo>
                  <a:lnTo>
                    <a:pt x="4401478" y="395152"/>
                  </a:lnTo>
                  <a:lnTo>
                    <a:pt x="4417631" y="384238"/>
                  </a:lnTo>
                  <a:lnTo>
                    <a:pt x="4428545" y="368085"/>
                  </a:lnTo>
                  <a:lnTo>
                    <a:pt x="4432554" y="34836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02917"/>
              <a:ext cx="0" cy="493395"/>
            </a:xfrm>
            <a:custGeom>
              <a:avLst/>
              <a:gdLst/>
              <a:ahLst/>
              <a:cxnLst/>
              <a:rect l="l" t="t" r="r" b="b"/>
              <a:pathLst>
                <a:path h="493394">
                  <a:moveTo>
                    <a:pt x="0" y="4930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6901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6774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6647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1878203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088235"/>
              <a:ext cx="64757" cy="6475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25729" y="497888"/>
            <a:ext cx="4149725" cy="169545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950" dirty="0">
                <a:latin typeface="Trebuchet MS"/>
                <a:cs typeface="Trebuchet MS"/>
              </a:rPr>
              <a:t>Consider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big</a:t>
            </a:r>
            <a:r>
              <a:rPr sz="950" i="1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large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Are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40" dirty="0">
                <a:solidFill>
                  <a:srgbClr val="3232B2"/>
                </a:solidFill>
                <a:latin typeface="Cambria"/>
                <a:cs typeface="Cambria"/>
              </a:rPr>
              <a:t>they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synonyms?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How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b="1" spc="50" dirty="0">
                <a:latin typeface="Trebuchet MS"/>
                <a:cs typeface="Trebuchet MS"/>
              </a:rPr>
              <a:t>big</a:t>
            </a:r>
            <a:r>
              <a:rPr sz="950" b="1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plane?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Would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flying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large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small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plane?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How </a:t>
            </a:r>
            <a:r>
              <a:rPr sz="1100" i="1" spc="-40" dirty="0">
                <a:solidFill>
                  <a:srgbClr val="3232B2"/>
                </a:solidFill>
                <a:latin typeface="Cambria"/>
                <a:cs typeface="Cambria"/>
              </a:rPr>
              <a:t>about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here?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950" spc="65" dirty="0">
                <a:latin typeface="Trebuchet MS"/>
                <a:cs typeface="Trebuchet MS"/>
              </a:rPr>
              <a:t>Miss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Nelson,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became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b="1" spc="50" dirty="0">
                <a:latin typeface="Trebuchet MS"/>
                <a:cs typeface="Trebuchet MS"/>
              </a:rPr>
              <a:t>big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sister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Benjamin.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60" dirty="0">
                <a:latin typeface="Trebuchet MS"/>
                <a:cs typeface="Trebuchet MS"/>
              </a:rPr>
              <a:t>*Miss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Nelson,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became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large</a:t>
            </a:r>
            <a:r>
              <a:rPr sz="950" b="1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sister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Benjamin.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85754C27-D7FA-4684-891F-F1CA3DD7D9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Synonymy:</a:t>
            </a:r>
            <a:r>
              <a:rPr spc="8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10" dirty="0"/>
              <a:t>relation</a:t>
            </a:r>
            <a:r>
              <a:rPr spc="5" dirty="0"/>
              <a:t> </a:t>
            </a:r>
            <a:r>
              <a:rPr spc="-20" dirty="0"/>
              <a:t>between</a:t>
            </a:r>
            <a:r>
              <a:rPr spc="10" dirty="0"/>
              <a:t> </a:t>
            </a:r>
            <a:r>
              <a:rPr spc="-10" dirty="0"/>
              <a:t>senses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52081"/>
            <a:ext cx="4483735" cy="667385"/>
            <a:chOff x="87743" y="852081"/>
            <a:chExt cx="4483735" cy="667385"/>
          </a:xfrm>
        </p:grpSpPr>
        <p:sp>
          <p:nvSpPr>
            <p:cNvPr id="4" name="object 4"/>
            <p:cNvSpPr/>
            <p:nvPr/>
          </p:nvSpPr>
          <p:spPr>
            <a:xfrm>
              <a:off x="87743" y="85208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250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17802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05102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96315"/>
              <a:ext cx="50800" cy="5214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69441"/>
              <a:ext cx="4432935" cy="399415"/>
            </a:xfrm>
            <a:custGeom>
              <a:avLst/>
              <a:gdLst/>
              <a:ahLst/>
              <a:cxnLst/>
              <a:rect l="l" t="t" r="r" b="b"/>
              <a:pathLst>
                <a:path w="4432935" h="399415">
                  <a:moveTo>
                    <a:pt x="4432554" y="0"/>
                  </a:moveTo>
                  <a:lnTo>
                    <a:pt x="0" y="0"/>
                  </a:lnTo>
                  <a:lnTo>
                    <a:pt x="0" y="348361"/>
                  </a:lnTo>
                  <a:lnTo>
                    <a:pt x="4008" y="368085"/>
                  </a:lnTo>
                  <a:lnTo>
                    <a:pt x="14922" y="384238"/>
                  </a:lnTo>
                  <a:lnTo>
                    <a:pt x="31075" y="395152"/>
                  </a:lnTo>
                  <a:lnTo>
                    <a:pt x="50800" y="399161"/>
                  </a:lnTo>
                  <a:lnTo>
                    <a:pt x="4381754" y="399161"/>
                  </a:lnTo>
                  <a:lnTo>
                    <a:pt x="4401478" y="395152"/>
                  </a:lnTo>
                  <a:lnTo>
                    <a:pt x="4417631" y="384238"/>
                  </a:lnTo>
                  <a:lnTo>
                    <a:pt x="4428545" y="368085"/>
                  </a:lnTo>
                  <a:lnTo>
                    <a:pt x="4432554" y="34836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34440"/>
              <a:ext cx="0" cy="502920"/>
            </a:xfrm>
            <a:custGeom>
              <a:avLst/>
              <a:gdLst/>
              <a:ahLst/>
              <a:cxnLst/>
              <a:rect l="l" t="t" r="r" b="b"/>
              <a:pathLst>
                <a:path h="502919">
                  <a:moveTo>
                    <a:pt x="0" y="5024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217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090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963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19111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29143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620520"/>
            <a:ext cx="4483735" cy="658495"/>
            <a:chOff x="87743" y="1620520"/>
            <a:chExt cx="4483735" cy="658495"/>
          </a:xfrm>
        </p:grpSpPr>
        <p:sp>
          <p:nvSpPr>
            <p:cNvPr id="17" name="object 17"/>
            <p:cNvSpPr/>
            <p:nvPr/>
          </p:nvSpPr>
          <p:spPr>
            <a:xfrm>
              <a:off x="87743" y="1620520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1784184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176881"/>
              <a:ext cx="101599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164181"/>
              <a:ext cx="4381754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1664754"/>
              <a:ext cx="50800" cy="51212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1828520"/>
              <a:ext cx="4432935" cy="399415"/>
            </a:xfrm>
            <a:custGeom>
              <a:avLst/>
              <a:gdLst/>
              <a:ahLst/>
              <a:cxnLst/>
              <a:rect l="l" t="t" r="r" b="b"/>
              <a:pathLst>
                <a:path w="4432935" h="399414">
                  <a:moveTo>
                    <a:pt x="4432554" y="0"/>
                  </a:moveTo>
                  <a:lnTo>
                    <a:pt x="0" y="0"/>
                  </a:lnTo>
                  <a:lnTo>
                    <a:pt x="0" y="348360"/>
                  </a:lnTo>
                  <a:lnTo>
                    <a:pt x="4008" y="368085"/>
                  </a:lnTo>
                  <a:lnTo>
                    <a:pt x="14922" y="384238"/>
                  </a:lnTo>
                  <a:lnTo>
                    <a:pt x="31075" y="395152"/>
                  </a:lnTo>
                  <a:lnTo>
                    <a:pt x="50800" y="399160"/>
                  </a:lnTo>
                  <a:lnTo>
                    <a:pt x="4381754" y="399160"/>
                  </a:lnTo>
                  <a:lnTo>
                    <a:pt x="4401478" y="395152"/>
                  </a:lnTo>
                  <a:lnTo>
                    <a:pt x="4417631" y="384238"/>
                  </a:lnTo>
                  <a:lnTo>
                    <a:pt x="4428545" y="368085"/>
                  </a:lnTo>
                  <a:lnTo>
                    <a:pt x="4432554" y="34836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02917"/>
              <a:ext cx="0" cy="493395"/>
            </a:xfrm>
            <a:custGeom>
              <a:avLst/>
              <a:gdLst/>
              <a:ahLst/>
              <a:cxnLst/>
              <a:rect l="l" t="t" r="r" b="b"/>
              <a:pathLst>
                <a:path h="493394">
                  <a:moveTo>
                    <a:pt x="0" y="4930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6901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6774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6647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1878203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088235"/>
              <a:ext cx="64757" cy="64757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87743" y="2379611"/>
            <a:ext cx="4483735" cy="664845"/>
            <a:chOff x="87743" y="2379611"/>
            <a:chExt cx="4483735" cy="664845"/>
          </a:xfrm>
        </p:grpSpPr>
        <p:sp>
          <p:nvSpPr>
            <p:cNvPr id="30" name="object 30"/>
            <p:cNvSpPr/>
            <p:nvPr/>
          </p:nvSpPr>
          <p:spPr>
            <a:xfrm>
              <a:off x="87743" y="237961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744" y="2552623"/>
              <a:ext cx="4432554" cy="5060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8544" y="2942463"/>
              <a:ext cx="101599" cy="1016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9344" y="2929763"/>
              <a:ext cx="4381754" cy="1143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20298" y="2423845"/>
              <a:ext cx="50800" cy="51861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7743" y="2596896"/>
              <a:ext cx="4432935" cy="396875"/>
            </a:xfrm>
            <a:custGeom>
              <a:avLst/>
              <a:gdLst/>
              <a:ahLst/>
              <a:cxnLst/>
              <a:rect l="l" t="t" r="r" b="b"/>
              <a:pathLst>
                <a:path w="4432935" h="396875">
                  <a:moveTo>
                    <a:pt x="4432554" y="0"/>
                  </a:moveTo>
                  <a:lnTo>
                    <a:pt x="0" y="0"/>
                  </a:lnTo>
                  <a:lnTo>
                    <a:pt x="0" y="345567"/>
                  </a:lnTo>
                  <a:lnTo>
                    <a:pt x="4008" y="365291"/>
                  </a:lnTo>
                  <a:lnTo>
                    <a:pt x="14922" y="381444"/>
                  </a:lnTo>
                  <a:lnTo>
                    <a:pt x="31075" y="392358"/>
                  </a:lnTo>
                  <a:lnTo>
                    <a:pt x="50800" y="396367"/>
                  </a:lnTo>
                  <a:lnTo>
                    <a:pt x="4381754" y="396367"/>
                  </a:lnTo>
                  <a:lnTo>
                    <a:pt x="4401478" y="392358"/>
                  </a:lnTo>
                  <a:lnTo>
                    <a:pt x="4417631" y="381444"/>
                  </a:lnTo>
                  <a:lnTo>
                    <a:pt x="4428545" y="365291"/>
                  </a:lnTo>
                  <a:lnTo>
                    <a:pt x="4432554" y="345567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09" y="2461895"/>
              <a:ext cx="0" cy="499745"/>
            </a:xfrm>
            <a:custGeom>
              <a:avLst/>
              <a:gdLst/>
              <a:ahLst/>
              <a:cxnLst/>
              <a:rect l="l" t="t" r="r" b="b"/>
              <a:pathLst>
                <a:path h="499744">
                  <a:moveTo>
                    <a:pt x="0" y="4996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20309" y="24492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20309" y="24365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20309" y="24238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1597" y="2643771"/>
              <a:ext cx="64757" cy="6475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1597" y="2853804"/>
              <a:ext cx="64757" cy="64757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25729" y="497888"/>
            <a:ext cx="4149725" cy="24612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950" dirty="0">
                <a:latin typeface="Trebuchet MS"/>
                <a:cs typeface="Trebuchet MS"/>
              </a:rPr>
              <a:t>Consider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big</a:t>
            </a:r>
            <a:r>
              <a:rPr sz="950" i="1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large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Are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40" dirty="0">
                <a:solidFill>
                  <a:srgbClr val="3232B2"/>
                </a:solidFill>
                <a:latin typeface="Cambria"/>
                <a:cs typeface="Cambria"/>
              </a:rPr>
              <a:t>they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synonyms?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How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b="1" spc="50" dirty="0">
                <a:latin typeface="Trebuchet MS"/>
                <a:cs typeface="Trebuchet MS"/>
              </a:rPr>
              <a:t>big</a:t>
            </a:r>
            <a:r>
              <a:rPr sz="950" b="1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plane?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Would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flying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large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small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plane?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How </a:t>
            </a:r>
            <a:r>
              <a:rPr sz="1100" i="1" spc="-40" dirty="0">
                <a:solidFill>
                  <a:srgbClr val="3232B2"/>
                </a:solidFill>
                <a:latin typeface="Cambria"/>
                <a:cs typeface="Cambria"/>
              </a:rPr>
              <a:t>about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here?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950" spc="65" dirty="0">
                <a:latin typeface="Trebuchet MS"/>
                <a:cs typeface="Trebuchet MS"/>
              </a:rPr>
              <a:t>Miss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Nelson,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became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b="1" spc="50" dirty="0">
                <a:latin typeface="Trebuchet MS"/>
                <a:cs typeface="Trebuchet MS"/>
              </a:rPr>
              <a:t>big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sister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Benjamin.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60" dirty="0">
                <a:latin typeface="Trebuchet MS"/>
                <a:cs typeface="Trebuchet MS"/>
              </a:rPr>
              <a:t>*Miss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Nelson,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became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large</a:t>
            </a:r>
            <a:r>
              <a:rPr sz="950" b="1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sister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Benjamin.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Why?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00"/>
              </a:spcBef>
            </a:pPr>
            <a:r>
              <a:rPr sz="950" i="1" dirty="0">
                <a:latin typeface="Trebuchet MS"/>
                <a:cs typeface="Trebuchet MS"/>
              </a:rPr>
              <a:t>big</a:t>
            </a:r>
            <a:r>
              <a:rPr sz="950" i="1" spc="7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being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older,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grown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up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i="1" dirty="0">
                <a:latin typeface="Trebuchet MS"/>
                <a:cs typeface="Trebuchet MS"/>
              </a:rPr>
              <a:t>large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lacks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sense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0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2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20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8DEF878F-329C-4688-B384-27B553C2905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60502"/>
            <a:ext cx="7543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Synonyms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7743" y="911885"/>
            <a:ext cx="4483735" cy="666115"/>
            <a:chOff x="87743" y="911885"/>
            <a:chExt cx="4483735" cy="666115"/>
          </a:xfrm>
        </p:grpSpPr>
        <p:sp>
          <p:nvSpPr>
            <p:cNvPr id="4" name="object 4"/>
            <p:cNvSpPr/>
            <p:nvPr/>
          </p:nvSpPr>
          <p:spPr>
            <a:xfrm>
              <a:off x="87743" y="91188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8489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76108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63408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56119"/>
              <a:ext cx="50800" cy="5199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29144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3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3"/>
                  </a:lnTo>
                  <a:lnTo>
                    <a:pt x="4381754" y="397763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94270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5">
                  <a:moveTo>
                    <a:pt x="0" y="5008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815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688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561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78915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88948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837238"/>
            <a:ext cx="2446020" cy="6572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Shades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meaning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What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cheapest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fare</a:t>
            </a:r>
            <a:r>
              <a:rPr sz="950" spc="-10" dirty="0">
                <a:latin typeface="Trebuchet MS"/>
                <a:cs typeface="Trebuchet MS"/>
              </a:rPr>
              <a:t>?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dirty="0">
                <a:latin typeface="Trebuchet MS"/>
                <a:cs typeface="Trebuchet MS"/>
              </a:rPr>
              <a:t>*What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cheapest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price</a:t>
            </a:r>
            <a:r>
              <a:rPr sz="950" spc="-10" dirty="0">
                <a:latin typeface="Trebuchet MS"/>
                <a:cs typeface="Trebuchet MS"/>
              </a:rPr>
              <a:t>?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5C694F7F-E8CD-4AB5-B193-EA5DF0B516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26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7543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Synonyms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11885"/>
            <a:ext cx="4483735" cy="666115"/>
            <a:chOff x="87743" y="911885"/>
            <a:chExt cx="4483735" cy="666115"/>
          </a:xfrm>
        </p:grpSpPr>
        <p:sp>
          <p:nvSpPr>
            <p:cNvPr id="4" name="object 4"/>
            <p:cNvSpPr/>
            <p:nvPr/>
          </p:nvSpPr>
          <p:spPr>
            <a:xfrm>
              <a:off x="87743" y="91188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8489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76108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63408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56119"/>
              <a:ext cx="50800" cy="5199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29144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3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3"/>
                  </a:lnTo>
                  <a:lnTo>
                    <a:pt x="4381754" y="397763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94270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5">
                  <a:moveTo>
                    <a:pt x="0" y="5008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815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688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561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78915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88948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678825"/>
            <a:ext cx="4483735" cy="975994"/>
            <a:chOff x="87743" y="1678825"/>
            <a:chExt cx="4483735" cy="975994"/>
          </a:xfrm>
        </p:grpSpPr>
        <p:sp>
          <p:nvSpPr>
            <p:cNvPr id="17" name="object 17"/>
            <p:cNvSpPr/>
            <p:nvPr/>
          </p:nvSpPr>
          <p:spPr>
            <a:xfrm>
              <a:off x="87743" y="1678825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842490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544" y="2553030"/>
              <a:ext cx="101599" cy="1015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9344" y="2540330"/>
              <a:ext cx="4381754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20298" y="1723059"/>
              <a:ext cx="50800" cy="82997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1886788"/>
              <a:ext cx="4432935" cy="717550"/>
            </a:xfrm>
            <a:custGeom>
              <a:avLst/>
              <a:gdLst/>
              <a:ahLst/>
              <a:cxnLst/>
              <a:rect l="l" t="t" r="r" b="b"/>
              <a:pathLst>
                <a:path w="4432935" h="717550">
                  <a:moveTo>
                    <a:pt x="4432554" y="0"/>
                  </a:moveTo>
                  <a:lnTo>
                    <a:pt x="0" y="0"/>
                  </a:lnTo>
                  <a:lnTo>
                    <a:pt x="0" y="666242"/>
                  </a:lnTo>
                  <a:lnTo>
                    <a:pt x="4008" y="685966"/>
                  </a:lnTo>
                  <a:lnTo>
                    <a:pt x="14922" y="702119"/>
                  </a:lnTo>
                  <a:lnTo>
                    <a:pt x="31075" y="713033"/>
                  </a:lnTo>
                  <a:lnTo>
                    <a:pt x="50800" y="717042"/>
                  </a:lnTo>
                  <a:lnTo>
                    <a:pt x="4381754" y="717042"/>
                  </a:lnTo>
                  <a:lnTo>
                    <a:pt x="4401478" y="713033"/>
                  </a:lnTo>
                  <a:lnTo>
                    <a:pt x="4417631" y="702119"/>
                  </a:lnTo>
                  <a:lnTo>
                    <a:pt x="4428545" y="685966"/>
                  </a:lnTo>
                  <a:lnTo>
                    <a:pt x="4432554" y="66624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61185"/>
              <a:ext cx="0" cy="810895"/>
            </a:xfrm>
            <a:custGeom>
              <a:avLst/>
              <a:gdLst/>
              <a:ahLst/>
              <a:cxnLst/>
              <a:rect l="l" t="t" r="r" b="b"/>
              <a:pathLst>
                <a:path h="810894">
                  <a:moveTo>
                    <a:pt x="0" y="81089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7484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7357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7230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1936496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318613"/>
              <a:ext cx="64757" cy="6475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25729" y="837238"/>
            <a:ext cx="4102735" cy="17589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Shades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meaning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What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cheapest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fare</a:t>
            </a:r>
            <a:r>
              <a:rPr sz="950" spc="-10" dirty="0">
                <a:latin typeface="Trebuchet MS"/>
                <a:cs typeface="Trebuchet MS"/>
              </a:rPr>
              <a:t>?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dirty="0">
                <a:latin typeface="Trebuchet MS"/>
                <a:cs typeface="Trebuchet MS"/>
              </a:rPr>
              <a:t>*What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cheapest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price</a:t>
            </a:r>
            <a:r>
              <a:rPr sz="950" spc="-10" dirty="0">
                <a:latin typeface="Trebuchet MS"/>
                <a:cs typeface="Trebuchet MS"/>
              </a:rPr>
              <a:t>?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Collocational</a:t>
            </a: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constraints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frustate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’em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frustate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’em,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pretty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soon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make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big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215"/>
              </a:spcBef>
            </a:pPr>
            <a:r>
              <a:rPr sz="950" spc="-10" dirty="0">
                <a:latin typeface="Trebuchet MS"/>
                <a:cs typeface="Trebuchet MS"/>
              </a:rPr>
              <a:t>mistake.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*We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frustate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’em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frustate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’em,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pretty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soon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make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large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215"/>
              </a:spcBef>
            </a:pPr>
            <a:r>
              <a:rPr sz="950" spc="-10" dirty="0">
                <a:latin typeface="Trebuchet MS"/>
                <a:cs typeface="Trebuchet MS"/>
              </a:rPr>
              <a:t>mistake.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475D1E07-5984-40BC-9B7D-E4B096675F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744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Antonyms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842543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732277"/>
            <a:ext cx="3947160" cy="1187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31100"/>
              </a:lnSpc>
              <a:spcBef>
                <a:spcPts val="90"/>
              </a:spcBef>
            </a:pPr>
            <a:r>
              <a:rPr sz="950" spc="75" dirty="0">
                <a:latin typeface="Trebuchet MS"/>
                <a:cs typeface="Trebuchet MS"/>
              </a:rPr>
              <a:t>Senses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opposites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respect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dirty="0">
                <a:latin typeface="Trebuchet MS"/>
                <a:cs typeface="Trebuchet MS"/>
              </a:rPr>
              <a:t> one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feature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meaning </a:t>
            </a:r>
            <a:r>
              <a:rPr sz="950" dirty="0">
                <a:latin typeface="Trebuchet MS"/>
                <a:cs typeface="Trebuchet MS"/>
              </a:rPr>
              <a:t>Otherwise,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similar!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dark</a:t>
            </a:r>
            <a:r>
              <a:rPr sz="900" spc="-55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light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short</a:t>
            </a:r>
            <a:r>
              <a:rPr sz="900" spc="-50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long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2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25" dirty="0">
                <a:latin typeface="Trebuchet MS"/>
                <a:cs typeface="Trebuchet MS"/>
              </a:rPr>
              <a:t>hot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cold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up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0" dirty="0">
                <a:latin typeface="Trebuchet MS"/>
                <a:cs typeface="Trebuchet MS"/>
              </a:rPr>
              <a:t> down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55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out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032332"/>
            <a:ext cx="64757" cy="647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5EE0D8-9365-4B87-86E6-B8A6140858E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744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Antonyms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842543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032332"/>
            <a:ext cx="64757" cy="6475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7743" y="2063597"/>
            <a:ext cx="4483735" cy="814705"/>
            <a:chOff x="87743" y="2063597"/>
            <a:chExt cx="4483735" cy="814705"/>
          </a:xfrm>
        </p:grpSpPr>
        <p:sp>
          <p:nvSpPr>
            <p:cNvPr id="6" name="object 6"/>
            <p:cNvSpPr/>
            <p:nvPr/>
          </p:nvSpPr>
          <p:spPr>
            <a:xfrm>
              <a:off x="87743" y="206359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4" y="2236609"/>
              <a:ext cx="4432554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544" y="2776194"/>
              <a:ext cx="101599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344" y="2763494"/>
              <a:ext cx="4381754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298" y="2107831"/>
              <a:ext cx="50800" cy="66836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2280894"/>
              <a:ext cx="4432935" cy="546100"/>
            </a:xfrm>
            <a:custGeom>
              <a:avLst/>
              <a:gdLst/>
              <a:ahLst/>
              <a:cxnLst/>
              <a:rect l="l" t="t" r="r" b="b"/>
              <a:pathLst>
                <a:path w="4432935" h="546100">
                  <a:moveTo>
                    <a:pt x="4432554" y="0"/>
                  </a:moveTo>
                  <a:lnTo>
                    <a:pt x="0" y="0"/>
                  </a:lnTo>
                  <a:lnTo>
                    <a:pt x="0" y="495299"/>
                  </a:lnTo>
                  <a:lnTo>
                    <a:pt x="4008" y="515024"/>
                  </a:lnTo>
                  <a:lnTo>
                    <a:pt x="14922" y="531177"/>
                  </a:lnTo>
                  <a:lnTo>
                    <a:pt x="31075" y="542091"/>
                  </a:lnTo>
                  <a:lnTo>
                    <a:pt x="50800" y="546099"/>
                  </a:lnTo>
                  <a:lnTo>
                    <a:pt x="4381754" y="546099"/>
                  </a:lnTo>
                  <a:lnTo>
                    <a:pt x="4401478" y="542091"/>
                  </a:lnTo>
                  <a:lnTo>
                    <a:pt x="4417631" y="531177"/>
                  </a:lnTo>
                  <a:lnTo>
                    <a:pt x="4428545" y="515024"/>
                  </a:lnTo>
                  <a:lnTo>
                    <a:pt x="4432554" y="49529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2145893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5">
                  <a:moveTo>
                    <a:pt x="0" y="64935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21332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21205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09" y="21078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2330615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2712720"/>
              <a:ext cx="64757" cy="6475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00330" y="732277"/>
            <a:ext cx="4249420" cy="20859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4960" marR="55880">
              <a:lnSpc>
                <a:spcPct val="131100"/>
              </a:lnSpc>
              <a:spcBef>
                <a:spcPts val="90"/>
              </a:spcBef>
            </a:pPr>
            <a:r>
              <a:rPr sz="950" spc="75" dirty="0">
                <a:latin typeface="Trebuchet MS"/>
                <a:cs typeface="Trebuchet MS"/>
              </a:rPr>
              <a:t>Senses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opposites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respect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dirty="0">
                <a:latin typeface="Trebuchet MS"/>
                <a:cs typeface="Trebuchet MS"/>
              </a:rPr>
              <a:t> one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feature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meaning </a:t>
            </a:r>
            <a:r>
              <a:rPr sz="950" dirty="0">
                <a:latin typeface="Trebuchet MS"/>
                <a:cs typeface="Trebuchet MS"/>
              </a:rPr>
              <a:t>Otherwise,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similar!</a:t>
            </a:r>
            <a:endParaRPr sz="950">
              <a:latin typeface="Trebuchet MS"/>
              <a:cs typeface="Trebuchet MS"/>
            </a:endParaRPr>
          </a:p>
          <a:p>
            <a:pPr marL="59055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590550" algn="l"/>
              </a:tabLst>
            </a:pPr>
            <a:r>
              <a:rPr sz="900" dirty="0">
                <a:latin typeface="Trebuchet MS"/>
                <a:cs typeface="Trebuchet MS"/>
              </a:rPr>
              <a:t>dark</a:t>
            </a:r>
            <a:r>
              <a:rPr sz="900" spc="-55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light</a:t>
            </a:r>
            <a:endParaRPr sz="900">
              <a:latin typeface="Trebuchet MS"/>
              <a:cs typeface="Trebuchet MS"/>
            </a:endParaRPr>
          </a:p>
          <a:p>
            <a:pPr marL="59055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590550" algn="l"/>
              </a:tabLst>
            </a:pPr>
            <a:r>
              <a:rPr sz="900" dirty="0">
                <a:latin typeface="Trebuchet MS"/>
                <a:cs typeface="Trebuchet MS"/>
              </a:rPr>
              <a:t>short</a:t>
            </a:r>
            <a:r>
              <a:rPr sz="900" spc="-50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long</a:t>
            </a:r>
            <a:endParaRPr sz="900">
              <a:latin typeface="Trebuchet MS"/>
              <a:cs typeface="Trebuchet MS"/>
            </a:endParaRPr>
          </a:p>
          <a:p>
            <a:pPr marL="590550" indent="-116205">
              <a:lnSpc>
                <a:spcPct val="100000"/>
              </a:lnSpc>
              <a:spcBef>
                <a:spcPts val="12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590550" algn="l"/>
              </a:tabLst>
            </a:pPr>
            <a:r>
              <a:rPr sz="900" spc="-25" dirty="0">
                <a:latin typeface="Trebuchet MS"/>
                <a:cs typeface="Trebuchet MS"/>
              </a:rPr>
              <a:t>hot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cold</a:t>
            </a:r>
            <a:endParaRPr sz="900">
              <a:latin typeface="Trebuchet MS"/>
              <a:cs typeface="Trebuchet MS"/>
            </a:endParaRPr>
          </a:p>
          <a:p>
            <a:pPr marL="590550" indent="-116205">
              <a:lnSpc>
                <a:spcPct val="100000"/>
              </a:lnSpc>
              <a:spcBef>
                <a:spcPts val="1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590550" algn="l"/>
              </a:tabLst>
            </a:pPr>
            <a:r>
              <a:rPr sz="900" dirty="0">
                <a:latin typeface="Trebuchet MS"/>
                <a:cs typeface="Trebuchet MS"/>
              </a:rPr>
              <a:t>up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0" dirty="0">
                <a:latin typeface="Trebuchet MS"/>
                <a:cs typeface="Trebuchet MS"/>
              </a:rPr>
              <a:t> down</a:t>
            </a:r>
            <a:endParaRPr sz="900">
              <a:latin typeface="Trebuchet MS"/>
              <a:cs typeface="Trebuchet MS"/>
            </a:endParaRPr>
          </a:p>
          <a:p>
            <a:pPr marL="59055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590550" algn="l"/>
              </a:tabLst>
            </a:pP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55" dirty="0">
                <a:latin typeface="Trebuchet MS"/>
                <a:cs typeface="Trebuchet MS"/>
              </a:rPr>
              <a:t> </a:t>
            </a:r>
            <a:r>
              <a:rPr sz="900" spc="-235" dirty="0">
                <a:latin typeface="Trebuchet MS"/>
                <a:cs typeface="Trebuchet MS"/>
              </a:rPr>
              <a:t>/</a:t>
            </a:r>
            <a:r>
              <a:rPr sz="900" spc="-25" dirty="0">
                <a:latin typeface="Trebuchet MS"/>
                <a:cs typeface="Trebuchet MS"/>
              </a:rPr>
              <a:t> out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More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formally:</a:t>
            </a:r>
            <a:r>
              <a:rPr sz="1100" i="1" spc="4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antonyms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can</a:t>
            </a:r>
            <a:endParaRPr sz="1100">
              <a:latin typeface="Cambria"/>
              <a:cs typeface="Cambria"/>
            </a:endParaRPr>
          </a:p>
          <a:p>
            <a:pPr marL="3149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define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binary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opposition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opposite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ends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scale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</a:t>
            </a:r>
            <a:r>
              <a:rPr sz="950" i="1" spc="-10" dirty="0">
                <a:latin typeface="Trebuchet MS"/>
                <a:cs typeface="Trebuchet MS"/>
              </a:rPr>
              <a:t>long/short</a:t>
            </a:r>
            <a:r>
              <a:rPr sz="950" spc="-10" dirty="0">
                <a:latin typeface="Trebuchet MS"/>
                <a:cs typeface="Trebuchet MS"/>
              </a:rPr>
              <a:t>,</a:t>
            </a:r>
            <a:endParaRPr sz="950">
              <a:latin typeface="Trebuchet MS"/>
              <a:cs typeface="Trebuchet MS"/>
            </a:endParaRPr>
          </a:p>
          <a:p>
            <a:pPr marL="314960">
              <a:lnSpc>
                <a:spcPct val="100000"/>
              </a:lnSpc>
              <a:spcBef>
                <a:spcPts val="215"/>
              </a:spcBef>
            </a:pPr>
            <a:r>
              <a:rPr sz="950" i="1" spc="-45" dirty="0">
                <a:latin typeface="Trebuchet MS"/>
                <a:cs typeface="Trebuchet MS"/>
              </a:rPr>
              <a:t>fast/slow</a:t>
            </a:r>
            <a:r>
              <a:rPr sz="950" i="1" spc="-135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)</a:t>
            </a:r>
            <a:endParaRPr sz="950">
              <a:latin typeface="Trebuchet MS"/>
              <a:cs typeface="Trebuchet MS"/>
            </a:endParaRPr>
          </a:p>
          <a:p>
            <a:pPr marL="314960">
              <a:lnSpc>
                <a:spcPct val="100000"/>
              </a:lnSpc>
              <a:spcBef>
                <a:spcPts val="515"/>
              </a:spcBef>
            </a:pPr>
            <a:r>
              <a:rPr sz="950" spc="70" dirty="0">
                <a:latin typeface="Trebuchet MS"/>
                <a:cs typeface="Trebuchet MS"/>
              </a:rPr>
              <a:t>Be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reversives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14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rise/fall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F102990-93B8-49FC-9D3F-0B87ED8A0E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29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Hyponymy</a:t>
            </a:r>
            <a:r>
              <a:rPr spc="-6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Hypernymy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33565"/>
            <a:ext cx="4483735" cy="1254760"/>
            <a:chOff x="87743" y="633565"/>
            <a:chExt cx="4483735" cy="1254760"/>
          </a:xfrm>
        </p:grpSpPr>
        <p:sp>
          <p:nvSpPr>
            <p:cNvPr id="4" name="object 4"/>
            <p:cNvSpPr/>
            <p:nvPr/>
          </p:nvSpPr>
          <p:spPr>
            <a:xfrm>
              <a:off x="87743" y="633565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75"/>
                  </a:lnTo>
                  <a:lnTo>
                    <a:pt x="4432554" y="18097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0187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86712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74012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77799"/>
              <a:ext cx="50800" cy="110891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46150"/>
              <a:ext cx="4432935" cy="991869"/>
            </a:xfrm>
            <a:custGeom>
              <a:avLst/>
              <a:gdLst/>
              <a:ahLst/>
              <a:cxnLst/>
              <a:rect l="l" t="t" r="r" b="b"/>
              <a:pathLst>
                <a:path w="4432935" h="991869">
                  <a:moveTo>
                    <a:pt x="4432554" y="0"/>
                  </a:moveTo>
                  <a:lnTo>
                    <a:pt x="0" y="0"/>
                  </a:lnTo>
                  <a:lnTo>
                    <a:pt x="0" y="940562"/>
                  </a:lnTo>
                  <a:lnTo>
                    <a:pt x="4008" y="960286"/>
                  </a:lnTo>
                  <a:lnTo>
                    <a:pt x="14922" y="976439"/>
                  </a:lnTo>
                  <a:lnTo>
                    <a:pt x="31075" y="987353"/>
                  </a:lnTo>
                  <a:lnTo>
                    <a:pt x="50800" y="991362"/>
                  </a:lnTo>
                  <a:lnTo>
                    <a:pt x="4381754" y="991362"/>
                  </a:lnTo>
                  <a:lnTo>
                    <a:pt x="4401478" y="987353"/>
                  </a:lnTo>
                  <a:lnTo>
                    <a:pt x="4417631" y="976439"/>
                  </a:lnTo>
                  <a:lnTo>
                    <a:pt x="4428545" y="960286"/>
                  </a:lnTo>
                  <a:lnTo>
                    <a:pt x="4432554" y="94056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715848"/>
              <a:ext cx="0" cy="1090295"/>
            </a:xfrm>
            <a:custGeom>
              <a:avLst/>
              <a:gdLst/>
              <a:ahLst/>
              <a:cxnLst/>
              <a:rect l="l" t="t" r="r" b="b"/>
              <a:pathLst>
                <a:path h="1090295">
                  <a:moveTo>
                    <a:pt x="0" y="10899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7031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904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777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7798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88020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98053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25729" y="554205"/>
            <a:ext cx="4335780" cy="12490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Hyponymy</a:t>
            </a:r>
            <a:endParaRPr sz="1100">
              <a:latin typeface="Cambria"/>
              <a:cs typeface="Cambria"/>
            </a:endParaRPr>
          </a:p>
          <a:p>
            <a:pPr marL="12700" marR="5080" algn="just">
              <a:lnSpc>
                <a:spcPct val="118900"/>
              </a:lnSpc>
              <a:spcBef>
                <a:spcPts val="209"/>
              </a:spcBef>
            </a:pPr>
            <a:r>
              <a:rPr sz="950" spc="55" dirty="0">
                <a:latin typeface="Trebuchet MS"/>
                <a:cs typeface="Trebuchet MS"/>
              </a:rPr>
              <a:t>One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dirty="0">
                <a:latin typeface="Trebuchet MS"/>
                <a:cs typeface="Trebuchet MS"/>
              </a:rPr>
              <a:t> 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hyponym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another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90" dirty="0">
                <a:latin typeface="Trebuchet MS"/>
                <a:cs typeface="Trebuchet MS"/>
              </a:rPr>
              <a:t>if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 more </a:t>
            </a:r>
            <a:r>
              <a:rPr sz="950" spc="-10" dirty="0">
                <a:latin typeface="Trebuchet MS"/>
                <a:cs typeface="Trebuchet MS"/>
              </a:rPr>
              <a:t>specific,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denoting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subclass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other</a:t>
            </a:r>
            <a:endParaRPr sz="950">
              <a:latin typeface="Trebuchet MS"/>
              <a:cs typeface="Trebuchet MS"/>
            </a:endParaRPr>
          </a:p>
          <a:p>
            <a:pPr marL="289560" marR="2510155" algn="just">
              <a:lnSpc>
                <a:spcPct val="145100"/>
              </a:lnSpc>
            </a:pPr>
            <a:r>
              <a:rPr sz="950" i="1" dirty="0">
                <a:latin typeface="Trebuchet MS"/>
                <a:cs typeface="Trebuchet MS"/>
              </a:rPr>
              <a:t>car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vehicle </a:t>
            </a:r>
            <a:r>
              <a:rPr sz="950" i="1" dirty="0">
                <a:latin typeface="Trebuchet MS"/>
                <a:cs typeface="Trebuchet MS"/>
              </a:rPr>
              <a:t>dog</a:t>
            </a:r>
            <a:r>
              <a:rPr sz="950" i="1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animal </a:t>
            </a:r>
            <a:r>
              <a:rPr sz="950" i="1" dirty="0">
                <a:latin typeface="Trebuchet MS"/>
                <a:cs typeface="Trebuchet MS"/>
              </a:rPr>
              <a:t>mango</a:t>
            </a:r>
            <a:r>
              <a:rPr sz="950" i="1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75" dirty="0">
                <a:latin typeface="Trebuchet MS"/>
                <a:cs typeface="Trebuchet MS"/>
              </a:rPr>
              <a:t>fruit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71B9F2E0-F4B0-4A5E-8AC2-FAD0C7289B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30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Hyponymy</a:t>
            </a:r>
            <a:r>
              <a:rPr spc="-6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Hypernymy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33565"/>
            <a:ext cx="4483735" cy="1254760"/>
            <a:chOff x="87743" y="633565"/>
            <a:chExt cx="4483735" cy="1254760"/>
          </a:xfrm>
        </p:grpSpPr>
        <p:sp>
          <p:nvSpPr>
            <p:cNvPr id="4" name="object 4"/>
            <p:cNvSpPr/>
            <p:nvPr/>
          </p:nvSpPr>
          <p:spPr>
            <a:xfrm>
              <a:off x="87743" y="633565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75"/>
                  </a:lnTo>
                  <a:lnTo>
                    <a:pt x="4432554" y="18097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0187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86712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74012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77799"/>
              <a:ext cx="50800" cy="110891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46150"/>
              <a:ext cx="4432935" cy="991869"/>
            </a:xfrm>
            <a:custGeom>
              <a:avLst/>
              <a:gdLst/>
              <a:ahLst/>
              <a:cxnLst/>
              <a:rect l="l" t="t" r="r" b="b"/>
              <a:pathLst>
                <a:path w="4432935" h="991869">
                  <a:moveTo>
                    <a:pt x="4432554" y="0"/>
                  </a:moveTo>
                  <a:lnTo>
                    <a:pt x="0" y="0"/>
                  </a:lnTo>
                  <a:lnTo>
                    <a:pt x="0" y="940562"/>
                  </a:lnTo>
                  <a:lnTo>
                    <a:pt x="4008" y="960286"/>
                  </a:lnTo>
                  <a:lnTo>
                    <a:pt x="14922" y="976439"/>
                  </a:lnTo>
                  <a:lnTo>
                    <a:pt x="31075" y="987353"/>
                  </a:lnTo>
                  <a:lnTo>
                    <a:pt x="50800" y="991362"/>
                  </a:lnTo>
                  <a:lnTo>
                    <a:pt x="4381754" y="991362"/>
                  </a:lnTo>
                  <a:lnTo>
                    <a:pt x="4401478" y="987353"/>
                  </a:lnTo>
                  <a:lnTo>
                    <a:pt x="4417631" y="976439"/>
                  </a:lnTo>
                  <a:lnTo>
                    <a:pt x="4428545" y="960286"/>
                  </a:lnTo>
                  <a:lnTo>
                    <a:pt x="4432554" y="94056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715848"/>
              <a:ext cx="0" cy="1090295"/>
            </a:xfrm>
            <a:custGeom>
              <a:avLst/>
              <a:gdLst/>
              <a:ahLst/>
              <a:cxnLst/>
              <a:rect l="l" t="t" r="r" b="b"/>
              <a:pathLst>
                <a:path h="1090295">
                  <a:moveTo>
                    <a:pt x="0" y="10899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7031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904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777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7798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88020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98053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1989442"/>
            <a:ext cx="4483735" cy="1082675"/>
            <a:chOff x="87743" y="1989442"/>
            <a:chExt cx="4483735" cy="1082675"/>
          </a:xfrm>
        </p:grpSpPr>
        <p:sp>
          <p:nvSpPr>
            <p:cNvPr id="18" name="object 18"/>
            <p:cNvSpPr/>
            <p:nvPr/>
          </p:nvSpPr>
          <p:spPr>
            <a:xfrm>
              <a:off x="87743" y="1989442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75"/>
                  </a:lnTo>
                  <a:lnTo>
                    <a:pt x="4432554" y="18097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157742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970504"/>
              <a:ext cx="101599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957804"/>
              <a:ext cx="4381754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033676"/>
              <a:ext cx="50800" cy="93682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202027"/>
              <a:ext cx="4432935" cy="819785"/>
            </a:xfrm>
            <a:custGeom>
              <a:avLst/>
              <a:gdLst/>
              <a:ahLst/>
              <a:cxnLst/>
              <a:rect l="l" t="t" r="r" b="b"/>
              <a:pathLst>
                <a:path w="4432935" h="819785">
                  <a:moveTo>
                    <a:pt x="4432554" y="0"/>
                  </a:moveTo>
                  <a:lnTo>
                    <a:pt x="0" y="0"/>
                  </a:lnTo>
                  <a:lnTo>
                    <a:pt x="0" y="768477"/>
                  </a:lnTo>
                  <a:lnTo>
                    <a:pt x="4008" y="788201"/>
                  </a:lnTo>
                  <a:lnTo>
                    <a:pt x="14922" y="804354"/>
                  </a:lnTo>
                  <a:lnTo>
                    <a:pt x="31075" y="815268"/>
                  </a:lnTo>
                  <a:lnTo>
                    <a:pt x="50800" y="819276"/>
                  </a:lnTo>
                  <a:lnTo>
                    <a:pt x="4381754" y="819276"/>
                  </a:lnTo>
                  <a:lnTo>
                    <a:pt x="4401478" y="815268"/>
                  </a:lnTo>
                  <a:lnTo>
                    <a:pt x="4417631" y="804354"/>
                  </a:lnTo>
                  <a:lnTo>
                    <a:pt x="4428545" y="788201"/>
                  </a:lnTo>
                  <a:lnTo>
                    <a:pt x="4432554" y="768477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071725"/>
              <a:ext cx="0" cy="918210"/>
            </a:xfrm>
            <a:custGeom>
              <a:avLst/>
              <a:gdLst/>
              <a:ahLst/>
              <a:cxnLst/>
              <a:rect l="l" t="t" r="r" b="b"/>
              <a:pathLst>
                <a:path h="918210">
                  <a:moveTo>
                    <a:pt x="0" y="91782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0590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0463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0336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461780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671813"/>
              <a:ext cx="64757" cy="6475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1597" y="2881845"/>
              <a:ext cx="64757" cy="6475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25729" y="554205"/>
            <a:ext cx="4335780" cy="24326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Hyponymy</a:t>
            </a:r>
            <a:endParaRPr sz="1100">
              <a:latin typeface="Cambria"/>
              <a:cs typeface="Cambria"/>
            </a:endParaRPr>
          </a:p>
          <a:p>
            <a:pPr marL="12700" marR="5080" algn="just">
              <a:lnSpc>
                <a:spcPct val="118900"/>
              </a:lnSpc>
              <a:spcBef>
                <a:spcPts val="209"/>
              </a:spcBef>
            </a:pPr>
            <a:r>
              <a:rPr sz="950" spc="55" dirty="0">
                <a:latin typeface="Trebuchet MS"/>
                <a:cs typeface="Trebuchet MS"/>
              </a:rPr>
              <a:t>One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dirty="0">
                <a:latin typeface="Trebuchet MS"/>
                <a:cs typeface="Trebuchet MS"/>
              </a:rPr>
              <a:t> 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hyponym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another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90" dirty="0">
                <a:latin typeface="Trebuchet MS"/>
                <a:cs typeface="Trebuchet MS"/>
              </a:rPr>
              <a:t>if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 more </a:t>
            </a:r>
            <a:r>
              <a:rPr sz="950" spc="-10" dirty="0">
                <a:latin typeface="Trebuchet MS"/>
                <a:cs typeface="Trebuchet MS"/>
              </a:rPr>
              <a:t>specific,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denoting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subclass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other</a:t>
            </a:r>
            <a:endParaRPr sz="950">
              <a:latin typeface="Trebuchet MS"/>
              <a:cs typeface="Trebuchet MS"/>
            </a:endParaRPr>
          </a:p>
          <a:p>
            <a:pPr marL="289560" marR="2510155" algn="just">
              <a:lnSpc>
                <a:spcPct val="145100"/>
              </a:lnSpc>
            </a:pPr>
            <a:r>
              <a:rPr sz="950" i="1" dirty="0">
                <a:latin typeface="Trebuchet MS"/>
                <a:cs typeface="Trebuchet MS"/>
              </a:rPr>
              <a:t>car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vehicle </a:t>
            </a:r>
            <a:r>
              <a:rPr sz="950" i="1" dirty="0">
                <a:latin typeface="Trebuchet MS"/>
                <a:cs typeface="Trebuchet MS"/>
              </a:rPr>
              <a:t>dog</a:t>
            </a:r>
            <a:r>
              <a:rPr sz="950" i="1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animal </a:t>
            </a:r>
            <a:r>
              <a:rPr sz="950" i="1" dirty="0">
                <a:latin typeface="Trebuchet MS"/>
                <a:cs typeface="Trebuchet MS"/>
              </a:rPr>
              <a:t>mango</a:t>
            </a:r>
            <a:r>
              <a:rPr sz="950" i="1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i="1" spc="-75" dirty="0">
                <a:latin typeface="Trebuchet MS"/>
                <a:cs typeface="Trebuchet MS"/>
              </a:rPr>
              <a:t>fruit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Hypernymy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-10" dirty="0">
                <a:latin typeface="Trebuchet MS"/>
                <a:cs typeface="Trebuchet MS"/>
              </a:rPr>
              <a:t>Conversely</a:t>
            </a:r>
            <a:endParaRPr sz="950">
              <a:latin typeface="Trebuchet MS"/>
              <a:cs typeface="Trebuchet MS"/>
            </a:endParaRPr>
          </a:p>
          <a:p>
            <a:pPr marL="289560" marR="1701164">
              <a:lnSpc>
                <a:spcPct val="145100"/>
              </a:lnSpc>
            </a:pPr>
            <a:r>
              <a:rPr sz="950" i="1" dirty="0">
                <a:latin typeface="Trebuchet MS"/>
                <a:cs typeface="Trebuchet MS"/>
              </a:rPr>
              <a:t>vehicle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hypernym/superordinate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car </a:t>
            </a:r>
            <a:r>
              <a:rPr sz="950" i="1" dirty="0">
                <a:latin typeface="Trebuchet MS"/>
                <a:cs typeface="Trebuchet MS"/>
              </a:rPr>
              <a:t>animal </a:t>
            </a:r>
            <a:r>
              <a:rPr sz="950" dirty="0">
                <a:latin typeface="Trebuchet MS"/>
                <a:cs typeface="Trebuchet MS"/>
              </a:rPr>
              <a:t>is a hypernym of </a:t>
            </a:r>
            <a:r>
              <a:rPr sz="950" i="1" spc="-25" dirty="0">
                <a:latin typeface="Trebuchet MS"/>
                <a:cs typeface="Trebuchet MS"/>
              </a:rPr>
              <a:t>dog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i="1" spc="-80" dirty="0">
                <a:latin typeface="Trebuchet MS"/>
                <a:cs typeface="Trebuchet MS"/>
              </a:rPr>
              <a:t>fruit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hypernym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mango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6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1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6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7271FDD7-C0E8-4B80-9BEE-7A326A7A4BB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31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Hyponymy</a:t>
            </a:r>
            <a:r>
              <a:rPr spc="-75" dirty="0"/>
              <a:t> </a:t>
            </a:r>
            <a:r>
              <a:rPr spc="-10" dirty="0"/>
              <a:t>more</a:t>
            </a:r>
            <a:r>
              <a:rPr spc="-70" dirty="0"/>
              <a:t> </a:t>
            </a:r>
            <a:r>
              <a:rPr spc="-10" dirty="0"/>
              <a:t>formally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38313"/>
            <a:ext cx="4483735" cy="622300"/>
            <a:chOff x="87743" y="1138313"/>
            <a:chExt cx="4483735" cy="622300"/>
          </a:xfrm>
        </p:grpSpPr>
        <p:sp>
          <p:nvSpPr>
            <p:cNvPr id="4" name="object 4"/>
            <p:cNvSpPr/>
            <p:nvPr/>
          </p:nvSpPr>
          <p:spPr>
            <a:xfrm>
              <a:off x="87743" y="1138313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0197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5895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46250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82560"/>
              <a:ext cx="50800" cy="4763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46276"/>
              <a:ext cx="4432935" cy="363855"/>
            </a:xfrm>
            <a:custGeom>
              <a:avLst/>
              <a:gdLst/>
              <a:ahLst/>
              <a:cxnLst/>
              <a:rect l="l" t="t" r="r" b="b"/>
              <a:pathLst>
                <a:path w="4432935" h="363855">
                  <a:moveTo>
                    <a:pt x="4432554" y="0"/>
                  </a:moveTo>
                  <a:lnTo>
                    <a:pt x="0" y="0"/>
                  </a:lnTo>
                  <a:lnTo>
                    <a:pt x="0" y="312674"/>
                  </a:lnTo>
                  <a:lnTo>
                    <a:pt x="4008" y="332398"/>
                  </a:lnTo>
                  <a:lnTo>
                    <a:pt x="14922" y="348551"/>
                  </a:lnTo>
                  <a:lnTo>
                    <a:pt x="31075" y="359465"/>
                  </a:lnTo>
                  <a:lnTo>
                    <a:pt x="50800" y="363474"/>
                  </a:lnTo>
                  <a:lnTo>
                    <a:pt x="4381754" y="363474"/>
                  </a:lnTo>
                  <a:lnTo>
                    <a:pt x="4401478" y="359465"/>
                  </a:lnTo>
                  <a:lnTo>
                    <a:pt x="4417631" y="348551"/>
                  </a:lnTo>
                  <a:lnTo>
                    <a:pt x="4428545" y="332398"/>
                  </a:lnTo>
                  <a:lnTo>
                    <a:pt x="4432554" y="31267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220673"/>
              <a:ext cx="0" cy="457834"/>
            </a:xfrm>
            <a:custGeom>
              <a:avLst/>
              <a:gdLst/>
              <a:ahLst/>
              <a:cxnLst/>
              <a:rect l="l" t="t" r="r" b="b"/>
              <a:pathLst>
                <a:path h="457835">
                  <a:moveTo>
                    <a:pt x="0" y="4573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12079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11952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11825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861680"/>
            <a:ext cx="4483735" cy="453390"/>
            <a:chOff x="87743" y="1861680"/>
            <a:chExt cx="4483735" cy="453390"/>
          </a:xfrm>
        </p:grpSpPr>
        <p:sp>
          <p:nvSpPr>
            <p:cNvPr id="15" name="object 15"/>
            <p:cNvSpPr/>
            <p:nvPr/>
          </p:nvSpPr>
          <p:spPr>
            <a:xfrm>
              <a:off x="87743" y="1861680"/>
              <a:ext cx="4432935" cy="180975"/>
            </a:xfrm>
            <a:custGeom>
              <a:avLst/>
              <a:gdLst/>
              <a:ahLst/>
              <a:cxnLst/>
              <a:rect l="l" t="t" r="r" b="b"/>
              <a:pathLst>
                <a:path w="4432935" h="18097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0975"/>
                  </a:lnTo>
                  <a:lnTo>
                    <a:pt x="4432554" y="18097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2029980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2213381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2200681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298" y="1905914"/>
              <a:ext cx="50800" cy="30746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2074316"/>
              <a:ext cx="4432935" cy="189865"/>
            </a:xfrm>
            <a:custGeom>
              <a:avLst/>
              <a:gdLst/>
              <a:ahLst/>
              <a:cxnLst/>
              <a:rect l="l" t="t" r="r" b="b"/>
              <a:pathLst>
                <a:path w="4432935" h="189864">
                  <a:moveTo>
                    <a:pt x="4432554" y="0"/>
                  </a:moveTo>
                  <a:lnTo>
                    <a:pt x="0" y="0"/>
                  </a:lnTo>
                  <a:lnTo>
                    <a:pt x="0" y="139064"/>
                  </a:lnTo>
                  <a:lnTo>
                    <a:pt x="4008" y="158789"/>
                  </a:lnTo>
                  <a:lnTo>
                    <a:pt x="14922" y="174942"/>
                  </a:lnTo>
                  <a:lnTo>
                    <a:pt x="31075" y="185856"/>
                  </a:lnTo>
                  <a:lnTo>
                    <a:pt x="50800" y="189864"/>
                  </a:lnTo>
                  <a:lnTo>
                    <a:pt x="4381754" y="189864"/>
                  </a:lnTo>
                  <a:lnTo>
                    <a:pt x="4401478" y="185856"/>
                  </a:lnTo>
                  <a:lnTo>
                    <a:pt x="4417631" y="174942"/>
                  </a:lnTo>
                  <a:lnTo>
                    <a:pt x="4428545" y="158789"/>
                  </a:lnTo>
                  <a:lnTo>
                    <a:pt x="4432554" y="13906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944014"/>
              <a:ext cx="0" cy="288925"/>
            </a:xfrm>
            <a:custGeom>
              <a:avLst/>
              <a:gdLst/>
              <a:ahLst/>
              <a:cxnLst/>
              <a:rect l="l" t="t" r="r" b="b"/>
              <a:pathLst>
                <a:path h="288925">
                  <a:moveTo>
                    <a:pt x="0" y="2884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9313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9186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9059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729" y="1090216"/>
            <a:ext cx="3609340" cy="114427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Entailment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3999"/>
              </a:lnSpc>
              <a:spcBef>
                <a:spcPts val="35"/>
              </a:spcBef>
            </a:pPr>
            <a:r>
              <a:rPr sz="950" spc="70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A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hyponym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B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A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entails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B</a:t>
            </a:r>
            <a:r>
              <a:rPr sz="950" spc="-25" dirty="0">
                <a:latin typeface="Trebuchet MS"/>
                <a:cs typeface="Trebuchet MS"/>
              </a:rPr>
              <a:t>. </a:t>
            </a:r>
            <a:r>
              <a:rPr sz="950" dirty="0">
                <a:latin typeface="Trebuchet MS"/>
                <a:cs typeface="Trebuchet MS"/>
              </a:rPr>
              <a:t>Ex: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dog,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animal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Transitivity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100" i="1" dirty="0">
                <a:latin typeface="Cambria"/>
                <a:cs typeface="Cambria"/>
              </a:rPr>
              <a:t>A</a:t>
            </a:r>
            <a:r>
              <a:rPr sz="1100" i="1" spc="5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hypo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B</a:t>
            </a:r>
            <a:r>
              <a:rPr sz="1100" i="1" spc="5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B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hypo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135" dirty="0">
                <a:latin typeface="Cambria"/>
                <a:cs typeface="Cambria"/>
              </a:rPr>
              <a:t>C</a:t>
            </a:r>
            <a:r>
              <a:rPr sz="1100" i="1" spc="8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entails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A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hypo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85" dirty="0">
                <a:latin typeface="Cambria"/>
                <a:cs typeface="Cambria"/>
              </a:rPr>
              <a:t>C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16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Meronyms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holonyms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22693"/>
            <a:ext cx="4483735" cy="796925"/>
            <a:chOff x="87743" y="822693"/>
            <a:chExt cx="4483735" cy="796925"/>
          </a:xfrm>
        </p:grpSpPr>
        <p:sp>
          <p:nvSpPr>
            <p:cNvPr id="4" name="object 4"/>
            <p:cNvSpPr/>
            <p:nvPr/>
          </p:nvSpPr>
          <p:spPr>
            <a:xfrm>
              <a:off x="87743" y="82269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5705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1772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0502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6927"/>
              <a:ext cx="50800" cy="65079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39952"/>
              <a:ext cx="4432935" cy="528955"/>
            </a:xfrm>
            <a:custGeom>
              <a:avLst/>
              <a:gdLst/>
              <a:ahLst/>
              <a:cxnLst/>
              <a:rect l="l" t="t" r="r" b="b"/>
              <a:pathLst>
                <a:path w="4432935" h="528955">
                  <a:moveTo>
                    <a:pt x="4432554" y="0"/>
                  </a:moveTo>
                  <a:lnTo>
                    <a:pt x="0" y="0"/>
                  </a:lnTo>
                  <a:lnTo>
                    <a:pt x="0" y="477774"/>
                  </a:lnTo>
                  <a:lnTo>
                    <a:pt x="4008" y="497498"/>
                  </a:lnTo>
                  <a:lnTo>
                    <a:pt x="14922" y="513651"/>
                  </a:lnTo>
                  <a:lnTo>
                    <a:pt x="31075" y="524565"/>
                  </a:lnTo>
                  <a:lnTo>
                    <a:pt x="50800" y="528574"/>
                  </a:lnTo>
                  <a:lnTo>
                    <a:pt x="4381754" y="528574"/>
                  </a:lnTo>
                  <a:lnTo>
                    <a:pt x="4401478" y="524565"/>
                  </a:lnTo>
                  <a:lnTo>
                    <a:pt x="4417631" y="513651"/>
                  </a:lnTo>
                  <a:lnTo>
                    <a:pt x="4428545" y="497498"/>
                  </a:lnTo>
                  <a:lnTo>
                    <a:pt x="4432554" y="47777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05078"/>
              <a:ext cx="0" cy="631825"/>
            </a:xfrm>
            <a:custGeom>
              <a:avLst/>
              <a:gdLst/>
              <a:ahLst/>
              <a:cxnLst/>
              <a:rect l="l" t="t" r="r" b="b"/>
              <a:pathLst>
                <a:path h="631825">
                  <a:moveTo>
                    <a:pt x="0" y="6316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923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796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669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751235"/>
            <a:ext cx="3510279" cy="7848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Definition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b="1" dirty="0">
                <a:latin typeface="Trebuchet MS"/>
                <a:cs typeface="Trebuchet MS"/>
              </a:rPr>
              <a:t>Meronymy: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asymmetric,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transitive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senses.</a:t>
            </a:r>
            <a:endParaRPr sz="950">
              <a:latin typeface="Trebuchet MS"/>
              <a:cs typeface="Trebuchet MS"/>
            </a:endParaRPr>
          </a:p>
          <a:p>
            <a:pPr marL="12700" marR="991235">
              <a:lnSpc>
                <a:spcPts val="1350"/>
              </a:lnSpc>
              <a:spcBef>
                <a:spcPts val="85"/>
              </a:spcBef>
            </a:pPr>
            <a:r>
              <a:rPr sz="1100" i="1" spc="65" dirty="0">
                <a:latin typeface="Cambria"/>
                <a:cs typeface="Cambria"/>
              </a:rPr>
              <a:t>X</a:t>
            </a:r>
            <a:r>
              <a:rPr sz="1100" i="1" spc="10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meronym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Y</a:t>
            </a:r>
            <a:r>
              <a:rPr sz="1100" i="1" spc="140" dirty="0">
                <a:latin typeface="Cambria"/>
                <a:cs typeface="Cambria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85" dirty="0">
                <a:latin typeface="Trebuchet MS"/>
                <a:cs typeface="Trebuchet MS"/>
              </a:rPr>
              <a:t>it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denotes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part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Y</a:t>
            </a:r>
            <a:r>
              <a:rPr sz="950" spc="-25" dirty="0">
                <a:latin typeface="Trebuchet MS"/>
                <a:cs typeface="Trebuchet MS"/>
              </a:rPr>
              <a:t>.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inverse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b="1" spc="-10" dirty="0">
                <a:latin typeface="Trebuchet MS"/>
                <a:cs typeface="Trebuchet MS"/>
              </a:rPr>
              <a:t>holonymy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651063" y="1745716"/>
          <a:ext cx="1300480" cy="88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meronym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holonym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porch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house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wheel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car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leg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chair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0" dirty="0">
                          <a:latin typeface="Trebuchet MS"/>
                          <a:cs typeface="Trebuchet MS"/>
                        </a:rPr>
                        <a:t>nose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0" dirty="0">
                          <a:latin typeface="Trebuchet MS"/>
                          <a:cs typeface="Trebuchet MS"/>
                        </a:rPr>
                        <a:t>face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2016760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Lexical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Semantics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17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0893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423"/>
                </a:lnTo>
                <a:lnTo>
                  <a:pt x="4432554" y="82423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53363"/>
            <a:ext cx="4483735" cy="347345"/>
            <a:chOff x="87743" y="953363"/>
            <a:chExt cx="4483735" cy="3473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198854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186154"/>
              <a:ext cx="4381754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959510"/>
              <a:ext cx="50800" cy="2393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53363"/>
              <a:ext cx="4432935" cy="296545"/>
            </a:xfrm>
            <a:custGeom>
              <a:avLst/>
              <a:gdLst/>
              <a:ahLst/>
              <a:cxnLst/>
              <a:rect l="l" t="t" r="r" b="b"/>
              <a:pathLst>
                <a:path w="4432935" h="296544">
                  <a:moveTo>
                    <a:pt x="4432554" y="0"/>
                  </a:moveTo>
                  <a:lnTo>
                    <a:pt x="0" y="0"/>
                  </a:lnTo>
                  <a:lnTo>
                    <a:pt x="0" y="245490"/>
                  </a:lnTo>
                  <a:lnTo>
                    <a:pt x="4008" y="265215"/>
                  </a:lnTo>
                  <a:lnTo>
                    <a:pt x="14922" y="281368"/>
                  </a:lnTo>
                  <a:lnTo>
                    <a:pt x="31075" y="292282"/>
                  </a:lnTo>
                  <a:lnTo>
                    <a:pt x="50800" y="296290"/>
                  </a:lnTo>
                  <a:lnTo>
                    <a:pt x="4381754" y="296290"/>
                  </a:lnTo>
                  <a:lnTo>
                    <a:pt x="4401478" y="292282"/>
                  </a:lnTo>
                  <a:lnTo>
                    <a:pt x="4417631" y="281368"/>
                  </a:lnTo>
                  <a:lnTo>
                    <a:pt x="4428545" y="265215"/>
                  </a:lnTo>
                  <a:lnTo>
                    <a:pt x="4432554" y="24549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997559"/>
              <a:ext cx="0" cy="220345"/>
            </a:xfrm>
            <a:custGeom>
              <a:avLst/>
              <a:gdLst/>
              <a:ahLst/>
              <a:cxnLst/>
              <a:rect l="l" t="t" r="r" b="b"/>
              <a:pathLst>
                <a:path h="220344">
                  <a:moveTo>
                    <a:pt x="0" y="22034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9849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722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595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39672" y="957732"/>
            <a:ext cx="21291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Lexical</a:t>
            </a:r>
            <a:r>
              <a:rPr sz="1400" i="1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Semantics</a:t>
            </a:r>
            <a:r>
              <a:rPr sz="1400" i="1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1400" i="1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45" dirty="0">
                <a:solidFill>
                  <a:srgbClr val="FFFFFF"/>
                </a:solidFill>
                <a:latin typeface="Cambria"/>
                <a:cs typeface="Cambria"/>
              </a:rPr>
              <a:t>WordNet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1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WordNet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58316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68349"/>
            <a:ext cx="64757" cy="647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478381"/>
            <a:ext cx="64757" cy="647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729" y="717773"/>
            <a:ext cx="3554729" cy="8661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spc="-10" dirty="0">
                <a:latin typeface="Trebuchet MS"/>
                <a:cs typeface="Trebuchet MS"/>
              </a:rPr>
              <a:t>https://wordnet.princeton.edu/wordnet/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hierarchically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organized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database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45100"/>
              </a:lnSpc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machine-readable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thesaurus,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aspects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dictionary </a:t>
            </a:r>
            <a:r>
              <a:rPr sz="950" dirty="0">
                <a:latin typeface="Trebuchet MS"/>
                <a:cs typeface="Trebuchet MS"/>
              </a:rPr>
              <a:t>Versions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other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languages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under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development</a:t>
            </a:r>
            <a:endParaRPr sz="950">
              <a:latin typeface="Trebuchet MS"/>
              <a:cs typeface="Trebuchet MS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437639" y="1739524"/>
          <a:ext cx="1732280" cy="846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6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2720">
                <a:tc>
                  <a:txBody>
                    <a:bodyPr/>
                    <a:lstStyle/>
                    <a:p>
                      <a:pPr marL="75565">
                        <a:lnSpc>
                          <a:spcPts val="1125"/>
                        </a:lnSpc>
                      </a:pPr>
                      <a:r>
                        <a:rPr sz="950" dirty="0">
                          <a:latin typeface="Trebuchet MS"/>
                          <a:cs typeface="Trebuchet MS"/>
                        </a:rPr>
                        <a:t>part</a:t>
                      </a:r>
                      <a:r>
                        <a:rPr sz="9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9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-10" dirty="0">
                          <a:latin typeface="Trebuchet MS"/>
                          <a:cs typeface="Trebuchet MS"/>
                        </a:rPr>
                        <a:t>speech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25"/>
                        </a:lnSpc>
                      </a:pPr>
                      <a:r>
                        <a:rPr sz="950" dirty="0">
                          <a:latin typeface="Trebuchet MS"/>
                          <a:cs typeface="Trebuchet MS"/>
                        </a:rPr>
                        <a:t>no.</a:t>
                      </a:r>
                      <a:r>
                        <a:rPr sz="95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-10" dirty="0">
                          <a:latin typeface="Trebuchet MS"/>
                          <a:cs typeface="Trebuchet MS"/>
                        </a:rPr>
                        <a:t>synsets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20" dirty="0">
                          <a:latin typeface="Trebuchet MS"/>
                          <a:cs typeface="Trebuchet MS"/>
                        </a:rPr>
                        <a:t>noun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82,115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90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20" dirty="0">
                          <a:latin typeface="Trebuchet MS"/>
                          <a:cs typeface="Trebuchet MS"/>
                        </a:rPr>
                        <a:t>verb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13,767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adjective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18,156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5565">
                        <a:lnSpc>
                          <a:spcPts val="1130"/>
                        </a:lnSpc>
                        <a:spcBef>
                          <a:spcPts val="5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adverb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30"/>
                        </a:lnSpc>
                        <a:spcBef>
                          <a:spcPts val="5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3,621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2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Synsets in </a:t>
            </a:r>
            <a:r>
              <a:rPr spc="-45" dirty="0"/>
              <a:t>WordNet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68463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937966"/>
            <a:ext cx="4065270" cy="6178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b="1" spc="10" dirty="0">
                <a:latin typeface="Trebuchet MS"/>
                <a:cs typeface="Trebuchet MS"/>
              </a:rPr>
              <a:t>synset</a:t>
            </a:r>
            <a:r>
              <a:rPr sz="950" b="1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set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synonyms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representing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sense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Example: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chump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noun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‘a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person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who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gullible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easy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take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advantage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of’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78496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2307" y="1687512"/>
            <a:ext cx="3528059" cy="266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2157780"/>
            <a:ext cx="64757" cy="6475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2027270"/>
            <a:ext cx="3344545" cy="44577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spc="55" dirty="0">
                <a:latin typeface="Trebuchet MS"/>
                <a:cs typeface="Trebuchet MS"/>
              </a:rPr>
              <a:t>Each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senses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share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gloss.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WordNet,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chump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-10" dirty="0">
                <a:latin typeface="Trebuchet MS"/>
                <a:cs typeface="Trebuchet MS"/>
              </a:rPr>
              <a:t> list.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2367813"/>
            <a:ext cx="64757" cy="647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3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327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lemma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vs.</a:t>
            </a:r>
            <a:r>
              <a:rPr sz="1400" i="1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synsets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843" y="687730"/>
            <a:ext cx="2987039" cy="221742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4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7926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All</a:t>
            </a:r>
            <a:r>
              <a:rPr sz="14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relations</a:t>
            </a:r>
            <a:r>
              <a:rPr sz="14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14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45" dirty="0">
                <a:solidFill>
                  <a:srgbClr val="FFFFFF"/>
                </a:solidFill>
                <a:latin typeface="Cambria"/>
                <a:cs typeface="Cambria"/>
              </a:rPr>
              <a:t>WordNet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833" y="587260"/>
            <a:ext cx="3128010" cy="244982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5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4142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Wordnet</a:t>
            </a: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noun</a:t>
            </a:r>
            <a:r>
              <a:rPr sz="1400" i="1" spc="-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verb</a:t>
            </a: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relations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778" y="732650"/>
            <a:ext cx="4057649" cy="12039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538" y="2386279"/>
            <a:ext cx="4076700" cy="61341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936115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6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5640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45" dirty="0">
                <a:solidFill>
                  <a:srgbClr val="FFFFFF"/>
                </a:solidFill>
                <a:latin typeface="Cambria"/>
                <a:cs typeface="Cambria"/>
              </a:rPr>
              <a:t>WordNet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Hierarchies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994" y="515391"/>
            <a:ext cx="3332479" cy="15443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5901" y="2358491"/>
            <a:ext cx="2153919" cy="84835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7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1715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60" dirty="0">
                <a:solidFill>
                  <a:srgbClr val="FFFFFF"/>
                </a:solidFill>
                <a:latin typeface="Cambria"/>
                <a:cs typeface="Cambria"/>
              </a:rPr>
              <a:t>Word</a:t>
            </a:r>
            <a:r>
              <a:rPr sz="14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Similarity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43610"/>
            <a:ext cx="64757" cy="647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631557"/>
            <a:ext cx="2392680" cy="39243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10" dirty="0">
                <a:latin typeface="Trebuchet MS"/>
                <a:cs typeface="Trebuchet MS"/>
              </a:rPr>
              <a:t>Synonymy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binary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relation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45" dirty="0">
                <a:latin typeface="Trebuchet MS"/>
                <a:cs typeface="Trebuchet MS"/>
              </a:rPr>
              <a:t>Two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either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synonymous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or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not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40400A4-EBCC-47B8-82E5-ABDBEF9AEE1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5" dirty="0"/>
              <a:t> </a:t>
            </a:r>
            <a:r>
              <a:rPr spc="-10" dirty="0"/>
              <a:t>Similarity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43610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31557"/>
            <a:ext cx="2392680" cy="91122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10" dirty="0">
                <a:latin typeface="Trebuchet MS"/>
                <a:cs typeface="Trebuchet MS"/>
              </a:rPr>
              <a:t>Synonymy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binary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relation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45" dirty="0">
                <a:latin typeface="Trebuchet MS"/>
                <a:cs typeface="Trebuchet MS"/>
              </a:rPr>
              <a:t>Two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either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synonymous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or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not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want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looser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metric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similarity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or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distance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110538"/>
            <a:ext cx="64757" cy="647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 dirty="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E1BB9E0-B573-4F52-9079-E50E069240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5" dirty="0"/>
              <a:t> </a:t>
            </a:r>
            <a:r>
              <a:rPr spc="-10" dirty="0"/>
              <a:t>Similarity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43610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31557"/>
            <a:ext cx="2392680" cy="127825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10" dirty="0">
                <a:latin typeface="Trebuchet MS"/>
                <a:cs typeface="Trebuchet MS"/>
              </a:rPr>
              <a:t>Synonymy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binary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relation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45" dirty="0">
                <a:latin typeface="Trebuchet MS"/>
                <a:cs typeface="Trebuchet MS"/>
              </a:rPr>
              <a:t>Two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either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synonymous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or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not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want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looser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metric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similarity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or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distance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Two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55" dirty="0">
                <a:latin typeface="Trebuchet MS"/>
                <a:cs typeface="Trebuchet MS"/>
              </a:rPr>
              <a:t>If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they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share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more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features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meaning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110538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629295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413222E-4EB4-46C9-A40F-A8392203C14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5" dirty="0"/>
              <a:t> </a:t>
            </a:r>
            <a:r>
              <a:rPr spc="-10" dirty="0"/>
              <a:t>Similarity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43610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31557"/>
            <a:ext cx="2902585" cy="208533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10" dirty="0">
                <a:latin typeface="Trebuchet MS"/>
                <a:cs typeface="Trebuchet MS"/>
              </a:rPr>
              <a:t>Synonymy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binary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relation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45" dirty="0">
                <a:latin typeface="Trebuchet MS"/>
                <a:cs typeface="Trebuchet MS"/>
              </a:rPr>
              <a:t>Two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either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synonymous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or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not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want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looser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metric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similarity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or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distance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Two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55" dirty="0">
                <a:latin typeface="Trebuchet MS"/>
                <a:cs typeface="Trebuchet MS"/>
              </a:rPr>
              <a:t>If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they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share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more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features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meaning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Actually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really </a:t>
            </a:r>
            <a:r>
              <a:rPr sz="950" dirty="0">
                <a:latin typeface="Trebuchet MS"/>
                <a:cs typeface="Trebuchet MS"/>
              </a:rPr>
              <a:t>relations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b="1" spc="35" dirty="0">
                <a:latin typeface="Trebuchet MS"/>
                <a:cs typeface="Trebuchet MS"/>
              </a:rPr>
              <a:t>senses</a:t>
            </a:r>
            <a:r>
              <a:rPr sz="950" spc="35" dirty="0">
                <a:latin typeface="Trebuchet MS"/>
                <a:cs typeface="Trebuchet MS"/>
              </a:rPr>
              <a:t>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Instead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saying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“bank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is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like</a:t>
            </a:r>
            <a:r>
              <a:rPr sz="900" spc="-10" dirty="0">
                <a:latin typeface="Trebuchet MS"/>
                <a:cs typeface="Trebuchet MS"/>
              </a:rPr>
              <a:t> fund”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We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say</a:t>
            </a:r>
            <a:endParaRPr sz="900">
              <a:latin typeface="Trebuchet MS"/>
              <a:cs typeface="Trebuchet MS"/>
            </a:endParaRPr>
          </a:p>
          <a:p>
            <a:pPr marL="449580">
              <a:lnSpc>
                <a:spcPct val="100000"/>
              </a:lnSpc>
              <a:spcBef>
                <a:spcPts val="315"/>
              </a:spcBef>
            </a:pPr>
            <a:r>
              <a:rPr sz="900" spc="3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F</a:t>
            </a:r>
            <a:r>
              <a:rPr sz="900" spc="55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latin typeface="Trebuchet MS"/>
                <a:cs typeface="Trebuchet MS"/>
              </a:rPr>
              <a:t>Bank</a:t>
            </a:r>
            <a:r>
              <a:rPr sz="1050" baseline="27777" dirty="0">
                <a:latin typeface="Cambria"/>
                <a:cs typeface="Cambria"/>
              </a:rPr>
              <a:t>1</a:t>
            </a:r>
            <a:r>
              <a:rPr sz="1050" spc="195" baseline="27777" dirty="0">
                <a:latin typeface="Cambria"/>
                <a:cs typeface="Cambria"/>
              </a:rPr>
              <a:t> </a:t>
            </a:r>
            <a:r>
              <a:rPr sz="800" dirty="0">
                <a:latin typeface="Trebuchet MS"/>
                <a:cs typeface="Trebuchet MS"/>
              </a:rPr>
              <a:t>is</a:t>
            </a:r>
            <a:r>
              <a:rPr sz="800" spc="-10" dirty="0">
                <a:latin typeface="Trebuchet MS"/>
                <a:cs typeface="Trebuchet MS"/>
              </a:rPr>
              <a:t> similar </a:t>
            </a:r>
            <a:r>
              <a:rPr sz="800" spc="-30" dirty="0">
                <a:latin typeface="Trebuchet MS"/>
                <a:cs typeface="Trebuchet MS"/>
              </a:rPr>
              <a:t>to</a:t>
            </a:r>
            <a:r>
              <a:rPr sz="800" spc="-10" dirty="0">
                <a:latin typeface="Trebuchet MS"/>
                <a:cs typeface="Trebuchet MS"/>
              </a:rPr>
              <a:t> </a:t>
            </a:r>
            <a:r>
              <a:rPr sz="800" spc="-20" dirty="0">
                <a:latin typeface="Trebuchet MS"/>
                <a:cs typeface="Trebuchet MS"/>
              </a:rPr>
              <a:t>fund</a:t>
            </a:r>
            <a:r>
              <a:rPr sz="1050" spc="-30" baseline="27777" dirty="0">
                <a:latin typeface="Cambria"/>
                <a:cs typeface="Cambria"/>
              </a:rPr>
              <a:t>3</a:t>
            </a:r>
            <a:endParaRPr sz="1050" baseline="27777">
              <a:latin typeface="Cambria"/>
              <a:cs typeface="Cambria"/>
            </a:endParaRPr>
          </a:p>
          <a:p>
            <a:pPr marL="449580">
              <a:lnSpc>
                <a:spcPct val="100000"/>
              </a:lnSpc>
              <a:spcBef>
                <a:spcPts val="135"/>
              </a:spcBef>
            </a:pPr>
            <a:r>
              <a:rPr sz="900" spc="3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F</a:t>
            </a:r>
            <a:r>
              <a:rPr sz="900" spc="55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latin typeface="Trebuchet MS"/>
                <a:cs typeface="Trebuchet MS"/>
              </a:rPr>
              <a:t>Bank</a:t>
            </a:r>
            <a:r>
              <a:rPr sz="1050" baseline="27777" dirty="0">
                <a:latin typeface="Cambria"/>
                <a:cs typeface="Cambria"/>
              </a:rPr>
              <a:t>2</a:t>
            </a:r>
            <a:r>
              <a:rPr sz="1050" spc="195" baseline="27777" dirty="0">
                <a:latin typeface="Cambria"/>
                <a:cs typeface="Cambria"/>
              </a:rPr>
              <a:t> </a:t>
            </a:r>
            <a:r>
              <a:rPr sz="800" dirty="0">
                <a:latin typeface="Trebuchet MS"/>
                <a:cs typeface="Trebuchet MS"/>
              </a:rPr>
              <a:t>is</a:t>
            </a:r>
            <a:r>
              <a:rPr sz="800" spc="-10" dirty="0">
                <a:latin typeface="Trebuchet MS"/>
                <a:cs typeface="Trebuchet MS"/>
              </a:rPr>
              <a:t> similar </a:t>
            </a:r>
            <a:r>
              <a:rPr sz="800" spc="-30" dirty="0">
                <a:latin typeface="Trebuchet MS"/>
                <a:cs typeface="Trebuchet MS"/>
              </a:rPr>
              <a:t>to</a:t>
            </a:r>
            <a:r>
              <a:rPr sz="800" spc="-10" dirty="0">
                <a:latin typeface="Trebuchet MS"/>
                <a:cs typeface="Trebuchet MS"/>
              </a:rPr>
              <a:t> slope</a:t>
            </a:r>
            <a:r>
              <a:rPr sz="1050" spc="-15" baseline="27777" dirty="0">
                <a:latin typeface="Cambria"/>
                <a:cs typeface="Cambria"/>
              </a:rPr>
              <a:t>5</a:t>
            </a:r>
            <a:endParaRPr sz="1050" baseline="27777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110538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629295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996224"/>
            <a:ext cx="64757" cy="6475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WordNet</a:t>
            </a:r>
            <a:endParaRPr sz="600" dirty="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6E7FCBB-B687-4920-A237-46875750503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5" dirty="0"/>
              <a:t> </a:t>
            </a:r>
            <a:r>
              <a:rPr spc="-10" dirty="0"/>
              <a:t>Similarity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43610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31557"/>
            <a:ext cx="3089275" cy="22999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10" dirty="0">
                <a:latin typeface="Trebuchet MS"/>
                <a:cs typeface="Trebuchet MS"/>
              </a:rPr>
              <a:t>Synonymy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binary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relation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45" dirty="0">
                <a:latin typeface="Trebuchet MS"/>
                <a:cs typeface="Trebuchet MS"/>
              </a:rPr>
              <a:t>Two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either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synonymous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or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not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want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looser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metric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similarity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or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Word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distance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Two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55" dirty="0">
                <a:latin typeface="Trebuchet MS"/>
                <a:cs typeface="Trebuchet MS"/>
              </a:rPr>
              <a:t>If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they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share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more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features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meaning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Actually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really </a:t>
            </a:r>
            <a:r>
              <a:rPr sz="950" dirty="0">
                <a:latin typeface="Trebuchet MS"/>
                <a:cs typeface="Trebuchet MS"/>
              </a:rPr>
              <a:t>relations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b="1" spc="35" dirty="0">
                <a:latin typeface="Trebuchet MS"/>
                <a:cs typeface="Trebuchet MS"/>
              </a:rPr>
              <a:t>senses</a:t>
            </a:r>
            <a:r>
              <a:rPr sz="950" spc="35" dirty="0">
                <a:latin typeface="Trebuchet MS"/>
                <a:cs typeface="Trebuchet MS"/>
              </a:rPr>
              <a:t>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Instead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saying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“bank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is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like</a:t>
            </a:r>
            <a:r>
              <a:rPr sz="900" spc="-10" dirty="0">
                <a:latin typeface="Trebuchet MS"/>
                <a:cs typeface="Trebuchet MS"/>
              </a:rPr>
              <a:t> fund”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We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say</a:t>
            </a:r>
            <a:endParaRPr sz="900">
              <a:latin typeface="Trebuchet MS"/>
              <a:cs typeface="Trebuchet MS"/>
            </a:endParaRPr>
          </a:p>
          <a:p>
            <a:pPr marL="449580">
              <a:lnSpc>
                <a:spcPct val="100000"/>
              </a:lnSpc>
              <a:spcBef>
                <a:spcPts val="315"/>
              </a:spcBef>
            </a:pPr>
            <a:r>
              <a:rPr sz="900" spc="3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F</a:t>
            </a:r>
            <a:r>
              <a:rPr sz="900" spc="55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latin typeface="Trebuchet MS"/>
                <a:cs typeface="Trebuchet MS"/>
              </a:rPr>
              <a:t>Bank</a:t>
            </a:r>
            <a:r>
              <a:rPr sz="1050" baseline="27777" dirty="0">
                <a:latin typeface="Cambria"/>
                <a:cs typeface="Cambria"/>
              </a:rPr>
              <a:t>1</a:t>
            </a:r>
            <a:r>
              <a:rPr sz="1050" spc="195" baseline="27777" dirty="0">
                <a:latin typeface="Cambria"/>
                <a:cs typeface="Cambria"/>
              </a:rPr>
              <a:t> </a:t>
            </a:r>
            <a:r>
              <a:rPr sz="800" dirty="0">
                <a:latin typeface="Trebuchet MS"/>
                <a:cs typeface="Trebuchet MS"/>
              </a:rPr>
              <a:t>is</a:t>
            </a:r>
            <a:r>
              <a:rPr sz="800" spc="-10" dirty="0">
                <a:latin typeface="Trebuchet MS"/>
                <a:cs typeface="Trebuchet MS"/>
              </a:rPr>
              <a:t> similar </a:t>
            </a:r>
            <a:r>
              <a:rPr sz="800" spc="-30" dirty="0">
                <a:latin typeface="Trebuchet MS"/>
                <a:cs typeface="Trebuchet MS"/>
              </a:rPr>
              <a:t>to</a:t>
            </a:r>
            <a:r>
              <a:rPr sz="800" spc="-10" dirty="0">
                <a:latin typeface="Trebuchet MS"/>
                <a:cs typeface="Trebuchet MS"/>
              </a:rPr>
              <a:t> </a:t>
            </a:r>
            <a:r>
              <a:rPr sz="800" spc="-20" dirty="0">
                <a:latin typeface="Trebuchet MS"/>
                <a:cs typeface="Trebuchet MS"/>
              </a:rPr>
              <a:t>fund</a:t>
            </a:r>
            <a:r>
              <a:rPr sz="1050" spc="-30" baseline="27777" dirty="0">
                <a:latin typeface="Cambria"/>
                <a:cs typeface="Cambria"/>
              </a:rPr>
              <a:t>3</a:t>
            </a:r>
            <a:endParaRPr sz="1050" baseline="27777">
              <a:latin typeface="Cambria"/>
              <a:cs typeface="Cambria"/>
            </a:endParaRPr>
          </a:p>
          <a:p>
            <a:pPr marL="449580">
              <a:lnSpc>
                <a:spcPct val="100000"/>
              </a:lnSpc>
              <a:spcBef>
                <a:spcPts val="135"/>
              </a:spcBef>
            </a:pPr>
            <a:r>
              <a:rPr sz="900" spc="3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F</a:t>
            </a:r>
            <a:r>
              <a:rPr sz="900" spc="55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latin typeface="Trebuchet MS"/>
                <a:cs typeface="Trebuchet MS"/>
              </a:rPr>
              <a:t>Bank</a:t>
            </a:r>
            <a:r>
              <a:rPr sz="1050" baseline="27777" dirty="0">
                <a:latin typeface="Cambria"/>
                <a:cs typeface="Cambria"/>
              </a:rPr>
              <a:t>2</a:t>
            </a:r>
            <a:r>
              <a:rPr sz="1050" spc="195" baseline="27777" dirty="0">
                <a:latin typeface="Cambria"/>
                <a:cs typeface="Cambria"/>
              </a:rPr>
              <a:t> </a:t>
            </a:r>
            <a:r>
              <a:rPr sz="800" dirty="0">
                <a:latin typeface="Trebuchet MS"/>
                <a:cs typeface="Trebuchet MS"/>
              </a:rPr>
              <a:t>is</a:t>
            </a:r>
            <a:r>
              <a:rPr sz="800" spc="-10" dirty="0">
                <a:latin typeface="Trebuchet MS"/>
                <a:cs typeface="Trebuchet MS"/>
              </a:rPr>
              <a:t> similar </a:t>
            </a:r>
            <a:r>
              <a:rPr sz="800" spc="-30" dirty="0">
                <a:latin typeface="Trebuchet MS"/>
                <a:cs typeface="Trebuchet MS"/>
              </a:rPr>
              <a:t>to</a:t>
            </a:r>
            <a:r>
              <a:rPr sz="800" spc="-10" dirty="0">
                <a:latin typeface="Trebuchet MS"/>
                <a:cs typeface="Trebuchet MS"/>
              </a:rPr>
              <a:t> slope</a:t>
            </a:r>
            <a:r>
              <a:rPr sz="1050" spc="-15" baseline="27777" dirty="0">
                <a:latin typeface="Cambria"/>
                <a:cs typeface="Cambria"/>
              </a:rPr>
              <a:t>5</a:t>
            </a:r>
            <a:endParaRPr sz="1050" baseline="27777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54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will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compute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similarity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over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both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senses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110538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629295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996224"/>
            <a:ext cx="64757" cy="647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2826219"/>
            <a:ext cx="64757" cy="6475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CD449AA-F28C-491C-A94F-7BF4112BB0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9100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Two</a:t>
            </a:r>
            <a:r>
              <a:rPr spc="45" dirty="0"/>
              <a:t> </a:t>
            </a:r>
            <a:r>
              <a:rPr dirty="0"/>
              <a:t>classes</a:t>
            </a:r>
            <a:r>
              <a:rPr spc="50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spc="-10" dirty="0"/>
              <a:t>algorithms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204455"/>
            <a:ext cx="4483735" cy="454659"/>
            <a:chOff x="87743" y="1204455"/>
            <a:chExt cx="4483735" cy="454659"/>
          </a:xfrm>
        </p:grpSpPr>
        <p:sp>
          <p:nvSpPr>
            <p:cNvPr id="4" name="object 4"/>
            <p:cNvSpPr/>
            <p:nvPr/>
          </p:nvSpPr>
          <p:spPr>
            <a:xfrm>
              <a:off x="87743" y="120445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7746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5726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4456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248689"/>
              <a:ext cx="50800" cy="30857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421752"/>
              <a:ext cx="4432935" cy="186690"/>
            </a:xfrm>
            <a:custGeom>
              <a:avLst/>
              <a:gdLst/>
              <a:ahLst/>
              <a:cxnLst/>
              <a:rect l="l" t="t" r="r" b="b"/>
              <a:pathLst>
                <a:path w="4432935" h="186690">
                  <a:moveTo>
                    <a:pt x="4432554" y="0"/>
                  </a:moveTo>
                  <a:lnTo>
                    <a:pt x="0" y="0"/>
                  </a:lnTo>
                  <a:lnTo>
                    <a:pt x="0" y="135508"/>
                  </a:lnTo>
                  <a:lnTo>
                    <a:pt x="4008" y="155233"/>
                  </a:lnTo>
                  <a:lnTo>
                    <a:pt x="14922" y="171386"/>
                  </a:lnTo>
                  <a:lnTo>
                    <a:pt x="31075" y="182300"/>
                  </a:lnTo>
                  <a:lnTo>
                    <a:pt x="50800" y="186308"/>
                  </a:lnTo>
                  <a:lnTo>
                    <a:pt x="4381754" y="186308"/>
                  </a:lnTo>
                  <a:lnTo>
                    <a:pt x="4401478" y="182300"/>
                  </a:lnTo>
                  <a:lnTo>
                    <a:pt x="4417631" y="171386"/>
                  </a:lnTo>
                  <a:lnTo>
                    <a:pt x="4428545" y="155233"/>
                  </a:lnTo>
                  <a:lnTo>
                    <a:pt x="4432554" y="13550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286751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h="289559">
                  <a:moveTo>
                    <a:pt x="0" y="2895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12740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12613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12486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759991"/>
            <a:ext cx="4483735" cy="455930"/>
            <a:chOff x="87743" y="1759991"/>
            <a:chExt cx="4483735" cy="455930"/>
          </a:xfrm>
        </p:grpSpPr>
        <p:sp>
          <p:nvSpPr>
            <p:cNvPr id="15" name="object 15"/>
            <p:cNvSpPr/>
            <p:nvPr/>
          </p:nvSpPr>
          <p:spPr>
            <a:xfrm>
              <a:off x="87743" y="175999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933003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114181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101481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804225"/>
              <a:ext cx="50800" cy="30995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977275"/>
              <a:ext cx="4432935" cy="187960"/>
            </a:xfrm>
            <a:custGeom>
              <a:avLst/>
              <a:gdLst/>
              <a:ahLst/>
              <a:cxnLst/>
              <a:rect l="l" t="t" r="r" b="b"/>
              <a:pathLst>
                <a:path w="4432935" h="187960">
                  <a:moveTo>
                    <a:pt x="4432554" y="0"/>
                  </a:moveTo>
                  <a:lnTo>
                    <a:pt x="0" y="0"/>
                  </a:lnTo>
                  <a:lnTo>
                    <a:pt x="0" y="136906"/>
                  </a:lnTo>
                  <a:lnTo>
                    <a:pt x="4008" y="156630"/>
                  </a:lnTo>
                  <a:lnTo>
                    <a:pt x="14922" y="172783"/>
                  </a:lnTo>
                  <a:lnTo>
                    <a:pt x="31075" y="183697"/>
                  </a:lnTo>
                  <a:lnTo>
                    <a:pt x="50800" y="187706"/>
                  </a:lnTo>
                  <a:lnTo>
                    <a:pt x="4381754" y="187706"/>
                  </a:lnTo>
                  <a:lnTo>
                    <a:pt x="4401478" y="183697"/>
                  </a:lnTo>
                  <a:lnTo>
                    <a:pt x="4417631" y="172783"/>
                  </a:lnTo>
                  <a:lnTo>
                    <a:pt x="4428545" y="156630"/>
                  </a:lnTo>
                  <a:lnTo>
                    <a:pt x="4432554" y="13690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842274"/>
              <a:ext cx="0" cy="291465"/>
            </a:xfrm>
            <a:custGeom>
              <a:avLst/>
              <a:gdLst/>
              <a:ahLst/>
              <a:cxnLst/>
              <a:rect l="l" t="t" r="r" b="b"/>
              <a:pathLst>
                <a:path h="291464">
                  <a:moveTo>
                    <a:pt x="0" y="29095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8296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8169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8042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729" y="1132997"/>
            <a:ext cx="3947160" cy="99949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Distributional</a:t>
            </a:r>
            <a:r>
              <a:rPr sz="1100" i="1" spc="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algorithms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spc="70" dirty="0">
                <a:latin typeface="Trebuchet MS"/>
                <a:cs typeface="Trebuchet MS"/>
              </a:rPr>
              <a:t>By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comparing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based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distributional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corpora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Thesaurus-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based</a:t>
            </a:r>
            <a:r>
              <a:rPr sz="1100" i="1" spc="6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algorithms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dirty="0">
                <a:latin typeface="Trebuchet MS"/>
                <a:cs typeface="Trebuchet MS"/>
              </a:rPr>
              <a:t> on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whether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“nearby”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WordNet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WordNet</a:t>
            </a:r>
            <a:endParaRPr sz="600" dirty="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9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Thesaurus-</a:t>
            </a:r>
            <a:r>
              <a:rPr dirty="0"/>
              <a:t>based</a:t>
            </a:r>
            <a:r>
              <a:rPr spc="20" dirty="0"/>
              <a:t> </a:t>
            </a:r>
            <a:r>
              <a:rPr spc="-60" dirty="0"/>
              <a:t>Word</a:t>
            </a:r>
            <a:r>
              <a:rPr spc="25" dirty="0"/>
              <a:t> </a:t>
            </a:r>
            <a:r>
              <a:rPr spc="-10" dirty="0"/>
              <a:t>Similarity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915530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803476"/>
            <a:ext cx="2290445" cy="54419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could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use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anything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thesaurus: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20" dirty="0">
                <a:latin typeface="Trebuchet MS"/>
                <a:cs typeface="Trebuchet MS"/>
              </a:rPr>
              <a:t>Meronymy,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hyponymy,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troponymy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Glosses</a:t>
            </a:r>
            <a:r>
              <a:rPr sz="900" spc="7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example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sentences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2E8736F-65B2-4313-9247-B5D90E7791D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Thesaurus-</a:t>
            </a:r>
            <a:r>
              <a:rPr dirty="0"/>
              <a:t>based</a:t>
            </a:r>
            <a:r>
              <a:rPr spc="20" dirty="0"/>
              <a:t> </a:t>
            </a:r>
            <a:r>
              <a:rPr spc="-60" dirty="0"/>
              <a:t>Word</a:t>
            </a:r>
            <a:r>
              <a:rPr spc="25" dirty="0"/>
              <a:t> </a:t>
            </a:r>
            <a:r>
              <a:rPr spc="-10" dirty="0"/>
              <a:t>Similarity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915530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803476"/>
            <a:ext cx="2937510" cy="10629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could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use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anything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thesaurus: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20" dirty="0">
                <a:latin typeface="Trebuchet MS"/>
                <a:cs typeface="Trebuchet MS"/>
              </a:rPr>
              <a:t>Meronymy,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hyponymy,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troponymy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Glosses</a:t>
            </a:r>
            <a:r>
              <a:rPr sz="900" spc="7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example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sentences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practice,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“thesaurus-</a:t>
            </a:r>
            <a:r>
              <a:rPr sz="950" dirty="0">
                <a:latin typeface="Trebuchet MS"/>
                <a:cs typeface="Trebuchet MS"/>
              </a:rPr>
              <a:t>based”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methods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usually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use: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is-a/subsumption/hypernymy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hierarchy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sometimes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glosses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too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34287"/>
            <a:ext cx="64757" cy="647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DA98D08-4E62-4E88-88EB-855089A1F35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Thesaurus-</a:t>
            </a:r>
            <a:r>
              <a:rPr dirty="0"/>
              <a:t>based</a:t>
            </a:r>
            <a:r>
              <a:rPr spc="20" dirty="0"/>
              <a:t> </a:t>
            </a:r>
            <a:r>
              <a:rPr spc="-60" dirty="0"/>
              <a:t>Word</a:t>
            </a:r>
            <a:r>
              <a:rPr spc="25" dirty="0"/>
              <a:t> </a:t>
            </a:r>
            <a:r>
              <a:rPr spc="-10" dirty="0"/>
              <a:t>Similarity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915530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803476"/>
            <a:ext cx="2937510" cy="18700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could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use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anything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thesaurus: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20" dirty="0">
                <a:latin typeface="Trebuchet MS"/>
                <a:cs typeface="Trebuchet MS"/>
              </a:rPr>
              <a:t>Meronymy,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hyponymy,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troponymy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Glosses</a:t>
            </a:r>
            <a:r>
              <a:rPr sz="900" spc="7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example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sentences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practice,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“thesaurus-</a:t>
            </a:r>
            <a:r>
              <a:rPr sz="950" dirty="0">
                <a:latin typeface="Trebuchet MS"/>
                <a:cs typeface="Trebuchet MS"/>
              </a:rPr>
              <a:t>based”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methods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usually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use: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is-a/subsumption/hypernymy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hierarchy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sometimes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glosses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too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similarity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vs.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relatedness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10" dirty="0">
                <a:latin typeface="Trebuchet MS"/>
                <a:cs typeface="Trebuchet MS"/>
              </a:rPr>
              <a:t>Similar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are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near-</a:t>
            </a:r>
            <a:r>
              <a:rPr sz="900" spc="-10" dirty="0">
                <a:latin typeface="Trebuchet MS"/>
                <a:cs typeface="Trebuchet MS"/>
              </a:rPr>
              <a:t>synonyms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Related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could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be</a:t>
            </a:r>
            <a:r>
              <a:rPr sz="900" spc="-30" dirty="0">
                <a:latin typeface="Trebuchet MS"/>
                <a:cs typeface="Trebuchet MS"/>
              </a:rPr>
              <a:t> related </a:t>
            </a:r>
            <a:r>
              <a:rPr sz="900" dirty="0">
                <a:latin typeface="Trebuchet MS"/>
                <a:cs typeface="Trebuchet MS"/>
              </a:rPr>
              <a:t>any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way</a:t>
            </a:r>
            <a:endParaRPr sz="900">
              <a:latin typeface="Trebuchet MS"/>
              <a:cs typeface="Trebuchet MS"/>
            </a:endParaRPr>
          </a:p>
          <a:p>
            <a:pPr marL="449580">
              <a:lnSpc>
                <a:spcPct val="100000"/>
              </a:lnSpc>
              <a:spcBef>
                <a:spcPts val="315"/>
              </a:spcBef>
            </a:pPr>
            <a:r>
              <a:rPr sz="900" spc="3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F</a:t>
            </a:r>
            <a:r>
              <a:rPr sz="900" spc="540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800" spc="-45" dirty="0">
                <a:latin typeface="Trebuchet MS"/>
                <a:cs typeface="Trebuchet MS"/>
              </a:rPr>
              <a:t>car,</a:t>
            </a:r>
            <a:r>
              <a:rPr sz="800" spc="-10" dirty="0">
                <a:latin typeface="Trebuchet MS"/>
                <a:cs typeface="Trebuchet MS"/>
              </a:rPr>
              <a:t> </a:t>
            </a:r>
            <a:r>
              <a:rPr sz="800" dirty="0">
                <a:latin typeface="Trebuchet MS"/>
                <a:cs typeface="Trebuchet MS"/>
              </a:rPr>
              <a:t>gasoline</a:t>
            </a:r>
            <a:r>
              <a:rPr sz="800" spc="-15" dirty="0">
                <a:latin typeface="Trebuchet MS"/>
                <a:cs typeface="Trebuchet MS"/>
              </a:rPr>
              <a:t> </a:t>
            </a:r>
            <a:r>
              <a:rPr sz="800" dirty="0">
                <a:latin typeface="Trebuchet MS"/>
                <a:cs typeface="Trebuchet MS"/>
              </a:rPr>
              <a:t>:</a:t>
            </a:r>
            <a:r>
              <a:rPr sz="800" spc="40" dirty="0">
                <a:latin typeface="Trebuchet MS"/>
                <a:cs typeface="Trebuchet MS"/>
              </a:rPr>
              <a:t> </a:t>
            </a:r>
            <a:r>
              <a:rPr sz="800" spc="-30" dirty="0">
                <a:latin typeface="Trebuchet MS"/>
                <a:cs typeface="Trebuchet MS"/>
              </a:rPr>
              <a:t>related,</a:t>
            </a:r>
            <a:r>
              <a:rPr sz="800" spc="-10" dirty="0">
                <a:latin typeface="Trebuchet MS"/>
                <a:cs typeface="Trebuchet MS"/>
              </a:rPr>
              <a:t> </a:t>
            </a:r>
            <a:r>
              <a:rPr sz="800" spc="-40" dirty="0">
                <a:latin typeface="Trebuchet MS"/>
                <a:cs typeface="Trebuchet MS"/>
              </a:rPr>
              <a:t>but</a:t>
            </a:r>
            <a:r>
              <a:rPr sz="800" spc="-15" dirty="0">
                <a:latin typeface="Trebuchet MS"/>
                <a:cs typeface="Trebuchet MS"/>
              </a:rPr>
              <a:t> </a:t>
            </a:r>
            <a:r>
              <a:rPr sz="800" dirty="0">
                <a:latin typeface="Trebuchet MS"/>
                <a:cs typeface="Trebuchet MS"/>
              </a:rPr>
              <a:t>nor</a:t>
            </a:r>
            <a:r>
              <a:rPr sz="800" spc="-15" dirty="0">
                <a:latin typeface="Trebuchet MS"/>
                <a:cs typeface="Trebuchet MS"/>
              </a:rPr>
              <a:t> </a:t>
            </a:r>
            <a:r>
              <a:rPr sz="800" spc="-10" dirty="0">
                <a:latin typeface="Trebuchet MS"/>
                <a:cs typeface="Trebuchet MS"/>
              </a:rPr>
              <a:t>similar</a:t>
            </a:r>
            <a:endParaRPr sz="800">
              <a:latin typeface="Trebuchet MS"/>
              <a:cs typeface="Trebuchet MS"/>
            </a:endParaRPr>
          </a:p>
          <a:p>
            <a:pPr marL="449580">
              <a:lnSpc>
                <a:spcPct val="100000"/>
              </a:lnSpc>
              <a:spcBef>
                <a:spcPts val="135"/>
              </a:spcBef>
            </a:pPr>
            <a:r>
              <a:rPr sz="900" spc="3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F</a:t>
            </a:r>
            <a:r>
              <a:rPr sz="900" spc="540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800" spc="-45" dirty="0">
                <a:latin typeface="Trebuchet MS"/>
                <a:cs typeface="Trebuchet MS"/>
              </a:rPr>
              <a:t>car,</a:t>
            </a:r>
            <a:r>
              <a:rPr sz="800" spc="-15" dirty="0">
                <a:latin typeface="Trebuchet MS"/>
                <a:cs typeface="Trebuchet MS"/>
              </a:rPr>
              <a:t> </a:t>
            </a:r>
            <a:r>
              <a:rPr sz="800" spc="-20" dirty="0">
                <a:latin typeface="Trebuchet MS"/>
                <a:cs typeface="Trebuchet MS"/>
              </a:rPr>
              <a:t>bicycle:</a:t>
            </a:r>
            <a:r>
              <a:rPr sz="800" spc="40" dirty="0">
                <a:latin typeface="Trebuchet MS"/>
                <a:cs typeface="Trebuchet MS"/>
              </a:rPr>
              <a:t> </a:t>
            </a:r>
            <a:r>
              <a:rPr sz="800" spc="-10" dirty="0">
                <a:latin typeface="Trebuchet MS"/>
                <a:cs typeface="Trebuchet MS"/>
              </a:rPr>
              <a:t>similar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34287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953044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C6D06E9-4CA6-424E-9CA9-67C1C7753A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49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5849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Path-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based</a:t>
            </a:r>
            <a:r>
              <a:rPr sz="1400" i="1" spc="-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similarity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1090409"/>
            <a:ext cx="4483735" cy="1296670"/>
            <a:chOff x="87743" y="1090409"/>
            <a:chExt cx="4483735" cy="1296670"/>
          </a:xfrm>
        </p:grpSpPr>
        <p:sp>
          <p:nvSpPr>
            <p:cNvPr id="5" name="object 5"/>
            <p:cNvSpPr/>
            <p:nvPr/>
          </p:nvSpPr>
          <p:spPr>
            <a:xfrm>
              <a:off x="87743" y="1090409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54074"/>
              <a:ext cx="4432554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85250"/>
              <a:ext cx="101599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72550"/>
              <a:ext cx="4381754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34643"/>
              <a:ext cx="50800" cy="11506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298333"/>
              <a:ext cx="4432935" cy="1038225"/>
            </a:xfrm>
            <a:custGeom>
              <a:avLst/>
              <a:gdLst/>
              <a:ahLst/>
              <a:cxnLst/>
              <a:rect l="l" t="t" r="r" b="b"/>
              <a:pathLst>
                <a:path w="4432935" h="1038225">
                  <a:moveTo>
                    <a:pt x="4432554" y="0"/>
                  </a:moveTo>
                  <a:lnTo>
                    <a:pt x="0" y="0"/>
                  </a:lnTo>
                  <a:lnTo>
                    <a:pt x="0" y="986916"/>
                  </a:lnTo>
                  <a:lnTo>
                    <a:pt x="4008" y="1006641"/>
                  </a:lnTo>
                  <a:lnTo>
                    <a:pt x="14922" y="1022794"/>
                  </a:lnTo>
                  <a:lnTo>
                    <a:pt x="31075" y="1033708"/>
                  </a:lnTo>
                  <a:lnTo>
                    <a:pt x="50800" y="1037716"/>
                  </a:lnTo>
                  <a:lnTo>
                    <a:pt x="4381754" y="1037716"/>
                  </a:lnTo>
                  <a:lnTo>
                    <a:pt x="4401478" y="1033708"/>
                  </a:lnTo>
                  <a:lnTo>
                    <a:pt x="4417631" y="1022794"/>
                  </a:lnTo>
                  <a:lnTo>
                    <a:pt x="4428545" y="1006641"/>
                  </a:lnTo>
                  <a:lnTo>
                    <a:pt x="4432554" y="98691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72730"/>
              <a:ext cx="0" cy="1131570"/>
            </a:xfrm>
            <a:custGeom>
              <a:avLst/>
              <a:gdLst/>
              <a:ahLst/>
              <a:cxnLst/>
              <a:rect l="l" t="t" r="r" b="b"/>
              <a:pathLst>
                <a:path h="1131570">
                  <a:moveTo>
                    <a:pt x="0" y="11315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600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473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11346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48079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1026162"/>
            <a:ext cx="3761104" cy="42735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Basic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Idea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950" dirty="0">
                <a:latin typeface="Trebuchet MS"/>
                <a:cs typeface="Trebuchet MS"/>
              </a:rPr>
              <a:t>Two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0" dirty="0">
                <a:latin typeface="Trebuchet MS"/>
                <a:cs typeface="Trebuchet MS"/>
              </a:rPr>
              <a:t> similar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nearby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hypernym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graph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92C609AE-680E-4A88-A9B4-FD0A6A3213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Path-</a:t>
            </a:r>
            <a:r>
              <a:rPr dirty="0"/>
              <a:t>based</a:t>
            </a:r>
            <a:r>
              <a:rPr spc="-15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90409"/>
            <a:ext cx="4483735" cy="1296670"/>
            <a:chOff x="87743" y="1090409"/>
            <a:chExt cx="4483735" cy="1296670"/>
          </a:xfrm>
        </p:grpSpPr>
        <p:sp>
          <p:nvSpPr>
            <p:cNvPr id="4" name="object 4"/>
            <p:cNvSpPr/>
            <p:nvPr/>
          </p:nvSpPr>
          <p:spPr>
            <a:xfrm>
              <a:off x="87743" y="1090409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5407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8525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72550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34643"/>
              <a:ext cx="50800" cy="115060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98333"/>
              <a:ext cx="4432935" cy="1038225"/>
            </a:xfrm>
            <a:custGeom>
              <a:avLst/>
              <a:gdLst/>
              <a:ahLst/>
              <a:cxnLst/>
              <a:rect l="l" t="t" r="r" b="b"/>
              <a:pathLst>
                <a:path w="4432935" h="1038225">
                  <a:moveTo>
                    <a:pt x="4432554" y="0"/>
                  </a:moveTo>
                  <a:lnTo>
                    <a:pt x="0" y="0"/>
                  </a:lnTo>
                  <a:lnTo>
                    <a:pt x="0" y="986916"/>
                  </a:lnTo>
                  <a:lnTo>
                    <a:pt x="4008" y="1006641"/>
                  </a:lnTo>
                  <a:lnTo>
                    <a:pt x="14922" y="1022794"/>
                  </a:lnTo>
                  <a:lnTo>
                    <a:pt x="31075" y="1033708"/>
                  </a:lnTo>
                  <a:lnTo>
                    <a:pt x="50800" y="1037716"/>
                  </a:lnTo>
                  <a:lnTo>
                    <a:pt x="4381754" y="1037716"/>
                  </a:lnTo>
                  <a:lnTo>
                    <a:pt x="4401478" y="1033708"/>
                  </a:lnTo>
                  <a:lnTo>
                    <a:pt x="4417631" y="1022794"/>
                  </a:lnTo>
                  <a:lnTo>
                    <a:pt x="4428545" y="1006641"/>
                  </a:lnTo>
                  <a:lnTo>
                    <a:pt x="4432554" y="98691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72730"/>
              <a:ext cx="0" cy="1131570"/>
            </a:xfrm>
            <a:custGeom>
              <a:avLst/>
              <a:gdLst/>
              <a:ahLst/>
              <a:cxnLst/>
              <a:rect l="l" t="t" r="r" b="b"/>
              <a:pathLst>
                <a:path h="1131570">
                  <a:moveTo>
                    <a:pt x="0" y="11315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600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473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346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48079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558112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14574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445"/>
              </a:spcBef>
            </a:pPr>
            <a:r>
              <a:rPr dirty="0"/>
              <a:t>Basic</a:t>
            </a:r>
            <a:r>
              <a:rPr spc="5" dirty="0"/>
              <a:t> </a:t>
            </a:r>
            <a:r>
              <a:rPr spc="-20" dirty="0"/>
              <a:t>Idea</a:t>
            </a:r>
          </a:p>
          <a:p>
            <a:pPr marL="327025">
              <a:lnSpc>
                <a:spcPct val="100000"/>
              </a:lnSpc>
              <a:spcBef>
                <a:spcPts val="350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Two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words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similar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70" dirty="0">
                <a:solidFill>
                  <a:srgbClr val="000000"/>
                </a:solidFill>
                <a:latin typeface="Trebuchet MS"/>
                <a:cs typeface="Trebuchet MS"/>
              </a:rPr>
              <a:t>if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they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nearby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hypernym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graph</a:t>
            </a:r>
            <a:endParaRPr sz="950">
              <a:latin typeface="Trebuchet MS"/>
              <a:cs typeface="Trebuchet MS"/>
            </a:endParaRPr>
          </a:p>
          <a:p>
            <a:pPr marL="327025" marR="43180">
              <a:lnSpc>
                <a:spcPct val="102699"/>
              </a:lnSpc>
              <a:spcBef>
                <a:spcPts val="325"/>
              </a:spcBef>
            </a:pPr>
            <a:r>
              <a:rPr spc="-25" dirty="0">
                <a:solidFill>
                  <a:srgbClr val="000000"/>
                </a:solidFill>
              </a:rPr>
              <a:t>pathlen</a:t>
            </a:r>
            <a:r>
              <a:rPr i="0" spc="-25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spc="-25" dirty="0">
                <a:solidFill>
                  <a:srgbClr val="000000"/>
                </a:solidFill>
              </a:rPr>
              <a:t>c</a:t>
            </a:r>
            <a:r>
              <a:rPr sz="1200" i="0" spc="-37" baseline="-10416" dirty="0">
                <a:solidFill>
                  <a:srgbClr val="000000"/>
                </a:solidFill>
                <a:latin typeface="Cambria"/>
                <a:cs typeface="Cambria"/>
              </a:rPr>
              <a:t>1</a:t>
            </a:r>
            <a:r>
              <a:rPr sz="1100" spc="-25" dirty="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sz="1100" spc="-1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00"/>
                </a:solidFill>
              </a:rPr>
              <a:t>c</a:t>
            </a:r>
            <a:r>
              <a:rPr sz="1200" i="0" baseline="-10416" dirty="0">
                <a:solidFill>
                  <a:srgbClr val="000000"/>
                </a:solidFill>
                <a:latin typeface="Cambria"/>
                <a:cs typeface="Cambria"/>
              </a:rPr>
              <a:t>2</a:t>
            </a:r>
            <a:r>
              <a:rPr sz="1100" i="0" dirty="0">
                <a:solidFill>
                  <a:srgbClr val="000000"/>
                </a:solidFill>
                <a:latin typeface="Arial MT"/>
                <a:cs typeface="Arial MT"/>
              </a:rPr>
              <a:t>)</a:t>
            </a:r>
            <a:r>
              <a:rPr sz="1100" i="0" spc="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i="0" spc="70" dirty="0">
                <a:solidFill>
                  <a:srgbClr val="000000"/>
                </a:solidFill>
                <a:latin typeface="Trebuchet MS"/>
                <a:cs typeface="Trebuchet MS"/>
              </a:rPr>
              <a:t>=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number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edges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shortest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path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(in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hypernym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graph)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between 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senses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000000"/>
                </a:solidFill>
              </a:rPr>
              <a:t>c</a:t>
            </a:r>
            <a:r>
              <a:rPr sz="1200" i="0" baseline="-10416" dirty="0">
                <a:solidFill>
                  <a:srgbClr val="000000"/>
                </a:solidFill>
                <a:latin typeface="Cambria"/>
                <a:cs typeface="Cambria"/>
              </a:rPr>
              <a:t>1</a:t>
            </a:r>
            <a:r>
              <a:rPr sz="1200" i="0" spc="247" baseline="-10416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and </a:t>
            </a:r>
            <a:r>
              <a:rPr sz="1100" spc="-25" dirty="0">
                <a:solidFill>
                  <a:srgbClr val="000000"/>
                </a:solidFill>
              </a:rPr>
              <a:t>c</a:t>
            </a:r>
            <a:r>
              <a:rPr sz="1200" i="0" spc="-37" baseline="-10416" dirty="0">
                <a:solidFill>
                  <a:srgbClr val="000000"/>
                </a:solidFill>
                <a:latin typeface="Cambria"/>
                <a:cs typeface="Cambria"/>
              </a:rPr>
              <a:t>2</a:t>
            </a:r>
            <a:endParaRPr sz="1200" baseline="-10416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9AFD9CB6-CD90-4AB3-AFC2-8491C92C7F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Path-</a:t>
            </a:r>
            <a:r>
              <a:rPr dirty="0"/>
              <a:t>based</a:t>
            </a:r>
            <a:r>
              <a:rPr spc="-15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90409"/>
            <a:ext cx="4483735" cy="1296670"/>
            <a:chOff x="87743" y="1090409"/>
            <a:chExt cx="4483735" cy="1296670"/>
          </a:xfrm>
        </p:grpSpPr>
        <p:sp>
          <p:nvSpPr>
            <p:cNvPr id="4" name="object 4"/>
            <p:cNvSpPr/>
            <p:nvPr/>
          </p:nvSpPr>
          <p:spPr>
            <a:xfrm>
              <a:off x="87743" y="1090409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5407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8525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72550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34643"/>
              <a:ext cx="50800" cy="115060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98333"/>
              <a:ext cx="4432935" cy="1038225"/>
            </a:xfrm>
            <a:custGeom>
              <a:avLst/>
              <a:gdLst/>
              <a:ahLst/>
              <a:cxnLst/>
              <a:rect l="l" t="t" r="r" b="b"/>
              <a:pathLst>
                <a:path w="4432935" h="1038225">
                  <a:moveTo>
                    <a:pt x="4432554" y="0"/>
                  </a:moveTo>
                  <a:lnTo>
                    <a:pt x="0" y="0"/>
                  </a:lnTo>
                  <a:lnTo>
                    <a:pt x="0" y="986916"/>
                  </a:lnTo>
                  <a:lnTo>
                    <a:pt x="4008" y="1006641"/>
                  </a:lnTo>
                  <a:lnTo>
                    <a:pt x="14922" y="1022794"/>
                  </a:lnTo>
                  <a:lnTo>
                    <a:pt x="31075" y="1033708"/>
                  </a:lnTo>
                  <a:lnTo>
                    <a:pt x="50800" y="1037716"/>
                  </a:lnTo>
                  <a:lnTo>
                    <a:pt x="4381754" y="1037716"/>
                  </a:lnTo>
                  <a:lnTo>
                    <a:pt x="4401478" y="1033708"/>
                  </a:lnTo>
                  <a:lnTo>
                    <a:pt x="4417631" y="1022794"/>
                  </a:lnTo>
                  <a:lnTo>
                    <a:pt x="4428545" y="1006641"/>
                  </a:lnTo>
                  <a:lnTo>
                    <a:pt x="4432554" y="98691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72730"/>
              <a:ext cx="0" cy="1131570"/>
            </a:xfrm>
            <a:custGeom>
              <a:avLst/>
              <a:gdLst/>
              <a:ahLst/>
              <a:cxnLst/>
              <a:rect l="l" t="t" r="r" b="b"/>
              <a:pathLst>
                <a:path h="1131570">
                  <a:moveTo>
                    <a:pt x="0" y="11315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600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473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346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48079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558112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13029" y="1026162"/>
            <a:ext cx="4277995" cy="8121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4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Basic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Idea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350"/>
              </a:spcBef>
            </a:pPr>
            <a:r>
              <a:rPr sz="950" dirty="0">
                <a:latin typeface="Trebuchet MS"/>
                <a:cs typeface="Trebuchet MS"/>
              </a:rPr>
              <a:t>Two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0" dirty="0">
                <a:latin typeface="Trebuchet MS"/>
                <a:cs typeface="Trebuchet MS"/>
              </a:rPr>
              <a:t> similar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nearby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hypernym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graph</a:t>
            </a:r>
            <a:endParaRPr sz="950">
              <a:latin typeface="Trebuchet MS"/>
              <a:cs typeface="Trebuchet MS"/>
            </a:endParaRPr>
          </a:p>
          <a:p>
            <a:pPr marL="302260" marR="43180">
              <a:lnSpc>
                <a:spcPct val="102699"/>
              </a:lnSpc>
              <a:spcBef>
                <a:spcPts val="325"/>
              </a:spcBef>
            </a:pPr>
            <a:r>
              <a:rPr sz="1100" i="1" spc="-25" dirty="0">
                <a:latin typeface="Cambria"/>
                <a:cs typeface="Cambria"/>
              </a:rPr>
              <a:t>pathlen</a:t>
            </a:r>
            <a:r>
              <a:rPr sz="1100" spc="-25" dirty="0">
                <a:latin typeface="Arial MT"/>
                <a:cs typeface="Arial MT"/>
              </a:rPr>
              <a:t>(</a:t>
            </a:r>
            <a:r>
              <a:rPr sz="1100" i="1" spc="-25" dirty="0">
                <a:latin typeface="Cambria"/>
                <a:cs typeface="Cambria"/>
              </a:rPr>
              <a:t>c</a:t>
            </a:r>
            <a:r>
              <a:rPr sz="1200" spc="-37" baseline="-10416" dirty="0">
                <a:latin typeface="Cambria"/>
                <a:cs typeface="Cambria"/>
              </a:rPr>
              <a:t>1</a:t>
            </a:r>
            <a:r>
              <a:rPr sz="1100" i="1" spc="-25" dirty="0">
                <a:latin typeface="Arial"/>
                <a:cs typeface="Arial"/>
              </a:rPr>
              <a:t>,</a:t>
            </a:r>
            <a:r>
              <a:rPr sz="1100" i="1" spc="-170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=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number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edges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shortest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path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hypernym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graph) </a:t>
            </a:r>
            <a:r>
              <a:rPr sz="950" dirty="0">
                <a:latin typeface="Trebuchet MS"/>
                <a:cs typeface="Trebuchet MS"/>
              </a:rPr>
              <a:t>between </a:t>
            </a:r>
            <a:r>
              <a:rPr sz="950" spc="60" dirty="0">
                <a:latin typeface="Trebuchet MS"/>
                <a:cs typeface="Trebuchet MS"/>
              </a:rPr>
              <a:t>senses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200" spc="247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and </a:t>
            </a:r>
            <a:r>
              <a:rPr sz="1100" i="1" spc="-25" dirty="0">
                <a:latin typeface="Cambria"/>
                <a:cs typeface="Cambria"/>
              </a:rPr>
              <a:t>c</a:t>
            </a:r>
            <a:r>
              <a:rPr sz="1200" spc="-37" baseline="-10416" dirty="0">
                <a:latin typeface="Cambria"/>
                <a:cs typeface="Cambria"/>
              </a:rPr>
              <a:t>2</a:t>
            </a:r>
            <a:endParaRPr sz="1200" baseline="-10416">
              <a:latin typeface="Cambria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597" y="1940217"/>
            <a:ext cx="64757" cy="6475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698231" y="1838998"/>
            <a:ext cx="762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mbria"/>
                <a:cs typeface="Cambria"/>
              </a:rPr>
              <a:t>1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73568" y="1971903"/>
            <a:ext cx="725805" cy="0"/>
          </a:xfrm>
          <a:custGeom>
            <a:avLst/>
            <a:gdLst/>
            <a:ahLst/>
            <a:cxnLst/>
            <a:rect l="l" t="t" r="r" b="b"/>
            <a:pathLst>
              <a:path w="725805">
                <a:moveTo>
                  <a:pt x="0" y="0"/>
                </a:moveTo>
                <a:lnTo>
                  <a:pt x="725297" y="0"/>
                </a:lnTo>
              </a:path>
            </a:pathLst>
          </a:custGeom>
          <a:ln w="77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77532" y="1856270"/>
            <a:ext cx="1085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0" dirty="0">
                <a:latin typeface="Cambria"/>
                <a:cs typeface="Cambria"/>
              </a:rPr>
              <a:t>sim</a:t>
            </a:r>
            <a:r>
              <a:rPr sz="1200" i="1" spc="-30" baseline="-10416" dirty="0">
                <a:latin typeface="Cambria"/>
                <a:cs typeface="Cambria"/>
              </a:rPr>
              <a:t>path</a:t>
            </a:r>
            <a:r>
              <a:rPr sz="1100" spc="-20" dirty="0">
                <a:latin typeface="Arial MT"/>
                <a:cs typeface="Arial MT"/>
              </a:rPr>
              <a:t>(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1200" spc="-30" baseline="-10416" dirty="0">
                <a:latin typeface="Cambria"/>
                <a:cs typeface="Cambria"/>
              </a:rPr>
              <a:t>1</a:t>
            </a:r>
            <a:r>
              <a:rPr sz="1100" i="1" spc="-20" dirty="0">
                <a:latin typeface="Arial"/>
                <a:cs typeface="Arial"/>
              </a:rPr>
              <a:t>,</a:t>
            </a:r>
            <a:r>
              <a:rPr sz="1100" i="1" spc="-165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200" spc="-75" baseline="-27777" dirty="0">
                <a:latin typeface="Cambria"/>
                <a:cs typeface="Cambria"/>
              </a:rPr>
              <a:t>1</a:t>
            </a:r>
            <a:endParaRPr sz="1200" baseline="-27777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6077" y="1945538"/>
            <a:ext cx="7512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Tahoma"/>
                <a:cs typeface="Tahoma"/>
              </a:rPr>
              <a:t>+</a:t>
            </a:r>
            <a:r>
              <a:rPr sz="800" i="1" spc="-10" dirty="0">
                <a:latin typeface="Cambria"/>
                <a:cs typeface="Cambria"/>
              </a:rPr>
              <a:t>pathlen</a:t>
            </a:r>
            <a:r>
              <a:rPr sz="800" spc="-10" dirty="0">
                <a:latin typeface="Tahoma"/>
                <a:cs typeface="Tahoma"/>
              </a:rPr>
              <a:t>(</a:t>
            </a:r>
            <a:r>
              <a:rPr sz="800" i="1" spc="-10" dirty="0">
                <a:latin typeface="Cambria"/>
                <a:cs typeface="Cambria"/>
              </a:rPr>
              <a:t>c</a:t>
            </a:r>
            <a:r>
              <a:rPr sz="900" spc="-15" baseline="-9259" dirty="0">
                <a:latin typeface="Cambria"/>
                <a:cs typeface="Cambria"/>
              </a:rPr>
              <a:t>1</a:t>
            </a:r>
            <a:r>
              <a:rPr sz="800" i="1" spc="-10" dirty="0">
                <a:latin typeface="Arial"/>
                <a:cs typeface="Arial"/>
              </a:rPr>
              <a:t>,</a:t>
            </a:r>
            <a:r>
              <a:rPr sz="800" i="1" spc="-10" dirty="0">
                <a:latin typeface="Cambria"/>
                <a:cs typeface="Cambria"/>
              </a:rPr>
              <a:t>c</a:t>
            </a:r>
            <a:r>
              <a:rPr sz="900" spc="-15" baseline="-9259" dirty="0">
                <a:latin typeface="Cambria"/>
                <a:cs typeface="Cambria"/>
              </a:rPr>
              <a:t>2</a:t>
            </a:r>
            <a:r>
              <a:rPr sz="800" spc="-1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122C7E67-4F4F-4A8A-B830-8E17A457A4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Path-</a:t>
            </a:r>
            <a:r>
              <a:rPr dirty="0"/>
              <a:t>based</a:t>
            </a:r>
            <a:r>
              <a:rPr spc="-15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90409"/>
            <a:ext cx="4483735" cy="1296670"/>
            <a:chOff x="87743" y="1090409"/>
            <a:chExt cx="4483735" cy="1296670"/>
          </a:xfrm>
        </p:grpSpPr>
        <p:sp>
          <p:nvSpPr>
            <p:cNvPr id="4" name="object 4"/>
            <p:cNvSpPr/>
            <p:nvPr/>
          </p:nvSpPr>
          <p:spPr>
            <a:xfrm>
              <a:off x="87743" y="1090409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5407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8525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72550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34643"/>
              <a:ext cx="50800" cy="115060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98333"/>
              <a:ext cx="4432935" cy="1038225"/>
            </a:xfrm>
            <a:custGeom>
              <a:avLst/>
              <a:gdLst/>
              <a:ahLst/>
              <a:cxnLst/>
              <a:rect l="l" t="t" r="r" b="b"/>
              <a:pathLst>
                <a:path w="4432935" h="1038225">
                  <a:moveTo>
                    <a:pt x="4432554" y="0"/>
                  </a:moveTo>
                  <a:lnTo>
                    <a:pt x="0" y="0"/>
                  </a:lnTo>
                  <a:lnTo>
                    <a:pt x="0" y="986916"/>
                  </a:lnTo>
                  <a:lnTo>
                    <a:pt x="4008" y="1006641"/>
                  </a:lnTo>
                  <a:lnTo>
                    <a:pt x="14922" y="1022794"/>
                  </a:lnTo>
                  <a:lnTo>
                    <a:pt x="31075" y="1033708"/>
                  </a:lnTo>
                  <a:lnTo>
                    <a:pt x="50800" y="1037716"/>
                  </a:lnTo>
                  <a:lnTo>
                    <a:pt x="4381754" y="1037716"/>
                  </a:lnTo>
                  <a:lnTo>
                    <a:pt x="4401478" y="1033708"/>
                  </a:lnTo>
                  <a:lnTo>
                    <a:pt x="4417631" y="1022794"/>
                  </a:lnTo>
                  <a:lnTo>
                    <a:pt x="4428545" y="1006641"/>
                  </a:lnTo>
                  <a:lnTo>
                    <a:pt x="4432554" y="98691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72730"/>
              <a:ext cx="0" cy="1131570"/>
            </a:xfrm>
            <a:custGeom>
              <a:avLst/>
              <a:gdLst/>
              <a:ahLst/>
              <a:cxnLst/>
              <a:rect l="l" t="t" r="r" b="b"/>
              <a:pathLst>
                <a:path h="1131570">
                  <a:moveTo>
                    <a:pt x="0" y="113157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600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473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346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48079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558112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13029" y="1026162"/>
            <a:ext cx="4277995" cy="8121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4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Basic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Idea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350"/>
              </a:spcBef>
            </a:pPr>
            <a:r>
              <a:rPr sz="950" dirty="0">
                <a:latin typeface="Trebuchet MS"/>
                <a:cs typeface="Trebuchet MS"/>
              </a:rPr>
              <a:t>Two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0" dirty="0">
                <a:latin typeface="Trebuchet MS"/>
                <a:cs typeface="Trebuchet MS"/>
              </a:rPr>
              <a:t> similar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nearby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hypernym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graph</a:t>
            </a:r>
            <a:endParaRPr sz="950">
              <a:latin typeface="Trebuchet MS"/>
              <a:cs typeface="Trebuchet MS"/>
            </a:endParaRPr>
          </a:p>
          <a:p>
            <a:pPr marL="302260" marR="43180">
              <a:lnSpc>
                <a:spcPct val="102699"/>
              </a:lnSpc>
              <a:spcBef>
                <a:spcPts val="325"/>
              </a:spcBef>
            </a:pPr>
            <a:r>
              <a:rPr sz="1100" i="1" spc="-25" dirty="0">
                <a:latin typeface="Cambria"/>
                <a:cs typeface="Cambria"/>
              </a:rPr>
              <a:t>pathlen</a:t>
            </a:r>
            <a:r>
              <a:rPr sz="1100" spc="-25" dirty="0">
                <a:latin typeface="Arial MT"/>
                <a:cs typeface="Arial MT"/>
              </a:rPr>
              <a:t>(</a:t>
            </a:r>
            <a:r>
              <a:rPr sz="1100" i="1" spc="-25" dirty="0">
                <a:latin typeface="Cambria"/>
                <a:cs typeface="Cambria"/>
              </a:rPr>
              <a:t>c</a:t>
            </a:r>
            <a:r>
              <a:rPr sz="1200" spc="-37" baseline="-10416" dirty="0">
                <a:latin typeface="Cambria"/>
                <a:cs typeface="Cambria"/>
              </a:rPr>
              <a:t>1</a:t>
            </a:r>
            <a:r>
              <a:rPr sz="1100" i="1" spc="-25" dirty="0">
                <a:latin typeface="Arial"/>
                <a:cs typeface="Arial"/>
              </a:rPr>
              <a:t>,</a:t>
            </a:r>
            <a:r>
              <a:rPr sz="1100" i="1" spc="-170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=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number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edges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shortest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path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hypernym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graph) </a:t>
            </a:r>
            <a:r>
              <a:rPr sz="950" dirty="0">
                <a:latin typeface="Trebuchet MS"/>
                <a:cs typeface="Trebuchet MS"/>
              </a:rPr>
              <a:t>between </a:t>
            </a:r>
            <a:r>
              <a:rPr sz="950" spc="60" dirty="0">
                <a:latin typeface="Trebuchet MS"/>
                <a:cs typeface="Trebuchet MS"/>
              </a:rPr>
              <a:t>senses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200" spc="247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and </a:t>
            </a:r>
            <a:r>
              <a:rPr sz="1100" i="1" spc="-25" dirty="0">
                <a:latin typeface="Cambria"/>
                <a:cs typeface="Cambria"/>
              </a:rPr>
              <a:t>c</a:t>
            </a:r>
            <a:r>
              <a:rPr sz="1200" spc="-37" baseline="-10416" dirty="0">
                <a:latin typeface="Cambria"/>
                <a:cs typeface="Cambria"/>
              </a:rPr>
              <a:t>2</a:t>
            </a:r>
            <a:endParaRPr sz="1200" baseline="-10416">
              <a:latin typeface="Cambria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597" y="1940217"/>
            <a:ext cx="64757" cy="6475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698231" y="1838998"/>
            <a:ext cx="762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mbria"/>
                <a:cs typeface="Cambria"/>
              </a:rPr>
              <a:t>1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73568" y="1971903"/>
            <a:ext cx="725805" cy="0"/>
          </a:xfrm>
          <a:custGeom>
            <a:avLst/>
            <a:gdLst/>
            <a:ahLst/>
            <a:cxnLst/>
            <a:rect l="l" t="t" r="r" b="b"/>
            <a:pathLst>
              <a:path w="725805">
                <a:moveTo>
                  <a:pt x="0" y="0"/>
                </a:moveTo>
                <a:lnTo>
                  <a:pt x="725297" y="0"/>
                </a:lnTo>
              </a:path>
            </a:pathLst>
          </a:custGeom>
          <a:ln w="77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77532" y="1856270"/>
            <a:ext cx="1085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0" dirty="0">
                <a:latin typeface="Cambria"/>
                <a:cs typeface="Cambria"/>
              </a:rPr>
              <a:t>sim</a:t>
            </a:r>
            <a:r>
              <a:rPr sz="1200" i="1" spc="-30" baseline="-10416" dirty="0">
                <a:latin typeface="Cambria"/>
                <a:cs typeface="Cambria"/>
              </a:rPr>
              <a:t>path</a:t>
            </a:r>
            <a:r>
              <a:rPr sz="1100" spc="-20" dirty="0">
                <a:latin typeface="Arial MT"/>
                <a:cs typeface="Arial MT"/>
              </a:rPr>
              <a:t>(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1200" spc="-30" baseline="-10416" dirty="0">
                <a:latin typeface="Cambria"/>
                <a:cs typeface="Cambria"/>
              </a:rPr>
              <a:t>1</a:t>
            </a:r>
            <a:r>
              <a:rPr sz="1100" i="1" spc="-20" dirty="0">
                <a:latin typeface="Arial"/>
                <a:cs typeface="Arial"/>
              </a:rPr>
              <a:t>,</a:t>
            </a:r>
            <a:r>
              <a:rPr sz="1100" i="1" spc="-165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200" spc="-75" baseline="-27777" dirty="0">
                <a:latin typeface="Cambria"/>
                <a:cs typeface="Cambria"/>
              </a:rPr>
              <a:t>1</a:t>
            </a:r>
            <a:endParaRPr sz="1200" baseline="-27777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6077" y="1945538"/>
            <a:ext cx="7512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Tahoma"/>
                <a:cs typeface="Tahoma"/>
              </a:rPr>
              <a:t>+</a:t>
            </a:r>
            <a:r>
              <a:rPr sz="800" i="1" spc="-10" dirty="0">
                <a:latin typeface="Cambria"/>
                <a:cs typeface="Cambria"/>
              </a:rPr>
              <a:t>pathlen</a:t>
            </a:r>
            <a:r>
              <a:rPr sz="800" spc="-10" dirty="0">
                <a:latin typeface="Tahoma"/>
                <a:cs typeface="Tahoma"/>
              </a:rPr>
              <a:t>(</a:t>
            </a:r>
            <a:r>
              <a:rPr sz="800" i="1" spc="-10" dirty="0">
                <a:latin typeface="Cambria"/>
                <a:cs typeface="Cambria"/>
              </a:rPr>
              <a:t>c</a:t>
            </a:r>
            <a:r>
              <a:rPr sz="900" spc="-15" baseline="-9259" dirty="0">
                <a:latin typeface="Cambria"/>
                <a:cs typeface="Cambria"/>
              </a:rPr>
              <a:t>1</a:t>
            </a:r>
            <a:r>
              <a:rPr sz="800" i="1" spc="-10" dirty="0">
                <a:latin typeface="Arial"/>
                <a:cs typeface="Arial"/>
              </a:rPr>
              <a:t>,</a:t>
            </a:r>
            <a:r>
              <a:rPr sz="800" i="1" spc="-10" dirty="0">
                <a:latin typeface="Cambria"/>
                <a:cs typeface="Cambria"/>
              </a:rPr>
              <a:t>c</a:t>
            </a:r>
            <a:r>
              <a:rPr sz="900" spc="-15" baseline="-9259" dirty="0">
                <a:latin typeface="Cambria"/>
                <a:cs typeface="Cambria"/>
              </a:rPr>
              <a:t>2</a:t>
            </a:r>
            <a:r>
              <a:rPr sz="800" spc="-10" dirty="0">
                <a:latin typeface="Tahoma"/>
                <a:cs typeface="Tahoma"/>
              </a:rPr>
              <a:t>)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597" y="2171992"/>
            <a:ext cx="64757" cy="6475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77532" y="2115070"/>
            <a:ext cx="29394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44" baseline="10101" dirty="0">
                <a:latin typeface="Cambria"/>
                <a:cs typeface="Cambria"/>
              </a:rPr>
              <a:t>sim</a:t>
            </a:r>
            <a:r>
              <a:rPr sz="1650" spc="-44" baseline="10101" dirty="0">
                <a:latin typeface="Arial MT"/>
                <a:cs typeface="Arial MT"/>
              </a:rPr>
              <a:t>(</a:t>
            </a:r>
            <a:r>
              <a:rPr sz="1650" i="1" spc="-44" baseline="10101" dirty="0">
                <a:latin typeface="Cambria"/>
                <a:cs typeface="Cambria"/>
              </a:rPr>
              <a:t>w</a:t>
            </a:r>
            <a:r>
              <a:rPr sz="1200" spc="-44" baseline="3472" dirty="0">
                <a:latin typeface="Cambria"/>
                <a:cs typeface="Cambria"/>
              </a:rPr>
              <a:t>1</a:t>
            </a:r>
            <a:r>
              <a:rPr sz="1650" i="1" spc="-44" baseline="10101" dirty="0">
                <a:latin typeface="Arial"/>
                <a:cs typeface="Arial"/>
              </a:rPr>
              <a:t>,</a:t>
            </a:r>
            <a:r>
              <a:rPr sz="1650" i="1" spc="-202" baseline="10101" dirty="0">
                <a:latin typeface="Arial"/>
                <a:cs typeface="Arial"/>
              </a:rPr>
              <a:t> </a:t>
            </a:r>
            <a:r>
              <a:rPr sz="1650" i="1" spc="-15" baseline="10101" dirty="0">
                <a:latin typeface="Cambria"/>
                <a:cs typeface="Cambria"/>
              </a:rPr>
              <a:t>w</a:t>
            </a:r>
            <a:r>
              <a:rPr sz="1200" spc="-15" baseline="3472" dirty="0">
                <a:latin typeface="Cambria"/>
                <a:cs typeface="Cambria"/>
              </a:rPr>
              <a:t>2</a:t>
            </a:r>
            <a:r>
              <a:rPr sz="1650" spc="-15" baseline="10101" dirty="0">
                <a:latin typeface="Arial MT"/>
                <a:cs typeface="Arial MT"/>
              </a:rPr>
              <a:t>)</a:t>
            </a:r>
            <a:r>
              <a:rPr sz="1650" spc="67" baseline="10101" dirty="0">
                <a:latin typeface="Arial MT"/>
                <a:cs typeface="Arial MT"/>
              </a:rPr>
              <a:t> </a:t>
            </a:r>
            <a:r>
              <a:rPr sz="1650" spc="300" baseline="10101" dirty="0">
                <a:latin typeface="Arial MT"/>
                <a:cs typeface="Arial MT"/>
              </a:rPr>
              <a:t>=</a:t>
            </a:r>
            <a:r>
              <a:rPr sz="1650" spc="67" baseline="10101" dirty="0">
                <a:latin typeface="Arial MT"/>
                <a:cs typeface="Arial MT"/>
              </a:rPr>
              <a:t> </a:t>
            </a:r>
            <a:r>
              <a:rPr sz="1650" i="1" spc="-37" baseline="10101" dirty="0">
                <a:latin typeface="Cambria"/>
                <a:cs typeface="Cambria"/>
              </a:rPr>
              <a:t>max</a:t>
            </a:r>
            <a:r>
              <a:rPr sz="800" i="1" spc="-25" dirty="0">
                <a:latin typeface="Cambria"/>
                <a:cs typeface="Cambria"/>
              </a:rPr>
              <a:t>c</a:t>
            </a:r>
            <a:r>
              <a:rPr sz="900" spc="-37" baseline="-9259" dirty="0">
                <a:latin typeface="Cambria"/>
                <a:cs typeface="Cambria"/>
              </a:rPr>
              <a:t>1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senses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Cambria"/>
                <a:cs typeface="Cambria"/>
              </a:rPr>
              <a:t>w</a:t>
            </a:r>
            <a:r>
              <a:rPr sz="900" spc="-37" baseline="-9259" dirty="0">
                <a:latin typeface="Cambria"/>
                <a:cs typeface="Cambria"/>
              </a:rPr>
              <a:t>1</a:t>
            </a:r>
            <a:r>
              <a:rPr sz="800" spc="-25" dirty="0">
                <a:latin typeface="Tahoma"/>
                <a:cs typeface="Tahoma"/>
              </a:rPr>
              <a:t>)</a:t>
            </a:r>
            <a:r>
              <a:rPr sz="800" i="1" spc="-25" dirty="0">
                <a:latin typeface="Arial"/>
                <a:cs typeface="Arial"/>
              </a:rPr>
              <a:t>,</a:t>
            </a:r>
            <a:r>
              <a:rPr sz="800" i="1" spc="-25" dirty="0">
                <a:latin typeface="Cambria"/>
                <a:cs typeface="Cambria"/>
              </a:rPr>
              <a:t>c</a:t>
            </a:r>
            <a:r>
              <a:rPr sz="900" spc="-37" baseline="-9259" dirty="0">
                <a:latin typeface="Cambria"/>
                <a:cs typeface="Cambria"/>
              </a:rPr>
              <a:t>2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senses</a:t>
            </a:r>
            <a:r>
              <a:rPr sz="800" spc="-25" dirty="0">
                <a:latin typeface="Tahoma"/>
                <a:cs typeface="Tahoma"/>
              </a:rPr>
              <a:t>(</a:t>
            </a:r>
            <a:r>
              <a:rPr sz="800" i="1" spc="-25" dirty="0">
                <a:latin typeface="Cambria"/>
                <a:cs typeface="Cambria"/>
              </a:rPr>
              <a:t>w</a:t>
            </a:r>
            <a:r>
              <a:rPr sz="900" spc="-37" baseline="-9259" dirty="0">
                <a:latin typeface="Cambria"/>
                <a:cs typeface="Cambria"/>
              </a:rPr>
              <a:t>2</a:t>
            </a:r>
            <a:r>
              <a:rPr sz="800" spc="-25" dirty="0">
                <a:latin typeface="Tahoma"/>
                <a:cs typeface="Tahoma"/>
              </a:rPr>
              <a:t>)</a:t>
            </a:r>
            <a:r>
              <a:rPr sz="1650" i="1" spc="-37" baseline="10101" dirty="0">
                <a:latin typeface="Cambria"/>
                <a:cs typeface="Cambria"/>
              </a:rPr>
              <a:t>sim</a:t>
            </a:r>
            <a:r>
              <a:rPr sz="1650" spc="-37" baseline="10101" dirty="0">
                <a:latin typeface="Arial MT"/>
                <a:cs typeface="Arial MT"/>
              </a:rPr>
              <a:t>(</a:t>
            </a:r>
            <a:r>
              <a:rPr sz="1650" i="1" spc="-37" baseline="10101" dirty="0">
                <a:latin typeface="Cambria"/>
                <a:cs typeface="Cambria"/>
              </a:rPr>
              <a:t>c</a:t>
            </a:r>
            <a:r>
              <a:rPr sz="1200" spc="-37" baseline="3472" dirty="0">
                <a:latin typeface="Cambria"/>
                <a:cs typeface="Cambria"/>
              </a:rPr>
              <a:t>1</a:t>
            </a:r>
            <a:r>
              <a:rPr sz="1650" i="1" spc="-37" baseline="10101" dirty="0">
                <a:latin typeface="Arial"/>
                <a:cs typeface="Arial"/>
              </a:rPr>
              <a:t>,</a:t>
            </a:r>
            <a:r>
              <a:rPr sz="1650" i="1" spc="-195" baseline="10101" dirty="0">
                <a:latin typeface="Arial"/>
                <a:cs typeface="Arial"/>
              </a:rPr>
              <a:t> </a:t>
            </a:r>
            <a:r>
              <a:rPr sz="1650" i="1" spc="-37" baseline="10101" dirty="0">
                <a:latin typeface="Cambria"/>
                <a:cs typeface="Cambria"/>
              </a:rPr>
              <a:t>c</a:t>
            </a:r>
            <a:r>
              <a:rPr sz="1200" spc="-37" baseline="3472" dirty="0">
                <a:latin typeface="Cambria"/>
                <a:cs typeface="Cambria"/>
              </a:rPr>
              <a:t>2</a:t>
            </a:r>
            <a:r>
              <a:rPr sz="1650" spc="-37" baseline="10101" dirty="0">
                <a:latin typeface="Arial MT"/>
                <a:cs typeface="Arial MT"/>
              </a:rPr>
              <a:t>)</a:t>
            </a:r>
            <a:endParaRPr sz="1650" baseline="10101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12A2CAB7-754F-4B17-A282-17350FD94D1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1894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Shortest</a:t>
            </a: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path</a:t>
            </a: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hierarchy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913" y="898804"/>
            <a:ext cx="3265170" cy="20040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12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Leacock-Chodorow</a:t>
            </a:r>
            <a:r>
              <a:rPr spc="160" dirty="0"/>
              <a:t> </a:t>
            </a:r>
            <a:r>
              <a:rPr dirty="0"/>
              <a:t>(L-C)</a:t>
            </a:r>
            <a:r>
              <a:rPr spc="160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19924"/>
            <a:ext cx="4483735" cy="822325"/>
            <a:chOff x="87743" y="819924"/>
            <a:chExt cx="4483735" cy="822325"/>
          </a:xfrm>
        </p:grpSpPr>
        <p:sp>
          <p:nvSpPr>
            <p:cNvPr id="4" name="object 4"/>
            <p:cNvSpPr/>
            <p:nvPr/>
          </p:nvSpPr>
          <p:spPr>
            <a:xfrm>
              <a:off x="87743" y="81992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293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4042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2772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4158"/>
              <a:ext cx="50800" cy="6762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37247"/>
              <a:ext cx="4432935" cy="554355"/>
            </a:xfrm>
            <a:custGeom>
              <a:avLst/>
              <a:gdLst/>
              <a:ahLst/>
              <a:cxnLst/>
              <a:rect l="l" t="t" r="r" b="b"/>
              <a:pathLst>
                <a:path w="4432935" h="554355">
                  <a:moveTo>
                    <a:pt x="4432554" y="0"/>
                  </a:moveTo>
                  <a:lnTo>
                    <a:pt x="0" y="0"/>
                  </a:lnTo>
                  <a:lnTo>
                    <a:pt x="0" y="503174"/>
                  </a:lnTo>
                  <a:lnTo>
                    <a:pt x="4008" y="522898"/>
                  </a:lnTo>
                  <a:lnTo>
                    <a:pt x="14922" y="539051"/>
                  </a:lnTo>
                  <a:lnTo>
                    <a:pt x="31075" y="549965"/>
                  </a:lnTo>
                  <a:lnTo>
                    <a:pt x="50800" y="553974"/>
                  </a:lnTo>
                  <a:lnTo>
                    <a:pt x="4381754" y="553974"/>
                  </a:lnTo>
                  <a:lnTo>
                    <a:pt x="4401478" y="549965"/>
                  </a:lnTo>
                  <a:lnTo>
                    <a:pt x="4417631" y="539051"/>
                  </a:lnTo>
                  <a:lnTo>
                    <a:pt x="4428545" y="522898"/>
                  </a:lnTo>
                  <a:lnTo>
                    <a:pt x="4432554" y="50317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02246"/>
              <a:ext cx="0" cy="657225"/>
            </a:xfrm>
            <a:custGeom>
              <a:avLst/>
              <a:gdLst/>
              <a:ahLst/>
              <a:cxnLst/>
              <a:rect l="l" t="t" r="r" b="b"/>
              <a:pathLst>
                <a:path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895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768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641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3029" y="800709"/>
            <a:ext cx="3378835" cy="7607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i="1" spc="55" dirty="0">
                <a:solidFill>
                  <a:srgbClr val="3232B2"/>
                </a:solidFill>
                <a:latin typeface="Cambria"/>
                <a:cs typeface="Cambria"/>
              </a:rPr>
              <a:t>L-</a:t>
            </a:r>
            <a:r>
              <a:rPr sz="1100" i="1" spc="70" dirty="0">
                <a:solidFill>
                  <a:srgbClr val="3232B2"/>
                </a:solidFill>
                <a:latin typeface="Cambria"/>
                <a:cs typeface="Cambria"/>
              </a:rPr>
              <a:t>C</a:t>
            </a:r>
            <a:r>
              <a:rPr sz="1100" i="1" spc="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similarity</a:t>
            </a:r>
            <a:endParaRPr sz="1100">
              <a:latin typeface="Cambria"/>
              <a:cs typeface="Cambria"/>
            </a:endParaRPr>
          </a:p>
          <a:p>
            <a:pPr marL="1228090" marR="43180" indent="-174625">
              <a:lnSpc>
                <a:spcPts val="2250"/>
              </a:lnSpc>
              <a:spcBef>
                <a:spcPts val="75"/>
              </a:spcBef>
            </a:pPr>
            <a:r>
              <a:rPr sz="1100" i="1" dirty="0">
                <a:latin typeface="Cambria"/>
                <a:cs typeface="Cambria"/>
              </a:rPr>
              <a:t>sim</a:t>
            </a:r>
            <a:r>
              <a:rPr sz="1200" i="1" baseline="-10416" dirty="0">
                <a:latin typeface="Cambria"/>
                <a:cs typeface="Cambria"/>
              </a:rPr>
              <a:t>LC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−</a:t>
            </a:r>
            <a:r>
              <a:rPr sz="1100" i="1" spc="-30" dirty="0">
                <a:latin typeface="Cambria"/>
                <a:cs typeface="Cambria"/>
              </a:rPr>
              <a:t>log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pathlen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c</a:t>
            </a:r>
            <a:r>
              <a:rPr sz="1200" spc="-44" baseline="-10416" dirty="0">
                <a:latin typeface="Cambria"/>
                <a:cs typeface="Cambri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200" spc="-15" baseline="-10416" dirty="0">
                <a:latin typeface="Cambria"/>
                <a:cs typeface="Cambria"/>
              </a:rPr>
              <a:t>2</a:t>
            </a:r>
            <a:r>
              <a:rPr sz="1100" spc="-10" dirty="0">
                <a:latin typeface="Arial MT"/>
                <a:cs typeface="Arial MT"/>
              </a:rPr>
              <a:t>)</a:t>
            </a:r>
            <a:r>
              <a:rPr sz="1100" i="1" spc="-10" dirty="0">
                <a:latin typeface="Arial"/>
                <a:cs typeface="Arial"/>
              </a:rPr>
              <a:t>/</a:t>
            </a:r>
            <a:r>
              <a:rPr sz="1100" spc="-10" dirty="0">
                <a:latin typeface="Cambria"/>
                <a:cs typeface="Cambria"/>
              </a:rPr>
              <a:t>2</a:t>
            </a:r>
            <a:r>
              <a:rPr sz="1100" i="1" spc="-10" dirty="0">
                <a:latin typeface="Cambria"/>
                <a:cs typeface="Cambria"/>
              </a:rPr>
              <a:t>d</a:t>
            </a:r>
            <a:r>
              <a:rPr sz="1100" spc="-10" dirty="0">
                <a:latin typeface="Arial MT"/>
                <a:cs typeface="Arial MT"/>
              </a:rPr>
              <a:t>) </a:t>
            </a:r>
            <a:r>
              <a:rPr sz="1100" i="1" dirty="0">
                <a:latin typeface="Cambria"/>
                <a:cs typeface="Cambria"/>
              </a:rPr>
              <a:t>d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maximum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depth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hierarchy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37F97D1-5BE3-40AA-8404-A231BF81B9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Leacock-Chodorow</a:t>
            </a:r>
            <a:r>
              <a:rPr spc="160" dirty="0"/>
              <a:t> </a:t>
            </a:r>
            <a:r>
              <a:rPr dirty="0"/>
              <a:t>(L-C)</a:t>
            </a:r>
            <a:r>
              <a:rPr spc="160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19924"/>
            <a:ext cx="4483735" cy="822325"/>
            <a:chOff x="87743" y="819924"/>
            <a:chExt cx="4483735" cy="822325"/>
          </a:xfrm>
        </p:grpSpPr>
        <p:sp>
          <p:nvSpPr>
            <p:cNvPr id="4" name="object 4"/>
            <p:cNvSpPr/>
            <p:nvPr/>
          </p:nvSpPr>
          <p:spPr>
            <a:xfrm>
              <a:off x="87743" y="81992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293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4042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2772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4158"/>
              <a:ext cx="50800" cy="6762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37247"/>
              <a:ext cx="4432935" cy="554355"/>
            </a:xfrm>
            <a:custGeom>
              <a:avLst/>
              <a:gdLst/>
              <a:ahLst/>
              <a:cxnLst/>
              <a:rect l="l" t="t" r="r" b="b"/>
              <a:pathLst>
                <a:path w="4432935" h="554355">
                  <a:moveTo>
                    <a:pt x="4432554" y="0"/>
                  </a:moveTo>
                  <a:lnTo>
                    <a:pt x="0" y="0"/>
                  </a:lnTo>
                  <a:lnTo>
                    <a:pt x="0" y="503174"/>
                  </a:lnTo>
                  <a:lnTo>
                    <a:pt x="4008" y="522898"/>
                  </a:lnTo>
                  <a:lnTo>
                    <a:pt x="14922" y="539051"/>
                  </a:lnTo>
                  <a:lnTo>
                    <a:pt x="31075" y="549965"/>
                  </a:lnTo>
                  <a:lnTo>
                    <a:pt x="50800" y="553974"/>
                  </a:lnTo>
                  <a:lnTo>
                    <a:pt x="4381754" y="553974"/>
                  </a:lnTo>
                  <a:lnTo>
                    <a:pt x="4401478" y="549965"/>
                  </a:lnTo>
                  <a:lnTo>
                    <a:pt x="4417631" y="539051"/>
                  </a:lnTo>
                  <a:lnTo>
                    <a:pt x="4428545" y="522898"/>
                  </a:lnTo>
                  <a:lnTo>
                    <a:pt x="4432554" y="50317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02246"/>
              <a:ext cx="0" cy="657225"/>
            </a:xfrm>
            <a:custGeom>
              <a:avLst/>
              <a:gdLst/>
              <a:ahLst/>
              <a:cxnLst/>
              <a:rect l="l" t="t" r="r" b="b"/>
              <a:pathLst>
                <a:path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895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768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641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743151"/>
            <a:ext cx="4483735" cy="1049655"/>
            <a:chOff x="87743" y="1743151"/>
            <a:chExt cx="4483735" cy="1049655"/>
          </a:xfrm>
        </p:grpSpPr>
        <p:sp>
          <p:nvSpPr>
            <p:cNvPr id="15" name="object 15"/>
            <p:cNvSpPr/>
            <p:nvPr/>
          </p:nvSpPr>
          <p:spPr>
            <a:xfrm>
              <a:off x="87743" y="174315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916163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690977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678277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787385"/>
              <a:ext cx="50800" cy="90359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960473"/>
              <a:ext cx="4432935" cy="781685"/>
            </a:xfrm>
            <a:custGeom>
              <a:avLst/>
              <a:gdLst/>
              <a:ahLst/>
              <a:cxnLst/>
              <a:rect l="l" t="t" r="r" b="b"/>
              <a:pathLst>
                <a:path w="4432935" h="781685">
                  <a:moveTo>
                    <a:pt x="4432554" y="0"/>
                  </a:moveTo>
                  <a:lnTo>
                    <a:pt x="0" y="0"/>
                  </a:lnTo>
                  <a:lnTo>
                    <a:pt x="0" y="730504"/>
                  </a:lnTo>
                  <a:lnTo>
                    <a:pt x="4008" y="750228"/>
                  </a:lnTo>
                  <a:lnTo>
                    <a:pt x="14922" y="766381"/>
                  </a:lnTo>
                  <a:lnTo>
                    <a:pt x="31075" y="777295"/>
                  </a:lnTo>
                  <a:lnTo>
                    <a:pt x="50800" y="781304"/>
                  </a:lnTo>
                  <a:lnTo>
                    <a:pt x="4381754" y="781304"/>
                  </a:lnTo>
                  <a:lnTo>
                    <a:pt x="4401478" y="777295"/>
                  </a:lnTo>
                  <a:lnTo>
                    <a:pt x="4417631" y="766381"/>
                  </a:lnTo>
                  <a:lnTo>
                    <a:pt x="4428545" y="750228"/>
                  </a:lnTo>
                  <a:lnTo>
                    <a:pt x="4432554" y="73050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825472"/>
              <a:ext cx="0" cy="884555"/>
            </a:xfrm>
            <a:custGeom>
              <a:avLst/>
              <a:gdLst/>
              <a:ahLst/>
              <a:cxnLst/>
              <a:rect l="l" t="t" r="r" b="b"/>
              <a:pathLst>
                <a:path h="884555">
                  <a:moveTo>
                    <a:pt x="0" y="884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8127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8000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7873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2010181"/>
              <a:ext cx="64757" cy="647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220214"/>
              <a:ext cx="64757" cy="6475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87630" y="800709"/>
            <a:ext cx="3429635" cy="1524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i="1" spc="55" dirty="0">
                <a:solidFill>
                  <a:srgbClr val="3232B2"/>
                </a:solidFill>
                <a:latin typeface="Cambria"/>
                <a:cs typeface="Cambria"/>
              </a:rPr>
              <a:t>L-</a:t>
            </a:r>
            <a:r>
              <a:rPr sz="1100" i="1" spc="70" dirty="0">
                <a:solidFill>
                  <a:srgbClr val="3232B2"/>
                </a:solidFill>
                <a:latin typeface="Cambria"/>
                <a:cs typeface="Cambria"/>
              </a:rPr>
              <a:t>C</a:t>
            </a:r>
            <a:r>
              <a:rPr sz="1100" i="1" spc="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similarity</a:t>
            </a:r>
            <a:endParaRPr sz="1100">
              <a:latin typeface="Cambria"/>
              <a:cs typeface="Cambria"/>
            </a:endParaRPr>
          </a:p>
          <a:p>
            <a:pPr marL="1253490" marR="68580" indent="-174625">
              <a:lnSpc>
                <a:spcPts val="2250"/>
              </a:lnSpc>
              <a:spcBef>
                <a:spcPts val="204"/>
              </a:spcBef>
            </a:pPr>
            <a:r>
              <a:rPr sz="1100" i="1" dirty="0">
                <a:latin typeface="Cambria"/>
                <a:cs typeface="Cambria"/>
              </a:rPr>
              <a:t>sim</a:t>
            </a:r>
            <a:r>
              <a:rPr sz="1200" i="1" baseline="-10416" dirty="0">
                <a:latin typeface="Cambria"/>
                <a:cs typeface="Cambria"/>
              </a:rPr>
              <a:t>LC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−</a:t>
            </a:r>
            <a:r>
              <a:rPr sz="1100" i="1" spc="-30" dirty="0">
                <a:latin typeface="Cambria"/>
                <a:cs typeface="Cambria"/>
              </a:rPr>
              <a:t>log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pathlen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c</a:t>
            </a:r>
            <a:r>
              <a:rPr sz="1200" spc="-44" baseline="-10416" dirty="0">
                <a:latin typeface="Cambria"/>
                <a:cs typeface="Cambri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200" spc="-15" baseline="-10416" dirty="0">
                <a:latin typeface="Cambria"/>
                <a:cs typeface="Cambria"/>
              </a:rPr>
              <a:t>2</a:t>
            </a:r>
            <a:r>
              <a:rPr sz="1100" spc="-10" dirty="0">
                <a:latin typeface="Arial MT"/>
                <a:cs typeface="Arial MT"/>
              </a:rPr>
              <a:t>)</a:t>
            </a:r>
            <a:r>
              <a:rPr sz="1100" i="1" spc="-10" dirty="0">
                <a:latin typeface="Arial"/>
                <a:cs typeface="Arial"/>
              </a:rPr>
              <a:t>/</a:t>
            </a:r>
            <a:r>
              <a:rPr sz="1100" spc="-10" dirty="0">
                <a:latin typeface="Cambria"/>
                <a:cs typeface="Cambria"/>
              </a:rPr>
              <a:t>2</a:t>
            </a:r>
            <a:r>
              <a:rPr sz="1100" i="1" spc="-10" dirty="0">
                <a:latin typeface="Cambria"/>
                <a:cs typeface="Cambria"/>
              </a:rPr>
              <a:t>d</a:t>
            </a:r>
            <a:r>
              <a:rPr sz="1100" spc="-10" dirty="0">
                <a:latin typeface="Arial MT"/>
                <a:cs typeface="Arial MT"/>
              </a:rPr>
              <a:t>) </a:t>
            </a:r>
            <a:r>
              <a:rPr sz="1100" i="1" dirty="0">
                <a:latin typeface="Cambria"/>
                <a:cs typeface="Cambria"/>
              </a:rPr>
              <a:t>d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maximum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depth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hierarchy</a:t>
            </a:r>
            <a:endParaRPr sz="9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1245"/>
              </a:spcBef>
            </a:pP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Problems</a:t>
            </a:r>
            <a:r>
              <a:rPr sz="1100" i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40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1100" i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55" dirty="0">
                <a:solidFill>
                  <a:srgbClr val="FF0000"/>
                </a:solidFill>
                <a:latin typeface="Cambria"/>
                <a:cs typeface="Cambria"/>
              </a:rPr>
              <a:t>L-</a:t>
            </a:r>
            <a:r>
              <a:rPr sz="1100" i="1" spc="70" dirty="0">
                <a:solidFill>
                  <a:srgbClr val="FF0000"/>
                </a:solidFill>
                <a:latin typeface="Cambria"/>
                <a:cs typeface="Cambria"/>
              </a:rPr>
              <a:t>C</a:t>
            </a:r>
            <a:r>
              <a:rPr sz="1100" i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similarity</a:t>
            </a:r>
            <a:endParaRPr sz="1100">
              <a:latin typeface="Cambria"/>
              <a:cs typeface="Cambria"/>
            </a:endParaRPr>
          </a:p>
          <a:p>
            <a:pPr marL="327660" marR="287655">
              <a:lnSpc>
                <a:spcPts val="1650"/>
              </a:lnSpc>
              <a:spcBef>
                <a:spcPts val="25"/>
              </a:spcBef>
            </a:pPr>
            <a:r>
              <a:rPr sz="950" spc="65" dirty="0">
                <a:latin typeface="Trebuchet MS"/>
                <a:cs typeface="Trebuchet MS"/>
              </a:rPr>
              <a:t>Assumes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edge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represents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uniform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distance </a:t>
            </a:r>
            <a:r>
              <a:rPr sz="950" spc="-30" dirty="0">
                <a:latin typeface="Trebuchet MS"/>
                <a:cs typeface="Trebuchet MS"/>
              </a:rPr>
              <a:t>‘nickel-</a:t>
            </a:r>
            <a:r>
              <a:rPr sz="950" spc="-10" dirty="0">
                <a:latin typeface="Trebuchet MS"/>
                <a:cs typeface="Trebuchet MS"/>
              </a:rPr>
              <a:t>money’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seems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closer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than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‘nickel-</a:t>
            </a:r>
            <a:r>
              <a:rPr sz="950" spc="-10" dirty="0">
                <a:latin typeface="Trebuchet MS"/>
                <a:cs typeface="Trebuchet MS"/>
              </a:rPr>
              <a:t>standard’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0204F388-2885-42D1-80AE-DC2E00E6AA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56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Leacock-Chodorow</a:t>
            </a:r>
            <a:r>
              <a:rPr spc="160" dirty="0"/>
              <a:t> </a:t>
            </a:r>
            <a:r>
              <a:rPr dirty="0"/>
              <a:t>(L-C)</a:t>
            </a:r>
            <a:r>
              <a:rPr spc="160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19924"/>
            <a:ext cx="4483735" cy="822325"/>
            <a:chOff x="87743" y="819924"/>
            <a:chExt cx="4483735" cy="822325"/>
          </a:xfrm>
        </p:grpSpPr>
        <p:sp>
          <p:nvSpPr>
            <p:cNvPr id="4" name="object 4"/>
            <p:cNvSpPr/>
            <p:nvPr/>
          </p:nvSpPr>
          <p:spPr>
            <a:xfrm>
              <a:off x="87743" y="81992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293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4042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2772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4158"/>
              <a:ext cx="50800" cy="6762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37247"/>
              <a:ext cx="4432935" cy="554355"/>
            </a:xfrm>
            <a:custGeom>
              <a:avLst/>
              <a:gdLst/>
              <a:ahLst/>
              <a:cxnLst/>
              <a:rect l="l" t="t" r="r" b="b"/>
              <a:pathLst>
                <a:path w="4432935" h="554355">
                  <a:moveTo>
                    <a:pt x="4432554" y="0"/>
                  </a:moveTo>
                  <a:lnTo>
                    <a:pt x="0" y="0"/>
                  </a:lnTo>
                  <a:lnTo>
                    <a:pt x="0" y="503174"/>
                  </a:lnTo>
                  <a:lnTo>
                    <a:pt x="4008" y="522898"/>
                  </a:lnTo>
                  <a:lnTo>
                    <a:pt x="14922" y="539051"/>
                  </a:lnTo>
                  <a:lnTo>
                    <a:pt x="31075" y="549965"/>
                  </a:lnTo>
                  <a:lnTo>
                    <a:pt x="50800" y="553974"/>
                  </a:lnTo>
                  <a:lnTo>
                    <a:pt x="4381754" y="553974"/>
                  </a:lnTo>
                  <a:lnTo>
                    <a:pt x="4401478" y="549965"/>
                  </a:lnTo>
                  <a:lnTo>
                    <a:pt x="4417631" y="539051"/>
                  </a:lnTo>
                  <a:lnTo>
                    <a:pt x="4428545" y="522898"/>
                  </a:lnTo>
                  <a:lnTo>
                    <a:pt x="4432554" y="50317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02246"/>
              <a:ext cx="0" cy="657225"/>
            </a:xfrm>
            <a:custGeom>
              <a:avLst/>
              <a:gdLst/>
              <a:ahLst/>
              <a:cxnLst/>
              <a:rect l="l" t="t" r="r" b="b"/>
              <a:pathLst>
                <a:path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895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768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641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743151"/>
            <a:ext cx="4483735" cy="1049655"/>
            <a:chOff x="87743" y="1743151"/>
            <a:chExt cx="4483735" cy="1049655"/>
          </a:xfrm>
        </p:grpSpPr>
        <p:sp>
          <p:nvSpPr>
            <p:cNvPr id="15" name="object 15"/>
            <p:cNvSpPr/>
            <p:nvPr/>
          </p:nvSpPr>
          <p:spPr>
            <a:xfrm>
              <a:off x="87743" y="174315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916163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690977"/>
              <a:ext cx="101599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678277"/>
              <a:ext cx="4381754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787385"/>
              <a:ext cx="50800" cy="90359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960473"/>
              <a:ext cx="4432935" cy="781685"/>
            </a:xfrm>
            <a:custGeom>
              <a:avLst/>
              <a:gdLst/>
              <a:ahLst/>
              <a:cxnLst/>
              <a:rect l="l" t="t" r="r" b="b"/>
              <a:pathLst>
                <a:path w="4432935" h="781685">
                  <a:moveTo>
                    <a:pt x="4432554" y="0"/>
                  </a:moveTo>
                  <a:lnTo>
                    <a:pt x="0" y="0"/>
                  </a:lnTo>
                  <a:lnTo>
                    <a:pt x="0" y="730504"/>
                  </a:lnTo>
                  <a:lnTo>
                    <a:pt x="4008" y="750228"/>
                  </a:lnTo>
                  <a:lnTo>
                    <a:pt x="14922" y="766381"/>
                  </a:lnTo>
                  <a:lnTo>
                    <a:pt x="31075" y="777295"/>
                  </a:lnTo>
                  <a:lnTo>
                    <a:pt x="50800" y="781304"/>
                  </a:lnTo>
                  <a:lnTo>
                    <a:pt x="4381754" y="781304"/>
                  </a:lnTo>
                  <a:lnTo>
                    <a:pt x="4401478" y="777295"/>
                  </a:lnTo>
                  <a:lnTo>
                    <a:pt x="4417631" y="766381"/>
                  </a:lnTo>
                  <a:lnTo>
                    <a:pt x="4428545" y="750228"/>
                  </a:lnTo>
                  <a:lnTo>
                    <a:pt x="4432554" y="73050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825472"/>
              <a:ext cx="0" cy="884555"/>
            </a:xfrm>
            <a:custGeom>
              <a:avLst/>
              <a:gdLst/>
              <a:ahLst/>
              <a:cxnLst/>
              <a:rect l="l" t="t" r="r" b="b"/>
              <a:pathLst>
                <a:path h="884555">
                  <a:moveTo>
                    <a:pt x="0" y="884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8127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8000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7873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2010181"/>
              <a:ext cx="64757" cy="647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220214"/>
              <a:ext cx="64757" cy="6475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430246"/>
              <a:ext cx="64757" cy="6475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87630" y="800709"/>
            <a:ext cx="4077335" cy="1906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i="1" spc="55" dirty="0">
                <a:solidFill>
                  <a:srgbClr val="3232B2"/>
                </a:solidFill>
                <a:latin typeface="Cambria"/>
                <a:cs typeface="Cambria"/>
              </a:rPr>
              <a:t>L-</a:t>
            </a:r>
            <a:r>
              <a:rPr sz="1100" i="1" spc="70" dirty="0">
                <a:solidFill>
                  <a:srgbClr val="3232B2"/>
                </a:solidFill>
                <a:latin typeface="Cambria"/>
                <a:cs typeface="Cambria"/>
              </a:rPr>
              <a:t>C</a:t>
            </a:r>
            <a:r>
              <a:rPr sz="1100" i="1" spc="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similarity</a:t>
            </a:r>
            <a:endParaRPr sz="1100">
              <a:latin typeface="Cambria"/>
              <a:cs typeface="Cambria"/>
            </a:endParaRPr>
          </a:p>
          <a:p>
            <a:pPr marL="1253490" marR="716280" indent="-174625">
              <a:lnSpc>
                <a:spcPts val="2250"/>
              </a:lnSpc>
              <a:spcBef>
                <a:spcPts val="204"/>
              </a:spcBef>
            </a:pPr>
            <a:r>
              <a:rPr sz="1100" i="1" dirty="0">
                <a:latin typeface="Cambria"/>
                <a:cs typeface="Cambria"/>
              </a:rPr>
              <a:t>sim</a:t>
            </a:r>
            <a:r>
              <a:rPr sz="1200" i="1" baseline="-10416" dirty="0">
                <a:latin typeface="Cambria"/>
                <a:cs typeface="Cambria"/>
              </a:rPr>
              <a:t>LC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−</a:t>
            </a:r>
            <a:r>
              <a:rPr sz="1100" i="1" spc="-30" dirty="0">
                <a:latin typeface="Cambria"/>
                <a:cs typeface="Cambria"/>
              </a:rPr>
              <a:t>log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pathlen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c</a:t>
            </a:r>
            <a:r>
              <a:rPr sz="1200" spc="-44" baseline="-10416" dirty="0">
                <a:latin typeface="Cambria"/>
                <a:cs typeface="Cambri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200" spc="-15" baseline="-10416" dirty="0">
                <a:latin typeface="Cambria"/>
                <a:cs typeface="Cambria"/>
              </a:rPr>
              <a:t>2</a:t>
            </a:r>
            <a:r>
              <a:rPr sz="1100" spc="-10" dirty="0">
                <a:latin typeface="Arial MT"/>
                <a:cs typeface="Arial MT"/>
              </a:rPr>
              <a:t>)</a:t>
            </a:r>
            <a:r>
              <a:rPr sz="1100" i="1" spc="-10" dirty="0">
                <a:latin typeface="Arial"/>
                <a:cs typeface="Arial"/>
              </a:rPr>
              <a:t>/</a:t>
            </a:r>
            <a:r>
              <a:rPr sz="1100" spc="-10" dirty="0">
                <a:latin typeface="Cambria"/>
                <a:cs typeface="Cambria"/>
              </a:rPr>
              <a:t>2</a:t>
            </a:r>
            <a:r>
              <a:rPr sz="1100" i="1" spc="-10" dirty="0">
                <a:latin typeface="Cambria"/>
                <a:cs typeface="Cambria"/>
              </a:rPr>
              <a:t>d</a:t>
            </a:r>
            <a:r>
              <a:rPr sz="1100" spc="-10" dirty="0">
                <a:latin typeface="Arial MT"/>
                <a:cs typeface="Arial MT"/>
              </a:rPr>
              <a:t>) </a:t>
            </a:r>
            <a:r>
              <a:rPr sz="1100" i="1" dirty="0">
                <a:latin typeface="Cambria"/>
                <a:cs typeface="Cambria"/>
              </a:rPr>
              <a:t>d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maximum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depth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hierarchy</a:t>
            </a:r>
            <a:endParaRPr sz="9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1245"/>
              </a:spcBef>
            </a:pP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Problems</a:t>
            </a:r>
            <a:r>
              <a:rPr sz="1100" i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40" dirty="0">
                <a:solidFill>
                  <a:srgbClr val="FF0000"/>
                </a:solidFill>
                <a:latin typeface="Cambria"/>
                <a:cs typeface="Cambria"/>
              </a:rPr>
              <a:t>with</a:t>
            </a:r>
            <a:r>
              <a:rPr sz="1100" i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55" dirty="0">
                <a:solidFill>
                  <a:srgbClr val="FF0000"/>
                </a:solidFill>
                <a:latin typeface="Cambria"/>
                <a:cs typeface="Cambria"/>
              </a:rPr>
              <a:t>L-</a:t>
            </a:r>
            <a:r>
              <a:rPr sz="1100" i="1" spc="70" dirty="0">
                <a:solidFill>
                  <a:srgbClr val="FF0000"/>
                </a:solidFill>
                <a:latin typeface="Cambria"/>
                <a:cs typeface="Cambria"/>
              </a:rPr>
              <a:t>C</a:t>
            </a:r>
            <a:r>
              <a:rPr sz="1100" i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similarity</a:t>
            </a:r>
            <a:endParaRPr sz="1100">
              <a:latin typeface="Cambria"/>
              <a:cs typeface="Cambria"/>
            </a:endParaRPr>
          </a:p>
          <a:p>
            <a:pPr marL="327660" marR="935355">
              <a:lnSpc>
                <a:spcPts val="1650"/>
              </a:lnSpc>
              <a:spcBef>
                <a:spcPts val="50"/>
              </a:spcBef>
            </a:pPr>
            <a:r>
              <a:rPr sz="950" spc="65" dirty="0">
                <a:latin typeface="Trebuchet MS"/>
                <a:cs typeface="Trebuchet MS"/>
              </a:rPr>
              <a:t>Assumes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edge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represents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uniform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distance </a:t>
            </a:r>
            <a:r>
              <a:rPr sz="950" spc="-30" dirty="0">
                <a:latin typeface="Trebuchet MS"/>
                <a:cs typeface="Trebuchet MS"/>
              </a:rPr>
              <a:t>‘nickel-</a:t>
            </a:r>
            <a:r>
              <a:rPr sz="950" spc="-10" dirty="0">
                <a:latin typeface="Trebuchet MS"/>
                <a:cs typeface="Trebuchet MS"/>
              </a:rPr>
              <a:t>money’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seems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closer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than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‘nickel-</a:t>
            </a:r>
            <a:r>
              <a:rPr sz="950" spc="-10" dirty="0">
                <a:latin typeface="Trebuchet MS"/>
                <a:cs typeface="Trebuchet MS"/>
              </a:rPr>
              <a:t>standard’</a:t>
            </a:r>
            <a:endParaRPr sz="950">
              <a:latin typeface="Trebuchet MS"/>
              <a:cs typeface="Trebuchet MS"/>
            </a:endParaRPr>
          </a:p>
          <a:p>
            <a:pPr marL="327660" marR="17780">
              <a:lnSpc>
                <a:spcPct val="118900"/>
              </a:lnSpc>
              <a:spcBef>
                <a:spcPts val="16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want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metric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lets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assign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“lengths”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different </a:t>
            </a:r>
            <a:r>
              <a:rPr sz="950" dirty="0">
                <a:latin typeface="Trebuchet MS"/>
                <a:cs typeface="Trebuchet MS"/>
              </a:rPr>
              <a:t>edges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-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35" dirty="0">
                <a:latin typeface="Trebuchet MS"/>
                <a:cs typeface="Trebuchet MS"/>
              </a:rPr>
              <a:t>how?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C4CF1D75-B5DE-4D0F-ACA5-B63A5D48D5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Concept</a:t>
            </a:r>
            <a:r>
              <a:rPr spc="45" dirty="0"/>
              <a:t> </a:t>
            </a:r>
            <a:r>
              <a:rPr spc="-10" dirty="0"/>
              <a:t>probability</a:t>
            </a:r>
            <a:r>
              <a:rPr spc="50" dirty="0"/>
              <a:t> </a:t>
            </a:r>
            <a:r>
              <a:rPr spc="-10" dirty="0"/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12444"/>
            <a:ext cx="4483735" cy="1060450"/>
            <a:chOff x="87743" y="812444"/>
            <a:chExt cx="4483735" cy="1060450"/>
          </a:xfrm>
        </p:grpSpPr>
        <p:sp>
          <p:nvSpPr>
            <p:cNvPr id="4" name="object 4"/>
            <p:cNvSpPr/>
            <p:nvPr/>
          </p:nvSpPr>
          <p:spPr>
            <a:xfrm>
              <a:off x="87743" y="81244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8545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7096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5826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56678"/>
              <a:ext cx="50800" cy="9142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29792"/>
              <a:ext cx="4432935" cy="792480"/>
            </a:xfrm>
            <a:custGeom>
              <a:avLst/>
              <a:gdLst/>
              <a:ahLst/>
              <a:cxnLst/>
              <a:rect l="l" t="t" r="r" b="b"/>
              <a:pathLst>
                <a:path w="4432935" h="792480">
                  <a:moveTo>
                    <a:pt x="4432554" y="0"/>
                  </a:moveTo>
                  <a:lnTo>
                    <a:pt x="0" y="0"/>
                  </a:lnTo>
                  <a:lnTo>
                    <a:pt x="0" y="741172"/>
                  </a:lnTo>
                  <a:lnTo>
                    <a:pt x="4008" y="760896"/>
                  </a:lnTo>
                  <a:lnTo>
                    <a:pt x="14922" y="777049"/>
                  </a:lnTo>
                  <a:lnTo>
                    <a:pt x="31075" y="787963"/>
                  </a:lnTo>
                  <a:lnTo>
                    <a:pt x="50800" y="791972"/>
                  </a:lnTo>
                  <a:lnTo>
                    <a:pt x="4381754" y="791972"/>
                  </a:lnTo>
                  <a:lnTo>
                    <a:pt x="4401478" y="787963"/>
                  </a:lnTo>
                  <a:lnTo>
                    <a:pt x="4417631" y="777049"/>
                  </a:lnTo>
                  <a:lnTo>
                    <a:pt x="4428545" y="760896"/>
                  </a:lnTo>
                  <a:lnTo>
                    <a:pt x="4432554" y="74117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894791"/>
              <a:ext cx="0" cy="895350"/>
            </a:xfrm>
            <a:custGeom>
              <a:avLst/>
              <a:gdLst/>
              <a:ahLst/>
              <a:cxnLst/>
              <a:rect l="l" t="t" r="r" b="b"/>
              <a:pathLst>
                <a:path h="895350">
                  <a:moveTo>
                    <a:pt x="0" y="8952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820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693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566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91666"/>
              <a:ext cx="64757" cy="6475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25729" y="745005"/>
            <a:ext cx="4203065" cy="6267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Cencept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probabilities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02600"/>
              </a:lnSpc>
              <a:spcBef>
                <a:spcPts val="335"/>
              </a:spcBef>
            </a:pP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concept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(synset)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950" spc="-20" dirty="0">
                <a:latin typeface="Trebuchet MS"/>
                <a:cs typeface="Trebuchet MS"/>
              </a:rPr>
              <a:t>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let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probability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randomly </a:t>
            </a:r>
            <a:r>
              <a:rPr sz="950" dirty="0">
                <a:latin typeface="Trebuchet MS"/>
                <a:cs typeface="Trebuchet MS"/>
              </a:rPr>
              <a:t>selected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corpus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(hyponym)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spc="-50" dirty="0">
                <a:latin typeface="Cambria"/>
                <a:cs typeface="Cambria"/>
              </a:rPr>
              <a:t>c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AA68F5A-2139-43D5-A6DD-57B3FD38AE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Concept</a:t>
            </a:r>
            <a:r>
              <a:rPr spc="45" dirty="0"/>
              <a:t> </a:t>
            </a:r>
            <a:r>
              <a:rPr spc="-10" dirty="0"/>
              <a:t>probability</a:t>
            </a:r>
            <a:r>
              <a:rPr spc="50" dirty="0"/>
              <a:t> </a:t>
            </a:r>
            <a:r>
              <a:rPr spc="-10" dirty="0"/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12444"/>
            <a:ext cx="4483735" cy="1060450"/>
            <a:chOff x="87743" y="812444"/>
            <a:chExt cx="4483735" cy="1060450"/>
          </a:xfrm>
        </p:grpSpPr>
        <p:sp>
          <p:nvSpPr>
            <p:cNvPr id="4" name="object 4"/>
            <p:cNvSpPr/>
            <p:nvPr/>
          </p:nvSpPr>
          <p:spPr>
            <a:xfrm>
              <a:off x="87743" y="81244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8545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7096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5826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56678"/>
              <a:ext cx="50800" cy="9142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29792"/>
              <a:ext cx="4432935" cy="792480"/>
            </a:xfrm>
            <a:custGeom>
              <a:avLst/>
              <a:gdLst/>
              <a:ahLst/>
              <a:cxnLst/>
              <a:rect l="l" t="t" r="r" b="b"/>
              <a:pathLst>
                <a:path w="4432935" h="792480">
                  <a:moveTo>
                    <a:pt x="4432554" y="0"/>
                  </a:moveTo>
                  <a:lnTo>
                    <a:pt x="0" y="0"/>
                  </a:lnTo>
                  <a:lnTo>
                    <a:pt x="0" y="741172"/>
                  </a:lnTo>
                  <a:lnTo>
                    <a:pt x="4008" y="760896"/>
                  </a:lnTo>
                  <a:lnTo>
                    <a:pt x="14922" y="777049"/>
                  </a:lnTo>
                  <a:lnTo>
                    <a:pt x="31075" y="787963"/>
                  </a:lnTo>
                  <a:lnTo>
                    <a:pt x="50800" y="791972"/>
                  </a:lnTo>
                  <a:lnTo>
                    <a:pt x="4381754" y="791972"/>
                  </a:lnTo>
                  <a:lnTo>
                    <a:pt x="4401478" y="787963"/>
                  </a:lnTo>
                  <a:lnTo>
                    <a:pt x="4417631" y="777049"/>
                  </a:lnTo>
                  <a:lnTo>
                    <a:pt x="4428545" y="760896"/>
                  </a:lnTo>
                  <a:lnTo>
                    <a:pt x="4432554" y="74117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894791"/>
              <a:ext cx="0" cy="895350"/>
            </a:xfrm>
            <a:custGeom>
              <a:avLst/>
              <a:gdLst/>
              <a:ahLst/>
              <a:cxnLst/>
              <a:rect l="l" t="t" r="r" b="b"/>
              <a:pathLst>
                <a:path h="895350">
                  <a:moveTo>
                    <a:pt x="0" y="8952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820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693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566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91666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73771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83804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6591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470"/>
              </a:spcBef>
            </a:pPr>
            <a:r>
              <a:rPr dirty="0"/>
              <a:t>Cencept</a:t>
            </a:r>
            <a:r>
              <a:rPr spc="-10" dirty="0"/>
              <a:t> probabilities</a:t>
            </a:r>
          </a:p>
          <a:p>
            <a:pPr marL="327025" marR="5080">
              <a:lnSpc>
                <a:spcPct val="102600"/>
              </a:lnSpc>
              <a:spcBef>
                <a:spcPts val="335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For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each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concept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(synset)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pc="-20" dirty="0">
                <a:solidFill>
                  <a:srgbClr val="000000"/>
                </a:solidFill>
              </a:rPr>
              <a:t>c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,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40" dirty="0">
                <a:solidFill>
                  <a:srgbClr val="000000"/>
                </a:solidFill>
                <a:latin typeface="Trebuchet MS"/>
                <a:cs typeface="Trebuchet MS"/>
              </a:rPr>
              <a:t>let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000000"/>
                </a:solidFill>
              </a:rPr>
              <a:t>P</a:t>
            </a:r>
            <a:r>
              <a:rPr i="0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dirty="0">
                <a:solidFill>
                  <a:srgbClr val="000000"/>
                </a:solidFill>
              </a:rPr>
              <a:t>c</a:t>
            </a:r>
            <a:r>
              <a:rPr i="0" dirty="0">
                <a:solidFill>
                  <a:srgbClr val="000000"/>
                </a:solidFill>
                <a:latin typeface="Arial MT"/>
                <a:cs typeface="Arial MT"/>
              </a:rPr>
              <a:t>)</a:t>
            </a:r>
            <a:r>
              <a:rPr i="0" spc="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be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probability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that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randomly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selected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corpus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an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instance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(hyponym)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pc="-50" dirty="0">
                <a:solidFill>
                  <a:srgbClr val="000000"/>
                </a:solidFill>
              </a:rPr>
              <a:t>c</a:t>
            </a:r>
            <a:endParaRPr sz="950">
              <a:latin typeface="Trebuchet MS"/>
              <a:cs typeface="Trebuchet MS"/>
            </a:endParaRPr>
          </a:p>
          <a:p>
            <a:pPr marL="327025">
              <a:lnSpc>
                <a:spcPct val="100000"/>
              </a:lnSpc>
              <a:spcBef>
                <a:spcPts val="330"/>
              </a:spcBef>
            </a:pPr>
            <a:r>
              <a:rPr spc="45" dirty="0">
                <a:solidFill>
                  <a:srgbClr val="000000"/>
                </a:solidFill>
              </a:rPr>
              <a:t>P</a:t>
            </a:r>
            <a:r>
              <a:rPr i="0" spc="45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spc="45" dirty="0">
                <a:solidFill>
                  <a:srgbClr val="000000"/>
                </a:solidFill>
              </a:rPr>
              <a:t>ROOT</a:t>
            </a:r>
            <a:r>
              <a:rPr i="0" spc="45" dirty="0">
                <a:solidFill>
                  <a:srgbClr val="000000"/>
                </a:solidFill>
                <a:latin typeface="Arial MT"/>
                <a:cs typeface="Arial MT"/>
              </a:rPr>
              <a:t>)</a:t>
            </a:r>
            <a:r>
              <a:rPr i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i="0" spc="200" dirty="0">
                <a:solidFill>
                  <a:srgbClr val="000000"/>
                </a:solidFill>
                <a:latin typeface="Arial MT"/>
                <a:cs typeface="Arial MT"/>
              </a:rPr>
              <a:t>=</a:t>
            </a:r>
            <a:r>
              <a:rPr i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i="0" spc="-50" dirty="0">
                <a:solidFill>
                  <a:srgbClr val="000000"/>
                </a:solidFill>
                <a:latin typeface="Cambria"/>
                <a:cs typeface="Cambria"/>
              </a:rPr>
              <a:t>1</a:t>
            </a:r>
          </a:p>
          <a:p>
            <a:pPr marL="327025">
              <a:lnSpc>
                <a:spcPct val="100000"/>
              </a:lnSpc>
              <a:spcBef>
                <a:spcPts val="484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lower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node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hierarchy,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lower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its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probability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6A26EE0C-90CE-478D-9D8F-0393B32D1C9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59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Concept</a:t>
            </a:r>
            <a:r>
              <a:rPr spc="45" dirty="0"/>
              <a:t> </a:t>
            </a:r>
            <a:r>
              <a:rPr spc="-10" dirty="0"/>
              <a:t>probability</a:t>
            </a:r>
            <a:r>
              <a:rPr spc="50" dirty="0"/>
              <a:t> </a:t>
            </a:r>
            <a:r>
              <a:rPr spc="-10" dirty="0"/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12444"/>
            <a:ext cx="4483735" cy="1060450"/>
            <a:chOff x="87743" y="812444"/>
            <a:chExt cx="4483735" cy="1060450"/>
          </a:xfrm>
        </p:grpSpPr>
        <p:sp>
          <p:nvSpPr>
            <p:cNvPr id="4" name="object 4"/>
            <p:cNvSpPr/>
            <p:nvPr/>
          </p:nvSpPr>
          <p:spPr>
            <a:xfrm>
              <a:off x="87743" y="81244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8545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7096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5826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56678"/>
              <a:ext cx="50800" cy="9142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29792"/>
              <a:ext cx="4432935" cy="792480"/>
            </a:xfrm>
            <a:custGeom>
              <a:avLst/>
              <a:gdLst/>
              <a:ahLst/>
              <a:cxnLst/>
              <a:rect l="l" t="t" r="r" b="b"/>
              <a:pathLst>
                <a:path w="4432935" h="792480">
                  <a:moveTo>
                    <a:pt x="4432554" y="0"/>
                  </a:moveTo>
                  <a:lnTo>
                    <a:pt x="0" y="0"/>
                  </a:lnTo>
                  <a:lnTo>
                    <a:pt x="0" y="741172"/>
                  </a:lnTo>
                  <a:lnTo>
                    <a:pt x="4008" y="760896"/>
                  </a:lnTo>
                  <a:lnTo>
                    <a:pt x="14922" y="777049"/>
                  </a:lnTo>
                  <a:lnTo>
                    <a:pt x="31075" y="787963"/>
                  </a:lnTo>
                  <a:lnTo>
                    <a:pt x="50800" y="791972"/>
                  </a:lnTo>
                  <a:lnTo>
                    <a:pt x="4381754" y="791972"/>
                  </a:lnTo>
                  <a:lnTo>
                    <a:pt x="4401478" y="787963"/>
                  </a:lnTo>
                  <a:lnTo>
                    <a:pt x="4417631" y="777049"/>
                  </a:lnTo>
                  <a:lnTo>
                    <a:pt x="4428545" y="760896"/>
                  </a:lnTo>
                  <a:lnTo>
                    <a:pt x="4432554" y="74117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894791"/>
              <a:ext cx="0" cy="895350"/>
            </a:xfrm>
            <a:custGeom>
              <a:avLst/>
              <a:gdLst/>
              <a:ahLst/>
              <a:cxnLst/>
              <a:rect l="l" t="t" r="r" b="b"/>
              <a:pathLst>
                <a:path h="895350">
                  <a:moveTo>
                    <a:pt x="0" y="8952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8820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693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5666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91666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73771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83804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1973694"/>
            <a:ext cx="4483735" cy="830580"/>
            <a:chOff x="87743" y="1973694"/>
            <a:chExt cx="4483735" cy="830580"/>
          </a:xfrm>
        </p:grpSpPr>
        <p:sp>
          <p:nvSpPr>
            <p:cNvPr id="18" name="object 18"/>
            <p:cNvSpPr/>
            <p:nvPr/>
          </p:nvSpPr>
          <p:spPr>
            <a:xfrm>
              <a:off x="87743" y="197369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146706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702191"/>
              <a:ext cx="101599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689491"/>
              <a:ext cx="4381754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017928"/>
              <a:ext cx="50800" cy="68426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191016"/>
              <a:ext cx="4432935" cy="561975"/>
            </a:xfrm>
            <a:custGeom>
              <a:avLst/>
              <a:gdLst/>
              <a:ahLst/>
              <a:cxnLst/>
              <a:rect l="l" t="t" r="r" b="b"/>
              <a:pathLst>
                <a:path w="4432935" h="561975">
                  <a:moveTo>
                    <a:pt x="4432554" y="0"/>
                  </a:moveTo>
                  <a:lnTo>
                    <a:pt x="0" y="0"/>
                  </a:lnTo>
                  <a:lnTo>
                    <a:pt x="0" y="511174"/>
                  </a:lnTo>
                  <a:lnTo>
                    <a:pt x="4008" y="530899"/>
                  </a:lnTo>
                  <a:lnTo>
                    <a:pt x="14922" y="547052"/>
                  </a:lnTo>
                  <a:lnTo>
                    <a:pt x="31075" y="557966"/>
                  </a:lnTo>
                  <a:lnTo>
                    <a:pt x="50800" y="561974"/>
                  </a:lnTo>
                  <a:lnTo>
                    <a:pt x="4381754" y="561974"/>
                  </a:lnTo>
                  <a:lnTo>
                    <a:pt x="4401478" y="557966"/>
                  </a:lnTo>
                  <a:lnTo>
                    <a:pt x="4417631" y="547052"/>
                  </a:lnTo>
                  <a:lnTo>
                    <a:pt x="4428545" y="530899"/>
                  </a:lnTo>
                  <a:lnTo>
                    <a:pt x="4432554" y="51117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056015"/>
              <a:ext cx="0" cy="665480"/>
            </a:xfrm>
            <a:custGeom>
              <a:avLst/>
              <a:gdLst/>
              <a:ahLst/>
              <a:cxnLst/>
              <a:rect l="l" t="t" r="r" b="b"/>
              <a:pathLst>
                <a:path h="665480">
                  <a:moveTo>
                    <a:pt x="0" y="6652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0433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0306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01791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240724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450757"/>
              <a:ext cx="64757" cy="6475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25729" y="745005"/>
            <a:ext cx="4203065" cy="19831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Cencept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probabilities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02600"/>
              </a:lnSpc>
              <a:spcBef>
                <a:spcPts val="335"/>
              </a:spcBef>
            </a:pP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concept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(synset)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950" spc="-20" dirty="0">
                <a:latin typeface="Trebuchet MS"/>
                <a:cs typeface="Trebuchet MS"/>
              </a:rPr>
              <a:t>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let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probability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randomly </a:t>
            </a:r>
            <a:r>
              <a:rPr sz="950" dirty="0">
                <a:latin typeface="Trebuchet MS"/>
                <a:cs typeface="Trebuchet MS"/>
              </a:rPr>
              <a:t>selected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corpus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(hyponym)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spc="-50" dirty="0">
                <a:latin typeface="Cambria"/>
                <a:cs typeface="Cambria"/>
              </a:rPr>
              <a:t>c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i="1" spc="45" dirty="0">
                <a:latin typeface="Cambria"/>
                <a:cs typeface="Cambria"/>
              </a:rPr>
              <a:t>P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ROOT</a:t>
            </a:r>
            <a:r>
              <a:rPr sz="1100" spc="45" dirty="0">
                <a:latin typeface="Arial MT"/>
                <a:cs typeface="Arial MT"/>
              </a:rPr>
              <a:t>)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50" dirty="0">
                <a:latin typeface="Cambria"/>
                <a:cs typeface="Cambria"/>
              </a:rPr>
              <a:t>1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84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lower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hierarchy,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lower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probability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Estimating</a:t>
            </a:r>
            <a:r>
              <a:rPr sz="1100" i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concept</a:t>
            </a:r>
            <a:r>
              <a:rPr sz="1100" i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probabilities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spc="-20" dirty="0">
                <a:latin typeface="Trebuchet MS"/>
                <a:cs typeface="Trebuchet MS"/>
              </a:rPr>
              <a:t>Train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counting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“concept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activations”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0" dirty="0">
                <a:latin typeface="Trebuchet MS"/>
                <a:cs typeface="Trebuchet MS"/>
              </a:rPr>
              <a:t> corpus</a:t>
            </a:r>
            <a:endParaRPr sz="950">
              <a:latin typeface="Trebuchet MS"/>
              <a:cs typeface="Trebuchet MS"/>
            </a:endParaRPr>
          </a:p>
          <a:p>
            <a:pPr marL="289560" marR="207010">
              <a:lnSpc>
                <a:spcPct val="118900"/>
              </a:lnSpc>
              <a:spcBef>
                <a:spcPts val="295"/>
              </a:spcBef>
            </a:pPr>
            <a:r>
              <a:rPr sz="950" spc="55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occurrence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dime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also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increments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counts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coin,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currency, </a:t>
            </a:r>
            <a:r>
              <a:rPr sz="950" i="1" dirty="0">
                <a:latin typeface="Trebuchet MS"/>
                <a:cs typeface="Trebuchet MS"/>
              </a:rPr>
              <a:t>standard</a:t>
            </a:r>
            <a:r>
              <a:rPr sz="950" dirty="0">
                <a:latin typeface="Trebuchet MS"/>
                <a:cs typeface="Trebuchet MS"/>
              </a:rPr>
              <a:t>,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etc.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C1C3C5D3-E8FC-4B66-B9A4-4C95271F689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60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8427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r>
              <a:rPr sz="14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11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sz="1400" i="1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concept</a:t>
            </a:r>
            <a:r>
              <a:rPr sz="14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count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758" y="933094"/>
            <a:ext cx="3348990" cy="20040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15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3615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r>
              <a:rPr sz="14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11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sz="1400" i="1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concept</a:t>
            </a:r>
            <a:r>
              <a:rPr sz="14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probabilities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423" y="889660"/>
            <a:ext cx="3505200" cy="20040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16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4782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Information</a:t>
            </a:r>
            <a:r>
              <a:rPr spc="-15" dirty="0"/>
              <a:t> </a:t>
            </a:r>
            <a:r>
              <a:rPr spc="-20" dirty="0"/>
              <a:t>content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16101"/>
            <a:ext cx="4483735" cy="1232535"/>
            <a:chOff x="87743" y="1116101"/>
            <a:chExt cx="4483735" cy="1232535"/>
          </a:xfrm>
        </p:grpSpPr>
        <p:sp>
          <p:nvSpPr>
            <p:cNvPr id="4" name="object 4"/>
            <p:cNvSpPr/>
            <p:nvPr/>
          </p:nvSpPr>
          <p:spPr>
            <a:xfrm>
              <a:off x="87743" y="111610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8911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4670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3400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60335"/>
              <a:ext cx="50800" cy="10863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33449"/>
              <a:ext cx="4432935" cy="964565"/>
            </a:xfrm>
            <a:custGeom>
              <a:avLst/>
              <a:gdLst/>
              <a:ahLst/>
              <a:cxnLst/>
              <a:rect l="l" t="t" r="r" b="b"/>
              <a:pathLst>
                <a:path w="4432935" h="964564">
                  <a:moveTo>
                    <a:pt x="4432554" y="0"/>
                  </a:moveTo>
                  <a:lnTo>
                    <a:pt x="0" y="0"/>
                  </a:lnTo>
                  <a:lnTo>
                    <a:pt x="0" y="913257"/>
                  </a:lnTo>
                  <a:lnTo>
                    <a:pt x="4008" y="932981"/>
                  </a:lnTo>
                  <a:lnTo>
                    <a:pt x="14922" y="949134"/>
                  </a:lnTo>
                  <a:lnTo>
                    <a:pt x="31075" y="960048"/>
                  </a:lnTo>
                  <a:lnTo>
                    <a:pt x="50800" y="964057"/>
                  </a:lnTo>
                  <a:lnTo>
                    <a:pt x="4381754" y="964057"/>
                  </a:lnTo>
                  <a:lnTo>
                    <a:pt x="4401478" y="960048"/>
                  </a:lnTo>
                  <a:lnTo>
                    <a:pt x="4417631" y="949134"/>
                  </a:lnTo>
                  <a:lnTo>
                    <a:pt x="4428545" y="932981"/>
                  </a:lnTo>
                  <a:lnTo>
                    <a:pt x="4432554" y="913257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98448"/>
              <a:ext cx="0" cy="1067435"/>
            </a:xfrm>
            <a:custGeom>
              <a:avLst/>
              <a:gdLst/>
              <a:ahLst/>
              <a:cxnLst/>
              <a:rect l="l" t="t" r="r" b="b"/>
              <a:pathLst>
                <a:path h="1067435">
                  <a:moveTo>
                    <a:pt x="0" y="10673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857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730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603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9532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60535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987473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13029" y="1048649"/>
            <a:ext cx="4407535" cy="12160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70"/>
              </a:spcBef>
            </a:pP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Information</a:t>
            </a:r>
            <a:r>
              <a:rPr sz="1100" i="1" spc="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content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370"/>
              </a:spcBef>
            </a:pPr>
            <a:r>
              <a:rPr sz="950" spc="-10" dirty="0">
                <a:latin typeface="Trebuchet MS"/>
                <a:cs typeface="Trebuchet MS"/>
              </a:rPr>
              <a:t>Information</a:t>
            </a:r>
            <a:r>
              <a:rPr sz="950" spc="-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content: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1100" i="1" spc="55" dirty="0">
                <a:latin typeface="Cambria"/>
                <a:cs typeface="Cambria"/>
              </a:rPr>
              <a:t>IC</a:t>
            </a:r>
            <a:r>
              <a:rPr sz="1100" spc="55" dirty="0">
                <a:latin typeface="Arial MT"/>
                <a:cs typeface="Arial MT"/>
              </a:rPr>
              <a:t>(</a:t>
            </a:r>
            <a:r>
              <a:rPr sz="1100" i="1" spc="55" dirty="0">
                <a:latin typeface="Cambria"/>
                <a:cs typeface="Cambria"/>
              </a:rPr>
              <a:t>c</a:t>
            </a:r>
            <a:r>
              <a:rPr sz="1100" spc="55" dirty="0">
                <a:latin typeface="Arial MT"/>
                <a:cs typeface="Arial MT"/>
              </a:rPr>
              <a:t>)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spc="-10" dirty="0">
                <a:latin typeface="Lucida Sans Unicode"/>
                <a:cs typeface="Lucida Sans Unicode"/>
              </a:rPr>
              <a:t>−</a:t>
            </a:r>
            <a:r>
              <a:rPr sz="1100" i="1" spc="-10" dirty="0">
                <a:latin typeface="Cambria"/>
                <a:cs typeface="Cambria"/>
              </a:rPr>
              <a:t>logP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302260" marR="43180">
              <a:lnSpc>
                <a:spcPct val="1026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Lowest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common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subsumer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LCS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lowest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hierarchy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subsumes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hypernym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of)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both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200" spc="232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c</a:t>
            </a:r>
            <a:r>
              <a:rPr sz="1200" spc="-37" baseline="-10416" dirty="0">
                <a:latin typeface="Cambria"/>
                <a:cs typeface="Cambria"/>
              </a:rPr>
              <a:t>2</a:t>
            </a:r>
            <a:endParaRPr sz="1200" baseline="-10416">
              <a:latin typeface="Cambria"/>
              <a:cs typeface="Cambria"/>
            </a:endParaRPr>
          </a:p>
          <a:p>
            <a:pPr marL="302260" marR="456565">
              <a:lnSpc>
                <a:spcPct val="113999"/>
              </a:lnSpc>
              <a:spcBef>
                <a:spcPts val="14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dirty="0">
                <a:latin typeface="Trebuchet MS"/>
                <a:cs typeface="Trebuchet MS"/>
              </a:rPr>
              <a:t> are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now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ready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how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use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content</a:t>
            </a:r>
            <a:r>
              <a:rPr sz="950" dirty="0">
                <a:latin typeface="Trebuchet MS"/>
                <a:cs typeface="Trebuchet MS"/>
              </a:rPr>
              <a:t> (</a:t>
            </a:r>
            <a:r>
              <a:rPr sz="1100" i="1" dirty="0">
                <a:latin typeface="Cambria"/>
                <a:cs typeface="Cambria"/>
              </a:rPr>
              <a:t>IC</a:t>
            </a:r>
            <a:r>
              <a:rPr sz="950" dirty="0">
                <a:latin typeface="Trebuchet MS"/>
                <a:cs typeface="Trebuchet MS"/>
              </a:rPr>
              <a:t>)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a </a:t>
            </a:r>
            <a:r>
              <a:rPr sz="950" spc="-20" dirty="0">
                <a:latin typeface="Trebuchet MS"/>
                <a:cs typeface="Trebuchet MS"/>
              </a:rPr>
              <a:t>similarity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metric.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17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2783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r>
              <a:rPr sz="14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11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sz="1400" i="1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Information</a:t>
            </a:r>
            <a:r>
              <a:rPr sz="14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content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048" y="928522"/>
            <a:ext cx="3406140" cy="20040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18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Resnik</a:t>
            </a:r>
            <a:r>
              <a:rPr spc="5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18768"/>
            <a:ext cx="4483735" cy="1225550"/>
            <a:chOff x="87743" y="1118768"/>
            <a:chExt cx="4483735" cy="1225550"/>
          </a:xfrm>
        </p:grpSpPr>
        <p:sp>
          <p:nvSpPr>
            <p:cNvPr id="4" name="object 4"/>
            <p:cNvSpPr/>
            <p:nvPr/>
          </p:nvSpPr>
          <p:spPr>
            <a:xfrm>
              <a:off x="87743" y="11187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917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42693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29993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63002"/>
              <a:ext cx="50800" cy="107969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36040"/>
              <a:ext cx="4432935" cy="957580"/>
            </a:xfrm>
            <a:custGeom>
              <a:avLst/>
              <a:gdLst/>
              <a:ahLst/>
              <a:cxnLst/>
              <a:rect l="l" t="t" r="r" b="b"/>
              <a:pathLst>
                <a:path w="4432935" h="957580">
                  <a:moveTo>
                    <a:pt x="4432554" y="0"/>
                  </a:moveTo>
                  <a:lnTo>
                    <a:pt x="0" y="0"/>
                  </a:lnTo>
                  <a:lnTo>
                    <a:pt x="0" y="906652"/>
                  </a:lnTo>
                  <a:lnTo>
                    <a:pt x="4008" y="926377"/>
                  </a:lnTo>
                  <a:lnTo>
                    <a:pt x="14922" y="942530"/>
                  </a:lnTo>
                  <a:lnTo>
                    <a:pt x="31075" y="953444"/>
                  </a:lnTo>
                  <a:lnTo>
                    <a:pt x="50800" y="957452"/>
                  </a:lnTo>
                  <a:lnTo>
                    <a:pt x="4381754" y="957452"/>
                  </a:lnTo>
                  <a:lnTo>
                    <a:pt x="4401478" y="953444"/>
                  </a:lnTo>
                  <a:lnTo>
                    <a:pt x="4417631" y="942530"/>
                  </a:lnTo>
                  <a:lnTo>
                    <a:pt x="4428545" y="926377"/>
                  </a:lnTo>
                  <a:lnTo>
                    <a:pt x="4432554" y="90665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01039"/>
              <a:ext cx="0" cy="1061085"/>
            </a:xfrm>
            <a:custGeom>
              <a:avLst/>
              <a:gdLst/>
              <a:ahLst/>
              <a:cxnLst/>
              <a:rect l="l" t="t" r="r" b="b"/>
              <a:pathLst>
                <a:path h="1061085">
                  <a:moveTo>
                    <a:pt x="0" y="10607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883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756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629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8292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76503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2147151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2734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00"/>
              </a:spcBef>
            </a:pPr>
            <a:r>
              <a:rPr spc="-10" dirty="0"/>
              <a:t>Resnik</a:t>
            </a:r>
            <a:r>
              <a:rPr spc="-35" dirty="0"/>
              <a:t> </a:t>
            </a:r>
            <a:r>
              <a:rPr spc="-10" dirty="0"/>
              <a:t>Similarity</a:t>
            </a:r>
          </a:p>
          <a:p>
            <a:pPr marL="327025" marR="43180">
              <a:lnSpc>
                <a:spcPct val="118900"/>
              </a:lnSpc>
              <a:spcBef>
                <a:spcPts val="185"/>
              </a:spcBef>
            </a:pP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Intuition:</a:t>
            </a:r>
            <a:r>
              <a:rPr sz="950" i="0" spc="1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how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similar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two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words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depends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on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how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much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they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have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in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common</a:t>
            </a:r>
            <a:endParaRPr sz="950">
              <a:latin typeface="Trebuchet MS"/>
              <a:cs typeface="Trebuchet MS"/>
            </a:endParaRPr>
          </a:p>
          <a:p>
            <a:pPr marL="327025" marR="180340">
              <a:lnSpc>
                <a:spcPct val="118900"/>
              </a:lnSpc>
              <a:spcBef>
                <a:spcPts val="300"/>
              </a:spcBef>
            </a:pPr>
            <a:r>
              <a:rPr sz="950" i="0" spc="-45" dirty="0">
                <a:solidFill>
                  <a:srgbClr val="000000"/>
                </a:solidFill>
                <a:latin typeface="Trebuchet MS"/>
                <a:cs typeface="Trebuchet MS"/>
              </a:rPr>
              <a:t>It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measures the commonality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by the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information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content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of the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lowest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common</a:t>
            </a:r>
            <a:r>
              <a:rPr sz="950" i="0" spc="1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subsumer</a:t>
            </a:r>
            <a:endParaRPr sz="950">
              <a:latin typeface="Trebuchet MS"/>
              <a:cs typeface="Trebuchet MS"/>
            </a:endParaRPr>
          </a:p>
          <a:p>
            <a:pPr marL="327025">
              <a:lnSpc>
                <a:spcPct val="100000"/>
              </a:lnSpc>
              <a:spcBef>
                <a:spcPts val="360"/>
              </a:spcBef>
            </a:pPr>
            <a:r>
              <a:rPr spc="-10" dirty="0">
                <a:solidFill>
                  <a:srgbClr val="000000"/>
                </a:solidFill>
              </a:rPr>
              <a:t>sim</a:t>
            </a:r>
            <a:r>
              <a:rPr sz="1200" spc="-15" baseline="-10416" dirty="0">
                <a:solidFill>
                  <a:srgbClr val="000000"/>
                </a:solidFill>
              </a:rPr>
              <a:t>resnik</a:t>
            </a:r>
            <a:r>
              <a:rPr sz="1100" i="0" spc="-10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sz="1100" spc="-10" dirty="0">
                <a:solidFill>
                  <a:srgbClr val="000000"/>
                </a:solidFill>
              </a:rPr>
              <a:t>c</a:t>
            </a:r>
            <a:r>
              <a:rPr sz="1200" i="0" spc="-15" baseline="-10416" dirty="0">
                <a:solidFill>
                  <a:srgbClr val="000000"/>
                </a:solidFill>
                <a:latin typeface="Cambria"/>
                <a:cs typeface="Cambria"/>
              </a:rPr>
              <a:t>1</a:t>
            </a:r>
            <a:r>
              <a:rPr sz="1100" spc="-10" dirty="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sz="1100" spc="-1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00"/>
                </a:solidFill>
              </a:rPr>
              <a:t>c</a:t>
            </a:r>
            <a:r>
              <a:rPr sz="1200" i="0" baseline="-10416" dirty="0">
                <a:solidFill>
                  <a:srgbClr val="000000"/>
                </a:solidFill>
                <a:latin typeface="Cambria"/>
                <a:cs typeface="Cambria"/>
              </a:rPr>
              <a:t>2</a:t>
            </a:r>
            <a:r>
              <a:rPr sz="1100" i="0" dirty="0">
                <a:solidFill>
                  <a:srgbClr val="000000"/>
                </a:solidFill>
                <a:latin typeface="Arial MT"/>
                <a:cs typeface="Arial MT"/>
              </a:rPr>
              <a:t>)</a:t>
            </a:r>
            <a:r>
              <a:rPr sz="1100" i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i="0" spc="200" dirty="0">
                <a:solidFill>
                  <a:srgbClr val="000000"/>
                </a:solidFill>
                <a:latin typeface="Arial MT"/>
                <a:cs typeface="Arial MT"/>
              </a:rPr>
              <a:t>=</a:t>
            </a:r>
            <a:r>
              <a:rPr sz="1100" i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spc="45" dirty="0">
                <a:solidFill>
                  <a:srgbClr val="000000"/>
                </a:solidFill>
              </a:rPr>
              <a:t>IC</a:t>
            </a:r>
            <a:r>
              <a:rPr sz="1100" i="0" spc="45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sz="1100" spc="45" dirty="0">
                <a:solidFill>
                  <a:srgbClr val="000000"/>
                </a:solidFill>
              </a:rPr>
              <a:t>LCS</a:t>
            </a:r>
            <a:r>
              <a:rPr sz="1100" i="0" spc="45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sz="1100" spc="45" dirty="0">
                <a:solidFill>
                  <a:srgbClr val="000000"/>
                </a:solidFill>
              </a:rPr>
              <a:t>c</a:t>
            </a:r>
            <a:r>
              <a:rPr sz="1200" i="0" spc="67" baseline="-10416" dirty="0">
                <a:solidFill>
                  <a:srgbClr val="000000"/>
                </a:solidFill>
                <a:latin typeface="Cambria"/>
                <a:cs typeface="Cambria"/>
              </a:rPr>
              <a:t>1</a:t>
            </a:r>
            <a:r>
              <a:rPr sz="1100" spc="45" dirty="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sz="1100" spc="-1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00"/>
                </a:solidFill>
              </a:rPr>
              <a:t>c</a:t>
            </a:r>
            <a:r>
              <a:rPr sz="1200" i="0" baseline="-10416" dirty="0">
                <a:solidFill>
                  <a:srgbClr val="000000"/>
                </a:solidFill>
                <a:latin typeface="Cambria"/>
                <a:cs typeface="Cambria"/>
              </a:rPr>
              <a:t>2</a:t>
            </a:r>
            <a:r>
              <a:rPr sz="1100" i="0" dirty="0">
                <a:solidFill>
                  <a:srgbClr val="000000"/>
                </a:solidFill>
                <a:latin typeface="Arial MT"/>
                <a:cs typeface="Arial MT"/>
              </a:rPr>
              <a:t>))</a:t>
            </a:r>
            <a:r>
              <a:rPr sz="1100" i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i="0" spc="200" dirty="0">
                <a:solidFill>
                  <a:srgbClr val="000000"/>
                </a:solidFill>
                <a:latin typeface="Arial MT"/>
                <a:cs typeface="Arial MT"/>
              </a:rPr>
              <a:t>=</a:t>
            </a:r>
            <a:r>
              <a:rPr sz="1100" i="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100" i="0" dirty="0">
                <a:solidFill>
                  <a:srgbClr val="000000"/>
                </a:solidFill>
                <a:latin typeface="Lucida Sans Unicode"/>
                <a:cs typeface="Lucida Sans Unicode"/>
              </a:rPr>
              <a:t>−</a:t>
            </a:r>
            <a:r>
              <a:rPr sz="1100" dirty="0">
                <a:solidFill>
                  <a:srgbClr val="000000"/>
                </a:solidFill>
              </a:rPr>
              <a:t>logP</a:t>
            </a:r>
            <a:r>
              <a:rPr sz="1100" i="0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sz="1100" dirty="0">
                <a:solidFill>
                  <a:srgbClr val="000000"/>
                </a:solidFill>
              </a:rPr>
              <a:t>LCS</a:t>
            </a:r>
            <a:r>
              <a:rPr sz="1100" i="0" dirty="0">
                <a:solidFill>
                  <a:srgbClr val="000000"/>
                </a:solidFill>
                <a:latin typeface="Arial MT"/>
                <a:cs typeface="Arial MT"/>
              </a:rPr>
              <a:t>(</a:t>
            </a:r>
            <a:r>
              <a:rPr sz="1100" dirty="0">
                <a:solidFill>
                  <a:srgbClr val="000000"/>
                </a:solidFill>
              </a:rPr>
              <a:t>c</a:t>
            </a:r>
            <a:r>
              <a:rPr sz="1200" i="0" baseline="-10416" dirty="0">
                <a:solidFill>
                  <a:srgbClr val="000000"/>
                </a:solidFill>
                <a:latin typeface="Cambria"/>
                <a:cs typeface="Cambria"/>
              </a:rPr>
              <a:t>1</a:t>
            </a:r>
            <a:r>
              <a:rPr sz="1100" dirty="0">
                <a:solidFill>
                  <a:srgbClr val="000000"/>
                </a:solidFill>
                <a:latin typeface="Arial"/>
                <a:cs typeface="Arial"/>
              </a:rPr>
              <a:t>,</a:t>
            </a:r>
            <a:r>
              <a:rPr sz="1100" spc="-1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0000"/>
                </a:solidFill>
              </a:rPr>
              <a:t>c</a:t>
            </a:r>
            <a:r>
              <a:rPr sz="1200" i="0" spc="-30" baseline="-10416" dirty="0">
                <a:solidFill>
                  <a:srgbClr val="000000"/>
                </a:solidFill>
                <a:latin typeface="Cambria"/>
                <a:cs typeface="Cambria"/>
              </a:rPr>
              <a:t>2</a:t>
            </a:r>
            <a:r>
              <a:rPr sz="1100" i="0" spc="-20" dirty="0">
                <a:solidFill>
                  <a:srgbClr val="000000"/>
                </a:solidFill>
                <a:latin typeface="Arial MT"/>
                <a:cs typeface="Arial MT"/>
              </a:rPr>
              <a:t>))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19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010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Example:</a:t>
            </a:r>
            <a:r>
              <a:rPr sz="1400" i="1" spc="1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Resnik</a:t>
            </a:r>
            <a:r>
              <a:rPr sz="1400" i="1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similarity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753" y="830986"/>
            <a:ext cx="3409950" cy="21717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20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</a:t>
            </a:r>
            <a:r>
              <a:rPr spc="85" dirty="0"/>
              <a:t> </a:t>
            </a:r>
            <a:r>
              <a:rPr spc="-10" dirty="0"/>
              <a:t>similarity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89965"/>
            <a:ext cx="4483735" cy="1577340"/>
            <a:chOff x="87743" y="589965"/>
            <a:chExt cx="4483735" cy="1577340"/>
          </a:xfrm>
        </p:grpSpPr>
        <p:sp>
          <p:nvSpPr>
            <p:cNvPr id="4" name="object 4"/>
            <p:cNvSpPr/>
            <p:nvPr/>
          </p:nvSpPr>
          <p:spPr>
            <a:xfrm>
              <a:off x="87743" y="58996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6297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65655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52955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34199"/>
              <a:ext cx="50800" cy="143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07212"/>
              <a:ext cx="4432935" cy="1309370"/>
            </a:xfrm>
            <a:custGeom>
              <a:avLst/>
              <a:gdLst/>
              <a:ahLst/>
              <a:cxnLst/>
              <a:rect l="l" t="t" r="r" b="b"/>
              <a:pathLst>
                <a:path w="4432935" h="1309370">
                  <a:moveTo>
                    <a:pt x="4432554" y="0"/>
                  </a:moveTo>
                  <a:lnTo>
                    <a:pt x="0" y="0"/>
                  </a:lnTo>
                  <a:lnTo>
                    <a:pt x="0" y="1258443"/>
                  </a:lnTo>
                  <a:lnTo>
                    <a:pt x="4008" y="1278167"/>
                  </a:lnTo>
                  <a:lnTo>
                    <a:pt x="14922" y="1294320"/>
                  </a:lnTo>
                  <a:lnTo>
                    <a:pt x="31075" y="1305234"/>
                  </a:lnTo>
                  <a:lnTo>
                    <a:pt x="50800" y="1309243"/>
                  </a:lnTo>
                  <a:lnTo>
                    <a:pt x="4381754" y="1309243"/>
                  </a:lnTo>
                  <a:lnTo>
                    <a:pt x="4401478" y="1305234"/>
                  </a:lnTo>
                  <a:lnTo>
                    <a:pt x="4417631" y="1294320"/>
                  </a:lnTo>
                  <a:lnTo>
                    <a:pt x="4428545" y="1278167"/>
                  </a:lnTo>
                  <a:lnTo>
                    <a:pt x="4432554" y="125844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672338"/>
              <a:ext cx="0" cy="1412875"/>
            </a:xfrm>
            <a:custGeom>
              <a:avLst/>
              <a:gdLst/>
              <a:ahLst/>
              <a:cxnLst/>
              <a:rect l="l" t="t" r="r" b="b"/>
              <a:pathLst>
                <a:path h="1412875">
                  <a:moveTo>
                    <a:pt x="0" y="141236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6595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468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341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856996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067028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449133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831238"/>
              <a:ext cx="64757" cy="64757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87743" y="2268385"/>
            <a:ext cx="4483735" cy="869315"/>
            <a:chOff x="87743" y="2268385"/>
            <a:chExt cx="4483735" cy="869315"/>
          </a:xfrm>
        </p:grpSpPr>
        <p:sp>
          <p:nvSpPr>
            <p:cNvPr id="19" name="object 19"/>
            <p:cNvSpPr/>
            <p:nvPr/>
          </p:nvSpPr>
          <p:spPr>
            <a:xfrm>
              <a:off x="87743" y="2268385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3035909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3023209"/>
              <a:ext cx="4381754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318943"/>
              <a:ext cx="50800" cy="71696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312771"/>
              <a:ext cx="4432935" cy="774065"/>
            </a:xfrm>
            <a:custGeom>
              <a:avLst/>
              <a:gdLst/>
              <a:ahLst/>
              <a:cxnLst/>
              <a:rect l="l" t="t" r="r" b="b"/>
              <a:pathLst>
                <a:path w="4432935" h="774064">
                  <a:moveTo>
                    <a:pt x="4432554" y="0"/>
                  </a:moveTo>
                  <a:lnTo>
                    <a:pt x="0" y="0"/>
                  </a:lnTo>
                  <a:lnTo>
                    <a:pt x="0" y="723138"/>
                  </a:lnTo>
                  <a:lnTo>
                    <a:pt x="4008" y="742862"/>
                  </a:lnTo>
                  <a:lnTo>
                    <a:pt x="14922" y="759015"/>
                  </a:lnTo>
                  <a:lnTo>
                    <a:pt x="31075" y="769929"/>
                  </a:lnTo>
                  <a:lnTo>
                    <a:pt x="50800" y="773938"/>
                  </a:lnTo>
                  <a:lnTo>
                    <a:pt x="4381754" y="773938"/>
                  </a:lnTo>
                  <a:lnTo>
                    <a:pt x="4401478" y="769929"/>
                  </a:lnTo>
                  <a:lnTo>
                    <a:pt x="4417631" y="759015"/>
                  </a:lnTo>
                  <a:lnTo>
                    <a:pt x="4428545" y="742862"/>
                  </a:lnTo>
                  <a:lnTo>
                    <a:pt x="4432554" y="72313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357094"/>
              <a:ext cx="0" cy="697865"/>
            </a:xfrm>
            <a:custGeom>
              <a:avLst/>
              <a:gdLst/>
              <a:ahLst/>
              <a:cxnLst/>
              <a:rect l="l" t="t" r="r" b="b"/>
              <a:pathLst>
                <a:path h="697864">
                  <a:moveTo>
                    <a:pt x="0" y="6978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3443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3316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3189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7630" y="515318"/>
            <a:ext cx="4357370" cy="256349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25"/>
              </a:spcBef>
            </a:pP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Proportion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shared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information</a:t>
            </a:r>
            <a:endParaRPr sz="1100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  <a:spcBef>
                <a:spcPts val="425"/>
              </a:spcBef>
            </a:pPr>
            <a:r>
              <a:rPr sz="950" spc="-45" dirty="0">
                <a:latin typeface="Trebuchet MS"/>
                <a:cs typeface="Trebuchet MS"/>
              </a:rPr>
              <a:t>It’s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just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commonalities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-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65" dirty="0">
                <a:latin typeface="Trebuchet MS"/>
                <a:cs typeface="Trebuchet MS"/>
              </a:rPr>
              <a:t>it’s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also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differences!</a:t>
            </a:r>
            <a:endParaRPr sz="950">
              <a:latin typeface="Trebuchet MS"/>
              <a:cs typeface="Trebuchet MS"/>
            </a:endParaRPr>
          </a:p>
          <a:p>
            <a:pPr marL="327660" marR="63500">
              <a:lnSpc>
                <a:spcPct val="118900"/>
              </a:lnSpc>
              <a:spcBef>
                <a:spcPts val="295"/>
              </a:spcBef>
            </a:pPr>
            <a:r>
              <a:rPr sz="950" b="1" dirty="0">
                <a:latin typeface="Trebuchet MS"/>
                <a:cs typeface="Trebuchet MS"/>
              </a:rPr>
              <a:t>Resnik:</a:t>
            </a:r>
            <a:r>
              <a:rPr sz="950" b="1" spc="9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more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content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share,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more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they </a:t>
            </a:r>
            <a:r>
              <a:rPr sz="950" spc="-25" dirty="0">
                <a:latin typeface="Trebuchet MS"/>
                <a:cs typeface="Trebuchet MS"/>
              </a:rPr>
              <a:t>are</a:t>
            </a:r>
            <a:endParaRPr sz="950">
              <a:latin typeface="Trebuchet MS"/>
              <a:cs typeface="Trebuchet MS"/>
            </a:endParaRPr>
          </a:p>
          <a:p>
            <a:pPr marL="327660" marR="431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Lin:</a:t>
            </a:r>
            <a:r>
              <a:rPr sz="950" b="1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content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they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don’t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share,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less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they </a:t>
            </a:r>
            <a:r>
              <a:rPr sz="950" spc="-25" dirty="0">
                <a:latin typeface="Trebuchet MS"/>
                <a:cs typeface="Trebuchet MS"/>
              </a:rPr>
              <a:t>are</a:t>
            </a:r>
            <a:endParaRPr sz="950">
              <a:latin typeface="Trebuchet MS"/>
              <a:cs typeface="Trebuchet MS"/>
            </a:endParaRPr>
          </a:p>
          <a:p>
            <a:pPr marL="327660" marR="283845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Not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absolute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quantity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shared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proportion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shared</a:t>
            </a:r>
            <a:r>
              <a:rPr sz="950" spc="1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information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950">
              <a:latin typeface="Trebuchet MS"/>
              <a:cs typeface="Trebuchet MS"/>
            </a:endParaRPr>
          </a:p>
          <a:p>
            <a:pPr marL="1191895">
              <a:lnSpc>
                <a:spcPct val="100000"/>
              </a:lnSpc>
            </a:pPr>
            <a:r>
              <a:rPr sz="1650" i="1" spc="-15" baseline="-37878" dirty="0">
                <a:latin typeface="Cambria"/>
                <a:cs typeface="Cambria"/>
              </a:rPr>
              <a:t>sim</a:t>
            </a:r>
            <a:r>
              <a:rPr sz="1200" i="1" spc="-15" baseline="-65972" dirty="0">
                <a:latin typeface="Cambria"/>
                <a:cs typeface="Cambria"/>
              </a:rPr>
              <a:t>Lin</a:t>
            </a:r>
            <a:r>
              <a:rPr sz="1650" spc="-15" baseline="-37878" dirty="0">
                <a:latin typeface="Arial MT"/>
                <a:cs typeface="Arial MT"/>
              </a:rPr>
              <a:t>(</a:t>
            </a:r>
            <a:r>
              <a:rPr sz="1650" i="1" spc="-15" baseline="-37878" dirty="0">
                <a:latin typeface="Cambria"/>
                <a:cs typeface="Cambria"/>
              </a:rPr>
              <a:t>c</a:t>
            </a:r>
            <a:r>
              <a:rPr sz="1200" spc="-15" baseline="-65972" dirty="0">
                <a:latin typeface="Cambria"/>
                <a:cs typeface="Cambria"/>
              </a:rPr>
              <a:t>1</a:t>
            </a:r>
            <a:r>
              <a:rPr sz="1650" i="1" spc="-15" baseline="-37878" dirty="0">
                <a:latin typeface="Arial"/>
                <a:cs typeface="Arial"/>
              </a:rPr>
              <a:t>,</a:t>
            </a:r>
            <a:r>
              <a:rPr sz="1650" i="1" spc="-209" baseline="-37878" dirty="0">
                <a:latin typeface="Arial"/>
                <a:cs typeface="Arial"/>
              </a:rPr>
              <a:t> </a:t>
            </a:r>
            <a:r>
              <a:rPr sz="1650" i="1" baseline="-37878" dirty="0">
                <a:latin typeface="Cambria"/>
                <a:cs typeface="Cambria"/>
              </a:rPr>
              <a:t>c</a:t>
            </a:r>
            <a:r>
              <a:rPr sz="1200" baseline="-65972" dirty="0">
                <a:latin typeface="Cambria"/>
                <a:cs typeface="Cambria"/>
              </a:rPr>
              <a:t>2</a:t>
            </a:r>
            <a:r>
              <a:rPr sz="1650" baseline="-37878" dirty="0">
                <a:latin typeface="Arial MT"/>
                <a:cs typeface="Arial MT"/>
              </a:rPr>
              <a:t>)</a:t>
            </a:r>
            <a:r>
              <a:rPr sz="1650" spc="37" baseline="-37878" dirty="0">
                <a:latin typeface="Arial MT"/>
                <a:cs typeface="Arial MT"/>
              </a:rPr>
              <a:t> </a:t>
            </a:r>
            <a:r>
              <a:rPr sz="1650" spc="300" baseline="-37878" dirty="0">
                <a:latin typeface="Arial MT"/>
                <a:cs typeface="Arial MT"/>
              </a:rPr>
              <a:t>= </a:t>
            </a:r>
            <a:r>
              <a:rPr sz="1100" u="sng" spc="-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2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logP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LCS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</a:t>
            </a:r>
            <a:r>
              <a:rPr sz="1200" u="sng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,</a:t>
            </a:r>
            <a:r>
              <a:rPr sz="1100" i="1" u="sng" spc="-1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spc="-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</a:t>
            </a:r>
            <a:r>
              <a:rPr sz="1200" u="sng" spc="-30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2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))</a:t>
            </a:r>
            <a:endParaRPr sz="1100">
              <a:latin typeface="Arial MT"/>
              <a:cs typeface="Arial MT"/>
            </a:endParaRPr>
          </a:p>
          <a:p>
            <a:pPr marL="2105025">
              <a:lnSpc>
                <a:spcPct val="100000"/>
              </a:lnSpc>
              <a:spcBef>
                <a:spcPts val="200"/>
              </a:spcBef>
            </a:pPr>
            <a:r>
              <a:rPr sz="1100" i="1" dirty="0">
                <a:latin typeface="Cambria"/>
                <a:cs typeface="Cambria"/>
              </a:rPr>
              <a:t>logP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9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-90" dirty="0">
                <a:latin typeface="Arial MT"/>
                <a:cs typeface="Arial MT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logP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200" spc="-15" baseline="-10416" dirty="0">
                <a:latin typeface="Cambria"/>
                <a:cs typeface="Cambria"/>
              </a:rPr>
              <a:t>2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50800" marR="189230">
              <a:lnSpc>
                <a:spcPct val="113999"/>
              </a:lnSpc>
              <a:spcBef>
                <a:spcPts val="235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content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common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200" spc="270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200" spc="-15" baseline="-10416" dirty="0">
                <a:latin typeface="Cambria"/>
                <a:cs typeface="Cambria"/>
              </a:rPr>
              <a:t>2</a:t>
            </a:r>
            <a:r>
              <a:rPr sz="950" spc="-10" dirty="0">
                <a:latin typeface="Trebuchet MS"/>
                <a:cs typeface="Trebuchet MS"/>
              </a:rPr>
              <a:t>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normalized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average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content.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21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76783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Example:</a:t>
            </a:r>
            <a:r>
              <a:rPr sz="1400" i="1" spc="2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Lin</a:t>
            </a:r>
            <a:r>
              <a:rPr sz="1400" i="1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similarity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148" y="923887"/>
            <a:ext cx="3409950" cy="21717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22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Jiang-Conrath</a:t>
            </a:r>
            <a:r>
              <a:rPr spc="200" dirty="0"/>
              <a:t> </a:t>
            </a:r>
            <a:r>
              <a:rPr spc="-10" dirty="0"/>
              <a:t>distance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72363"/>
            <a:ext cx="4483735" cy="2091689"/>
            <a:chOff x="87743" y="772363"/>
            <a:chExt cx="4483735" cy="2091689"/>
          </a:xfrm>
        </p:grpSpPr>
        <p:sp>
          <p:nvSpPr>
            <p:cNvPr id="4" name="object 4"/>
            <p:cNvSpPr/>
            <p:nvPr/>
          </p:nvSpPr>
          <p:spPr>
            <a:xfrm>
              <a:off x="87743" y="77236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4538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762300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749600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16597"/>
              <a:ext cx="50800" cy="194570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89634"/>
              <a:ext cx="4432935" cy="1823720"/>
            </a:xfrm>
            <a:custGeom>
              <a:avLst/>
              <a:gdLst/>
              <a:ahLst/>
              <a:cxnLst/>
              <a:rect l="l" t="t" r="r" b="b"/>
              <a:pathLst>
                <a:path w="4432935" h="1823720">
                  <a:moveTo>
                    <a:pt x="4432554" y="0"/>
                  </a:moveTo>
                  <a:lnTo>
                    <a:pt x="0" y="0"/>
                  </a:lnTo>
                  <a:lnTo>
                    <a:pt x="0" y="1772665"/>
                  </a:lnTo>
                  <a:lnTo>
                    <a:pt x="4008" y="1792390"/>
                  </a:lnTo>
                  <a:lnTo>
                    <a:pt x="14922" y="1808543"/>
                  </a:lnTo>
                  <a:lnTo>
                    <a:pt x="31075" y="1819457"/>
                  </a:lnTo>
                  <a:lnTo>
                    <a:pt x="50800" y="1823465"/>
                  </a:lnTo>
                  <a:lnTo>
                    <a:pt x="4381754" y="1823465"/>
                  </a:lnTo>
                  <a:lnTo>
                    <a:pt x="4401478" y="1819457"/>
                  </a:lnTo>
                  <a:lnTo>
                    <a:pt x="4417631" y="1808543"/>
                  </a:lnTo>
                  <a:lnTo>
                    <a:pt x="4428545" y="1792390"/>
                  </a:lnTo>
                  <a:lnTo>
                    <a:pt x="4432554" y="177266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54633"/>
              <a:ext cx="0" cy="1927225"/>
            </a:xfrm>
            <a:custGeom>
              <a:avLst/>
              <a:gdLst/>
              <a:ahLst/>
              <a:cxnLst/>
              <a:rect l="l" t="t" r="r" b="b"/>
              <a:pathLst>
                <a:path h="1927225">
                  <a:moveTo>
                    <a:pt x="0" y="192671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419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292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165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0330" y="697716"/>
            <a:ext cx="4244340" cy="16071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1100" i="1" spc="145" dirty="0">
                <a:solidFill>
                  <a:srgbClr val="3232B2"/>
                </a:solidFill>
                <a:latin typeface="Cambria"/>
                <a:cs typeface="Cambria"/>
              </a:rPr>
              <a:t>JC</a:t>
            </a:r>
            <a:r>
              <a:rPr sz="1100" i="1" spc="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similarity</a:t>
            </a:r>
            <a:endParaRPr sz="110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425"/>
              </a:spcBef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use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75" dirty="0">
                <a:latin typeface="Trebuchet MS"/>
                <a:cs typeface="Trebuchet MS"/>
              </a:rPr>
              <a:t>IC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assign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lengths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graph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edges:</a:t>
            </a:r>
            <a:endParaRPr sz="950">
              <a:latin typeface="Trebuchet MS"/>
              <a:cs typeface="Trebuchet MS"/>
            </a:endParaRPr>
          </a:p>
          <a:p>
            <a:pPr marL="213360" marR="335280" indent="575310">
              <a:lnSpc>
                <a:spcPts val="3100"/>
              </a:lnSpc>
              <a:spcBef>
                <a:spcPts val="40"/>
              </a:spcBef>
            </a:pPr>
            <a:r>
              <a:rPr sz="1100" i="1" dirty="0">
                <a:latin typeface="Cambria"/>
                <a:cs typeface="Cambria"/>
              </a:rPr>
              <a:t>dist</a:t>
            </a:r>
            <a:r>
              <a:rPr sz="1200" i="1" baseline="-10416" dirty="0">
                <a:latin typeface="Cambria"/>
                <a:cs typeface="Cambria"/>
              </a:rPr>
              <a:t>JC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100" i="1" dirty="0">
                <a:latin typeface="Arial"/>
                <a:cs typeface="Arial"/>
              </a:rPr>
              <a:t>,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hypernym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100" spc="-10" dirty="0">
                <a:latin typeface="Arial MT"/>
                <a:cs typeface="Arial MT"/>
              </a:rPr>
              <a:t>))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i="1" spc="55" dirty="0">
                <a:latin typeface="Cambria"/>
                <a:cs typeface="Cambria"/>
              </a:rPr>
              <a:t>IC</a:t>
            </a:r>
            <a:r>
              <a:rPr sz="1100" spc="55" dirty="0">
                <a:latin typeface="Arial MT"/>
                <a:cs typeface="Arial MT"/>
              </a:rPr>
              <a:t>(</a:t>
            </a:r>
            <a:r>
              <a:rPr sz="1100" i="1" spc="55" dirty="0">
                <a:latin typeface="Cambria"/>
                <a:cs typeface="Cambria"/>
              </a:rPr>
              <a:t>c</a:t>
            </a:r>
            <a:r>
              <a:rPr sz="1100" spc="55" dirty="0">
                <a:latin typeface="Arial MT"/>
                <a:cs typeface="Arial MT"/>
              </a:rPr>
              <a:t>)</a:t>
            </a:r>
            <a:r>
              <a:rPr sz="1100" spc="-114" dirty="0">
                <a:latin typeface="Arial MT"/>
                <a:cs typeface="Arial MT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</a:t>
            </a:r>
            <a:r>
              <a:rPr sz="1100" spc="-16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IC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hypernym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c</a:t>
            </a:r>
            <a:r>
              <a:rPr sz="1100" spc="-10" dirty="0">
                <a:latin typeface="Arial MT"/>
                <a:cs typeface="Arial MT"/>
              </a:rPr>
              <a:t>)) </a:t>
            </a:r>
            <a:r>
              <a:rPr sz="1100" i="1" spc="20" dirty="0">
                <a:latin typeface="Cambria"/>
                <a:cs typeface="Cambria"/>
              </a:rPr>
              <a:t>dist</a:t>
            </a:r>
            <a:r>
              <a:rPr sz="1200" i="1" spc="30" baseline="-10416" dirty="0">
                <a:latin typeface="Cambria"/>
                <a:cs typeface="Cambria"/>
              </a:rPr>
              <a:t>JC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1</a:t>
            </a:r>
            <a:r>
              <a:rPr sz="1100" i="1" spc="20" dirty="0">
                <a:latin typeface="Arial"/>
                <a:cs typeface="Arial"/>
              </a:rPr>
              <a:t>,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2</a:t>
            </a:r>
            <a:r>
              <a:rPr sz="1100" spc="20" dirty="0">
                <a:latin typeface="Arial MT"/>
                <a:cs typeface="Arial MT"/>
              </a:rPr>
              <a:t>)</a:t>
            </a:r>
            <a:r>
              <a:rPr sz="1100" spc="229" dirty="0">
                <a:latin typeface="Arial MT"/>
                <a:cs typeface="Arial MT"/>
              </a:rPr>
              <a:t> 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235" dirty="0">
                <a:latin typeface="Arial MT"/>
                <a:cs typeface="Arial MT"/>
              </a:rPr>
              <a:t>  </a:t>
            </a:r>
            <a:r>
              <a:rPr sz="1100" i="1" spc="20" dirty="0">
                <a:latin typeface="Cambria"/>
                <a:cs typeface="Cambria"/>
              </a:rPr>
              <a:t>dist</a:t>
            </a:r>
            <a:r>
              <a:rPr sz="1200" i="1" spc="30" baseline="-10416" dirty="0">
                <a:latin typeface="Cambria"/>
                <a:cs typeface="Cambria"/>
              </a:rPr>
              <a:t>JC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1</a:t>
            </a:r>
            <a:r>
              <a:rPr sz="1100" i="1" spc="20" dirty="0">
                <a:latin typeface="Arial"/>
                <a:cs typeface="Arial"/>
              </a:rPr>
              <a:t>,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i="1" spc="20" dirty="0">
                <a:latin typeface="Cambria"/>
                <a:cs typeface="Cambria"/>
              </a:rPr>
              <a:t>LCS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1</a:t>
            </a:r>
            <a:r>
              <a:rPr sz="1100" i="1" spc="20" dirty="0">
                <a:latin typeface="Arial"/>
                <a:cs typeface="Arial"/>
              </a:rPr>
              <a:t>,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2</a:t>
            </a:r>
            <a:r>
              <a:rPr sz="1100" spc="20" dirty="0">
                <a:latin typeface="Arial MT"/>
                <a:cs typeface="Arial MT"/>
              </a:rPr>
              <a:t>))</a:t>
            </a:r>
            <a:r>
              <a:rPr sz="1100" spc="-14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-140" dirty="0">
                <a:latin typeface="Arial MT"/>
                <a:cs typeface="Arial MT"/>
              </a:rPr>
              <a:t> </a:t>
            </a:r>
            <a:r>
              <a:rPr sz="1100" i="1" spc="20" dirty="0">
                <a:latin typeface="Cambria"/>
                <a:cs typeface="Cambria"/>
              </a:rPr>
              <a:t>dist</a:t>
            </a:r>
            <a:r>
              <a:rPr sz="1200" i="1" spc="30" baseline="-10416" dirty="0">
                <a:latin typeface="Cambria"/>
                <a:cs typeface="Cambria"/>
              </a:rPr>
              <a:t>JC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2</a:t>
            </a:r>
            <a:r>
              <a:rPr sz="1100" i="1" spc="20" dirty="0">
                <a:latin typeface="Arial"/>
                <a:cs typeface="Arial"/>
              </a:rPr>
              <a:t>,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i="1" spc="20" dirty="0">
                <a:latin typeface="Cambria"/>
                <a:cs typeface="Cambria"/>
              </a:rPr>
              <a:t>LCS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1</a:t>
            </a:r>
            <a:r>
              <a:rPr sz="1100" i="1" spc="20" dirty="0">
                <a:latin typeface="Arial"/>
                <a:cs typeface="Arial"/>
              </a:rPr>
              <a:t>,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1200" spc="-30" baseline="-10416" dirty="0">
                <a:latin typeface="Cambria"/>
                <a:cs typeface="Cambria"/>
              </a:rPr>
              <a:t>2</a:t>
            </a:r>
            <a:r>
              <a:rPr sz="1100" spc="-20" dirty="0">
                <a:latin typeface="Arial MT"/>
                <a:cs typeface="Arial MT"/>
              </a:rPr>
              <a:t>))</a:t>
            </a:r>
            <a:endParaRPr sz="1100">
              <a:latin typeface="Arial MT"/>
              <a:cs typeface="Arial MT"/>
            </a:endParaRPr>
          </a:p>
          <a:p>
            <a:pPr marL="1056005">
              <a:lnSpc>
                <a:spcPts val="1250"/>
              </a:lnSpc>
            </a:pP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360" dirty="0">
                <a:latin typeface="Arial MT"/>
                <a:cs typeface="Arial MT"/>
              </a:rPr>
              <a:t>  </a:t>
            </a:r>
            <a:r>
              <a:rPr sz="1100" i="1" dirty="0">
                <a:latin typeface="Cambria"/>
                <a:cs typeface="Cambria"/>
              </a:rPr>
              <a:t>IC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105" dirty="0">
                <a:latin typeface="Arial MT"/>
                <a:cs typeface="Arial MT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</a:t>
            </a:r>
            <a:r>
              <a:rPr sz="1100" spc="-150" dirty="0">
                <a:latin typeface="Lucida Sans Unicode"/>
                <a:cs typeface="Lucida Sans Unicode"/>
              </a:rPr>
              <a:t> </a:t>
            </a:r>
            <a:r>
              <a:rPr sz="1100" i="1" spc="45" dirty="0">
                <a:latin typeface="Cambria"/>
                <a:cs typeface="Cambria"/>
              </a:rPr>
              <a:t>IC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LCS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c</a:t>
            </a:r>
            <a:r>
              <a:rPr sz="1200" spc="67" baseline="-10416" dirty="0">
                <a:latin typeface="Cambria"/>
                <a:cs typeface="Cambria"/>
              </a:rPr>
              <a:t>1</a:t>
            </a:r>
            <a:r>
              <a:rPr sz="1100" i="1" spc="45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))</a:t>
            </a:r>
            <a:r>
              <a:rPr sz="1100" spc="-100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-105" dirty="0">
                <a:latin typeface="Arial MT"/>
                <a:cs typeface="Arial MT"/>
              </a:rPr>
              <a:t> </a:t>
            </a:r>
            <a:r>
              <a:rPr sz="1100" i="1" dirty="0">
                <a:latin typeface="Cambria"/>
                <a:cs typeface="Cambria"/>
              </a:rPr>
              <a:t>IC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105" dirty="0">
                <a:latin typeface="Arial MT"/>
                <a:cs typeface="Arial MT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</a:t>
            </a:r>
            <a:r>
              <a:rPr sz="1100" spc="-150" dirty="0">
                <a:latin typeface="Lucida Sans Unicode"/>
                <a:cs typeface="Lucida Sans Unicode"/>
              </a:rPr>
              <a:t> </a:t>
            </a:r>
            <a:r>
              <a:rPr sz="1100" i="1" spc="45" dirty="0">
                <a:latin typeface="Cambria"/>
                <a:cs typeface="Cambria"/>
              </a:rPr>
              <a:t>IC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LCS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c</a:t>
            </a:r>
            <a:r>
              <a:rPr sz="1200" spc="67" baseline="-10416" dirty="0">
                <a:latin typeface="Cambria"/>
                <a:cs typeface="Cambria"/>
              </a:rPr>
              <a:t>1</a:t>
            </a:r>
            <a:r>
              <a:rPr sz="1100" i="1" spc="45" dirty="0">
                <a:latin typeface="Arial"/>
                <a:cs typeface="Arial"/>
              </a:rPr>
              <a:t>,</a:t>
            </a:r>
            <a:r>
              <a:rPr sz="1100" i="1" spc="-145" dirty="0">
                <a:latin typeface="Arial"/>
                <a:cs typeface="Arial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1200" spc="-30" baseline="-10416" dirty="0">
                <a:latin typeface="Cambria"/>
                <a:cs typeface="Cambria"/>
              </a:rPr>
              <a:t>2</a:t>
            </a:r>
            <a:r>
              <a:rPr sz="1100" spc="-20" dirty="0">
                <a:latin typeface="Arial MT"/>
                <a:cs typeface="Arial MT"/>
              </a:rPr>
              <a:t>))</a:t>
            </a:r>
            <a:endParaRPr sz="1100">
              <a:latin typeface="Arial MT"/>
              <a:cs typeface="Arial MT"/>
            </a:endParaRPr>
          </a:p>
          <a:p>
            <a:pPr marL="1056005">
              <a:lnSpc>
                <a:spcPct val="100000"/>
              </a:lnSpc>
              <a:spcBef>
                <a:spcPts val="330"/>
              </a:spcBef>
            </a:pP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340" dirty="0">
                <a:latin typeface="Arial MT"/>
                <a:cs typeface="Arial MT"/>
              </a:rPr>
              <a:t>  </a:t>
            </a:r>
            <a:r>
              <a:rPr sz="1100" i="1" dirty="0">
                <a:latin typeface="Cambria"/>
                <a:cs typeface="Cambria"/>
              </a:rPr>
              <a:t>IC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110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-110" dirty="0">
                <a:latin typeface="Arial MT"/>
                <a:cs typeface="Arial MT"/>
              </a:rPr>
              <a:t> </a:t>
            </a:r>
            <a:r>
              <a:rPr sz="1100" i="1" dirty="0">
                <a:latin typeface="Cambria"/>
                <a:cs typeface="Cambria"/>
              </a:rPr>
              <a:t>IC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110" dirty="0">
                <a:latin typeface="Arial MT"/>
                <a:cs typeface="Arial MT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</a:t>
            </a:r>
            <a:r>
              <a:rPr sz="1100" spc="-150" dirty="0">
                <a:latin typeface="Lucida Sans Unicode"/>
                <a:cs typeface="Lucida Sans Unicode"/>
              </a:rPr>
              <a:t> </a:t>
            </a:r>
            <a:r>
              <a:rPr sz="1100" spc="-75" dirty="0">
                <a:latin typeface="Cambria"/>
                <a:cs typeface="Cambria"/>
              </a:rPr>
              <a:t>2</a:t>
            </a:r>
            <a:r>
              <a:rPr sz="1100" spc="-50" dirty="0">
                <a:latin typeface="Cambria"/>
                <a:cs typeface="Cambria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×</a:t>
            </a:r>
            <a:r>
              <a:rPr sz="1100" spc="-155" dirty="0">
                <a:latin typeface="Lucida Sans Unicode"/>
                <a:cs typeface="Lucida Sans Unicode"/>
              </a:rPr>
              <a:t> </a:t>
            </a:r>
            <a:r>
              <a:rPr sz="1100" i="1" spc="45" dirty="0">
                <a:latin typeface="Cambria"/>
                <a:cs typeface="Cambria"/>
              </a:rPr>
              <a:t>IC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LCS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c</a:t>
            </a:r>
            <a:r>
              <a:rPr sz="1200" spc="67" baseline="-10416" dirty="0">
                <a:latin typeface="Cambria"/>
                <a:cs typeface="Cambria"/>
              </a:rPr>
              <a:t>1</a:t>
            </a:r>
            <a:r>
              <a:rPr sz="1100" i="1" spc="45" dirty="0">
                <a:latin typeface="Arial"/>
                <a:cs typeface="Arial"/>
              </a:rPr>
              <a:t>,</a:t>
            </a:r>
            <a:r>
              <a:rPr sz="1100" i="1" spc="-150" dirty="0">
                <a:latin typeface="Arial"/>
                <a:cs typeface="Arial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1200" spc="-30" baseline="-10416" dirty="0">
                <a:latin typeface="Cambria"/>
                <a:cs typeface="Cambria"/>
              </a:rPr>
              <a:t>2</a:t>
            </a:r>
            <a:r>
              <a:rPr sz="1100" spc="-20" dirty="0">
                <a:latin typeface="Arial MT"/>
                <a:cs typeface="Arial MT"/>
              </a:rPr>
              <a:t>))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7905" y="2487345"/>
            <a:ext cx="30575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939925" algn="l"/>
                <a:tab pos="3018790" algn="l"/>
              </a:tabLst>
            </a:pPr>
            <a:r>
              <a:rPr sz="1100" i="1" spc="20" dirty="0">
                <a:latin typeface="Cambria"/>
                <a:cs typeface="Cambria"/>
              </a:rPr>
              <a:t>sim</a:t>
            </a:r>
            <a:r>
              <a:rPr sz="1200" i="1" spc="30" baseline="-10416" dirty="0">
                <a:latin typeface="Cambria"/>
                <a:cs typeface="Cambria"/>
              </a:rPr>
              <a:t>JC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1</a:t>
            </a:r>
            <a:r>
              <a:rPr sz="1100" i="1" spc="20" dirty="0">
                <a:latin typeface="Arial"/>
                <a:cs typeface="Arial"/>
              </a:rPr>
              <a:t>,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i="1" spc="20" dirty="0">
                <a:latin typeface="Cambria"/>
                <a:cs typeface="Cambria"/>
              </a:rPr>
              <a:t>c</a:t>
            </a:r>
            <a:r>
              <a:rPr sz="1200" spc="30" baseline="-10416" dirty="0">
                <a:latin typeface="Cambria"/>
                <a:cs typeface="Cambria"/>
              </a:rPr>
              <a:t>2</a:t>
            </a:r>
            <a:r>
              <a:rPr sz="1100" spc="20" dirty="0">
                <a:latin typeface="Arial MT"/>
                <a:cs typeface="Arial MT"/>
              </a:rPr>
              <a:t>)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650" u="sng" baseline="3787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50" u="sng" spc="-75" baseline="37878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1650" u="sng" baseline="37878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endParaRPr sz="1650" baseline="37878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60550" y="2582799"/>
            <a:ext cx="21647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IC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1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i="1" dirty="0">
                <a:latin typeface="Cambria"/>
                <a:cs typeface="Cambria"/>
              </a:rPr>
              <a:t>IC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c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75" dirty="0">
                <a:latin typeface="Cambria"/>
                <a:cs typeface="Cambria"/>
              </a:rPr>
              <a:t>2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i="1" spc="45" dirty="0">
                <a:latin typeface="Cambria"/>
                <a:cs typeface="Cambria"/>
              </a:rPr>
              <a:t>IC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LCS</a:t>
            </a:r>
            <a:r>
              <a:rPr sz="1100" spc="45" dirty="0">
                <a:latin typeface="Arial MT"/>
                <a:cs typeface="Arial MT"/>
              </a:rPr>
              <a:t>(</a:t>
            </a:r>
            <a:r>
              <a:rPr sz="1100" i="1" spc="45" dirty="0">
                <a:latin typeface="Cambria"/>
                <a:cs typeface="Cambria"/>
              </a:rPr>
              <a:t>c</a:t>
            </a:r>
            <a:r>
              <a:rPr sz="1200" spc="67" baseline="-10416" dirty="0">
                <a:latin typeface="Cambria"/>
                <a:cs typeface="Cambria"/>
              </a:rPr>
              <a:t>1</a:t>
            </a:r>
            <a:r>
              <a:rPr sz="1100" i="1" spc="45" dirty="0">
                <a:latin typeface="Arial"/>
                <a:cs typeface="Arial"/>
              </a:rPr>
              <a:t>,</a:t>
            </a:r>
            <a:r>
              <a:rPr sz="1100" i="1" spc="-114" dirty="0">
                <a:latin typeface="Arial"/>
                <a:cs typeface="Arial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c</a:t>
            </a:r>
            <a:r>
              <a:rPr sz="1200" spc="-30" baseline="-10416" dirty="0">
                <a:latin typeface="Cambria"/>
                <a:cs typeface="Cambria"/>
              </a:rPr>
              <a:t>2</a:t>
            </a:r>
            <a:r>
              <a:rPr sz="1100" spc="-20" dirty="0">
                <a:latin typeface="Arial MT"/>
                <a:cs typeface="Arial MT"/>
              </a:rPr>
              <a:t>))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23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5031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Example:</a:t>
            </a:r>
            <a:r>
              <a:rPr sz="1400" i="1" spc="2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Jiang-Conrath</a:t>
            </a:r>
            <a:r>
              <a:rPr sz="1400" i="1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distance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428" y="837082"/>
            <a:ext cx="3409950" cy="21717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24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20" dirty="0"/>
              <a:t> </a:t>
            </a:r>
            <a:r>
              <a:rPr spc="-25" dirty="0"/>
              <a:t>(extended)</a:t>
            </a:r>
            <a:r>
              <a:rPr spc="20" dirty="0"/>
              <a:t> </a:t>
            </a:r>
            <a:r>
              <a:rPr dirty="0"/>
              <a:t>Lesk</a:t>
            </a:r>
            <a:r>
              <a:rPr spc="20" dirty="0"/>
              <a:t> </a:t>
            </a:r>
            <a:r>
              <a:rPr spc="-1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35646"/>
            <a:ext cx="4483735" cy="1183640"/>
            <a:chOff x="87743" y="1135646"/>
            <a:chExt cx="4483735" cy="1183640"/>
          </a:xfrm>
        </p:grpSpPr>
        <p:sp>
          <p:nvSpPr>
            <p:cNvPr id="4" name="object 4"/>
            <p:cNvSpPr/>
            <p:nvPr/>
          </p:nvSpPr>
          <p:spPr>
            <a:xfrm>
              <a:off x="87743" y="1135646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2217381"/>
              <a:ext cx="101599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2204681"/>
              <a:ext cx="4381754" cy="114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1186205"/>
              <a:ext cx="50800" cy="10311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180045"/>
              <a:ext cx="4432935" cy="1088390"/>
            </a:xfrm>
            <a:custGeom>
              <a:avLst/>
              <a:gdLst/>
              <a:ahLst/>
              <a:cxnLst/>
              <a:rect l="l" t="t" r="r" b="b"/>
              <a:pathLst>
                <a:path w="4432935" h="1088389">
                  <a:moveTo>
                    <a:pt x="4432554" y="0"/>
                  </a:moveTo>
                  <a:lnTo>
                    <a:pt x="0" y="0"/>
                  </a:lnTo>
                  <a:lnTo>
                    <a:pt x="0" y="1037336"/>
                  </a:lnTo>
                  <a:lnTo>
                    <a:pt x="4008" y="1057060"/>
                  </a:lnTo>
                  <a:lnTo>
                    <a:pt x="14922" y="1073213"/>
                  </a:lnTo>
                  <a:lnTo>
                    <a:pt x="31075" y="1084127"/>
                  </a:lnTo>
                  <a:lnTo>
                    <a:pt x="50800" y="1088136"/>
                  </a:lnTo>
                  <a:lnTo>
                    <a:pt x="4381754" y="1088136"/>
                  </a:lnTo>
                  <a:lnTo>
                    <a:pt x="4401478" y="1084127"/>
                  </a:lnTo>
                  <a:lnTo>
                    <a:pt x="4417631" y="1073213"/>
                  </a:lnTo>
                  <a:lnTo>
                    <a:pt x="4428545" y="1057060"/>
                  </a:lnTo>
                  <a:lnTo>
                    <a:pt x="4432554" y="103733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1224241"/>
              <a:ext cx="0" cy="1012190"/>
            </a:xfrm>
            <a:custGeom>
              <a:avLst/>
              <a:gdLst/>
              <a:ahLst/>
              <a:cxnLst/>
              <a:rect l="l" t="t" r="r" b="b"/>
              <a:pathLst>
                <a:path h="1012189">
                  <a:moveTo>
                    <a:pt x="0" y="10121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115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988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861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597" y="1229791"/>
              <a:ext cx="64757" cy="64757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8055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459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Two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concepts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similar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70" dirty="0">
                <a:solidFill>
                  <a:srgbClr val="000000"/>
                </a:solidFill>
                <a:latin typeface="Trebuchet MS"/>
                <a:cs typeface="Trebuchet MS"/>
              </a:rPr>
              <a:t>if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their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glosses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contain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similar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words</a:t>
            </a:r>
            <a:endParaRPr sz="950">
              <a:latin typeface="Trebuchet MS"/>
              <a:cs typeface="Trebuchet MS"/>
            </a:endParaRPr>
          </a:p>
          <a:p>
            <a:pPr marL="603250" indent="-116205">
              <a:lnSpc>
                <a:spcPct val="100000"/>
              </a:lnSpc>
              <a:spcBef>
                <a:spcPts val="30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3885" algn="l"/>
              </a:tabLst>
            </a:pP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Drawing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paper:</a:t>
            </a:r>
            <a:r>
              <a:rPr sz="90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paper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70" dirty="0">
                <a:solidFill>
                  <a:srgbClr val="000000"/>
                </a:solidFill>
                <a:latin typeface="Trebuchet MS"/>
                <a:cs typeface="Trebuchet MS"/>
              </a:rPr>
              <a:t>that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specially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20" dirty="0">
                <a:solidFill>
                  <a:srgbClr val="000000"/>
                </a:solidFill>
                <a:latin typeface="Trebuchet MS"/>
                <a:cs typeface="Trebuchet MS"/>
              </a:rPr>
              <a:t>prepared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80" dirty="0">
                <a:solidFill>
                  <a:srgbClr val="000000"/>
                </a:solidFill>
                <a:latin typeface="Trebuchet MS"/>
                <a:cs typeface="Trebuchet MS"/>
              </a:rPr>
              <a:t>for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use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drafting</a:t>
            </a:r>
            <a:endParaRPr sz="900">
              <a:latin typeface="Trebuchet MS"/>
              <a:cs typeface="Trebuchet MS"/>
            </a:endParaRPr>
          </a:p>
          <a:p>
            <a:pPr marL="602615" marR="30480" indent="-116205">
              <a:lnSpc>
                <a:spcPct val="110700"/>
              </a:lnSpc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5155" algn="l"/>
              </a:tabLst>
            </a:pP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Decal:</a:t>
            </a:r>
            <a:r>
              <a:rPr sz="900" spc="7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5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000000"/>
                </a:solidFill>
                <a:latin typeface="Trebuchet MS"/>
                <a:cs typeface="Trebuchet MS"/>
              </a:rPr>
              <a:t>art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0" dirty="0">
                <a:solidFill>
                  <a:srgbClr val="000000"/>
                </a:solidFill>
                <a:latin typeface="Trebuchet MS"/>
                <a:cs typeface="Trebuchet MS"/>
              </a:rPr>
              <a:t>transferring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designs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000000"/>
                </a:solidFill>
                <a:latin typeface="Trebuchet MS"/>
                <a:cs typeface="Trebuchet MS"/>
              </a:rPr>
              <a:t>from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specially</a:t>
            </a:r>
            <a:r>
              <a:rPr sz="900" b="1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20" dirty="0">
                <a:solidFill>
                  <a:srgbClr val="000000"/>
                </a:solidFill>
                <a:latin typeface="Trebuchet MS"/>
                <a:cs typeface="Trebuchet MS"/>
              </a:rPr>
              <a:t>prepared</a:t>
            </a:r>
            <a:r>
              <a:rPr sz="900" b="1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paper</a:t>
            </a:r>
            <a:r>
              <a:rPr sz="900" b="1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0" dirty="0">
                <a:solidFill>
                  <a:srgbClr val="000000"/>
                </a:solidFill>
                <a:latin typeface="Trebuchet MS"/>
                <a:cs typeface="Trebuchet MS"/>
              </a:rPr>
              <a:t>a 	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wood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glass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5" dirty="0">
                <a:solidFill>
                  <a:srgbClr val="000000"/>
                </a:solidFill>
                <a:latin typeface="Trebuchet MS"/>
                <a:cs typeface="Trebuchet MS"/>
              </a:rPr>
              <a:t>metal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surface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230D736-8BC8-4DB2-9843-7839C23BDFC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71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20" dirty="0"/>
              <a:t> </a:t>
            </a:r>
            <a:r>
              <a:rPr spc="-25" dirty="0"/>
              <a:t>(extended)</a:t>
            </a:r>
            <a:r>
              <a:rPr spc="20" dirty="0"/>
              <a:t> </a:t>
            </a:r>
            <a:r>
              <a:rPr dirty="0"/>
              <a:t>Lesk</a:t>
            </a:r>
            <a:r>
              <a:rPr spc="20" dirty="0"/>
              <a:t> </a:t>
            </a:r>
            <a:r>
              <a:rPr spc="-1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35646"/>
            <a:ext cx="4483735" cy="1183640"/>
            <a:chOff x="87743" y="1135646"/>
            <a:chExt cx="4483735" cy="1183640"/>
          </a:xfrm>
        </p:grpSpPr>
        <p:sp>
          <p:nvSpPr>
            <p:cNvPr id="4" name="object 4"/>
            <p:cNvSpPr/>
            <p:nvPr/>
          </p:nvSpPr>
          <p:spPr>
            <a:xfrm>
              <a:off x="87743" y="1135646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2217381"/>
              <a:ext cx="101599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2204681"/>
              <a:ext cx="4381754" cy="114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1186205"/>
              <a:ext cx="50800" cy="10311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180045"/>
              <a:ext cx="4432935" cy="1088390"/>
            </a:xfrm>
            <a:custGeom>
              <a:avLst/>
              <a:gdLst/>
              <a:ahLst/>
              <a:cxnLst/>
              <a:rect l="l" t="t" r="r" b="b"/>
              <a:pathLst>
                <a:path w="4432935" h="1088389">
                  <a:moveTo>
                    <a:pt x="4432554" y="0"/>
                  </a:moveTo>
                  <a:lnTo>
                    <a:pt x="0" y="0"/>
                  </a:lnTo>
                  <a:lnTo>
                    <a:pt x="0" y="1037336"/>
                  </a:lnTo>
                  <a:lnTo>
                    <a:pt x="4008" y="1057060"/>
                  </a:lnTo>
                  <a:lnTo>
                    <a:pt x="14922" y="1073213"/>
                  </a:lnTo>
                  <a:lnTo>
                    <a:pt x="31075" y="1084127"/>
                  </a:lnTo>
                  <a:lnTo>
                    <a:pt x="50800" y="1088136"/>
                  </a:lnTo>
                  <a:lnTo>
                    <a:pt x="4381754" y="1088136"/>
                  </a:lnTo>
                  <a:lnTo>
                    <a:pt x="4401478" y="1084127"/>
                  </a:lnTo>
                  <a:lnTo>
                    <a:pt x="4417631" y="1073213"/>
                  </a:lnTo>
                  <a:lnTo>
                    <a:pt x="4428545" y="1057060"/>
                  </a:lnTo>
                  <a:lnTo>
                    <a:pt x="4432554" y="103733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1224241"/>
              <a:ext cx="0" cy="1012190"/>
            </a:xfrm>
            <a:custGeom>
              <a:avLst/>
              <a:gdLst/>
              <a:ahLst/>
              <a:cxnLst/>
              <a:rect l="l" t="t" r="r" b="b"/>
              <a:pathLst>
                <a:path h="1012189">
                  <a:moveTo>
                    <a:pt x="0" y="10121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115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988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861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597" y="1229791"/>
              <a:ext cx="64757" cy="6475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920633"/>
              <a:ext cx="64757" cy="64757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8055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459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Two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concepts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similar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70" dirty="0">
                <a:solidFill>
                  <a:srgbClr val="000000"/>
                </a:solidFill>
                <a:latin typeface="Trebuchet MS"/>
                <a:cs typeface="Trebuchet MS"/>
              </a:rPr>
              <a:t>if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their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glosses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contain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similar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words</a:t>
            </a:r>
            <a:endParaRPr sz="950">
              <a:latin typeface="Trebuchet MS"/>
              <a:cs typeface="Trebuchet MS"/>
            </a:endParaRPr>
          </a:p>
          <a:p>
            <a:pPr marL="603250" indent="-116205">
              <a:lnSpc>
                <a:spcPct val="100000"/>
              </a:lnSpc>
              <a:spcBef>
                <a:spcPts val="30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3885" algn="l"/>
              </a:tabLst>
            </a:pP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Drawing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paper:</a:t>
            </a:r>
            <a:r>
              <a:rPr sz="90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paper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70" dirty="0">
                <a:solidFill>
                  <a:srgbClr val="000000"/>
                </a:solidFill>
                <a:latin typeface="Trebuchet MS"/>
                <a:cs typeface="Trebuchet MS"/>
              </a:rPr>
              <a:t>that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specially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20" dirty="0">
                <a:solidFill>
                  <a:srgbClr val="000000"/>
                </a:solidFill>
                <a:latin typeface="Trebuchet MS"/>
                <a:cs typeface="Trebuchet MS"/>
              </a:rPr>
              <a:t>prepared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80" dirty="0">
                <a:solidFill>
                  <a:srgbClr val="000000"/>
                </a:solidFill>
                <a:latin typeface="Trebuchet MS"/>
                <a:cs typeface="Trebuchet MS"/>
              </a:rPr>
              <a:t>for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use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drafting</a:t>
            </a:r>
            <a:endParaRPr sz="900">
              <a:latin typeface="Trebuchet MS"/>
              <a:cs typeface="Trebuchet MS"/>
            </a:endParaRPr>
          </a:p>
          <a:p>
            <a:pPr marL="602615" marR="30480" indent="-116205">
              <a:lnSpc>
                <a:spcPct val="110700"/>
              </a:lnSpc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5155" algn="l"/>
              </a:tabLst>
            </a:pP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Decal:</a:t>
            </a:r>
            <a:r>
              <a:rPr sz="900" spc="7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5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000000"/>
                </a:solidFill>
                <a:latin typeface="Trebuchet MS"/>
                <a:cs typeface="Trebuchet MS"/>
              </a:rPr>
              <a:t>art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0" dirty="0">
                <a:solidFill>
                  <a:srgbClr val="000000"/>
                </a:solidFill>
                <a:latin typeface="Trebuchet MS"/>
                <a:cs typeface="Trebuchet MS"/>
              </a:rPr>
              <a:t>transferring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designs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000000"/>
                </a:solidFill>
                <a:latin typeface="Trebuchet MS"/>
                <a:cs typeface="Trebuchet MS"/>
              </a:rPr>
              <a:t>from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specially</a:t>
            </a:r>
            <a:r>
              <a:rPr sz="900" b="1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20" dirty="0">
                <a:solidFill>
                  <a:srgbClr val="000000"/>
                </a:solidFill>
                <a:latin typeface="Trebuchet MS"/>
                <a:cs typeface="Trebuchet MS"/>
              </a:rPr>
              <a:t>prepared</a:t>
            </a:r>
            <a:r>
              <a:rPr sz="900" b="1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paper</a:t>
            </a:r>
            <a:r>
              <a:rPr sz="900" b="1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0" dirty="0">
                <a:solidFill>
                  <a:srgbClr val="000000"/>
                </a:solidFill>
                <a:latin typeface="Trebuchet MS"/>
                <a:cs typeface="Trebuchet MS"/>
              </a:rPr>
              <a:t>a 	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wood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glass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5" dirty="0">
                <a:solidFill>
                  <a:srgbClr val="000000"/>
                </a:solidFill>
                <a:latin typeface="Trebuchet MS"/>
                <a:cs typeface="Trebuchet MS"/>
              </a:rPr>
              <a:t>metal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surface</a:t>
            </a:r>
            <a:endParaRPr sz="90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375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For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each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n-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phrase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that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occurs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both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glosses,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add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score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000000"/>
                </a:solidFill>
              </a:rPr>
              <a:t>n</a:t>
            </a:r>
            <a:r>
              <a:rPr sz="1200" i="0" spc="-37" baseline="27777" dirty="0">
                <a:solidFill>
                  <a:srgbClr val="000000"/>
                </a:solidFill>
                <a:latin typeface="Cambria"/>
                <a:cs typeface="Cambria"/>
              </a:rPr>
              <a:t>2</a:t>
            </a:r>
            <a:endParaRPr sz="1200" baseline="27777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04DA8CF-89B2-44D9-A67F-F2A21FFA96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72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20" dirty="0"/>
              <a:t> </a:t>
            </a:r>
            <a:r>
              <a:rPr spc="-25" dirty="0"/>
              <a:t>(extended)</a:t>
            </a:r>
            <a:r>
              <a:rPr spc="20" dirty="0"/>
              <a:t> </a:t>
            </a:r>
            <a:r>
              <a:rPr dirty="0"/>
              <a:t>Lesk</a:t>
            </a:r>
            <a:r>
              <a:rPr spc="20" dirty="0"/>
              <a:t> </a:t>
            </a:r>
            <a:r>
              <a:rPr spc="-1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35646"/>
            <a:ext cx="4483735" cy="1183640"/>
            <a:chOff x="87743" y="1135646"/>
            <a:chExt cx="4483735" cy="1183640"/>
          </a:xfrm>
        </p:grpSpPr>
        <p:sp>
          <p:nvSpPr>
            <p:cNvPr id="4" name="object 4"/>
            <p:cNvSpPr/>
            <p:nvPr/>
          </p:nvSpPr>
          <p:spPr>
            <a:xfrm>
              <a:off x="87743" y="1135646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2217381"/>
              <a:ext cx="101599" cy="101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2204681"/>
              <a:ext cx="4381754" cy="114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1186205"/>
              <a:ext cx="50800" cy="10311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180045"/>
              <a:ext cx="4432935" cy="1088390"/>
            </a:xfrm>
            <a:custGeom>
              <a:avLst/>
              <a:gdLst/>
              <a:ahLst/>
              <a:cxnLst/>
              <a:rect l="l" t="t" r="r" b="b"/>
              <a:pathLst>
                <a:path w="4432935" h="1088389">
                  <a:moveTo>
                    <a:pt x="4432554" y="0"/>
                  </a:moveTo>
                  <a:lnTo>
                    <a:pt x="0" y="0"/>
                  </a:lnTo>
                  <a:lnTo>
                    <a:pt x="0" y="1037336"/>
                  </a:lnTo>
                  <a:lnTo>
                    <a:pt x="4008" y="1057060"/>
                  </a:lnTo>
                  <a:lnTo>
                    <a:pt x="14922" y="1073213"/>
                  </a:lnTo>
                  <a:lnTo>
                    <a:pt x="31075" y="1084127"/>
                  </a:lnTo>
                  <a:lnTo>
                    <a:pt x="50800" y="1088136"/>
                  </a:lnTo>
                  <a:lnTo>
                    <a:pt x="4381754" y="1088136"/>
                  </a:lnTo>
                  <a:lnTo>
                    <a:pt x="4401478" y="1084127"/>
                  </a:lnTo>
                  <a:lnTo>
                    <a:pt x="4417631" y="1073213"/>
                  </a:lnTo>
                  <a:lnTo>
                    <a:pt x="4428545" y="1057060"/>
                  </a:lnTo>
                  <a:lnTo>
                    <a:pt x="4432554" y="103733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1224241"/>
              <a:ext cx="0" cy="1012190"/>
            </a:xfrm>
            <a:custGeom>
              <a:avLst/>
              <a:gdLst/>
              <a:ahLst/>
              <a:cxnLst/>
              <a:rect l="l" t="t" r="r" b="b"/>
              <a:pathLst>
                <a:path h="1012189">
                  <a:moveTo>
                    <a:pt x="0" y="101218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115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988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861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597" y="1229791"/>
              <a:ext cx="64757" cy="6475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92063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2130666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8055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459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Two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concepts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similar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70" dirty="0">
                <a:solidFill>
                  <a:srgbClr val="000000"/>
                </a:solidFill>
                <a:latin typeface="Trebuchet MS"/>
                <a:cs typeface="Trebuchet MS"/>
              </a:rPr>
              <a:t>if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their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glosses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contain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similar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words</a:t>
            </a:r>
            <a:endParaRPr sz="950">
              <a:latin typeface="Trebuchet MS"/>
              <a:cs typeface="Trebuchet MS"/>
            </a:endParaRPr>
          </a:p>
          <a:p>
            <a:pPr marL="603250" indent="-116205">
              <a:lnSpc>
                <a:spcPct val="100000"/>
              </a:lnSpc>
              <a:spcBef>
                <a:spcPts val="30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3885" algn="l"/>
              </a:tabLst>
            </a:pP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Drawing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paper:</a:t>
            </a:r>
            <a:r>
              <a:rPr sz="90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paper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70" dirty="0">
                <a:solidFill>
                  <a:srgbClr val="000000"/>
                </a:solidFill>
                <a:latin typeface="Trebuchet MS"/>
                <a:cs typeface="Trebuchet MS"/>
              </a:rPr>
              <a:t>that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specially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20" dirty="0">
                <a:solidFill>
                  <a:srgbClr val="000000"/>
                </a:solidFill>
                <a:latin typeface="Trebuchet MS"/>
                <a:cs typeface="Trebuchet MS"/>
              </a:rPr>
              <a:t>prepared</a:t>
            </a:r>
            <a:r>
              <a:rPr sz="9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80" dirty="0">
                <a:solidFill>
                  <a:srgbClr val="000000"/>
                </a:solidFill>
                <a:latin typeface="Trebuchet MS"/>
                <a:cs typeface="Trebuchet MS"/>
              </a:rPr>
              <a:t>for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use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0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drafting</a:t>
            </a:r>
            <a:endParaRPr sz="900">
              <a:latin typeface="Trebuchet MS"/>
              <a:cs typeface="Trebuchet MS"/>
            </a:endParaRPr>
          </a:p>
          <a:p>
            <a:pPr marL="602615" marR="30480" indent="-116205">
              <a:lnSpc>
                <a:spcPct val="110700"/>
              </a:lnSpc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5155" algn="l"/>
              </a:tabLst>
            </a:pP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Decal:</a:t>
            </a:r>
            <a:r>
              <a:rPr sz="900" spc="7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5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000000"/>
                </a:solidFill>
                <a:latin typeface="Trebuchet MS"/>
                <a:cs typeface="Trebuchet MS"/>
              </a:rPr>
              <a:t>art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0" dirty="0">
                <a:solidFill>
                  <a:srgbClr val="000000"/>
                </a:solidFill>
                <a:latin typeface="Trebuchet MS"/>
                <a:cs typeface="Trebuchet MS"/>
              </a:rPr>
              <a:t>transferring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designs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000000"/>
                </a:solidFill>
                <a:latin typeface="Trebuchet MS"/>
                <a:cs typeface="Trebuchet MS"/>
              </a:rPr>
              <a:t>from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specially</a:t>
            </a:r>
            <a:r>
              <a:rPr sz="900" b="1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20" dirty="0">
                <a:solidFill>
                  <a:srgbClr val="000000"/>
                </a:solidFill>
                <a:latin typeface="Trebuchet MS"/>
                <a:cs typeface="Trebuchet MS"/>
              </a:rPr>
              <a:t>prepared</a:t>
            </a:r>
            <a:r>
              <a:rPr sz="900" b="1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spc="-10" dirty="0">
                <a:solidFill>
                  <a:srgbClr val="000000"/>
                </a:solidFill>
                <a:latin typeface="Trebuchet MS"/>
                <a:cs typeface="Trebuchet MS"/>
              </a:rPr>
              <a:t>paper</a:t>
            </a:r>
            <a:r>
              <a:rPr sz="900" b="1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50" dirty="0">
                <a:solidFill>
                  <a:srgbClr val="000000"/>
                </a:solidFill>
                <a:latin typeface="Trebuchet MS"/>
                <a:cs typeface="Trebuchet MS"/>
              </a:rPr>
              <a:t>a 	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wood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glass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45" dirty="0">
                <a:solidFill>
                  <a:srgbClr val="000000"/>
                </a:solidFill>
                <a:latin typeface="Trebuchet MS"/>
                <a:cs typeface="Trebuchet MS"/>
              </a:rPr>
              <a:t>metal</a:t>
            </a:r>
            <a:r>
              <a:rPr sz="90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000000"/>
                </a:solidFill>
                <a:latin typeface="Trebuchet MS"/>
                <a:cs typeface="Trebuchet MS"/>
              </a:rPr>
              <a:t>surface</a:t>
            </a:r>
            <a:endParaRPr sz="90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375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For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each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n-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phrase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that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occurs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both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glosses,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add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score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000000"/>
                </a:solidFill>
              </a:rPr>
              <a:t>n</a:t>
            </a:r>
            <a:r>
              <a:rPr sz="1200" i="0" spc="-37" baseline="27777" dirty="0">
                <a:solidFill>
                  <a:srgbClr val="000000"/>
                </a:solidFill>
                <a:latin typeface="Cambria"/>
                <a:cs typeface="Cambria"/>
              </a:rPr>
              <a:t>2</a:t>
            </a:r>
            <a:endParaRPr sz="1200" baseline="27777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  <a:spcBef>
                <a:spcPts val="334"/>
              </a:spcBef>
            </a:pP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paper</a:t>
            </a:r>
            <a:r>
              <a:rPr sz="950" b="1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specially</a:t>
            </a:r>
            <a:r>
              <a:rPr sz="950" b="1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prepared</a:t>
            </a:r>
            <a:r>
              <a:rPr sz="950" b="1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i="0" dirty="0">
                <a:solidFill>
                  <a:srgbClr val="000000"/>
                </a:solidFill>
                <a:latin typeface="Lucida Sans Unicode"/>
                <a:cs typeface="Lucida Sans Unicode"/>
              </a:rPr>
              <a:t>→</a:t>
            </a:r>
            <a:r>
              <a:rPr i="0" spc="-4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i="0" spc="-75" dirty="0">
                <a:solidFill>
                  <a:srgbClr val="000000"/>
                </a:solidFill>
                <a:latin typeface="Cambria"/>
                <a:cs typeface="Cambria"/>
              </a:rPr>
              <a:t>1</a:t>
            </a:r>
            <a:r>
              <a:rPr i="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i="0" spc="200" dirty="0">
                <a:solidFill>
                  <a:srgbClr val="000000"/>
                </a:solidFill>
                <a:latin typeface="Arial MT"/>
                <a:cs typeface="Arial MT"/>
              </a:rPr>
              <a:t>+</a:t>
            </a:r>
            <a:r>
              <a:rPr i="0" spc="-114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i="0" spc="-70" dirty="0">
                <a:solidFill>
                  <a:srgbClr val="000000"/>
                </a:solidFill>
                <a:latin typeface="Cambria"/>
                <a:cs typeface="Cambria"/>
              </a:rPr>
              <a:t>4</a:t>
            </a:r>
            <a:r>
              <a:rPr i="0" spc="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i="0" spc="200" dirty="0">
                <a:solidFill>
                  <a:srgbClr val="000000"/>
                </a:solidFill>
                <a:latin typeface="Arial MT"/>
                <a:cs typeface="Arial MT"/>
              </a:rPr>
              <a:t>=</a:t>
            </a:r>
            <a:r>
              <a:rPr i="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i="0" spc="-50" dirty="0">
                <a:solidFill>
                  <a:srgbClr val="000000"/>
                </a:solidFill>
                <a:latin typeface="Cambria"/>
                <a:cs typeface="Cambria"/>
              </a:rPr>
              <a:t>5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12136497-0EB8-4A66-BA33-7D75AAC08CB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73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dirty="0"/>
              <a:t>in</a:t>
            </a:r>
            <a:r>
              <a:rPr spc="-20" dirty="0"/>
              <a:t> mapping </a:t>
            </a:r>
            <a:r>
              <a:rPr dirty="0"/>
              <a:t>words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30" dirty="0"/>
              <a:t>wordnet</a:t>
            </a:r>
            <a:r>
              <a:rPr spc="-20" dirty="0"/>
              <a:t> </a:t>
            </a:r>
            <a:r>
              <a:rPr spc="-10" dirty="0"/>
              <a:t>senses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1503527"/>
            <a:ext cx="352996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saw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who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98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years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old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still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walk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tell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jokes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26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66306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Ambiguity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rampant!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713" y="683920"/>
            <a:ext cx="4320540" cy="225552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82" y="3339672"/>
            <a:ext cx="90233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Lexical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Semantics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WordNet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27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93356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423"/>
                </a:lnTo>
                <a:lnTo>
                  <a:pt x="4432554" y="82423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37793"/>
            <a:ext cx="4483735" cy="382270"/>
            <a:chOff x="87743" y="937793"/>
            <a:chExt cx="4483735" cy="382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218336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205636"/>
              <a:ext cx="4381754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943914"/>
              <a:ext cx="50800" cy="27442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37793"/>
              <a:ext cx="4432935" cy="331470"/>
            </a:xfrm>
            <a:custGeom>
              <a:avLst/>
              <a:gdLst/>
              <a:ahLst/>
              <a:cxnLst/>
              <a:rect l="l" t="t" r="r" b="b"/>
              <a:pathLst>
                <a:path w="4432935" h="331469">
                  <a:moveTo>
                    <a:pt x="4432554" y="0"/>
                  </a:moveTo>
                  <a:lnTo>
                    <a:pt x="0" y="0"/>
                  </a:lnTo>
                  <a:lnTo>
                    <a:pt x="0" y="280543"/>
                  </a:lnTo>
                  <a:lnTo>
                    <a:pt x="4008" y="300267"/>
                  </a:lnTo>
                  <a:lnTo>
                    <a:pt x="14922" y="316420"/>
                  </a:lnTo>
                  <a:lnTo>
                    <a:pt x="31075" y="327334"/>
                  </a:lnTo>
                  <a:lnTo>
                    <a:pt x="50800" y="331343"/>
                  </a:lnTo>
                  <a:lnTo>
                    <a:pt x="4381754" y="331343"/>
                  </a:lnTo>
                  <a:lnTo>
                    <a:pt x="4401478" y="327334"/>
                  </a:lnTo>
                  <a:lnTo>
                    <a:pt x="4417631" y="316420"/>
                  </a:lnTo>
                  <a:lnTo>
                    <a:pt x="4428545" y="300267"/>
                  </a:lnTo>
                  <a:lnTo>
                    <a:pt x="4432554" y="28054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981989"/>
              <a:ext cx="0" cy="255904"/>
            </a:xfrm>
            <a:custGeom>
              <a:avLst/>
              <a:gdLst/>
              <a:ahLst/>
              <a:cxnLst/>
              <a:rect l="l" t="t" r="r" b="b"/>
              <a:pathLst>
                <a:path h="255905">
                  <a:moveTo>
                    <a:pt x="0" y="2553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9693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566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439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54315" y="942136"/>
            <a:ext cx="22999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60" dirty="0">
                <a:solidFill>
                  <a:srgbClr val="FFFFFF"/>
                </a:solidFill>
                <a:latin typeface="Cambria"/>
                <a:cs typeface="Cambria"/>
              </a:rPr>
              <a:t>Word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Sense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Disambiguation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I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1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10" dirty="0"/>
              <a:t> </a:t>
            </a:r>
            <a:r>
              <a:rPr dirty="0"/>
              <a:t>Sense Disambiguation</a:t>
            </a:r>
            <a:r>
              <a:rPr spc="5" dirty="0"/>
              <a:t> </a:t>
            </a:r>
            <a:r>
              <a:rPr spc="-10" dirty="0"/>
              <a:t>(WSD)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39533"/>
            <a:ext cx="4483735" cy="1483360"/>
            <a:chOff x="87743" y="639533"/>
            <a:chExt cx="4483735" cy="1483360"/>
          </a:xfrm>
        </p:grpSpPr>
        <p:sp>
          <p:nvSpPr>
            <p:cNvPr id="4" name="object 4"/>
            <p:cNvSpPr/>
            <p:nvPr/>
          </p:nvSpPr>
          <p:spPr>
            <a:xfrm>
              <a:off x="87743" y="63953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1255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2102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08327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83780"/>
              <a:ext cx="50800" cy="133724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56818"/>
              <a:ext cx="4432935" cy="1215390"/>
            </a:xfrm>
            <a:custGeom>
              <a:avLst/>
              <a:gdLst/>
              <a:ahLst/>
              <a:cxnLst/>
              <a:rect l="l" t="t" r="r" b="b"/>
              <a:pathLst>
                <a:path w="4432935" h="1215389">
                  <a:moveTo>
                    <a:pt x="4432554" y="0"/>
                  </a:moveTo>
                  <a:lnTo>
                    <a:pt x="0" y="0"/>
                  </a:lnTo>
                  <a:lnTo>
                    <a:pt x="0" y="1164209"/>
                  </a:lnTo>
                  <a:lnTo>
                    <a:pt x="4008" y="1183933"/>
                  </a:lnTo>
                  <a:lnTo>
                    <a:pt x="14922" y="1200086"/>
                  </a:lnTo>
                  <a:lnTo>
                    <a:pt x="31075" y="1211000"/>
                  </a:lnTo>
                  <a:lnTo>
                    <a:pt x="50800" y="1215009"/>
                  </a:lnTo>
                  <a:lnTo>
                    <a:pt x="4381754" y="1215009"/>
                  </a:lnTo>
                  <a:lnTo>
                    <a:pt x="4401478" y="1211000"/>
                  </a:lnTo>
                  <a:lnTo>
                    <a:pt x="4417631" y="1200086"/>
                  </a:lnTo>
                  <a:lnTo>
                    <a:pt x="4428545" y="1183933"/>
                  </a:lnTo>
                  <a:lnTo>
                    <a:pt x="4432554" y="116420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1817"/>
              <a:ext cx="0" cy="1318260"/>
            </a:xfrm>
            <a:custGeom>
              <a:avLst/>
              <a:gdLst/>
              <a:ahLst/>
              <a:cxnLst/>
              <a:rect l="l" t="t" r="r" b="b"/>
              <a:pathLst>
                <a:path h="1318260">
                  <a:moveTo>
                    <a:pt x="0" y="13182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091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964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837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0369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11372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303515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13029" y="568103"/>
            <a:ext cx="4289425" cy="147129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0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Sense</a:t>
            </a: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ambiguity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400"/>
              </a:spcBef>
            </a:pPr>
            <a:r>
              <a:rPr sz="950" spc="50" dirty="0">
                <a:latin typeface="Trebuchet MS"/>
                <a:cs typeface="Trebuchet MS"/>
              </a:rPr>
              <a:t>Many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several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senses</a:t>
            </a:r>
            <a:endParaRPr sz="950">
              <a:latin typeface="Trebuchet MS"/>
              <a:cs typeface="Trebuchet MS"/>
            </a:endParaRPr>
          </a:p>
          <a:p>
            <a:pPr marL="302260" marR="1466215">
              <a:lnSpc>
                <a:spcPct val="131100"/>
              </a:lnSpc>
              <a:spcBef>
                <a:spcPts val="16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b="1" spc="85" dirty="0">
                <a:latin typeface="Trebuchet MS"/>
                <a:cs typeface="Trebuchet MS"/>
              </a:rPr>
              <a:t>bass</a:t>
            </a:r>
            <a:r>
              <a:rPr sz="950" b="1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depends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talking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music,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fish?</a:t>
            </a:r>
            <a:endParaRPr sz="950">
              <a:latin typeface="Trebuchet MS"/>
              <a:cs typeface="Trebuchet MS"/>
            </a:endParaRPr>
          </a:p>
          <a:p>
            <a:pPr marL="577215" marR="63500" indent="-116205">
              <a:lnSpc>
                <a:spcPct val="110700"/>
              </a:lnSpc>
              <a:spcBef>
                <a:spcPts val="190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9120" algn="l"/>
              </a:tabLst>
            </a:pPr>
            <a:r>
              <a:rPr sz="900" dirty="0">
                <a:latin typeface="Trebuchet MS"/>
                <a:cs typeface="Trebuchet MS"/>
              </a:rPr>
              <a:t>An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electric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guitar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b="1" spc="65" dirty="0">
                <a:latin typeface="Trebuchet MS"/>
                <a:cs typeface="Trebuchet MS"/>
              </a:rPr>
              <a:t>bass</a:t>
            </a:r>
            <a:r>
              <a:rPr sz="900" b="1" spc="-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player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stand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off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one</a:t>
            </a:r>
            <a:r>
              <a:rPr sz="900" spc="-10" dirty="0">
                <a:latin typeface="Trebuchet MS"/>
                <a:cs typeface="Trebuchet MS"/>
              </a:rPr>
              <a:t> side,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not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really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part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of 	the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scene,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just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sort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nod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gringo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expectations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perhaps.</a:t>
            </a:r>
            <a:endParaRPr sz="900">
              <a:latin typeface="Trebuchet MS"/>
              <a:cs typeface="Trebuchet MS"/>
            </a:endParaRPr>
          </a:p>
          <a:p>
            <a:pPr marL="577215" marR="43180" indent="-116205">
              <a:lnSpc>
                <a:spcPct val="110700"/>
              </a:lnSpc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9120" algn="l"/>
              </a:tabLst>
            </a:pP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0" dirty="0">
                <a:latin typeface="Trebuchet MS"/>
                <a:cs typeface="Trebuchet MS"/>
              </a:rPr>
              <a:t>it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all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started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when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fishermen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decided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striped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b="1" spc="65" dirty="0">
                <a:latin typeface="Trebuchet MS"/>
                <a:cs typeface="Trebuchet MS"/>
              </a:rPr>
              <a:t>bass</a:t>
            </a:r>
            <a:r>
              <a:rPr sz="900" b="1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Lake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Mead 	were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too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skinny.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7DA54DC5-8B56-4D40-BFF2-6C3F1C2E8AE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77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10" dirty="0"/>
              <a:t> </a:t>
            </a:r>
            <a:r>
              <a:rPr dirty="0"/>
              <a:t>Sense Disambiguation</a:t>
            </a:r>
            <a:r>
              <a:rPr spc="5" dirty="0"/>
              <a:t> </a:t>
            </a:r>
            <a:r>
              <a:rPr spc="-10" dirty="0"/>
              <a:t>(WSD)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39533"/>
            <a:ext cx="4483735" cy="1483360"/>
            <a:chOff x="87743" y="639533"/>
            <a:chExt cx="4483735" cy="1483360"/>
          </a:xfrm>
        </p:grpSpPr>
        <p:sp>
          <p:nvSpPr>
            <p:cNvPr id="4" name="object 4"/>
            <p:cNvSpPr/>
            <p:nvPr/>
          </p:nvSpPr>
          <p:spPr>
            <a:xfrm>
              <a:off x="87743" y="63953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1255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2102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08327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83780"/>
              <a:ext cx="50800" cy="133724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56818"/>
              <a:ext cx="4432935" cy="1215390"/>
            </a:xfrm>
            <a:custGeom>
              <a:avLst/>
              <a:gdLst/>
              <a:ahLst/>
              <a:cxnLst/>
              <a:rect l="l" t="t" r="r" b="b"/>
              <a:pathLst>
                <a:path w="4432935" h="1215389">
                  <a:moveTo>
                    <a:pt x="4432554" y="0"/>
                  </a:moveTo>
                  <a:lnTo>
                    <a:pt x="0" y="0"/>
                  </a:lnTo>
                  <a:lnTo>
                    <a:pt x="0" y="1164209"/>
                  </a:lnTo>
                  <a:lnTo>
                    <a:pt x="4008" y="1183933"/>
                  </a:lnTo>
                  <a:lnTo>
                    <a:pt x="14922" y="1200086"/>
                  </a:lnTo>
                  <a:lnTo>
                    <a:pt x="31075" y="1211000"/>
                  </a:lnTo>
                  <a:lnTo>
                    <a:pt x="50800" y="1215009"/>
                  </a:lnTo>
                  <a:lnTo>
                    <a:pt x="4381754" y="1215009"/>
                  </a:lnTo>
                  <a:lnTo>
                    <a:pt x="4401478" y="1211000"/>
                  </a:lnTo>
                  <a:lnTo>
                    <a:pt x="4417631" y="1200086"/>
                  </a:lnTo>
                  <a:lnTo>
                    <a:pt x="4428545" y="1183933"/>
                  </a:lnTo>
                  <a:lnTo>
                    <a:pt x="4432554" y="116420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1817"/>
              <a:ext cx="0" cy="1318260"/>
            </a:xfrm>
            <a:custGeom>
              <a:avLst/>
              <a:gdLst/>
              <a:ahLst/>
              <a:cxnLst/>
              <a:rect l="l" t="t" r="r" b="b"/>
              <a:pathLst>
                <a:path h="1318260">
                  <a:moveTo>
                    <a:pt x="0" y="13182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091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964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837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0369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11372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303515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2223757"/>
            <a:ext cx="4483735" cy="839469"/>
            <a:chOff x="87743" y="2223757"/>
            <a:chExt cx="4483735" cy="839469"/>
          </a:xfrm>
        </p:grpSpPr>
        <p:sp>
          <p:nvSpPr>
            <p:cNvPr id="18" name="object 18"/>
            <p:cNvSpPr/>
            <p:nvPr/>
          </p:nvSpPr>
          <p:spPr>
            <a:xfrm>
              <a:off x="87743" y="222375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396769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961551"/>
              <a:ext cx="101599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948851"/>
              <a:ext cx="4381754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267991"/>
              <a:ext cx="50800" cy="69355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441105"/>
              <a:ext cx="4432935" cy="571500"/>
            </a:xfrm>
            <a:custGeom>
              <a:avLst/>
              <a:gdLst/>
              <a:ahLst/>
              <a:cxnLst/>
              <a:rect l="l" t="t" r="r" b="b"/>
              <a:pathLst>
                <a:path w="4432935" h="571500">
                  <a:moveTo>
                    <a:pt x="4432554" y="0"/>
                  </a:moveTo>
                  <a:lnTo>
                    <a:pt x="0" y="0"/>
                  </a:lnTo>
                  <a:lnTo>
                    <a:pt x="0" y="520446"/>
                  </a:lnTo>
                  <a:lnTo>
                    <a:pt x="4008" y="540170"/>
                  </a:lnTo>
                  <a:lnTo>
                    <a:pt x="14922" y="556323"/>
                  </a:lnTo>
                  <a:lnTo>
                    <a:pt x="31075" y="567237"/>
                  </a:lnTo>
                  <a:lnTo>
                    <a:pt x="50800" y="571246"/>
                  </a:lnTo>
                  <a:lnTo>
                    <a:pt x="4381754" y="571246"/>
                  </a:lnTo>
                  <a:lnTo>
                    <a:pt x="4401478" y="567237"/>
                  </a:lnTo>
                  <a:lnTo>
                    <a:pt x="4417631" y="556323"/>
                  </a:lnTo>
                  <a:lnTo>
                    <a:pt x="4428545" y="540170"/>
                  </a:lnTo>
                  <a:lnTo>
                    <a:pt x="4432554" y="52044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306104"/>
              <a:ext cx="0" cy="675005"/>
            </a:xfrm>
            <a:custGeom>
              <a:avLst/>
              <a:gdLst/>
              <a:ahLst/>
              <a:cxnLst/>
              <a:rect l="l" t="t" r="r" b="b"/>
              <a:pathLst>
                <a:path h="675005">
                  <a:moveTo>
                    <a:pt x="0" y="6744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2933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2806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2679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490787"/>
              <a:ext cx="64757" cy="64757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00"/>
              </a:spcBef>
            </a:pPr>
            <a:r>
              <a:rPr dirty="0"/>
              <a:t>Sense</a:t>
            </a:r>
            <a:r>
              <a:rPr spc="-50" dirty="0"/>
              <a:t> </a:t>
            </a:r>
            <a:r>
              <a:rPr spc="-10" dirty="0"/>
              <a:t>ambiguity</a:t>
            </a:r>
          </a:p>
          <a:p>
            <a:pPr marL="327660">
              <a:lnSpc>
                <a:spcPct val="100000"/>
              </a:lnSpc>
              <a:spcBef>
                <a:spcPts val="400"/>
              </a:spcBef>
            </a:pP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Many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words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have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several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meanings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senses</a:t>
            </a:r>
            <a:endParaRPr sz="950">
              <a:latin typeface="Trebuchet MS"/>
              <a:cs typeface="Trebuchet MS"/>
            </a:endParaRPr>
          </a:p>
          <a:p>
            <a:pPr marL="327660" marR="1491615">
              <a:lnSpc>
                <a:spcPct val="131100"/>
              </a:lnSpc>
              <a:spcBef>
                <a:spcPts val="160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meaning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b="1" i="0" spc="8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50" b="1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depends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on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context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talking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about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music,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fish?</a:t>
            </a:r>
            <a:endParaRPr sz="950">
              <a:latin typeface="Trebuchet MS"/>
              <a:cs typeface="Trebuchet MS"/>
            </a:endParaRPr>
          </a:p>
          <a:p>
            <a:pPr marL="602615" marR="88900" indent="-116205">
              <a:lnSpc>
                <a:spcPct val="110700"/>
              </a:lnSpc>
              <a:spcBef>
                <a:spcPts val="190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4520" algn="l"/>
              </a:tabLst>
            </a:pP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35" dirty="0">
                <a:solidFill>
                  <a:srgbClr val="000000"/>
                </a:solidFill>
                <a:latin typeface="Trebuchet MS"/>
                <a:cs typeface="Trebuchet MS"/>
              </a:rPr>
              <a:t>electric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30" dirty="0">
                <a:solidFill>
                  <a:srgbClr val="000000"/>
                </a:solidFill>
                <a:latin typeface="Trebuchet MS"/>
                <a:cs typeface="Trebuchet MS"/>
              </a:rPr>
              <a:t>guitar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i="0" spc="6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00" b="1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player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stand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65" dirty="0">
                <a:solidFill>
                  <a:srgbClr val="000000"/>
                </a:solidFill>
                <a:latin typeface="Trebuchet MS"/>
                <a:cs typeface="Trebuchet MS"/>
              </a:rPr>
              <a:t>off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65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one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side,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not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really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35" dirty="0">
                <a:solidFill>
                  <a:srgbClr val="000000"/>
                </a:solidFill>
                <a:latin typeface="Trebuchet MS"/>
                <a:cs typeface="Trebuchet MS"/>
              </a:rPr>
              <a:t>part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of 	the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scene,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45" dirty="0">
                <a:solidFill>
                  <a:srgbClr val="000000"/>
                </a:solidFill>
                <a:latin typeface="Trebuchet MS"/>
                <a:cs typeface="Trebuchet MS"/>
              </a:rPr>
              <a:t>just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50" dirty="0">
                <a:solidFill>
                  <a:srgbClr val="000000"/>
                </a:solidFill>
                <a:latin typeface="Trebuchet MS"/>
                <a:cs typeface="Trebuchet MS"/>
              </a:rPr>
              <a:t>as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sort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45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nod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65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gringo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expectations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perhaps.</a:t>
            </a:r>
            <a:endParaRPr sz="900">
              <a:latin typeface="Trebuchet MS"/>
              <a:cs typeface="Trebuchet MS"/>
            </a:endParaRPr>
          </a:p>
          <a:p>
            <a:pPr marL="602615" marR="68580" indent="-116205">
              <a:lnSpc>
                <a:spcPct val="110700"/>
              </a:lnSpc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4520" algn="l"/>
              </a:tabLst>
            </a:pP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0" dirty="0">
                <a:solidFill>
                  <a:srgbClr val="000000"/>
                </a:solidFill>
                <a:latin typeface="Trebuchet MS"/>
                <a:cs typeface="Trebuchet MS"/>
              </a:rPr>
              <a:t>it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40" dirty="0">
                <a:solidFill>
                  <a:srgbClr val="000000"/>
                </a:solidFill>
                <a:latin typeface="Trebuchet MS"/>
                <a:cs typeface="Trebuchet MS"/>
              </a:rPr>
              <a:t>all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started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when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fishermen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decided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striped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i="0" spc="6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00" b="1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Lake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Mead 	were</a:t>
            </a:r>
            <a:r>
              <a:rPr sz="900" i="0" spc="-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too</a:t>
            </a:r>
            <a:r>
              <a:rPr sz="900" i="0" spc="-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skinny.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90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spc="-10" dirty="0">
                <a:solidFill>
                  <a:srgbClr val="007F00"/>
                </a:solidFill>
              </a:rPr>
              <a:t>Disambiguation</a:t>
            </a:r>
          </a:p>
          <a:p>
            <a:pPr marL="327660" marR="217170">
              <a:lnSpc>
                <a:spcPct val="118800"/>
              </a:lnSpc>
              <a:spcBef>
                <a:spcPts val="204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task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disambiguation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determine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which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senses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an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ambiguous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invoked</a:t>
            </a:r>
            <a:r>
              <a:rPr sz="950" i="0" spc="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particular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use</a:t>
            </a:r>
            <a:r>
              <a:rPr sz="950" i="0" spc="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E020C7C3-CB63-41A1-977F-C766093CC4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78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10" dirty="0"/>
              <a:t> </a:t>
            </a:r>
            <a:r>
              <a:rPr dirty="0"/>
              <a:t>Sense Disambiguation</a:t>
            </a:r>
            <a:r>
              <a:rPr spc="5" dirty="0"/>
              <a:t> </a:t>
            </a:r>
            <a:r>
              <a:rPr spc="-10" dirty="0"/>
              <a:t>(WSD)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39533"/>
            <a:ext cx="4483735" cy="1483360"/>
            <a:chOff x="87743" y="639533"/>
            <a:chExt cx="4483735" cy="1483360"/>
          </a:xfrm>
        </p:grpSpPr>
        <p:sp>
          <p:nvSpPr>
            <p:cNvPr id="4" name="object 4"/>
            <p:cNvSpPr/>
            <p:nvPr/>
          </p:nvSpPr>
          <p:spPr>
            <a:xfrm>
              <a:off x="87743" y="63953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1255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21027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08327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83780"/>
              <a:ext cx="50800" cy="133724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56818"/>
              <a:ext cx="4432935" cy="1215390"/>
            </a:xfrm>
            <a:custGeom>
              <a:avLst/>
              <a:gdLst/>
              <a:ahLst/>
              <a:cxnLst/>
              <a:rect l="l" t="t" r="r" b="b"/>
              <a:pathLst>
                <a:path w="4432935" h="1215389">
                  <a:moveTo>
                    <a:pt x="4432554" y="0"/>
                  </a:moveTo>
                  <a:lnTo>
                    <a:pt x="0" y="0"/>
                  </a:lnTo>
                  <a:lnTo>
                    <a:pt x="0" y="1164209"/>
                  </a:lnTo>
                  <a:lnTo>
                    <a:pt x="4008" y="1183933"/>
                  </a:lnTo>
                  <a:lnTo>
                    <a:pt x="14922" y="1200086"/>
                  </a:lnTo>
                  <a:lnTo>
                    <a:pt x="31075" y="1211000"/>
                  </a:lnTo>
                  <a:lnTo>
                    <a:pt x="50800" y="1215009"/>
                  </a:lnTo>
                  <a:lnTo>
                    <a:pt x="4381754" y="1215009"/>
                  </a:lnTo>
                  <a:lnTo>
                    <a:pt x="4401478" y="1211000"/>
                  </a:lnTo>
                  <a:lnTo>
                    <a:pt x="4417631" y="1200086"/>
                  </a:lnTo>
                  <a:lnTo>
                    <a:pt x="4428545" y="1183933"/>
                  </a:lnTo>
                  <a:lnTo>
                    <a:pt x="4432554" y="116420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1817"/>
              <a:ext cx="0" cy="1318260"/>
            </a:xfrm>
            <a:custGeom>
              <a:avLst/>
              <a:gdLst/>
              <a:ahLst/>
              <a:cxnLst/>
              <a:rect l="l" t="t" r="r" b="b"/>
              <a:pathLst>
                <a:path h="1318260">
                  <a:moveTo>
                    <a:pt x="0" y="13182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091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6964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837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0369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11372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303515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2223757"/>
            <a:ext cx="4483735" cy="839469"/>
            <a:chOff x="87743" y="2223757"/>
            <a:chExt cx="4483735" cy="839469"/>
          </a:xfrm>
        </p:grpSpPr>
        <p:sp>
          <p:nvSpPr>
            <p:cNvPr id="18" name="object 18"/>
            <p:cNvSpPr/>
            <p:nvPr/>
          </p:nvSpPr>
          <p:spPr>
            <a:xfrm>
              <a:off x="87743" y="222375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396769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961551"/>
              <a:ext cx="101599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948851"/>
              <a:ext cx="4381754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267991"/>
              <a:ext cx="50800" cy="69355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441105"/>
              <a:ext cx="4432935" cy="571500"/>
            </a:xfrm>
            <a:custGeom>
              <a:avLst/>
              <a:gdLst/>
              <a:ahLst/>
              <a:cxnLst/>
              <a:rect l="l" t="t" r="r" b="b"/>
              <a:pathLst>
                <a:path w="4432935" h="571500">
                  <a:moveTo>
                    <a:pt x="4432554" y="0"/>
                  </a:moveTo>
                  <a:lnTo>
                    <a:pt x="0" y="0"/>
                  </a:lnTo>
                  <a:lnTo>
                    <a:pt x="0" y="520446"/>
                  </a:lnTo>
                  <a:lnTo>
                    <a:pt x="4008" y="540170"/>
                  </a:lnTo>
                  <a:lnTo>
                    <a:pt x="14922" y="556323"/>
                  </a:lnTo>
                  <a:lnTo>
                    <a:pt x="31075" y="567237"/>
                  </a:lnTo>
                  <a:lnTo>
                    <a:pt x="50800" y="571246"/>
                  </a:lnTo>
                  <a:lnTo>
                    <a:pt x="4381754" y="571246"/>
                  </a:lnTo>
                  <a:lnTo>
                    <a:pt x="4401478" y="567237"/>
                  </a:lnTo>
                  <a:lnTo>
                    <a:pt x="4417631" y="556323"/>
                  </a:lnTo>
                  <a:lnTo>
                    <a:pt x="4428545" y="540170"/>
                  </a:lnTo>
                  <a:lnTo>
                    <a:pt x="4432554" y="52044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306104"/>
              <a:ext cx="0" cy="675005"/>
            </a:xfrm>
            <a:custGeom>
              <a:avLst/>
              <a:gdLst/>
              <a:ahLst/>
              <a:cxnLst/>
              <a:rect l="l" t="t" r="r" b="b"/>
              <a:pathLst>
                <a:path h="675005">
                  <a:moveTo>
                    <a:pt x="0" y="6744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2933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2806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2679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490787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872892"/>
              <a:ext cx="64757" cy="64757"/>
            </a:xfrm>
            <a:prstGeom prst="rect">
              <a:avLst/>
            </a:prstGeom>
          </p:spPr>
        </p:pic>
      </p:grpSp>
      <p:sp>
        <p:nvSpPr>
          <p:cNvPr id="30" name="object 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00"/>
              </a:spcBef>
            </a:pPr>
            <a:r>
              <a:rPr dirty="0"/>
              <a:t>Sense</a:t>
            </a:r>
            <a:r>
              <a:rPr spc="-50" dirty="0"/>
              <a:t> </a:t>
            </a:r>
            <a:r>
              <a:rPr spc="-10" dirty="0"/>
              <a:t>ambiguity</a:t>
            </a:r>
          </a:p>
          <a:p>
            <a:pPr marL="327660">
              <a:lnSpc>
                <a:spcPct val="100000"/>
              </a:lnSpc>
              <a:spcBef>
                <a:spcPts val="400"/>
              </a:spcBef>
            </a:pP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Many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words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have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several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meanings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senses</a:t>
            </a:r>
            <a:endParaRPr sz="950">
              <a:latin typeface="Trebuchet MS"/>
              <a:cs typeface="Trebuchet MS"/>
            </a:endParaRPr>
          </a:p>
          <a:p>
            <a:pPr marL="327660" marR="1491615">
              <a:lnSpc>
                <a:spcPct val="131100"/>
              </a:lnSpc>
              <a:spcBef>
                <a:spcPts val="160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meaning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b="1" i="0" spc="8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50" b="1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depends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on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context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talking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about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music,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fish?</a:t>
            </a:r>
            <a:endParaRPr sz="950">
              <a:latin typeface="Trebuchet MS"/>
              <a:cs typeface="Trebuchet MS"/>
            </a:endParaRPr>
          </a:p>
          <a:p>
            <a:pPr marL="602615" marR="88900" indent="-116205">
              <a:lnSpc>
                <a:spcPct val="110700"/>
              </a:lnSpc>
              <a:spcBef>
                <a:spcPts val="190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4520" algn="l"/>
              </a:tabLst>
            </a:pP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35" dirty="0">
                <a:solidFill>
                  <a:srgbClr val="000000"/>
                </a:solidFill>
                <a:latin typeface="Trebuchet MS"/>
                <a:cs typeface="Trebuchet MS"/>
              </a:rPr>
              <a:t>electric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30" dirty="0">
                <a:solidFill>
                  <a:srgbClr val="000000"/>
                </a:solidFill>
                <a:latin typeface="Trebuchet MS"/>
                <a:cs typeface="Trebuchet MS"/>
              </a:rPr>
              <a:t>guitar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i="0" spc="6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00" b="1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player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stand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65" dirty="0">
                <a:solidFill>
                  <a:srgbClr val="000000"/>
                </a:solidFill>
                <a:latin typeface="Trebuchet MS"/>
                <a:cs typeface="Trebuchet MS"/>
              </a:rPr>
              <a:t>off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65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one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side,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not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really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35" dirty="0">
                <a:solidFill>
                  <a:srgbClr val="000000"/>
                </a:solidFill>
                <a:latin typeface="Trebuchet MS"/>
                <a:cs typeface="Trebuchet MS"/>
              </a:rPr>
              <a:t>part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of 	the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scene,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45" dirty="0">
                <a:solidFill>
                  <a:srgbClr val="000000"/>
                </a:solidFill>
                <a:latin typeface="Trebuchet MS"/>
                <a:cs typeface="Trebuchet MS"/>
              </a:rPr>
              <a:t>just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50" dirty="0">
                <a:solidFill>
                  <a:srgbClr val="000000"/>
                </a:solidFill>
                <a:latin typeface="Trebuchet MS"/>
                <a:cs typeface="Trebuchet MS"/>
              </a:rPr>
              <a:t>as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sort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45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nod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65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gringo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expectations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perhaps.</a:t>
            </a:r>
            <a:endParaRPr sz="900">
              <a:latin typeface="Trebuchet MS"/>
              <a:cs typeface="Trebuchet MS"/>
            </a:endParaRPr>
          </a:p>
          <a:p>
            <a:pPr marL="602615" marR="68580" indent="-116205">
              <a:lnSpc>
                <a:spcPct val="110700"/>
              </a:lnSpc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4520" algn="l"/>
              </a:tabLst>
            </a:pP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0" dirty="0">
                <a:solidFill>
                  <a:srgbClr val="000000"/>
                </a:solidFill>
                <a:latin typeface="Trebuchet MS"/>
                <a:cs typeface="Trebuchet MS"/>
              </a:rPr>
              <a:t>it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40" dirty="0">
                <a:solidFill>
                  <a:srgbClr val="000000"/>
                </a:solidFill>
                <a:latin typeface="Trebuchet MS"/>
                <a:cs typeface="Trebuchet MS"/>
              </a:rPr>
              <a:t>all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started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when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fishermen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decided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striped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b="1" i="0" spc="6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00" b="1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0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dirty="0">
                <a:solidFill>
                  <a:srgbClr val="000000"/>
                </a:solidFill>
                <a:latin typeface="Trebuchet MS"/>
                <a:cs typeface="Trebuchet MS"/>
              </a:rPr>
              <a:t>Lake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0" dirty="0">
                <a:solidFill>
                  <a:srgbClr val="000000"/>
                </a:solidFill>
                <a:latin typeface="Trebuchet MS"/>
                <a:cs typeface="Trebuchet MS"/>
              </a:rPr>
              <a:t>Mead 	were</a:t>
            </a:r>
            <a:r>
              <a:rPr sz="900" i="0" spc="-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25" dirty="0">
                <a:solidFill>
                  <a:srgbClr val="000000"/>
                </a:solidFill>
                <a:latin typeface="Trebuchet MS"/>
                <a:cs typeface="Trebuchet MS"/>
              </a:rPr>
              <a:t>too</a:t>
            </a:r>
            <a:r>
              <a:rPr sz="900" i="0" spc="-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00" i="0" spc="-10" dirty="0">
                <a:solidFill>
                  <a:srgbClr val="000000"/>
                </a:solidFill>
                <a:latin typeface="Trebuchet MS"/>
                <a:cs typeface="Trebuchet MS"/>
              </a:rPr>
              <a:t>skinny.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90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spc="-10" dirty="0">
                <a:solidFill>
                  <a:srgbClr val="007F00"/>
                </a:solidFill>
              </a:rPr>
              <a:t>Disambiguation</a:t>
            </a:r>
          </a:p>
          <a:p>
            <a:pPr marL="327660" marR="217170">
              <a:lnSpc>
                <a:spcPct val="118800"/>
              </a:lnSpc>
              <a:spcBef>
                <a:spcPts val="204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task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disambiguation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determine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which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senses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an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ambiguous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word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invoked</a:t>
            </a:r>
            <a:r>
              <a:rPr sz="950" i="0" spc="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particular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use</a:t>
            </a:r>
            <a:r>
              <a:rPr sz="950" i="0" spc="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This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done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by looking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at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context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of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word’s</a:t>
            </a:r>
            <a:r>
              <a:rPr sz="950" i="0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use.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1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72902B53-7F81-49FC-BB4C-72018EB748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79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Algorithms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53553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1041500"/>
            <a:ext cx="2159000" cy="12750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R="409575" algn="r">
              <a:lnSpc>
                <a:spcPct val="100000"/>
              </a:lnSpc>
              <a:spcBef>
                <a:spcPts val="459"/>
              </a:spcBef>
            </a:pPr>
            <a:r>
              <a:rPr sz="950" dirty="0">
                <a:latin typeface="Trebuchet MS"/>
                <a:cs typeface="Trebuchet MS"/>
              </a:rPr>
              <a:t>Knowledge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Approaches</a:t>
            </a:r>
            <a:endParaRPr sz="950">
              <a:latin typeface="Trebuchet MS"/>
              <a:cs typeface="Trebuchet MS"/>
            </a:endParaRPr>
          </a:p>
          <a:p>
            <a:pPr marL="116205" marR="443865" indent="-116205" algn="r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116205" algn="l"/>
              </a:tabLst>
            </a:pPr>
            <a:r>
              <a:rPr sz="900" dirty="0">
                <a:latin typeface="Trebuchet MS"/>
                <a:cs typeface="Trebuchet MS"/>
              </a:rPr>
              <a:t>Overlap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Based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Approaches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Machine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Learning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Approaches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Supervised</a:t>
            </a:r>
            <a:r>
              <a:rPr sz="900" spc="15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Approaches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Semi-supervised</a:t>
            </a:r>
            <a:r>
              <a:rPr sz="900" spc="1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Algorithms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Unsupervised</a:t>
            </a:r>
            <a:r>
              <a:rPr sz="900" spc="1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Algorithms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950" dirty="0">
                <a:latin typeface="Trebuchet MS"/>
                <a:cs typeface="Trebuchet MS"/>
              </a:rPr>
              <a:t>Hybrid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Approaches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520482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2211311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3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Knowledge</a:t>
            </a:r>
            <a:r>
              <a:rPr spc="35" dirty="0"/>
              <a:t> </a:t>
            </a:r>
            <a:r>
              <a:rPr dirty="0"/>
              <a:t>Based</a:t>
            </a:r>
            <a:r>
              <a:rPr spc="40" dirty="0"/>
              <a:t> </a:t>
            </a:r>
            <a:r>
              <a:rPr spc="-10" dirty="0"/>
              <a:t>Approaches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15289"/>
            <a:ext cx="4483735" cy="1984375"/>
            <a:chOff x="87743" y="815289"/>
            <a:chExt cx="4483735" cy="1984375"/>
          </a:xfrm>
        </p:grpSpPr>
        <p:sp>
          <p:nvSpPr>
            <p:cNvPr id="4" name="object 4"/>
            <p:cNvSpPr/>
            <p:nvPr/>
          </p:nvSpPr>
          <p:spPr>
            <a:xfrm>
              <a:off x="87743" y="81528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8831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69791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68521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59536"/>
              <a:ext cx="50800" cy="18383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32560"/>
              <a:ext cx="4432935" cy="1716405"/>
            </a:xfrm>
            <a:custGeom>
              <a:avLst/>
              <a:gdLst/>
              <a:ahLst/>
              <a:cxnLst/>
              <a:rect l="l" t="t" r="r" b="b"/>
              <a:pathLst>
                <a:path w="4432935" h="1716405">
                  <a:moveTo>
                    <a:pt x="4432554" y="0"/>
                  </a:moveTo>
                  <a:lnTo>
                    <a:pt x="0" y="0"/>
                  </a:lnTo>
                  <a:lnTo>
                    <a:pt x="0" y="1665351"/>
                  </a:lnTo>
                  <a:lnTo>
                    <a:pt x="4008" y="1685075"/>
                  </a:lnTo>
                  <a:lnTo>
                    <a:pt x="14922" y="1701228"/>
                  </a:lnTo>
                  <a:lnTo>
                    <a:pt x="31075" y="1712142"/>
                  </a:lnTo>
                  <a:lnTo>
                    <a:pt x="50800" y="1716151"/>
                  </a:lnTo>
                  <a:lnTo>
                    <a:pt x="4381754" y="1716151"/>
                  </a:lnTo>
                  <a:lnTo>
                    <a:pt x="4401478" y="1712142"/>
                  </a:lnTo>
                  <a:lnTo>
                    <a:pt x="4417631" y="1701228"/>
                  </a:lnTo>
                  <a:lnTo>
                    <a:pt x="4428545" y="1685075"/>
                  </a:lnTo>
                  <a:lnTo>
                    <a:pt x="4432554" y="166535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97559"/>
              <a:ext cx="0" cy="1819910"/>
            </a:xfrm>
            <a:custGeom>
              <a:avLst/>
              <a:gdLst/>
              <a:ahLst/>
              <a:cxnLst/>
              <a:rect l="l" t="t" r="r" b="b"/>
              <a:pathLst>
                <a:path h="1819910">
                  <a:moveTo>
                    <a:pt x="0" y="18194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849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722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595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82319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2352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846541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2228646"/>
              <a:ext cx="64757" cy="647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2438679"/>
              <a:ext cx="64757" cy="6475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5729" y="740584"/>
            <a:ext cx="4311015" cy="19754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Overlap</a:t>
            </a: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Based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Approaches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Require</a:t>
            </a:r>
            <a:r>
              <a:rPr sz="950" spc="1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Machine</a:t>
            </a:r>
            <a:r>
              <a:rPr sz="950" b="1" spc="17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Readable</a:t>
            </a:r>
            <a:r>
              <a:rPr sz="950" b="1" spc="17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Dictionary</a:t>
            </a:r>
            <a:r>
              <a:rPr sz="950" b="1" spc="1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(MRD).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Find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overlap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senses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5" dirty="0">
                <a:latin typeface="Trebuchet MS"/>
                <a:cs typeface="Trebuchet MS"/>
              </a:rPr>
              <a:t> an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</a:t>
            </a:r>
            <a:r>
              <a:rPr sz="950" b="1" dirty="0">
                <a:latin typeface="Trebuchet MS"/>
                <a:cs typeface="Trebuchet MS"/>
              </a:rPr>
              <a:t>sense</a:t>
            </a:r>
            <a:r>
              <a:rPr sz="950" b="1" spc="3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bag</a:t>
            </a:r>
            <a:r>
              <a:rPr sz="950" dirty="0">
                <a:latin typeface="Trebuchet MS"/>
                <a:cs typeface="Trebuchet MS"/>
              </a:rPr>
              <a:t>)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context </a:t>
            </a:r>
            <a:r>
              <a:rPr sz="950" dirty="0">
                <a:latin typeface="Trebuchet MS"/>
                <a:cs typeface="Trebuchet MS"/>
              </a:rPr>
              <a:t>(</a:t>
            </a:r>
            <a:r>
              <a:rPr sz="950" b="1" dirty="0">
                <a:latin typeface="Trebuchet MS"/>
                <a:cs typeface="Trebuchet MS"/>
              </a:rPr>
              <a:t>context </a:t>
            </a:r>
            <a:r>
              <a:rPr sz="950" b="1" spc="-10" dirty="0">
                <a:latin typeface="Trebuchet MS"/>
                <a:cs typeface="Trebuchet MS"/>
              </a:rPr>
              <a:t>bag</a:t>
            </a:r>
            <a:r>
              <a:rPr sz="950" spc="-10" dirty="0">
                <a:latin typeface="Trebuchet MS"/>
                <a:cs typeface="Trebuchet MS"/>
              </a:rPr>
              <a:t>).</a:t>
            </a:r>
            <a:endParaRPr sz="950">
              <a:latin typeface="Trebuchet MS"/>
              <a:cs typeface="Trebuchet MS"/>
            </a:endParaRPr>
          </a:p>
          <a:p>
            <a:pPr marL="289560" marR="34925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could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definitions,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example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sentences,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hypernyms </a:t>
            </a:r>
            <a:r>
              <a:rPr sz="950" spc="-20" dirty="0">
                <a:latin typeface="Trebuchet MS"/>
                <a:cs typeface="Trebuchet MS"/>
              </a:rPr>
              <a:t>etc.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could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also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given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weights.</a:t>
            </a:r>
            <a:endParaRPr sz="950">
              <a:latin typeface="Trebuchet MS"/>
              <a:cs typeface="Trebuchet MS"/>
            </a:endParaRPr>
          </a:p>
          <a:p>
            <a:pPr marL="289560" marR="621665">
              <a:lnSpc>
                <a:spcPct val="1188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maximum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overlap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selected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spc="-10" dirty="0">
                <a:latin typeface="Trebuchet MS"/>
                <a:cs typeface="Trebuchet MS"/>
              </a:rPr>
              <a:t>contextually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appropriate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sense.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4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Lesk’s</a:t>
            </a:r>
            <a:r>
              <a:rPr spc="18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394710"/>
            <a:ext cx="4189729" cy="37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b="1" spc="60" dirty="0">
                <a:latin typeface="Trebuchet MS"/>
                <a:cs typeface="Trebuchet MS"/>
              </a:rPr>
              <a:t>Sense</a:t>
            </a:r>
            <a:r>
              <a:rPr sz="950" b="1" spc="-15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candidate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25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3583D9B-7622-445E-ADAA-AFFFA13DC64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Lesk’s</a:t>
            </a:r>
            <a:r>
              <a:rPr spc="18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394710"/>
            <a:ext cx="4189729" cy="7143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b="1" spc="60" dirty="0">
                <a:latin typeface="Trebuchet MS"/>
                <a:cs typeface="Trebuchet MS"/>
              </a:rPr>
              <a:t>Sense</a:t>
            </a:r>
            <a:r>
              <a:rPr sz="950" b="1" spc="-15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candidate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25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 marL="12700" marR="187325">
              <a:lnSpc>
                <a:spcPts val="1360"/>
              </a:lnSpc>
              <a:spcBef>
                <a:spcPts val="80"/>
              </a:spcBef>
            </a:pPr>
            <a:r>
              <a:rPr sz="950" b="1" dirty="0">
                <a:latin typeface="Trebuchet MS"/>
                <a:cs typeface="Trebuchet MS"/>
              </a:rPr>
              <a:t>Context</a:t>
            </a:r>
            <a:r>
              <a:rPr sz="950" b="1" spc="-10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each context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C0B2BC-5244-4A9B-BA72-A01F30973B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Lesk’s</a:t>
            </a:r>
            <a:r>
              <a:rPr spc="18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394710"/>
            <a:ext cx="4189729" cy="10312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b="1" spc="60" dirty="0">
                <a:latin typeface="Trebuchet MS"/>
                <a:cs typeface="Trebuchet MS"/>
              </a:rPr>
              <a:t>Sense</a:t>
            </a:r>
            <a:r>
              <a:rPr sz="950" b="1" spc="-15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candidate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25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 marL="12700" marR="187325">
              <a:lnSpc>
                <a:spcPts val="1360"/>
              </a:lnSpc>
              <a:spcBef>
                <a:spcPts val="80"/>
              </a:spcBef>
            </a:pPr>
            <a:r>
              <a:rPr sz="950" b="1" dirty="0">
                <a:latin typeface="Trebuchet MS"/>
                <a:cs typeface="Trebuchet MS"/>
              </a:rPr>
              <a:t>Context</a:t>
            </a:r>
            <a:r>
              <a:rPr sz="950" b="1" spc="-10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each context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Trebuchet MS"/>
              <a:cs typeface="Trebuchet MS"/>
            </a:endParaRPr>
          </a:p>
          <a:p>
            <a:pPr marL="166370" algn="ctr">
              <a:lnSpc>
                <a:spcPct val="100000"/>
              </a:lnSpc>
            </a:pPr>
            <a:r>
              <a:rPr sz="950" i="1" spc="65" dirty="0">
                <a:latin typeface="Trebuchet MS"/>
                <a:cs typeface="Trebuchet MS"/>
              </a:rPr>
              <a:t>On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burning </a:t>
            </a:r>
            <a:r>
              <a:rPr sz="950" b="1" i="1" dirty="0">
                <a:latin typeface="Trebuchet MS"/>
                <a:cs typeface="Trebuchet MS"/>
              </a:rPr>
              <a:t>coal</a:t>
            </a:r>
            <a:r>
              <a:rPr sz="950" b="1" i="1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we get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spc="-20" dirty="0">
                <a:solidFill>
                  <a:srgbClr val="FF0000"/>
                </a:solidFill>
                <a:latin typeface="Trebuchet MS"/>
                <a:cs typeface="Trebuchet MS"/>
              </a:rPr>
              <a:t>ash</a:t>
            </a:r>
            <a:r>
              <a:rPr sz="950" i="1" spc="-2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D428F94-F2F2-4A16-87C7-79827AB7C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Lesk’s</a:t>
            </a:r>
            <a:r>
              <a:rPr spc="18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394710"/>
            <a:ext cx="4189729" cy="10312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b="1" spc="60" dirty="0">
                <a:latin typeface="Trebuchet MS"/>
                <a:cs typeface="Trebuchet MS"/>
              </a:rPr>
              <a:t>Sense</a:t>
            </a:r>
            <a:r>
              <a:rPr sz="950" b="1" spc="-15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candidate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25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 marL="12700" marR="187325">
              <a:lnSpc>
                <a:spcPts val="1360"/>
              </a:lnSpc>
              <a:spcBef>
                <a:spcPts val="80"/>
              </a:spcBef>
            </a:pPr>
            <a:r>
              <a:rPr sz="950" b="1" dirty="0">
                <a:latin typeface="Trebuchet MS"/>
                <a:cs typeface="Trebuchet MS"/>
              </a:rPr>
              <a:t>Context</a:t>
            </a:r>
            <a:r>
              <a:rPr sz="950" b="1" spc="-10" dirty="0">
                <a:latin typeface="Trebuchet MS"/>
                <a:cs typeface="Trebuchet MS"/>
              </a:rPr>
              <a:t> </a:t>
            </a:r>
            <a:r>
              <a:rPr sz="950" b="1" spc="70" dirty="0">
                <a:latin typeface="Trebuchet MS"/>
                <a:cs typeface="Trebuchet MS"/>
              </a:rPr>
              <a:t>Bag:</a:t>
            </a:r>
            <a:r>
              <a:rPr sz="950" b="1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contains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definition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each context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Trebuchet MS"/>
              <a:cs typeface="Trebuchet MS"/>
            </a:endParaRPr>
          </a:p>
          <a:p>
            <a:pPr marL="166370" algn="ctr">
              <a:lnSpc>
                <a:spcPct val="100000"/>
              </a:lnSpc>
            </a:pPr>
            <a:r>
              <a:rPr sz="950" i="1" spc="65" dirty="0">
                <a:latin typeface="Trebuchet MS"/>
                <a:cs typeface="Trebuchet MS"/>
              </a:rPr>
              <a:t>On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burning </a:t>
            </a:r>
            <a:r>
              <a:rPr sz="950" b="1" i="1" dirty="0">
                <a:latin typeface="Trebuchet MS"/>
                <a:cs typeface="Trebuchet MS"/>
              </a:rPr>
              <a:t>coal</a:t>
            </a:r>
            <a:r>
              <a:rPr sz="950" b="1" i="1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we get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spc="-20" dirty="0">
                <a:solidFill>
                  <a:srgbClr val="FF0000"/>
                </a:solidFill>
                <a:latin typeface="Trebuchet MS"/>
                <a:cs typeface="Trebuchet MS"/>
              </a:rPr>
              <a:t>ash</a:t>
            </a:r>
            <a:r>
              <a:rPr sz="950" i="1" spc="-2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418" y="1749336"/>
            <a:ext cx="2971800" cy="13906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4DF58BD-8353-4DC0-8A5D-07753CB9075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4420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Walker’s</a:t>
            </a:r>
            <a:r>
              <a:rPr sz="1400" i="1" spc="-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68121"/>
            <a:ext cx="64757" cy="647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498030"/>
            <a:ext cx="167703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Thesaurus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78F5B3A-51F5-41DC-99FC-02443BD7DF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86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Walker’s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6812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37624"/>
            <a:ext cx="4026535" cy="6178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Thesaurus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thesaurus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category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30" dirty="0">
                <a:latin typeface="Trebuchet MS"/>
                <a:cs typeface="Trebuchet MS"/>
              </a:rPr>
              <a:t> that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belongs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778154"/>
            <a:ext cx="64757" cy="647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5B72EF0-0488-4CCB-A7E6-6D38930D4A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Walker’s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6812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37624"/>
            <a:ext cx="4026535" cy="8280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Thesaurus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thesaurus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category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30" dirty="0">
                <a:latin typeface="Trebuchet MS"/>
                <a:cs typeface="Trebuchet MS"/>
              </a:rPr>
              <a:t> that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belongs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778154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160259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69ECF9A-FC0D-4F64-9D0F-1849F39351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Walker’s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6812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37624"/>
            <a:ext cx="4026535" cy="113157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Thesaurus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thesaurus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category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30" dirty="0">
                <a:latin typeface="Trebuchet MS"/>
                <a:cs typeface="Trebuchet MS"/>
              </a:rPr>
              <a:t> that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belongs</a:t>
            </a:r>
            <a:endParaRPr sz="950">
              <a:latin typeface="Trebuchet MS"/>
              <a:cs typeface="Trebuchet MS"/>
            </a:endParaRPr>
          </a:p>
          <a:p>
            <a:pPr marL="12700" marR="94615">
              <a:lnSpc>
                <a:spcPct val="104900"/>
              </a:lnSpc>
              <a:spcBef>
                <a:spcPts val="45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words. </a:t>
            </a:r>
            <a:r>
              <a:rPr sz="950" i="1" spc="70" dirty="0">
                <a:latin typeface="Trebuchet MS"/>
                <a:cs typeface="Trebuchet MS"/>
              </a:rPr>
              <a:t>A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context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65" dirty="0">
                <a:latin typeface="Trebuchet MS"/>
                <a:cs typeface="Trebuchet MS"/>
              </a:rPr>
              <a:t>will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add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1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to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score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55" dirty="0">
                <a:latin typeface="Trebuchet MS"/>
                <a:cs typeface="Trebuchet MS"/>
              </a:rPr>
              <a:t>sense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0" dirty="0">
                <a:latin typeface="Trebuchet MS"/>
                <a:cs typeface="Trebuchet MS"/>
              </a:rPr>
              <a:t>if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thesaurus </a:t>
            </a:r>
            <a:r>
              <a:rPr sz="950" i="1" dirty="0">
                <a:latin typeface="Trebuchet MS"/>
                <a:cs typeface="Trebuchet MS"/>
              </a:rPr>
              <a:t>category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matches </a:t>
            </a:r>
            <a:r>
              <a:rPr sz="950" i="1" spc="-55" dirty="0">
                <a:latin typeface="Trebuchet MS"/>
                <a:cs typeface="Trebuchet MS"/>
              </a:rPr>
              <a:t>that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sense.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778154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160259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4342495-EEED-42CD-AE23-338256AE87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89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Walker’s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6812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437624"/>
            <a:ext cx="4077335" cy="130873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Thesaurus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</a:t>
            </a:r>
            <a:endParaRPr sz="950">
              <a:latin typeface="Trebuchet MS"/>
              <a:cs typeface="Trebuchet MS"/>
            </a:endParaRPr>
          </a:p>
          <a:p>
            <a:pPr marL="38100" marR="304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thesaurus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category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30" dirty="0">
                <a:latin typeface="Trebuchet MS"/>
                <a:cs typeface="Trebuchet MS"/>
              </a:rPr>
              <a:t> that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belongs</a:t>
            </a:r>
            <a:endParaRPr sz="950">
              <a:latin typeface="Trebuchet MS"/>
              <a:cs typeface="Trebuchet MS"/>
            </a:endParaRPr>
          </a:p>
          <a:p>
            <a:pPr marL="38100" marR="120014">
              <a:lnSpc>
                <a:spcPct val="104900"/>
              </a:lnSpc>
              <a:spcBef>
                <a:spcPts val="45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words. </a:t>
            </a:r>
            <a:r>
              <a:rPr sz="950" i="1" spc="70" dirty="0">
                <a:latin typeface="Trebuchet MS"/>
                <a:cs typeface="Trebuchet MS"/>
              </a:rPr>
              <a:t>A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context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65" dirty="0">
                <a:latin typeface="Trebuchet MS"/>
                <a:cs typeface="Trebuchet MS"/>
              </a:rPr>
              <a:t>will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add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1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to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score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55" dirty="0">
                <a:latin typeface="Trebuchet MS"/>
                <a:cs typeface="Trebuchet MS"/>
              </a:rPr>
              <a:t>sense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0" dirty="0">
                <a:latin typeface="Trebuchet MS"/>
                <a:cs typeface="Trebuchet MS"/>
              </a:rPr>
              <a:t>if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thesaurus </a:t>
            </a:r>
            <a:r>
              <a:rPr sz="950" i="1" dirty="0">
                <a:latin typeface="Trebuchet MS"/>
                <a:cs typeface="Trebuchet MS"/>
              </a:rPr>
              <a:t>category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matches </a:t>
            </a:r>
            <a:r>
              <a:rPr sz="950" i="1" spc="-55" dirty="0">
                <a:latin typeface="Trebuchet MS"/>
                <a:cs typeface="Trebuchet MS"/>
              </a:rPr>
              <a:t>that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sense.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20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E.g.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money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20" dirty="0">
                <a:latin typeface="Trebuchet MS"/>
                <a:cs typeface="Trebuchet MS"/>
              </a:rPr>
              <a:t> this </a:t>
            </a:r>
            <a:r>
              <a:rPr sz="900" dirty="0">
                <a:latin typeface="Trebuchet MS"/>
                <a:cs typeface="Trebuchet MS"/>
              </a:rPr>
              <a:t>bank</a:t>
            </a:r>
            <a:r>
              <a:rPr sz="900" spc="-20" dirty="0">
                <a:latin typeface="Trebuchet MS"/>
                <a:cs typeface="Trebuchet MS"/>
              </a:rPr>
              <a:t> fetches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interest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1000" spc="-65" dirty="0">
                <a:latin typeface="Cambria"/>
                <a:cs typeface="Cambria"/>
              </a:rPr>
              <a:t>8</a:t>
            </a:r>
            <a:r>
              <a:rPr sz="1000" spc="-65" dirty="0">
                <a:latin typeface="Arial MT"/>
                <a:cs typeface="Arial MT"/>
              </a:rPr>
              <a:t>%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</a:t>
            </a:r>
            <a:r>
              <a:rPr sz="900" spc="-20" dirty="0">
                <a:latin typeface="Trebuchet MS"/>
                <a:cs typeface="Trebuchet MS"/>
              </a:rPr>
              <a:t> annum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778154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160259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752A76A-9469-404A-8857-5F148DFF40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90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Walker’s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6812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437624"/>
            <a:ext cx="4077335" cy="161036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Thesaurus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</a:t>
            </a:r>
            <a:endParaRPr sz="950">
              <a:latin typeface="Trebuchet MS"/>
              <a:cs typeface="Trebuchet MS"/>
            </a:endParaRPr>
          </a:p>
          <a:p>
            <a:pPr marL="38100" marR="304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thesaurus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category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30" dirty="0">
                <a:latin typeface="Trebuchet MS"/>
                <a:cs typeface="Trebuchet MS"/>
              </a:rPr>
              <a:t> that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belongs</a:t>
            </a:r>
            <a:endParaRPr sz="950">
              <a:latin typeface="Trebuchet MS"/>
              <a:cs typeface="Trebuchet MS"/>
            </a:endParaRPr>
          </a:p>
          <a:p>
            <a:pPr marL="38100" marR="120014">
              <a:lnSpc>
                <a:spcPct val="104900"/>
              </a:lnSpc>
              <a:spcBef>
                <a:spcPts val="45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words. </a:t>
            </a:r>
            <a:r>
              <a:rPr sz="950" i="1" spc="70" dirty="0">
                <a:latin typeface="Trebuchet MS"/>
                <a:cs typeface="Trebuchet MS"/>
              </a:rPr>
              <a:t>A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context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65" dirty="0">
                <a:latin typeface="Trebuchet MS"/>
                <a:cs typeface="Trebuchet MS"/>
              </a:rPr>
              <a:t>will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add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1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to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score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55" dirty="0">
                <a:latin typeface="Trebuchet MS"/>
                <a:cs typeface="Trebuchet MS"/>
              </a:rPr>
              <a:t>sense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0" dirty="0">
                <a:latin typeface="Trebuchet MS"/>
                <a:cs typeface="Trebuchet MS"/>
              </a:rPr>
              <a:t>if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thesaurus </a:t>
            </a:r>
            <a:r>
              <a:rPr sz="950" i="1" dirty="0">
                <a:latin typeface="Trebuchet MS"/>
                <a:cs typeface="Trebuchet MS"/>
              </a:rPr>
              <a:t>category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matches </a:t>
            </a:r>
            <a:r>
              <a:rPr sz="950" i="1" spc="-55" dirty="0">
                <a:latin typeface="Trebuchet MS"/>
                <a:cs typeface="Trebuchet MS"/>
              </a:rPr>
              <a:t>that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sense.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20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E.g.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money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20" dirty="0">
                <a:latin typeface="Trebuchet MS"/>
                <a:cs typeface="Trebuchet MS"/>
              </a:rPr>
              <a:t> this </a:t>
            </a:r>
            <a:r>
              <a:rPr sz="900" dirty="0">
                <a:latin typeface="Trebuchet MS"/>
                <a:cs typeface="Trebuchet MS"/>
              </a:rPr>
              <a:t>bank</a:t>
            </a:r>
            <a:r>
              <a:rPr sz="900" spc="-20" dirty="0">
                <a:latin typeface="Trebuchet MS"/>
                <a:cs typeface="Trebuchet MS"/>
              </a:rPr>
              <a:t> fetches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interest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1000" spc="-65" dirty="0">
                <a:latin typeface="Cambria"/>
                <a:cs typeface="Cambria"/>
              </a:rPr>
              <a:t>8</a:t>
            </a:r>
            <a:r>
              <a:rPr sz="1000" spc="-65" dirty="0">
                <a:latin typeface="Arial MT"/>
                <a:cs typeface="Arial MT"/>
              </a:rPr>
              <a:t>%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</a:t>
            </a:r>
            <a:r>
              <a:rPr sz="900" spc="-20" dirty="0">
                <a:latin typeface="Trebuchet MS"/>
                <a:cs typeface="Trebuchet MS"/>
              </a:rPr>
              <a:t> annum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9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30" dirty="0">
                <a:latin typeface="Trebuchet MS"/>
                <a:cs typeface="Trebuchet MS"/>
              </a:rPr>
              <a:t>Target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word: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i="1" spc="-20" dirty="0">
                <a:latin typeface="Trebuchet MS"/>
                <a:cs typeface="Trebuchet MS"/>
              </a:rPr>
              <a:t>bank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Clue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from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context: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i="1" spc="-30" dirty="0">
                <a:latin typeface="Trebuchet MS"/>
                <a:cs typeface="Trebuchet MS"/>
              </a:rPr>
              <a:t>money,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45" dirty="0">
                <a:latin typeface="Trebuchet MS"/>
                <a:cs typeface="Trebuchet MS"/>
              </a:rPr>
              <a:t>interest,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annum,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fetch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778154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160259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4D07034-FF1D-44D4-80E7-4B7DEE595A0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91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Walker’s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6812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437624"/>
            <a:ext cx="4077335" cy="161036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Thesaurus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approach</a:t>
            </a:r>
            <a:endParaRPr sz="950">
              <a:latin typeface="Trebuchet MS"/>
              <a:cs typeface="Trebuchet MS"/>
            </a:endParaRPr>
          </a:p>
          <a:p>
            <a:pPr marL="38100" marR="30480">
              <a:lnSpc>
                <a:spcPct val="118900"/>
              </a:lnSpc>
              <a:spcBef>
                <a:spcPts val="30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find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thesaurus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category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30" dirty="0">
                <a:latin typeface="Trebuchet MS"/>
                <a:cs typeface="Trebuchet MS"/>
              </a:rPr>
              <a:t> that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belongs</a:t>
            </a:r>
            <a:endParaRPr sz="950">
              <a:latin typeface="Trebuchet MS"/>
              <a:cs typeface="Trebuchet MS"/>
            </a:endParaRPr>
          </a:p>
          <a:p>
            <a:pPr marL="38100" marR="120014">
              <a:lnSpc>
                <a:spcPct val="104900"/>
              </a:lnSpc>
              <a:spcBef>
                <a:spcPts val="45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2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words. </a:t>
            </a:r>
            <a:r>
              <a:rPr sz="950" i="1" spc="70" dirty="0">
                <a:latin typeface="Trebuchet MS"/>
                <a:cs typeface="Trebuchet MS"/>
              </a:rPr>
              <a:t>A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context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65" dirty="0">
                <a:latin typeface="Trebuchet MS"/>
                <a:cs typeface="Trebuchet MS"/>
              </a:rPr>
              <a:t>will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add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1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to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score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55" dirty="0">
                <a:latin typeface="Trebuchet MS"/>
                <a:cs typeface="Trebuchet MS"/>
              </a:rPr>
              <a:t>sense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0" dirty="0">
                <a:latin typeface="Trebuchet MS"/>
                <a:cs typeface="Trebuchet MS"/>
              </a:rPr>
              <a:t>if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thesaurus </a:t>
            </a:r>
            <a:r>
              <a:rPr sz="950" i="1" dirty="0">
                <a:latin typeface="Trebuchet MS"/>
                <a:cs typeface="Trebuchet MS"/>
              </a:rPr>
              <a:t>category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word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matches </a:t>
            </a:r>
            <a:r>
              <a:rPr sz="950" i="1" spc="-55" dirty="0">
                <a:latin typeface="Trebuchet MS"/>
                <a:cs typeface="Trebuchet MS"/>
              </a:rPr>
              <a:t>that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sense.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20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E.g.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money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20" dirty="0">
                <a:latin typeface="Trebuchet MS"/>
                <a:cs typeface="Trebuchet MS"/>
              </a:rPr>
              <a:t> this </a:t>
            </a:r>
            <a:r>
              <a:rPr sz="900" dirty="0">
                <a:latin typeface="Trebuchet MS"/>
                <a:cs typeface="Trebuchet MS"/>
              </a:rPr>
              <a:t>bank</a:t>
            </a:r>
            <a:r>
              <a:rPr sz="900" spc="-20" dirty="0">
                <a:latin typeface="Trebuchet MS"/>
                <a:cs typeface="Trebuchet MS"/>
              </a:rPr>
              <a:t> fetches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interest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1000" spc="-65" dirty="0">
                <a:latin typeface="Cambria"/>
                <a:cs typeface="Cambria"/>
              </a:rPr>
              <a:t>8</a:t>
            </a:r>
            <a:r>
              <a:rPr sz="1000" spc="-65" dirty="0">
                <a:latin typeface="Arial MT"/>
                <a:cs typeface="Arial MT"/>
              </a:rPr>
              <a:t>%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</a:t>
            </a:r>
            <a:r>
              <a:rPr sz="900" spc="-20" dirty="0">
                <a:latin typeface="Trebuchet MS"/>
                <a:cs typeface="Trebuchet MS"/>
              </a:rPr>
              <a:t> annum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9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30" dirty="0">
                <a:latin typeface="Trebuchet MS"/>
                <a:cs typeface="Trebuchet MS"/>
              </a:rPr>
              <a:t>Target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word: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i="1" spc="-20" dirty="0">
                <a:latin typeface="Trebuchet MS"/>
                <a:cs typeface="Trebuchet MS"/>
              </a:rPr>
              <a:t>bank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Clue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from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context: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i="1" spc="-30" dirty="0">
                <a:latin typeface="Trebuchet MS"/>
                <a:cs typeface="Trebuchet MS"/>
              </a:rPr>
              <a:t>money,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45" dirty="0">
                <a:latin typeface="Trebuchet MS"/>
                <a:cs typeface="Trebuchet MS"/>
              </a:rPr>
              <a:t>interest,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annum,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fetch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778154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160259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9090" y="2306866"/>
            <a:ext cx="2308860" cy="7619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72AA81B-DEE7-4F25-B78A-BEF293324A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92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721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WSD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Using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Random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Walk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71" y="606615"/>
            <a:ext cx="4014724" cy="231851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7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721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WSD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Using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Random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Walk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71" y="606615"/>
            <a:ext cx="4014724" cy="23362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8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721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WSD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Using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Random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Walk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71" y="549719"/>
            <a:ext cx="4014724" cy="251053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9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721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WSD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Using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Random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Walk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71" y="549719"/>
            <a:ext cx="4014724" cy="227939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10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Naïve</a:t>
            </a:r>
            <a:r>
              <a:rPr spc="35" dirty="0"/>
              <a:t> </a:t>
            </a:r>
            <a:r>
              <a:rPr dirty="0"/>
              <a:t>Bayes</a:t>
            </a:r>
            <a:r>
              <a:rPr spc="40" dirty="0"/>
              <a:t> </a:t>
            </a:r>
            <a:r>
              <a:rPr dirty="0"/>
              <a:t>for</a:t>
            </a:r>
            <a:r>
              <a:rPr spc="40" dirty="0"/>
              <a:t> </a:t>
            </a:r>
            <a:r>
              <a:rPr spc="-25" dirty="0"/>
              <a:t>WSD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37083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44520"/>
            <a:ext cx="3962400" cy="753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Naïve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Bayes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classifier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chooses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likely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given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context:</a:t>
            </a:r>
            <a:endParaRPr sz="950">
              <a:latin typeface="Trebuchet MS"/>
              <a:cs typeface="Trebuchet MS"/>
            </a:endParaRPr>
          </a:p>
          <a:p>
            <a:pPr marL="108585" algn="ctr">
              <a:lnSpc>
                <a:spcPts val="1290"/>
              </a:lnSpc>
              <a:spcBef>
                <a:spcPts val="810"/>
              </a:spcBef>
            </a:pPr>
            <a:r>
              <a:rPr sz="1100" spc="-160" dirty="0">
                <a:latin typeface="Arial MT"/>
                <a:cs typeface="Arial MT"/>
              </a:rPr>
              <a:t>ˆ</a:t>
            </a:r>
            <a:r>
              <a:rPr sz="1100" i="1" spc="-160" dirty="0">
                <a:latin typeface="Cambria"/>
                <a:cs typeface="Cambria"/>
              </a:rPr>
              <a:t>s</a:t>
            </a:r>
            <a:r>
              <a:rPr sz="1100" i="1" spc="25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35" dirty="0">
                <a:latin typeface="Cambria"/>
                <a:cs typeface="Cambria"/>
              </a:rPr>
              <a:t>argmax</a:t>
            </a:r>
            <a:r>
              <a:rPr sz="1100" spc="-110" dirty="0">
                <a:latin typeface="Cambria"/>
                <a:cs typeface="Cambria"/>
              </a:rPr>
              <a:t> </a:t>
            </a:r>
            <a:r>
              <a:rPr sz="1100" i="1" spc="-30" dirty="0">
                <a:latin typeface="Cambria"/>
                <a:cs typeface="Cambria"/>
              </a:rPr>
              <a:t>P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s</a:t>
            </a:r>
            <a:r>
              <a:rPr sz="1100" spc="-30" dirty="0">
                <a:latin typeface="Lucida Sans Unicode"/>
                <a:cs typeface="Lucida Sans Unicode"/>
              </a:rPr>
              <a:t>|</a:t>
            </a:r>
            <a:r>
              <a:rPr sz="1100" i="1" spc="-30" dirty="0">
                <a:latin typeface="Cambria"/>
                <a:cs typeface="Cambria"/>
              </a:rPr>
              <a:t>f</a:t>
            </a:r>
            <a:r>
              <a:rPr sz="1100" i="1" spc="-65" dirty="0">
                <a:latin typeface="Cambria"/>
                <a:cs typeface="Cambria"/>
              </a:rPr>
              <a:t> </a:t>
            </a:r>
            <a:r>
              <a:rPr sz="1100" spc="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R="635" algn="ctr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0BFFADC-E7EE-4D8D-A2AC-2F2B7FE01A3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97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Naïve</a:t>
            </a:r>
            <a:r>
              <a:rPr spc="35" dirty="0"/>
              <a:t> </a:t>
            </a:r>
            <a:r>
              <a:rPr dirty="0"/>
              <a:t>Bayes</a:t>
            </a:r>
            <a:r>
              <a:rPr spc="40" dirty="0"/>
              <a:t> </a:t>
            </a:r>
            <a:r>
              <a:rPr dirty="0"/>
              <a:t>for</a:t>
            </a:r>
            <a:r>
              <a:rPr spc="40" dirty="0"/>
              <a:t> </a:t>
            </a:r>
            <a:r>
              <a:rPr spc="-25" dirty="0"/>
              <a:t>WSD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37083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44520"/>
            <a:ext cx="3962400" cy="10902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Naïve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Bayes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classifier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chooses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likely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given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context:</a:t>
            </a:r>
            <a:endParaRPr sz="950">
              <a:latin typeface="Trebuchet MS"/>
              <a:cs typeface="Trebuchet MS"/>
            </a:endParaRPr>
          </a:p>
          <a:p>
            <a:pPr marL="108585" algn="ctr">
              <a:lnSpc>
                <a:spcPts val="1290"/>
              </a:lnSpc>
              <a:spcBef>
                <a:spcPts val="810"/>
              </a:spcBef>
            </a:pPr>
            <a:r>
              <a:rPr sz="1100" spc="-160" dirty="0">
                <a:latin typeface="Arial MT"/>
                <a:cs typeface="Arial MT"/>
              </a:rPr>
              <a:t>ˆ</a:t>
            </a:r>
            <a:r>
              <a:rPr sz="1100" i="1" spc="-160" dirty="0">
                <a:latin typeface="Cambria"/>
                <a:cs typeface="Cambria"/>
              </a:rPr>
              <a:t>s</a:t>
            </a:r>
            <a:r>
              <a:rPr sz="1100" i="1" spc="25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35" dirty="0">
                <a:latin typeface="Cambria"/>
                <a:cs typeface="Cambria"/>
              </a:rPr>
              <a:t>argmax</a:t>
            </a:r>
            <a:r>
              <a:rPr sz="1100" spc="-110" dirty="0">
                <a:latin typeface="Cambria"/>
                <a:cs typeface="Cambria"/>
              </a:rPr>
              <a:t> </a:t>
            </a:r>
            <a:r>
              <a:rPr sz="1100" i="1" spc="-30" dirty="0">
                <a:latin typeface="Cambria"/>
                <a:cs typeface="Cambria"/>
              </a:rPr>
              <a:t>P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s</a:t>
            </a:r>
            <a:r>
              <a:rPr sz="1100" spc="-30" dirty="0">
                <a:latin typeface="Lucida Sans Unicode"/>
                <a:cs typeface="Lucida Sans Unicode"/>
              </a:rPr>
              <a:t>|</a:t>
            </a:r>
            <a:r>
              <a:rPr sz="1100" i="1" spc="-30" dirty="0">
                <a:latin typeface="Cambria"/>
                <a:cs typeface="Cambria"/>
              </a:rPr>
              <a:t>f</a:t>
            </a:r>
            <a:r>
              <a:rPr sz="1100" i="1" spc="-65" dirty="0">
                <a:latin typeface="Cambria"/>
                <a:cs typeface="Cambria"/>
              </a:rPr>
              <a:t> </a:t>
            </a:r>
            <a:r>
              <a:rPr sz="1100" spc="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R="635" algn="ctr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Bayes’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law,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expressed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as: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29562"/>
            <a:ext cx="64757" cy="647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83943" y="1681695"/>
            <a:ext cx="685165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90"/>
              </a:lnSpc>
              <a:spcBef>
                <a:spcPts val="90"/>
              </a:spcBef>
            </a:pPr>
            <a:r>
              <a:rPr sz="1100" spc="-160" dirty="0">
                <a:latin typeface="Arial MT"/>
                <a:cs typeface="Arial MT"/>
              </a:rPr>
              <a:t>ˆ</a:t>
            </a:r>
            <a:r>
              <a:rPr sz="1100" i="1" spc="-160" dirty="0">
                <a:latin typeface="Cambria"/>
                <a:cs typeface="Cambria"/>
              </a:rPr>
              <a:t>s</a:t>
            </a:r>
            <a:r>
              <a:rPr sz="1100" i="1" spc="5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20" dirty="0">
                <a:latin typeface="Cambria"/>
                <a:cs typeface="Cambria"/>
              </a:rPr>
              <a:t>argmax</a:t>
            </a:r>
            <a:endParaRPr sz="1100">
              <a:latin typeface="Cambria"/>
              <a:cs typeface="Cambria"/>
            </a:endParaRPr>
          </a:p>
          <a:p>
            <a:pPr marL="384810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73820" y="1584223"/>
            <a:ext cx="604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20" dirty="0">
                <a:latin typeface="Cambria"/>
                <a:cs typeface="Cambria"/>
              </a:rPr>
              <a:t>P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s</a:t>
            </a:r>
            <a:r>
              <a:rPr sz="1100" spc="20" dirty="0">
                <a:latin typeface="Arial MT"/>
                <a:cs typeface="Arial MT"/>
              </a:rPr>
              <a:t>)</a:t>
            </a:r>
            <a:r>
              <a:rPr sz="1100" i="1" spc="20" dirty="0">
                <a:latin typeface="Cambria"/>
                <a:cs typeface="Cambria"/>
              </a:rPr>
              <a:t>P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f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100" spc="-2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86520" y="1797266"/>
            <a:ext cx="579120" cy="0"/>
          </a:xfrm>
          <a:custGeom>
            <a:avLst/>
            <a:gdLst/>
            <a:ahLst/>
            <a:cxnLst/>
            <a:rect l="l" t="t" r="r" b="b"/>
            <a:pathLst>
              <a:path w="579119">
                <a:moveTo>
                  <a:pt x="0" y="0"/>
                </a:moveTo>
                <a:lnTo>
                  <a:pt x="578993" y="0"/>
                </a:lnTo>
              </a:path>
            </a:pathLst>
          </a:custGeom>
          <a:ln w="77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37777" y="1777085"/>
            <a:ext cx="276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-5" dirty="0">
                <a:latin typeface="Cambria"/>
                <a:cs typeface="Cambria"/>
              </a:rPr>
              <a:t> </a:t>
            </a:r>
            <a:r>
              <a:rPr sz="1100" spc="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49120" y="2029333"/>
            <a:ext cx="1186815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90"/>
              </a:lnSpc>
              <a:spcBef>
                <a:spcPts val="90"/>
              </a:spcBef>
            </a:pP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-35" dirty="0">
                <a:latin typeface="Cambria"/>
                <a:cs typeface="Cambria"/>
              </a:rPr>
              <a:t>argmax</a:t>
            </a:r>
            <a:r>
              <a:rPr sz="1100" spc="-55" dirty="0">
                <a:latin typeface="Cambria"/>
                <a:cs typeface="Cambria"/>
              </a:rPr>
              <a:t> 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s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5" dirty="0">
                <a:latin typeface="Cambria"/>
                <a:cs typeface="Cambria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100" spc="-2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292735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0E26517-EB32-479E-ADF5-E5EBE62124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98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Naïve</a:t>
            </a:r>
            <a:r>
              <a:rPr spc="35" dirty="0"/>
              <a:t> </a:t>
            </a:r>
            <a:r>
              <a:rPr dirty="0"/>
              <a:t>Bayes</a:t>
            </a:r>
            <a:r>
              <a:rPr spc="40" dirty="0"/>
              <a:t> </a:t>
            </a:r>
            <a:r>
              <a:rPr dirty="0"/>
              <a:t>for</a:t>
            </a:r>
            <a:r>
              <a:rPr spc="40" dirty="0"/>
              <a:t> </a:t>
            </a:r>
            <a:r>
              <a:rPr spc="-25" dirty="0"/>
              <a:t>WSD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537083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44520"/>
            <a:ext cx="3962400" cy="10902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Naïve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Bayes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classifier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chooses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likely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given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context:</a:t>
            </a:r>
            <a:endParaRPr sz="950">
              <a:latin typeface="Trebuchet MS"/>
              <a:cs typeface="Trebuchet MS"/>
            </a:endParaRPr>
          </a:p>
          <a:p>
            <a:pPr marL="108585" algn="ctr">
              <a:lnSpc>
                <a:spcPts val="1290"/>
              </a:lnSpc>
              <a:spcBef>
                <a:spcPts val="810"/>
              </a:spcBef>
            </a:pPr>
            <a:r>
              <a:rPr sz="1100" spc="-160" dirty="0">
                <a:latin typeface="Arial MT"/>
                <a:cs typeface="Arial MT"/>
              </a:rPr>
              <a:t>ˆ</a:t>
            </a:r>
            <a:r>
              <a:rPr sz="1100" i="1" spc="-160" dirty="0">
                <a:latin typeface="Cambria"/>
                <a:cs typeface="Cambria"/>
              </a:rPr>
              <a:t>s</a:t>
            </a:r>
            <a:r>
              <a:rPr sz="1100" i="1" spc="25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35" dirty="0">
                <a:latin typeface="Cambria"/>
                <a:cs typeface="Cambria"/>
              </a:rPr>
              <a:t>argmax</a:t>
            </a:r>
            <a:r>
              <a:rPr sz="1100" spc="-110" dirty="0">
                <a:latin typeface="Cambria"/>
                <a:cs typeface="Cambria"/>
              </a:rPr>
              <a:t> </a:t>
            </a:r>
            <a:r>
              <a:rPr sz="1100" i="1" spc="-30" dirty="0">
                <a:latin typeface="Cambria"/>
                <a:cs typeface="Cambria"/>
              </a:rPr>
              <a:t>P</a:t>
            </a:r>
            <a:r>
              <a:rPr sz="1100" spc="-30" dirty="0">
                <a:latin typeface="Arial MT"/>
                <a:cs typeface="Arial MT"/>
              </a:rPr>
              <a:t>(</a:t>
            </a:r>
            <a:r>
              <a:rPr sz="1100" i="1" spc="-30" dirty="0">
                <a:latin typeface="Cambria"/>
                <a:cs typeface="Cambria"/>
              </a:rPr>
              <a:t>s</a:t>
            </a:r>
            <a:r>
              <a:rPr sz="1100" spc="-30" dirty="0">
                <a:latin typeface="Lucida Sans Unicode"/>
                <a:cs typeface="Lucida Sans Unicode"/>
              </a:rPr>
              <a:t>|</a:t>
            </a:r>
            <a:r>
              <a:rPr sz="1100" i="1" spc="-30" dirty="0">
                <a:latin typeface="Cambria"/>
                <a:cs typeface="Cambria"/>
              </a:rPr>
              <a:t>f</a:t>
            </a:r>
            <a:r>
              <a:rPr sz="1100" i="1" spc="-65" dirty="0">
                <a:latin typeface="Cambria"/>
                <a:cs typeface="Cambria"/>
              </a:rPr>
              <a:t> </a:t>
            </a:r>
            <a:r>
              <a:rPr sz="1100" spc="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R="635" algn="ctr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Bayes’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law,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expressed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as: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29562"/>
            <a:ext cx="64757" cy="647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83943" y="1681695"/>
            <a:ext cx="685165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90"/>
              </a:lnSpc>
              <a:spcBef>
                <a:spcPts val="90"/>
              </a:spcBef>
            </a:pPr>
            <a:r>
              <a:rPr sz="1100" spc="-160" dirty="0">
                <a:latin typeface="Arial MT"/>
                <a:cs typeface="Arial MT"/>
              </a:rPr>
              <a:t>ˆ</a:t>
            </a:r>
            <a:r>
              <a:rPr sz="1100" i="1" spc="-160" dirty="0">
                <a:latin typeface="Cambria"/>
                <a:cs typeface="Cambria"/>
              </a:rPr>
              <a:t>s</a:t>
            </a:r>
            <a:r>
              <a:rPr sz="1100" i="1" spc="5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20" dirty="0">
                <a:latin typeface="Cambria"/>
                <a:cs typeface="Cambria"/>
              </a:rPr>
              <a:t>argmax</a:t>
            </a:r>
            <a:endParaRPr sz="1100">
              <a:latin typeface="Cambria"/>
              <a:cs typeface="Cambria"/>
            </a:endParaRPr>
          </a:p>
          <a:p>
            <a:pPr marL="384810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73820" y="1584223"/>
            <a:ext cx="604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20" dirty="0">
                <a:latin typeface="Cambria"/>
                <a:cs typeface="Cambria"/>
              </a:rPr>
              <a:t>P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s</a:t>
            </a:r>
            <a:r>
              <a:rPr sz="1100" spc="20" dirty="0">
                <a:latin typeface="Arial MT"/>
                <a:cs typeface="Arial MT"/>
              </a:rPr>
              <a:t>)</a:t>
            </a:r>
            <a:r>
              <a:rPr sz="1100" i="1" spc="20" dirty="0">
                <a:latin typeface="Cambria"/>
                <a:cs typeface="Cambria"/>
              </a:rPr>
              <a:t>P</a:t>
            </a:r>
            <a:r>
              <a:rPr sz="1100" spc="20" dirty="0">
                <a:latin typeface="Arial MT"/>
                <a:cs typeface="Arial MT"/>
              </a:rPr>
              <a:t>(</a:t>
            </a:r>
            <a:r>
              <a:rPr sz="1100" i="1" spc="20" dirty="0">
                <a:latin typeface="Cambria"/>
                <a:cs typeface="Cambria"/>
              </a:rPr>
              <a:t>f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100" spc="-2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86520" y="1797266"/>
            <a:ext cx="579120" cy="0"/>
          </a:xfrm>
          <a:custGeom>
            <a:avLst/>
            <a:gdLst/>
            <a:ahLst/>
            <a:cxnLst/>
            <a:rect l="l" t="t" r="r" b="b"/>
            <a:pathLst>
              <a:path w="579119">
                <a:moveTo>
                  <a:pt x="0" y="0"/>
                </a:moveTo>
                <a:lnTo>
                  <a:pt x="578993" y="0"/>
                </a:lnTo>
              </a:path>
            </a:pathLst>
          </a:custGeom>
          <a:ln w="77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37777" y="1777085"/>
            <a:ext cx="276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-5" dirty="0">
                <a:latin typeface="Cambria"/>
                <a:cs typeface="Cambria"/>
              </a:rPr>
              <a:t> </a:t>
            </a:r>
            <a:r>
              <a:rPr sz="1100" spc="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49120" y="2029333"/>
            <a:ext cx="1186815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90"/>
              </a:lnSpc>
              <a:spcBef>
                <a:spcPts val="90"/>
              </a:spcBef>
            </a:pP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-35" dirty="0">
                <a:latin typeface="Cambria"/>
                <a:cs typeface="Cambria"/>
              </a:rPr>
              <a:t>argmax</a:t>
            </a:r>
            <a:r>
              <a:rPr sz="1100" spc="-55" dirty="0">
                <a:latin typeface="Cambria"/>
                <a:cs typeface="Cambria"/>
              </a:rPr>
              <a:t> 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s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5" dirty="0">
                <a:latin typeface="Cambria"/>
                <a:cs typeface="Cambria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100" spc="-2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292735">
              <a:lnSpc>
                <a:spcPts val="930"/>
              </a:lnSpc>
            </a:pPr>
            <a:r>
              <a:rPr sz="800" i="1" spc="-25" dirty="0">
                <a:latin typeface="Cambria"/>
                <a:cs typeface="Cambria"/>
              </a:rPr>
              <a:t>s</a:t>
            </a:r>
            <a:r>
              <a:rPr sz="800" spc="-25" dirty="0">
                <a:latin typeface="Lucida Sans Unicode"/>
                <a:cs typeface="Lucida Sans Unicode"/>
              </a:rPr>
              <a:t>∈</a:t>
            </a:r>
            <a:r>
              <a:rPr sz="800" i="1" spc="-2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2532786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055329" y="3047746"/>
            <a:ext cx="1701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45" dirty="0">
                <a:latin typeface="Cambria"/>
                <a:cs typeface="Cambria"/>
              </a:rPr>
              <a:t>s</a:t>
            </a:r>
            <a:r>
              <a:rPr sz="800" spc="-45" dirty="0">
                <a:latin typeface="Lucida Sans Unicode"/>
                <a:cs typeface="Lucida Sans Unicode"/>
              </a:rPr>
              <a:t>∈</a:t>
            </a:r>
            <a:r>
              <a:rPr sz="800" i="1" spc="-45" dirty="0">
                <a:latin typeface="Cambria"/>
                <a:cs typeface="Cambria"/>
              </a:rPr>
              <a:t>S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82750" y="2888653"/>
            <a:ext cx="784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65" dirty="0">
                <a:latin typeface="Arial MT"/>
                <a:cs typeface="Arial MT"/>
              </a:rPr>
              <a:t>ˆ</a:t>
            </a:r>
            <a:r>
              <a:rPr sz="1100" i="1" spc="-165" dirty="0">
                <a:latin typeface="Cambria"/>
                <a:cs typeface="Cambria"/>
              </a:rPr>
              <a:t>s</a:t>
            </a:r>
            <a:r>
              <a:rPr sz="1100" i="1" spc="25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35" dirty="0">
                <a:latin typeface="Cambria"/>
                <a:cs typeface="Cambria"/>
              </a:rPr>
              <a:t>argmax</a:t>
            </a:r>
            <a:r>
              <a:rPr sz="1100" spc="-114" dirty="0">
                <a:latin typeface="Cambria"/>
                <a:cs typeface="Cambria"/>
              </a:rPr>
              <a:t> </a:t>
            </a:r>
            <a:r>
              <a:rPr sz="1100" i="1" spc="-50" dirty="0">
                <a:latin typeface="Cambria"/>
                <a:cs typeface="Cambria"/>
              </a:rPr>
              <a:t>P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932" y="2440236"/>
            <a:ext cx="3908425" cy="463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‘Naïve’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assumption: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conditionally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independent, </a:t>
            </a:r>
            <a:r>
              <a:rPr sz="950" dirty="0">
                <a:latin typeface="Trebuchet MS"/>
                <a:cs typeface="Trebuchet MS"/>
              </a:rPr>
              <a:t>given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sense’:</a:t>
            </a:r>
            <a:endParaRPr sz="950">
              <a:latin typeface="Trebuchet MS"/>
              <a:cs typeface="Trebuchet MS"/>
            </a:endParaRPr>
          </a:p>
          <a:p>
            <a:pPr marL="737235" algn="ctr">
              <a:lnSpc>
                <a:spcPts val="745"/>
              </a:lnSpc>
            </a:pPr>
            <a:r>
              <a:rPr sz="800" i="1" spc="-50" dirty="0">
                <a:latin typeface="Cambria"/>
                <a:cs typeface="Cambria"/>
              </a:rPr>
              <a:t>n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19146" y="2746895"/>
            <a:ext cx="213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125" dirty="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99308" y="2946768"/>
            <a:ext cx="539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ambria"/>
                <a:cs typeface="Cambria"/>
              </a:rPr>
              <a:t>j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42095" y="2842949"/>
            <a:ext cx="752475" cy="39243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392430" algn="l"/>
              </a:tabLst>
            </a:pPr>
            <a:r>
              <a:rPr sz="1100" spc="-25" dirty="0">
                <a:latin typeface="Arial MT"/>
                <a:cs typeface="Arial MT"/>
              </a:rPr>
              <a:t>(</a:t>
            </a: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100" spc="-25" dirty="0">
                <a:latin typeface="Arial MT"/>
                <a:cs typeface="Arial MT"/>
              </a:rPr>
              <a:t>)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105" dirty="0">
                <a:latin typeface="Cambria"/>
                <a:cs typeface="Cambri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|</a:t>
            </a:r>
            <a:r>
              <a:rPr sz="1100" i="1" spc="-30" dirty="0">
                <a:latin typeface="Cambria"/>
                <a:cs typeface="Cambria"/>
              </a:rPr>
              <a:t>s</a:t>
            </a:r>
            <a:r>
              <a:rPr sz="1100" spc="-3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201930">
              <a:lnSpc>
                <a:spcPct val="100000"/>
              </a:lnSpc>
              <a:spcBef>
                <a:spcPts val="254"/>
              </a:spcBef>
            </a:pPr>
            <a:r>
              <a:rPr sz="800" i="1" spc="-25" dirty="0">
                <a:latin typeface="Cambria"/>
                <a:cs typeface="Cambria"/>
              </a:rPr>
              <a:t>j</a:t>
            </a:r>
            <a:r>
              <a:rPr sz="800" spc="-25" dirty="0">
                <a:latin typeface="Tahoma"/>
                <a:cs typeface="Tahoma"/>
              </a:rPr>
              <a:t>=</a:t>
            </a:r>
            <a:r>
              <a:rPr sz="800" spc="-25" dirty="0">
                <a:latin typeface="Cambria"/>
                <a:cs typeface="Cambria"/>
              </a:rPr>
              <a:t>1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024A13CD-644E-4AC8-B390-6A16400E65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99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Training</a:t>
            </a:r>
            <a:r>
              <a:rPr spc="20" dirty="0"/>
              <a:t> </a:t>
            </a:r>
            <a:r>
              <a:rPr dirty="0"/>
              <a:t>for</a:t>
            </a:r>
            <a:r>
              <a:rPr spc="25" dirty="0"/>
              <a:t> </a:t>
            </a:r>
            <a:r>
              <a:rPr dirty="0"/>
              <a:t>Naïve</a:t>
            </a:r>
            <a:r>
              <a:rPr spc="25" dirty="0"/>
              <a:t> </a:t>
            </a:r>
            <a:r>
              <a:rPr spc="-10" dirty="0"/>
              <a:t>Bayes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32815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23807"/>
            <a:ext cx="4105910" cy="9963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950" spc="-85" dirty="0">
                <a:latin typeface="Trebuchet MS"/>
                <a:cs typeface="Trebuchet MS"/>
              </a:rPr>
              <a:t>‘</a:t>
            </a:r>
            <a:r>
              <a:rPr sz="1100" i="1" spc="-85" dirty="0">
                <a:latin typeface="Cambria"/>
                <a:cs typeface="Cambria"/>
              </a:rPr>
              <a:t>f</a:t>
            </a:r>
            <a:r>
              <a:rPr sz="1100" i="1" spc="-70" dirty="0">
                <a:latin typeface="Cambria"/>
                <a:cs typeface="Cambria"/>
              </a:rPr>
              <a:t> </a:t>
            </a:r>
            <a:r>
              <a:rPr sz="950" spc="-145" dirty="0">
                <a:latin typeface="Trebuchet MS"/>
                <a:cs typeface="Trebuchet MS"/>
              </a:rPr>
              <a:t>’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feature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vector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consisting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ts val="1200"/>
              </a:lnSpc>
              <a:spcBef>
                <a:spcPts val="17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110" dirty="0">
                <a:latin typeface="Trebuchet MS"/>
                <a:cs typeface="Trebuchet MS"/>
              </a:rPr>
              <a:t>POS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1000" i="1" spc="-50" dirty="0">
                <a:latin typeface="Cambria"/>
                <a:cs typeface="Cambria"/>
              </a:rPr>
              <a:t>w</a:t>
            </a:r>
            <a:endParaRPr sz="1000">
              <a:latin typeface="Cambria"/>
              <a:cs typeface="Cambria"/>
            </a:endParaRPr>
          </a:p>
          <a:p>
            <a:pPr marL="313690" indent="-116205">
              <a:lnSpc>
                <a:spcPts val="1195"/>
              </a:lnSpc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Semantic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Syntactic</a:t>
            </a:r>
            <a:r>
              <a:rPr sz="900" spc="-20" dirty="0">
                <a:latin typeface="Trebuchet MS"/>
                <a:cs typeface="Trebuchet MS"/>
              </a:rPr>
              <a:t> features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1000" i="1" spc="-50" dirty="0">
                <a:latin typeface="Cambria"/>
                <a:cs typeface="Cambria"/>
              </a:rPr>
              <a:t>w</a:t>
            </a:r>
            <a:endParaRPr sz="1000">
              <a:latin typeface="Cambria"/>
              <a:cs typeface="Cambria"/>
            </a:endParaRPr>
          </a:p>
          <a:p>
            <a:pPr marL="313055" marR="30480" indent="-116205">
              <a:lnSpc>
                <a:spcPts val="1200"/>
              </a:lnSpc>
              <a:spcBef>
                <a:spcPts val="4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4960" algn="l"/>
              </a:tabLst>
            </a:pPr>
            <a:r>
              <a:rPr sz="900" spc="-10" dirty="0">
                <a:latin typeface="Trebuchet MS"/>
                <a:cs typeface="Trebuchet MS"/>
              </a:rPr>
              <a:t>Collocation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vector </a:t>
            </a:r>
            <a:r>
              <a:rPr sz="900" spc="-10" dirty="0">
                <a:latin typeface="Trebuchet MS"/>
                <a:cs typeface="Trebuchet MS"/>
              </a:rPr>
              <a:t>(set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around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75" dirty="0">
                <a:latin typeface="Trebuchet MS"/>
                <a:cs typeface="Trebuchet MS"/>
              </a:rPr>
              <a:t>it)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→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next </a:t>
            </a:r>
            <a:r>
              <a:rPr sz="900" spc="-20" dirty="0">
                <a:latin typeface="Trebuchet MS"/>
                <a:cs typeface="Trebuchet MS"/>
              </a:rPr>
              <a:t>word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(+1),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+2,</a:t>
            </a:r>
            <a:r>
              <a:rPr sz="900" spc="-30" dirty="0">
                <a:latin typeface="Trebuchet MS"/>
                <a:cs typeface="Trebuchet MS"/>
              </a:rPr>
              <a:t> -</a:t>
            </a:r>
            <a:r>
              <a:rPr sz="900" spc="-20" dirty="0">
                <a:latin typeface="Trebuchet MS"/>
                <a:cs typeface="Trebuchet MS"/>
              </a:rPr>
              <a:t>1,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-</a:t>
            </a:r>
            <a:r>
              <a:rPr sz="900" dirty="0">
                <a:latin typeface="Trebuchet MS"/>
                <a:cs typeface="Trebuchet MS"/>
              </a:rPr>
              <a:t>2</a:t>
            </a:r>
            <a:r>
              <a:rPr sz="900" spc="-25" dirty="0">
                <a:latin typeface="Trebuchet MS"/>
                <a:cs typeface="Trebuchet MS"/>
              </a:rPr>
              <a:t> and 	</a:t>
            </a:r>
            <a:r>
              <a:rPr sz="900" spc="-50" dirty="0">
                <a:latin typeface="Trebuchet MS"/>
                <a:cs typeface="Trebuchet MS"/>
              </a:rPr>
              <a:t>their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POS’s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5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Co-occurrence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vector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B1CDB14-DC76-41CA-87C9-3B6D37D0D4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Training</a:t>
            </a:r>
            <a:r>
              <a:rPr spc="20" dirty="0"/>
              <a:t> </a:t>
            </a:r>
            <a:r>
              <a:rPr dirty="0"/>
              <a:t>for</a:t>
            </a:r>
            <a:r>
              <a:rPr spc="25" dirty="0"/>
              <a:t> </a:t>
            </a:r>
            <a:r>
              <a:rPr dirty="0"/>
              <a:t>Naïve</a:t>
            </a:r>
            <a:r>
              <a:rPr spc="25" dirty="0"/>
              <a:t> </a:t>
            </a:r>
            <a:r>
              <a:rPr spc="-10" dirty="0"/>
              <a:t>Bayes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32815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23807"/>
            <a:ext cx="4105910" cy="138112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950" spc="-85" dirty="0">
                <a:latin typeface="Trebuchet MS"/>
                <a:cs typeface="Trebuchet MS"/>
              </a:rPr>
              <a:t>‘</a:t>
            </a:r>
            <a:r>
              <a:rPr sz="1100" i="1" spc="-85" dirty="0">
                <a:latin typeface="Cambria"/>
                <a:cs typeface="Cambria"/>
              </a:rPr>
              <a:t>f</a:t>
            </a:r>
            <a:r>
              <a:rPr sz="1100" i="1" spc="-70" dirty="0">
                <a:latin typeface="Cambria"/>
                <a:cs typeface="Cambria"/>
              </a:rPr>
              <a:t> </a:t>
            </a:r>
            <a:r>
              <a:rPr sz="950" spc="-145" dirty="0">
                <a:latin typeface="Trebuchet MS"/>
                <a:cs typeface="Trebuchet MS"/>
              </a:rPr>
              <a:t>’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feature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vector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consisting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ts val="1200"/>
              </a:lnSpc>
              <a:spcBef>
                <a:spcPts val="17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110" dirty="0">
                <a:latin typeface="Trebuchet MS"/>
                <a:cs typeface="Trebuchet MS"/>
              </a:rPr>
              <a:t>POS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1000" i="1" spc="-50" dirty="0">
                <a:latin typeface="Cambria"/>
                <a:cs typeface="Cambria"/>
              </a:rPr>
              <a:t>w</a:t>
            </a:r>
            <a:endParaRPr sz="1000">
              <a:latin typeface="Cambria"/>
              <a:cs typeface="Cambria"/>
            </a:endParaRPr>
          </a:p>
          <a:p>
            <a:pPr marL="313690" indent="-116205">
              <a:lnSpc>
                <a:spcPts val="1195"/>
              </a:lnSpc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Semantic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Syntactic</a:t>
            </a:r>
            <a:r>
              <a:rPr sz="900" spc="-20" dirty="0">
                <a:latin typeface="Trebuchet MS"/>
                <a:cs typeface="Trebuchet MS"/>
              </a:rPr>
              <a:t> features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1000" i="1" spc="-50" dirty="0">
                <a:latin typeface="Cambria"/>
                <a:cs typeface="Cambria"/>
              </a:rPr>
              <a:t>w</a:t>
            </a:r>
            <a:endParaRPr sz="1000">
              <a:latin typeface="Cambria"/>
              <a:cs typeface="Cambria"/>
            </a:endParaRPr>
          </a:p>
          <a:p>
            <a:pPr marL="313055" marR="30480" indent="-116205">
              <a:lnSpc>
                <a:spcPts val="1200"/>
              </a:lnSpc>
              <a:spcBef>
                <a:spcPts val="4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4960" algn="l"/>
              </a:tabLst>
            </a:pPr>
            <a:r>
              <a:rPr sz="900" spc="-10" dirty="0">
                <a:latin typeface="Trebuchet MS"/>
                <a:cs typeface="Trebuchet MS"/>
              </a:rPr>
              <a:t>Collocation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vector </a:t>
            </a:r>
            <a:r>
              <a:rPr sz="900" spc="-10" dirty="0">
                <a:latin typeface="Trebuchet MS"/>
                <a:cs typeface="Trebuchet MS"/>
              </a:rPr>
              <a:t>(set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around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75" dirty="0">
                <a:latin typeface="Trebuchet MS"/>
                <a:cs typeface="Trebuchet MS"/>
              </a:rPr>
              <a:t>it)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→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next </a:t>
            </a:r>
            <a:r>
              <a:rPr sz="900" spc="-20" dirty="0">
                <a:latin typeface="Trebuchet MS"/>
                <a:cs typeface="Trebuchet MS"/>
              </a:rPr>
              <a:t>word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(+1),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+2,</a:t>
            </a:r>
            <a:r>
              <a:rPr sz="900" spc="-30" dirty="0">
                <a:latin typeface="Trebuchet MS"/>
                <a:cs typeface="Trebuchet MS"/>
              </a:rPr>
              <a:t> -</a:t>
            </a:r>
            <a:r>
              <a:rPr sz="900" spc="-20" dirty="0">
                <a:latin typeface="Trebuchet MS"/>
                <a:cs typeface="Trebuchet MS"/>
              </a:rPr>
              <a:t>1,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-</a:t>
            </a:r>
            <a:r>
              <a:rPr sz="900" dirty="0">
                <a:latin typeface="Trebuchet MS"/>
                <a:cs typeface="Trebuchet MS"/>
              </a:rPr>
              <a:t>2</a:t>
            </a:r>
            <a:r>
              <a:rPr sz="900" spc="-25" dirty="0">
                <a:latin typeface="Trebuchet MS"/>
                <a:cs typeface="Trebuchet MS"/>
              </a:rPr>
              <a:t> and 	</a:t>
            </a:r>
            <a:r>
              <a:rPr sz="900" spc="-50" dirty="0">
                <a:latin typeface="Trebuchet MS"/>
                <a:cs typeface="Trebuchet MS"/>
              </a:rPr>
              <a:t>their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POS’s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5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Co-occurrence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vector</a:t>
            </a:r>
            <a:endParaRPr sz="900">
              <a:latin typeface="Trebuchet MS"/>
              <a:cs typeface="Trebuchet MS"/>
            </a:endParaRPr>
          </a:p>
          <a:p>
            <a:pPr marL="38100" marR="276860">
              <a:lnSpc>
                <a:spcPct val="118900"/>
              </a:lnSpc>
              <a:spcBef>
                <a:spcPts val="310"/>
              </a:spcBef>
            </a:pPr>
            <a:r>
              <a:rPr sz="950" dirty="0">
                <a:latin typeface="Trebuchet MS"/>
                <a:cs typeface="Trebuchet MS"/>
              </a:rPr>
              <a:t>Set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parameters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Naïve</a:t>
            </a:r>
            <a:r>
              <a:rPr sz="950" spc="50" dirty="0">
                <a:latin typeface="Trebuchet MS"/>
                <a:cs typeface="Trebuchet MS"/>
              </a:rPr>
              <a:t> Bayes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maximum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likelihood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estimation </a:t>
            </a:r>
            <a:r>
              <a:rPr sz="950" spc="60" dirty="0">
                <a:latin typeface="Trebuchet MS"/>
                <a:cs typeface="Trebuchet MS"/>
              </a:rPr>
              <a:t>(MLE)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-20" dirty="0">
                <a:latin typeface="Trebuchet MS"/>
                <a:cs typeface="Trebuchet MS"/>
              </a:rPr>
              <a:t> training data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727314"/>
            <a:ext cx="64757" cy="647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40356" y="2266416"/>
            <a:ext cx="539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ambria"/>
                <a:cs typeface="Cambria"/>
              </a:rPr>
              <a:t>i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7850" y="2208301"/>
            <a:ext cx="44513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s</a:t>
            </a:r>
            <a:r>
              <a:rPr sz="1100" i="1" spc="85" dirty="0">
                <a:latin typeface="Cambria"/>
                <a:cs typeface="Cambria"/>
              </a:rPr>
              <a:t> </a:t>
            </a:r>
            <a:r>
              <a:rPr sz="1100" spc="55" dirty="0">
                <a:latin typeface="Arial MT"/>
                <a:cs typeface="Arial MT"/>
              </a:rPr>
              <a:t>)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150" dirty="0">
                <a:latin typeface="Arial MT"/>
                <a:cs typeface="Arial MT"/>
              </a:rPr>
              <a:t>=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7816" y="2104059"/>
            <a:ext cx="7594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count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</a:t>
            </a:r>
            <a:r>
              <a:rPr sz="1200" i="1" u="sng" spc="-15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</a:t>
            </a:r>
            <a:r>
              <a:rPr sz="1100" u="sng" spc="-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w</a:t>
            </a:r>
            <a:r>
              <a:rPr sz="1200" i="1" u="sng" spc="-37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j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57005" y="2303767"/>
            <a:ext cx="6216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latin typeface="Cambria"/>
                <a:cs typeface="Cambria"/>
              </a:rPr>
              <a:t>count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i="1" spc="-15" baseline="-10416" dirty="0">
                <a:latin typeface="Cambria"/>
                <a:cs typeface="Cambria"/>
              </a:rPr>
              <a:t>j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1520" y="2706395"/>
            <a:ext cx="1701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Cambria"/>
                <a:cs typeface="Cambria"/>
              </a:rPr>
              <a:t>j</a:t>
            </a:r>
            <a:r>
              <a:rPr sz="800" i="1" spc="170" dirty="0">
                <a:latin typeface="Cambria"/>
                <a:cs typeface="Cambria"/>
              </a:rPr>
              <a:t>  </a:t>
            </a:r>
            <a:r>
              <a:rPr sz="800" i="1" spc="-50" dirty="0">
                <a:latin typeface="Cambria"/>
                <a:cs typeface="Cambria"/>
              </a:rPr>
              <a:t>i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4545" y="2648293"/>
            <a:ext cx="545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1100" spc="-110" dirty="0">
                <a:latin typeface="Lucida Sans Unicode"/>
                <a:cs typeface="Lucida Sans Unicode"/>
              </a:rPr>
              <a:t>|</a:t>
            </a:r>
            <a:r>
              <a:rPr sz="1100" i="1" spc="-110" dirty="0">
                <a:latin typeface="Cambria"/>
                <a:cs typeface="Cambria"/>
              </a:rPr>
              <a:t>s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1100" spc="55" dirty="0">
                <a:latin typeface="Arial MT"/>
                <a:cs typeface="Arial MT"/>
              </a:rPr>
              <a:t>)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150" dirty="0">
                <a:latin typeface="Arial MT"/>
                <a:cs typeface="Arial MT"/>
              </a:rPr>
              <a:t>=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5108" y="2544051"/>
            <a:ext cx="706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count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</a:t>
            </a:r>
            <a:r>
              <a:rPr sz="1200" i="1" u="sng" spc="-15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j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</a:t>
            </a:r>
            <a:r>
              <a:rPr sz="1100" u="sng" spc="-1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</a:t>
            </a:r>
            <a:r>
              <a:rPr sz="1200" i="1" u="sng" spc="-37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6614" y="2743746"/>
            <a:ext cx="5829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latin typeface="Cambria"/>
                <a:cs typeface="Cambria"/>
              </a:rPr>
              <a:t>count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s</a:t>
            </a:r>
            <a:r>
              <a:rPr sz="1200" i="1" spc="-15" baseline="-10416" dirty="0">
                <a:latin typeface="Cambria"/>
                <a:cs typeface="Cambria"/>
              </a:rPr>
              <a:t>i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0889921-FDF4-4782-A590-A55FD65DBD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7767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Decision</a:t>
            </a:r>
            <a:r>
              <a:rPr spc="145" dirty="0"/>
              <a:t> </a:t>
            </a:r>
            <a:r>
              <a:rPr dirty="0"/>
              <a:t>List</a:t>
            </a:r>
            <a:r>
              <a:rPr spc="15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38936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26856"/>
            <a:ext cx="3895725" cy="96646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‘One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per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collocation’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property</a:t>
            </a:r>
            <a:endParaRPr sz="950">
              <a:latin typeface="Trebuchet MS"/>
              <a:cs typeface="Trebuchet MS"/>
            </a:endParaRPr>
          </a:p>
          <a:p>
            <a:pPr marL="313055" marR="33655" indent="-116205">
              <a:lnSpc>
                <a:spcPct val="110700"/>
              </a:lnSpc>
              <a:spcBef>
                <a:spcPts val="19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4960" algn="l"/>
              </a:tabLst>
            </a:pPr>
            <a:r>
              <a:rPr sz="900" dirty="0">
                <a:latin typeface="Trebuchet MS"/>
                <a:cs typeface="Trebuchet MS"/>
              </a:rPr>
              <a:t>Nearby words </a:t>
            </a:r>
            <a:r>
              <a:rPr sz="900" spc="-20" dirty="0">
                <a:latin typeface="Trebuchet MS"/>
                <a:cs typeface="Trebuchet MS"/>
              </a:rPr>
              <a:t>provide</a:t>
            </a:r>
            <a:r>
              <a:rPr sz="900" dirty="0">
                <a:latin typeface="Trebuchet MS"/>
                <a:cs typeface="Trebuchet MS"/>
              </a:rPr>
              <a:t> strong and </a:t>
            </a:r>
            <a:r>
              <a:rPr sz="900" spc="-10" dirty="0">
                <a:latin typeface="Trebuchet MS"/>
                <a:cs typeface="Trebuchet MS"/>
              </a:rPr>
              <a:t>consistent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clues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dirty="0">
                <a:latin typeface="Trebuchet MS"/>
                <a:cs typeface="Trebuchet MS"/>
              </a:rPr>
              <a:t> sense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a 	</a:t>
            </a:r>
            <a:r>
              <a:rPr sz="900" spc="-35" dirty="0">
                <a:latin typeface="Trebuchet MS"/>
                <a:cs typeface="Trebuchet MS"/>
              </a:rPr>
              <a:t>target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word</a:t>
            </a:r>
            <a:endParaRPr sz="9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950" dirty="0">
                <a:latin typeface="Trebuchet MS"/>
                <a:cs typeface="Trebuchet MS"/>
              </a:rPr>
              <a:t>Collect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large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collocations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word</a:t>
            </a:r>
            <a:endParaRPr sz="95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word-sense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probability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distributions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such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collocations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77937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487970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0AFE2EC-9DB0-47D1-AECE-79A17F4EFC4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7767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Decision</a:t>
            </a:r>
            <a:r>
              <a:rPr spc="145" dirty="0"/>
              <a:t> </a:t>
            </a:r>
            <a:r>
              <a:rPr dirty="0"/>
              <a:t>List</a:t>
            </a:r>
            <a:r>
              <a:rPr spc="15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38936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2132" y="626856"/>
            <a:ext cx="3946525" cy="193103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9"/>
              </a:spcBef>
            </a:pP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‘One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per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collocation’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property</a:t>
            </a:r>
            <a:endParaRPr sz="950">
              <a:latin typeface="Trebuchet MS"/>
              <a:cs typeface="Trebuchet MS"/>
            </a:endParaRPr>
          </a:p>
          <a:p>
            <a:pPr marL="338455" marR="59055" indent="-116205">
              <a:lnSpc>
                <a:spcPct val="110700"/>
              </a:lnSpc>
              <a:spcBef>
                <a:spcPts val="19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40360" algn="l"/>
              </a:tabLst>
            </a:pPr>
            <a:r>
              <a:rPr sz="900" dirty="0">
                <a:latin typeface="Trebuchet MS"/>
                <a:cs typeface="Trebuchet MS"/>
              </a:rPr>
              <a:t>Nearby words </a:t>
            </a:r>
            <a:r>
              <a:rPr sz="900" spc="-20" dirty="0">
                <a:latin typeface="Trebuchet MS"/>
                <a:cs typeface="Trebuchet MS"/>
              </a:rPr>
              <a:t>provide</a:t>
            </a:r>
            <a:r>
              <a:rPr sz="900" dirty="0">
                <a:latin typeface="Trebuchet MS"/>
                <a:cs typeface="Trebuchet MS"/>
              </a:rPr>
              <a:t> strong and </a:t>
            </a:r>
            <a:r>
              <a:rPr sz="900" spc="-10" dirty="0">
                <a:latin typeface="Trebuchet MS"/>
                <a:cs typeface="Trebuchet MS"/>
              </a:rPr>
              <a:t>consistent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clues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dirty="0">
                <a:latin typeface="Trebuchet MS"/>
                <a:cs typeface="Trebuchet MS"/>
              </a:rPr>
              <a:t> sense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a 	</a:t>
            </a:r>
            <a:r>
              <a:rPr sz="900" spc="-35" dirty="0">
                <a:latin typeface="Trebuchet MS"/>
                <a:cs typeface="Trebuchet MS"/>
              </a:rPr>
              <a:t>target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word</a:t>
            </a:r>
            <a:endParaRPr sz="90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  <a:spcBef>
                <a:spcPts val="525"/>
              </a:spcBef>
            </a:pPr>
            <a:r>
              <a:rPr sz="950" dirty="0">
                <a:latin typeface="Trebuchet MS"/>
                <a:cs typeface="Trebuchet MS"/>
              </a:rPr>
              <a:t>Collect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large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collocations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word</a:t>
            </a:r>
            <a:endParaRPr sz="950">
              <a:latin typeface="Trebuchet MS"/>
              <a:cs typeface="Trebuchet MS"/>
            </a:endParaRPr>
          </a:p>
          <a:p>
            <a:pPr marL="63500" marR="55880">
              <a:lnSpc>
                <a:spcPct val="145100"/>
              </a:lnSpc>
            </a:pP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word-sense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probability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distributions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such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collocations </a:t>
            </a: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log-</a:t>
            </a:r>
            <a:r>
              <a:rPr sz="950" dirty="0">
                <a:latin typeface="Trebuchet MS"/>
                <a:cs typeface="Trebuchet MS"/>
              </a:rPr>
              <a:t>likelihood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ratio</a:t>
            </a:r>
            <a:endParaRPr sz="950">
              <a:latin typeface="Trebuchet MS"/>
              <a:cs typeface="Trebuchet MS"/>
            </a:endParaRPr>
          </a:p>
          <a:p>
            <a:pPr marL="1459865" marR="973455" indent="-245110">
              <a:lnSpc>
                <a:spcPct val="114999"/>
              </a:lnSpc>
              <a:spcBef>
                <a:spcPts val="745"/>
              </a:spcBef>
            </a:pPr>
            <a:r>
              <a:rPr sz="1650" i="1" baseline="-37878" dirty="0">
                <a:latin typeface="Cambria"/>
                <a:cs typeface="Cambria"/>
              </a:rPr>
              <a:t>log</a:t>
            </a:r>
            <a:r>
              <a:rPr sz="1650" baseline="-37878" dirty="0">
                <a:latin typeface="Arial MT"/>
                <a:cs typeface="Arial MT"/>
              </a:rPr>
              <a:t>(</a:t>
            </a:r>
            <a:r>
              <a:rPr sz="1650" spc="-270" baseline="-37878" dirty="0">
                <a:latin typeface="Arial MT"/>
                <a:cs typeface="Arial MT"/>
              </a:rPr>
              <a:t> 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Sense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u="sng" spc="-19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spc="-180" dirty="0">
                <a:latin typeface="Lucida Sans Unicode"/>
                <a:cs typeface="Lucida Sans Unicode"/>
              </a:rPr>
              <a:t> 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|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Collocation</a:t>
            </a:r>
            <a:r>
              <a:rPr sz="1200" i="1" u="sng" spc="-15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)</a:t>
            </a:r>
            <a:r>
              <a:rPr sz="1650" spc="-15" baseline="-37878" dirty="0">
                <a:latin typeface="Arial MT"/>
                <a:cs typeface="Arial MT"/>
              </a:rPr>
              <a:t>) 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Sense</a:t>
            </a:r>
            <a:r>
              <a:rPr sz="1100" i="1" spc="-75" dirty="0">
                <a:latin typeface="Cambria"/>
                <a:cs typeface="Cambria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</a:t>
            </a:r>
            <a:r>
              <a:rPr sz="1100" spc="-18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B</a:t>
            </a:r>
            <a:r>
              <a:rPr sz="1100" spc="-10" dirty="0">
                <a:latin typeface="Lucida Sans Unicode"/>
                <a:cs typeface="Lucida Sans Unicode"/>
              </a:rPr>
              <a:t>|</a:t>
            </a:r>
            <a:r>
              <a:rPr sz="1100" i="1" spc="-10" dirty="0">
                <a:latin typeface="Cambria"/>
                <a:cs typeface="Cambria"/>
              </a:rPr>
              <a:t>Collocation</a:t>
            </a:r>
            <a:r>
              <a:rPr sz="1200" i="1" spc="-15" baseline="-10416" dirty="0">
                <a:latin typeface="Cambria"/>
                <a:cs typeface="Cambria"/>
              </a:rPr>
              <a:t>i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844"/>
              </a:spcBef>
            </a:pPr>
            <a:r>
              <a:rPr sz="950" dirty="0">
                <a:latin typeface="Trebuchet MS"/>
                <a:cs typeface="Trebuchet MS"/>
              </a:rPr>
              <a:t>Higher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log-</a:t>
            </a:r>
            <a:r>
              <a:rPr sz="950" dirty="0">
                <a:latin typeface="Trebuchet MS"/>
                <a:cs typeface="Trebuchet MS"/>
              </a:rPr>
              <a:t>likelihood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more </a:t>
            </a:r>
            <a:r>
              <a:rPr sz="950" spc="-10" dirty="0">
                <a:latin typeface="Trebuchet MS"/>
                <a:cs typeface="Trebuchet MS"/>
              </a:rPr>
              <a:t>predictive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evidence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77937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487970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698002"/>
            <a:ext cx="64757" cy="647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2449639"/>
            <a:ext cx="64757" cy="6475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FE3C13E-60FD-4F6D-83AE-CE0466FC23E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7767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Decision</a:t>
            </a:r>
            <a:r>
              <a:rPr spc="145" dirty="0"/>
              <a:t> </a:t>
            </a:r>
            <a:r>
              <a:rPr dirty="0"/>
              <a:t>List</a:t>
            </a:r>
            <a:r>
              <a:rPr spc="15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38936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2132" y="626856"/>
            <a:ext cx="3946525" cy="231013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9"/>
              </a:spcBef>
            </a:pPr>
            <a:r>
              <a:rPr sz="950" spc="60" dirty="0">
                <a:latin typeface="Trebuchet MS"/>
                <a:cs typeface="Trebuchet MS"/>
              </a:rPr>
              <a:t>Based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‘One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per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collocation’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property</a:t>
            </a:r>
            <a:endParaRPr sz="950">
              <a:latin typeface="Trebuchet MS"/>
              <a:cs typeface="Trebuchet MS"/>
            </a:endParaRPr>
          </a:p>
          <a:p>
            <a:pPr marL="338455" marR="59055" indent="-116205">
              <a:lnSpc>
                <a:spcPct val="110700"/>
              </a:lnSpc>
              <a:spcBef>
                <a:spcPts val="19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40360" algn="l"/>
              </a:tabLst>
            </a:pPr>
            <a:r>
              <a:rPr sz="900" dirty="0">
                <a:latin typeface="Trebuchet MS"/>
                <a:cs typeface="Trebuchet MS"/>
              </a:rPr>
              <a:t>Nearby words </a:t>
            </a:r>
            <a:r>
              <a:rPr sz="900" spc="-20" dirty="0">
                <a:latin typeface="Trebuchet MS"/>
                <a:cs typeface="Trebuchet MS"/>
              </a:rPr>
              <a:t>provide</a:t>
            </a:r>
            <a:r>
              <a:rPr sz="900" dirty="0">
                <a:latin typeface="Trebuchet MS"/>
                <a:cs typeface="Trebuchet MS"/>
              </a:rPr>
              <a:t> strong and </a:t>
            </a:r>
            <a:r>
              <a:rPr sz="900" spc="-10" dirty="0">
                <a:latin typeface="Trebuchet MS"/>
                <a:cs typeface="Trebuchet MS"/>
              </a:rPr>
              <a:t>consistent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clues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the</a:t>
            </a:r>
            <a:r>
              <a:rPr sz="900" dirty="0">
                <a:latin typeface="Trebuchet MS"/>
                <a:cs typeface="Trebuchet MS"/>
              </a:rPr>
              <a:t> sense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a 	</a:t>
            </a:r>
            <a:r>
              <a:rPr sz="900" spc="-35" dirty="0">
                <a:latin typeface="Trebuchet MS"/>
                <a:cs typeface="Trebuchet MS"/>
              </a:rPr>
              <a:t>target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word</a:t>
            </a:r>
            <a:endParaRPr sz="90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  <a:spcBef>
                <a:spcPts val="525"/>
              </a:spcBef>
            </a:pPr>
            <a:r>
              <a:rPr sz="950" dirty="0">
                <a:latin typeface="Trebuchet MS"/>
                <a:cs typeface="Trebuchet MS"/>
              </a:rPr>
              <a:t>Collect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large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collocations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word</a:t>
            </a:r>
            <a:endParaRPr sz="950">
              <a:latin typeface="Trebuchet MS"/>
              <a:cs typeface="Trebuchet MS"/>
            </a:endParaRPr>
          </a:p>
          <a:p>
            <a:pPr marL="63500" marR="55880">
              <a:lnSpc>
                <a:spcPct val="145100"/>
              </a:lnSpc>
            </a:pP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word-sense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probability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distributions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such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collocations </a:t>
            </a:r>
            <a:r>
              <a:rPr sz="950" dirty="0">
                <a:latin typeface="Trebuchet MS"/>
                <a:cs typeface="Trebuchet MS"/>
              </a:rPr>
              <a:t>Calculate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log-</a:t>
            </a:r>
            <a:r>
              <a:rPr sz="950" dirty="0">
                <a:latin typeface="Trebuchet MS"/>
                <a:cs typeface="Trebuchet MS"/>
              </a:rPr>
              <a:t>likelihood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ratio</a:t>
            </a:r>
            <a:endParaRPr sz="950">
              <a:latin typeface="Trebuchet MS"/>
              <a:cs typeface="Trebuchet MS"/>
            </a:endParaRPr>
          </a:p>
          <a:p>
            <a:pPr marL="1459865" marR="973455" indent="-245110">
              <a:lnSpc>
                <a:spcPct val="114999"/>
              </a:lnSpc>
              <a:spcBef>
                <a:spcPts val="745"/>
              </a:spcBef>
            </a:pPr>
            <a:r>
              <a:rPr sz="1650" i="1" baseline="-37878" dirty="0">
                <a:latin typeface="Cambria"/>
                <a:cs typeface="Cambria"/>
              </a:rPr>
              <a:t>log</a:t>
            </a:r>
            <a:r>
              <a:rPr sz="1650" baseline="-37878" dirty="0">
                <a:latin typeface="Arial MT"/>
                <a:cs typeface="Arial MT"/>
              </a:rPr>
              <a:t>(</a:t>
            </a:r>
            <a:r>
              <a:rPr sz="1650" spc="-270" baseline="-37878" dirty="0">
                <a:latin typeface="Arial MT"/>
                <a:cs typeface="Arial MT"/>
              </a:rPr>
              <a:t> 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Sense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100" u="sng" spc="-19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spc="-180" dirty="0">
                <a:latin typeface="Lucida Sans Unicode"/>
                <a:cs typeface="Lucida Sans Unicode"/>
              </a:rPr>
              <a:t> 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|</a:t>
            </a: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Collocation</a:t>
            </a:r>
            <a:r>
              <a:rPr sz="1200" i="1" u="sng" spc="-15" baseline="-1041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)</a:t>
            </a:r>
            <a:r>
              <a:rPr sz="1650" spc="-15" baseline="-37878" dirty="0">
                <a:latin typeface="Arial MT"/>
                <a:cs typeface="Arial MT"/>
              </a:rPr>
              <a:t>) </a:t>
            </a:r>
            <a:r>
              <a:rPr sz="1100" i="1" dirty="0">
                <a:latin typeface="Cambria"/>
                <a:cs typeface="Cambria"/>
              </a:rPr>
              <a:t>P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Sense</a:t>
            </a:r>
            <a:r>
              <a:rPr sz="1100" i="1" spc="-75" dirty="0">
                <a:latin typeface="Cambria"/>
                <a:cs typeface="Cambria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</a:t>
            </a:r>
            <a:r>
              <a:rPr sz="1100" spc="-18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B</a:t>
            </a:r>
            <a:r>
              <a:rPr sz="1100" spc="-10" dirty="0">
                <a:latin typeface="Lucida Sans Unicode"/>
                <a:cs typeface="Lucida Sans Unicode"/>
              </a:rPr>
              <a:t>|</a:t>
            </a:r>
            <a:r>
              <a:rPr sz="1100" i="1" spc="-10" dirty="0">
                <a:latin typeface="Cambria"/>
                <a:cs typeface="Cambria"/>
              </a:rPr>
              <a:t>Collocation</a:t>
            </a:r>
            <a:r>
              <a:rPr sz="1200" i="1" spc="-15" baseline="-10416" dirty="0">
                <a:latin typeface="Cambria"/>
                <a:cs typeface="Cambria"/>
              </a:rPr>
              <a:t>i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844"/>
              </a:spcBef>
            </a:pPr>
            <a:r>
              <a:rPr sz="950" dirty="0">
                <a:latin typeface="Trebuchet MS"/>
                <a:cs typeface="Trebuchet MS"/>
              </a:rPr>
              <a:t>Higher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log-</a:t>
            </a:r>
            <a:r>
              <a:rPr sz="950" dirty="0">
                <a:latin typeface="Trebuchet MS"/>
                <a:cs typeface="Trebuchet MS"/>
              </a:rPr>
              <a:t>likelihood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more </a:t>
            </a:r>
            <a:r>
              <a:rPr sz="950" spc="-10" dirty="0">
                <a:latin typeface="Trebuchet MS"/>
                <a:cs typeface="Trebuchet MS"/>
              </a:rPr>
              <a:t>predictive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evidence</a:t>
            </a:r>
            <a:endParaRPr sz="950">
              <a:latin typeface="Trebuchet MS"/>
              <a:cs typeface="Trebuchet MS"/>
            </a:endParaRPr>
          </a:p>
          <a:p>
            <a:pPr marL="62865" marR="441325">
              <a:lnSpc>
                <a:spcPct val="118800"/>
              </a:lnSpc>
              <a:spcBef>
                <a:spcPts val="270"/>
              </a:spcBef>
            </a:pPr>
            <a:r>
              <a:rPr sz="950" dirty="0">
                <a:latin typeface="Trebuchet MS"/>
                <a:cs typeface="Trebuchet MS"/>
              </a:rPr>
              <a:t>Collocations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ordered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decision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list,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predictive </a:t>
            </a:r>
            <a:r>
              <a:rPr sz="950" dirty="0">
                <a:latin typeface="Trebuchet MS"/>
                <a:cs typeface="Trebuchet MS"/>
              </a:rPr>
              <a:t>collocations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ranked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highest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77937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487970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698002"/>
            <a:ext cx="64757" cy="647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2449639"/>
            <a:ext cx="64757" cy="647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597" y="2659672"/>
            <a:ext cx="64757" cy="6475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A9BAEAB-A6C5-40A1-9BEF-4ADD37BAA9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7767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Decision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List</a:t>
            </a:r>
            <a:r>
              <a:rPr sz="1400" i="1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Algorithm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438" y="789762"/>
            <a:ext cx="2655569" cy="12153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3454716-9DF4-469B-84E5-67B599E880A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7767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Decision</a:t>
            </a:r>
            <a:r>
              <a:rPr spc="145" dirty="0"/>
              <a:t> </a:t>
            </a:r>
            <a:r>
              <a:rPr dirty="0"/>
              <a:t>List</a:t>
            </a:r>
            <a:r>
              <a:rPr spc="15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438" y="789762"/>
            <a:ext cx="2655569" cy="12153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729" y="2230165"/>
            <a:ext cx="4196715" cy="6559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Classification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test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sentence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based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highest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ranking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collocation, </a:t>
            </a:r>
            <a:r>
              <a:rPr sz="950" dirty="0">
                <a:latin typeface="Trebuchet MS"/>
                <a:cs typeface="Trebuchet MS"/>
              </a:rPr>
              <a:t>found</a:t>
            </a:r>
            <a:r>
              <a:rPr sz="950" spc="-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test</a:t>
            </a:r>
            <a:r>
              <a:rPr sz="950" spc="-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sentences.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Trebuchet MS"/>
              <a:cs typeface="Trebuchet MS"/>
            </a:endParaRPr>
          </a:p>
          <a:p>
            <a:pPr marL="1165225">
              <a:lnSpc>
                <a:spcPct val="100000"/>
              </a:lnSpc>
            </a:pPr>
            <a:r>
              <a:rPr sz="950" i="1" dirty="0">
                <a:latin typeface="Trebuchet MS"/>
                <a:cs typeface="Trebuchet MS"/>
              </a:rPr>
              <a:t>plucking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20" dirty="0">
                <a:solidFill>
                  <a:srgbClr val="FF0000"/>
                </a:solidFill>
                <a:latin typeface="Trebuchet MS"/>
                <a:cs typeface="Trebuchet MS"/>
              </a:rPr>
              <a:t>flowers</a:t>
            </a:r>
            <a:r>
              <a:rPr sz="950" i="1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affects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25" dirty="0">
                <a:solidFill>
                  <a:srgbClr val="0000FF"/>
                </a:solidFill>
                <a:latin typeface="Trebuchet MS"/>
                <a:cs typeface="Trebuchet MS"/>
              </a:rPr>
              <a:t>plant</a:t>
            </a:r>
            <a:r>
              <a:rPr sz="950" i="1" spc="-1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950" i="1" spc="-10" dirty="0">
                <a:solidFill>
                  <a:srgbClr val="00FF00"/>
                </a:solidFill>
                <a:latin typeface="Trebuchet MS"/>
                <a:cs typeface="Trebuchet MS"/>
              </a:rPr>
              <a:t>growth</a:t>
            </a:r>
            <a:r>
              <a:rPr sz="950" i="1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DF1144F-3EED-4387-A8D4-F7A1354B18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106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60502"/>
            <a:ext cx="17468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Decision</a:t>
            </a:r>
            <a:r>
              <a:rPr sz="1400" i="1" spc="1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List:</a:t>
            </a:r>
            <a:r>
              <a:rPr sz="1400" i="1" spc="3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729" y="574764"/>
            <a:ext cx="348424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Example:</a:t>
            </a:r>
            <a:r>
              <a:rPr sz="950" i="0" spc="9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discriminating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between</a:t>
            </a:r>
            <a:r>
              <a:rPr sz="950" i="0" spc="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50" i="0" spc="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(fish)</a:t>
            </a:r>
            <a:r>
              <a:rPr sz="950" i="0" spc="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65" dirty="0">
                <a:solidFill>
                  <a:srgbClr val="000000"/>
                </a:solidFill>
                <a:latin typeface="Trebuchet MS"/>
                <a:cs typeface="Trebuchet MS"/>
              </a:rPr>
              <a:t>bass</a:t>
            </a:r>
            <a:r>
              <a:rPr sz="950" i="0" spc="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(music):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668" y="976782"/>
            <a:ext cx="3615690" cy="16992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17522" y="3339672"/>
            <a:ext cx="9734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7ED5F24-5724-44BD-B3FF-0089414C4D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893356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423"/>
                </a:lnTo>
                <a:lnTo>
                  <a:pt x="4432554" y="82423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37793"/>
            <a:ext cx="4483735" cy="382270"/>
            <a:chOff x="87743" y="937793"/>
            <a:chExt cx="4483735" cy="382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218336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205636"/>
              <a:ext cx="4381754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943914"/>
              <a:ext cx="50800" cy="27442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37793"/>
              <a:ext cx="4432935" cy="331470"/>
            </a:xfrm>
            <a:custGeom>
              <a:avLst/>
              <a:gdLst/>
              <a:ahLst/>
              <a:cxnLst/>
              <a:rect l="l" t="t" r="r" b="b"/>
              <a:pathLst>
                <a:path w="4432935" h="331469">
                  <a:moveTo>
                    <a:pt x="4432554" y="0"/>
                  </a:moveTo>
                  <a:lnTo>
                    <a:pt x="0" y="0"/>
                  </a:lnTo>
                  <a:lnTo>
                    <a:pt x="0" y="280543"/>
                  </a:lnTo>
                  <a:lnTo>
                    <a:pt x="4008" y="300267"/>
                  </a:lnTo>
                  <a:lnTo>
                    <a:pt x="14922" y="316420"/>
                  </a:lnTo>
                  <a:lnTo>
                    <a:pt x="31075" y="327334"/>
                  </a:lnTo>
                  <a:lnTo>
                    <a:pt x="50800" y="331343"/>
                  </a:lnTo>
                  <a:lnTo>
                    <a:pt x="4381754" y="331343"/>
                  </a:lnTo>
                  <a:lnTo>
                    <a:pt x="4401478" y="327334"/>
                  </a:lnTo>
                  <a:lnTo>
                    <a:pt x="4417631" y="316420"/>
                  </a:lnTo>
                  <a:lnTo>
                    <a:pt x="4428545" y="300267"/>
                  </a:lnTo>
                  <a:lnTo>
                    <a:pt x="4432554" y="28054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981989"/>
              <a:ext cx="0" cy="255904"/>
            </a:xfrm>
            <a:custGeom>
              <a:avLst/>
              <a:gdLst/>
              <a:ahLst/>
              <a:cxnLst/>
              <a:rect l="l" t="t" r="r" b="b"/>
              <a:pathLst>
                <a:path h="255905">
                  <a:moveTo>
                    <a:pt x="0" y="2553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9693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566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439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23950" y="942136"/>
            <a:ext cx="23602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60" dirty="0">
                <a:solidFill>
                  <a:srgbClr val="FFFFFF"/>
                </a:solidFill>
                <a:latin typeface="Cambria"/>
                <a:cs typeface="Cambria"/>
              </a:rPr>
              <a:t>Word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Sense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Disambiguation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II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1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Minimally</a:t>
            </a:r>
            <a:r>
              <a:rPr spc="65" dirty="0"/>
              <a:t> </a:t>
            </a:r>
            <a:r>
              <a:rPr dirty="0"/>
              <a:t>Supervised</a:t>
            </a:r>
            <a:r>
              <a:rPr spc="70" dirty="0"/>
              <a:t> </a:t>
            </a:r>
            <a:r>
              <a:rPr dirty="0"/>
              <a:t>WSD</a:t>
            </a:r>
            <a:r>
              <a:rPr spc="70" dirty="0"/>
              <a:t> </a:t>
            </a:r>
            <a:r>
              <a:rPr dirty="0"/>
              <a:t>-</a:t>
            </a:r>
            <a:r>
              <a:rPr spc="70" dirty="0"/>
              <a:t> </a:t>
            </a:r>
            <a:r>
              <a:rPr spc="-30" dirty="0"/>
              <a:t>Yarowsky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53249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942982"/>
            <a:ext cx="4062729" cy="1038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2404110">
              <a:lnSpc>
                <a:spcPct val="1311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Annotations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expensive! </a:t>
            </a:r>
            <a:r>
              <a:rPr sz="950" spc="-20" dirty="0">
                <a:latin typeface="Trebuchet MS"/>
                <a:cs typeface="Trebuchet MS"/>
              </a:rPr>
              <a:t>“Bootstrapping”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co-</a:t>
            </a:r>
            <a:r>
              <a:rPr sz="950" spc="-10" dirty="0">
                <a:latin typeface="Trebuchet MS"/>
                <a:cs typeface="Trebuchet MS"/>
              </a:rPr>
              <a:t>training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10" dirty="0">
                <a:latin typeface="Trebuchet MS"/>
                <a:cs typeface="Trebuchet MS"/>
              </a:rPr>
              <a:t>Start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(small)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seed,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learn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decision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list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Use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decision </a:t>
            </a:r>
            <a:r>
              <a:rPr sz="900" spc="-45" dirty="0">
                <a:latin typeface="Trebuchet MS"/>
                <a:cs typeface="Trebuchet MS"/>
              </a:rPr>
              <a:t>list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label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rest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corpus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2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Retain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‘confident’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labels,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treat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annotated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data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learn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new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decision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list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Repeat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Calibri"/>
                <a:cs typeface="Calibri"/>
              </a:rPr>
              <a:t>.</a:t>
            </a:r>
            <a:r>
              <a:rPr sz="1000" spc="-11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.</a:t>
            </a:r>
            <a:r>
              <a:rPr sz="1000" spc="-110" dirty="0">
                <a:latin typeface="Calibri"/>
                <a:cs typeface="Calibri"/>
              </a:rPr>
              <a:t> </a:t>
            </a:r>
            <a:r>
              <a:rPr sz="1000" spc="-50" dirty="0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43037"/>
            <a:ext cx="64757" cy="647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0F6D08E-DA8F-459C-A924-736328F786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109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Minimally</a:t>
            </a:r>
            <a:r>
              <a:rPr spc="65" dirty="0"/>
              <a:t> </a:t>
            </a:r>
            <a:r>
              <a:rPr dirty="0"/>
              <a:t>Supervised</a:t>
            </a:r>
            <a:r>
              <a:rPr spc="70" dirty="0"/>
              <a:t> </a:t>
            </a:r>
            <a:r>
              <a:rPr dirty="0"/>
              <a:t>WSD</a:t>
            </a:r>
            <a:r>
              <a:rPr spc="70" dirty="0"/>
              <a:t> </a:t>
            </a:r>
            <a:r>
              <a:rPr dirty="0"/>
              <a:t>-</a:t>
            </a:r>
            <a:r>
              <a:rPr spc="70" dirty="0"/>
              <a:t> </a:t>
            </a:r>
            <a:r>
              <a:rPr spc="-30" dirty="0"/>
              <a:t>Yarowsky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53249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942982"/>
            <a:ext cx="4062729" cy="15544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2404110">
              <a:lnSpc>
                <a:spcPct val="1311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Annotations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expensive! </a:t>
            </a:r>
            <a:r>
              <a:rPr sz="950" spc="-20" dirty="0">
                <a:latin typeface="Trebuchet MS"/>
                <a:cs typeface="Trebuchet MS"/>
              </a:rPr>
              <a:t>“Bootstrapping”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co-</a:t>
            </a:r>
            <a:r>
              <a:rPr sz="950" spc="-10" dirty="0">
                <a:latin typeface="Trebuchet MS"/>
                <a:cs typeface="Trebuchet MS"/>
              </a:rPr>
              <a:t>training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spc="-10" dirty="0">
                <a:latin typeface="Trebuchet MS"/>
                <a:cs typeface="Trebuchet MS"/>
              </a:rPr>
              <a:t>Start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(small)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seed,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learn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decision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list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4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Use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decision </a:t>
            </a:r>
            <a:r>
              <a:rPr sz="900" spc="-45" dirty="0">
                <a:latin typeface="Trebuchet MS"/>
                <a:cs typeface="Trebuchet MS"/>
              </a:rPr>
              <a:t>list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label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rest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corpus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20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Retain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‘confident’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labels,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treat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annotated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data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learn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new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decision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list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Repeat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Calibri"/>
                <a:cs typeface="Calibri"/>
              </a:rPr>
              <a:t>.</a:t>
            </a:r>
            <a:r>
              <a:rPr sz="1000" spc="-11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.</a:t>
            </a:r>
            <a:r>
              <a:rPr sz="1000" spc="-110" dirty="0">
                <a:latin typeface="Calibri"/>
                <a:cs typeface="Calibri"/>
              </a:rPr>
              <a:t> </a:t>
            </a:r>
            <a:r>
              <a:rPr sz="1000" spc="-50" dirty="0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345"/>
              </a:spcBef>
            </a:pPr>
            <a:r>
              <a:rPr sz="950" dirty="0">
                <a:latin typeface="Trebuchet MS"/>
                <a:cs typeface="Trebuchet MS"/>
              </a:rPr>
              <a:t>Heuristics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(derived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observation):</a:t>
            </a:r>
            <a:endParaRPr sz="95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30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One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sense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discourse</a:t>
            </a:r>
            <a:endParaRPr sz="900">
              <a:latin typeface="Trebuchet MS"/>
              <a:cs typeface="Trebuchet MS"/>
            </a:endParaRPr>
          </a:p>
          <a:p>
            <a:pPr marL="313690" indent="-116205">
              <a:lnSpc>
                <a:spcPct val="100000"/>
              </a:lnSpc>
              <a:spcBef>
                <a:spcPts val="115"/>
              </a:spcBef>
              <a:buClr>
                <a:srgbClr val="3232B2"/>
              </a:buClr>
              <a:buSzPct val="66666"/>
              <a:buFont typeface="Lucida Sans Unicode"/>
              <a:buChar char="►"/>
              <a:tabLst>
                <a:tab pos="313690" algn="l"/>
              </a:tabLst>
            </a:pPr>
            <a:r>
              <a:rPr sz="900" dirty="0">
                <a:latin typeface="Trebuchet MS"/>
                <a:cs typeface="Trebuchet MS"/>
              </a:rPr>
              <a:t>One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sense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per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collocation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43037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2065451"/>
            <a:ext cx="64757" cy="6475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836AEA6-E3C1-4487-93C8-80FA15DF87D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110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5" dirty="0"/>
              <a:t> </a:t>
            </a:r>
            <a:r>
              <a:rPr spc="-20" dirty="0"/>
              <a:t>about</a:t>
            </a:r>
            <a:r>
              <a:rPr spc="10" dirty="0"/>
              <a:t> </a:t>
            </a:r>
            <a:r>
              <a:rPr spc="-10" dirty="0"/>
              <a:t>heuristics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25677"/>
            <a:ext cx="4483735" cy="600710"/>
            <a:chOff x="87743" y="1025677"/>
            <a:chExt cx="4483735" cy="600710"/>
          </a:xfrm>
        </p:grpSpPr>
        <p:sp>
          <p:nvSpPr>
            <p:cNvPr id="4" name="object 4"/>
            <p:cNvSpPr/>
            <p:nvPr/>
          </p:nvSpPr>
          <p:spPr>
            <a:xfrm>
              <a:off x="87743" y="102567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98702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2426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1156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69911"/>
              <a:ext cx="50800" cy="4543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42961"/>
              <a:ext cx="4432935" cy="332105"/>
            </a:xfrm>
            <a:custGeom>
              <a:avLst/>
              <a:gdLst/>
              <a:ahLst/>
              <a:cxnLst/>
              <a:rect l="l" t="t" r="r" b="b"/>
              <a:pathLst>
                <a:path w="4432935" h="332105">
                  <a:moveTo>
                    <a:pt x="4432554" y="0"/>
                  </a:moveTo>
                  <a:lnTo>
                    <a:pt x="0" y="0"/>
                  </a:lnTo>
                  <a:lnTo>
                    <a:pt x="0" y="281305"/>
                  </a:lnTo>
                  <a:lnTo>
                    <a:pt x="4008" y="301029"/>
                  </a:lnTo>
                  <a:lnTo>
                    <a:pt x="14922" y="317182"/>
                  </a:lnTo>
                  <a:lnTo>
                    <a:pt x="31075" y="328096"/>
                  </a:lnTo>
                  <a:lnTo>
                    <a:pt x="50800" y="332105"/>
                  </a:lnTo>
                  <a:lnTo>
                    <a:pt x="4381754" y="332105"/>
                  </a:lnTo>
                  <a:lnTo>
                    <a:pt x="4401478" y="328096"/>
                  </a:lnTo>
                  <a:lnTo>
                    <a:pt x="4417631" y="317182"/>
                  </a:lnTo>
                  <a:lnTo>
                    <a:pt x="4428545" y="301029"/>
                  </a:lnTo>
                  <a:lnTo>
                    <a:pt x="4432554" y="28130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107960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h="435609">
                  <a:moveTo>
                    <a:pt x="0" y="43535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10953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10826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10699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89837"/>
              <a:ext cx="64757" cy="6475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25729" y="954219"/>
            <a:ext cx="4356735" cy="61277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One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Sense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per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Discourse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18900"/>
              </a:lnSpc>
              <a:spcBef>
                <a:spcPts val="18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tends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preserve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across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all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occurrences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given discourse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AC12DF0-EE6C-4710-93B0-76113F1519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111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5" dirty="0"/>
              <a:t> </a:t>
            </a:r>
            <a:r>
              <a:rPr spc="-20" dirty="0"/>
              <a:t>about</a:t>
            </a:r>
            <a:r>
              <a:rPr spc="10" dirty="0"/>
              <a:t> </a:t>
            </a:r>
            <a:r>
              <a:rPr spc="-10" dirty="0"/>
              <a:t>heuristics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25677"/>
            <a:ext cx="4483735" cy="600710"/>
            <a:chOff x="87743" y="1025677"/>
            <a:chExt cx="4483735" cy="600710"/>
          </a:xfrm>
        </p:grpSpPr>
        <p:sp>
          <p:nvSpPr>
            <p:cNvPr id="4" name="object 4"/>
            <p:cNvSpPr/>
            <p:nvPr/>
          </p:nvSpPr>
          <p:spPr>
            <a:xfrm>
              <a:off x="87743" y="102567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98702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2426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1156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69911"/>
              <a:ext cx="50800" cy="4543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42961"/>
              <a:ext cx="4432935" cy="332105"/>
            </a:xfrm>
            <a:custGeom>
              <a:avLst/>
              <a:gdLst/>
              <a:ahLst/>
              <a:cxnLst/>
              <a:rect l="l" t="t" r="r" b="b"/>
              <a:pathLst>
                <a:path w="4432935" h="332105">
                  <a:moveTo>
                    <a:pt x="4432554" y="0"/>
                  </a:moveTo>
                  <a:lnTo>
                    <a:pt x="0" y="0"/>
                  </a:lnTo>
                  <a:lnTo>
                    <a:pt x="0" y="281305"/>
                  </a:lnTo>
                  <a:lnTo>
                    <a:pt x="4008" y="301029"/>
                  </a:lnTo>
                  <a:lnTo>
                    <a:pt x="14922" y="317182"/>
                  </a:lnTo>
                  <a:lnTo>
                    <a:pt x="31075" y="328096"/>
                  </a:lnTo>
                  <a:lnTo>
                    <a:pt x="50800" y="332105"/>
                  </a:lnTo>
                  <a:lnTo>
                    <a:pt x="4381754" y="332105"/>
                  </a:lnTo>
                  <a:lnTo>
                    <a:pt x="4401478" y="328096"/>
                  </a:lnTo>
                  <a:lnTo>
                    <a:pt x="4417631" y="317182"/>
                  </a:lnTo>
                  <a:lnTo>
                    <a:pt x="4428545" y="301029"/>
                  </a:lnTo>
                  <a:lnTo>
                    <a:pt x="4432554" y="28130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107960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h="435609">
                  <a:moveTo>
                    <a:pt x="0" y="43535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10953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10826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106991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89837"/>
              <a:ext cx="64757" cy="64757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87743" y="1726984"/>
            <a:ext cx="4483735" cy="757555"/>
            <a:chOff x="87743" y="1726984"/>
            <a:chExt cx="4483735" cy="757555"/>
          </a:xfrm>
        </p:grpSpPr>
        <p:sp>
          <p:nvSpPr>
            <p:cNvPr id="16" name="object 16"/>
            <p:cNvSpPr/>
            <p:nvPr/>
          </p:nvSpPr>
          <p:spPr>
            <a:xfrm>
              <a:off x="87743" y="172698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900008"/>
              <a:ext cx="4432554" cy="506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382329"/>
              <a:ext cx="101599" cy="101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369629"/>
              <a:ext cx="4381754" cy="1143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771218"/>
              <a:ext cx="50800" cy="61111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7743" y="1944306"/>
              <a:ext cx="4432935" cy="488950"/>
            </a:xfrm>
            <a:custGeom>
              <a:avLst/>
              <a:gdLst/>
              <a:ahLst/>
              <a:cxnLst/>
              <a:rect l="l" t="t" r="r" b="b"/>
              <a:pathLst>
                <a:path w="4432935" h="488950">
                  <a:moveTo>
                    <a:pt x="4432554" y="0"/>
                  </a:moveTo>
                  <a:lnTo>
                    <a:pt x="0" y="0"/>
                  </a:lnTo>
                  <a:lnTo>
                    <a:pt x="0" y="438023"/>
                  </a:lnTo>
                  <a:lnTo>
                    <a:pt x="4008" y="457747"/>
                  </a:lnTo>
                  <a:lnTo>
                    <a:pt x="14922" y="473900"/>
                  </a:lnTo>
                  <a:lnTo>
                    <a:pt x="31075" y="484814"/>
                  </a:lnTo>
                  <a:lnTo>
                    <a:pt x="50800" y="488823"/>
                  </a:lnTo>
                  <a:lnTo>
                    <a:pt x="4381754" y="488823"/>
                  </a:lnTo>
                  <a:lnTo>
                    <a:pt x="4401478" y="484814"/>
                  </a:lnTo>
                  <a:lnTo>
                    <a:pt x="4417631" y="473900"/>
                  </a:lnTo>
                  <a:lnTo>
                    <a:pt x="4428545" y="457747"/>
                  </a:lnTo>
                  <a:lnTo>
                    <a:pt x="4432554" y="43802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809305"/>
              <a:ext cx="0" cy="592455"/>
            </a:xfrm>
            <a:custGeom>
              <a:avLst/>
              <a:gdLst/>
              <a:ahLst/>
              <a:cxnLst/>
              <a:rect l="l" t="t" r="r" b="b"/>
              <a:pathLst>
                <a:path h="592455">
                  <a:moveTo>
                    <a:pt x="0" y="59207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966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7839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7712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991144"/>
              <a:ext cx="64757" cy="6475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13029" y="954219"/>
            <a:ext cx="4382135" cy="146875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0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One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Sense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per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Discourse</a:t>
            </a:r>
            <a:endParaRPr sz="1100">
              <a:latin typeface="Cambria"/>
              <a:cs typeface="Cambria"/>
            </a:endParaRPr>
          </a:p>
          <a:p>
            <a:pPr marL="302260" marR="17780">
              <a:lnSpc>
                <a:spcPct val="118900"/>
              </a:lnSpc>
              <a:spcBef>
                <a:spcPts val="18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tends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preserve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across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all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occurrences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given discourse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95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One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Sense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per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Collocation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40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tends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preserve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collocation</a:t>
            </a:r>
            <a:endParaRPr sz="950">
              <a:latin typeface="Trebuchet MS"/>
              <a:cs typeface="Trebuchet MS"/>
            </a:endParaRPr>
          </a:p>
          <a:p>
            <a:pPr marL="577850" indent="-116205">
              <a:lnSpc>
                <a:spcPct val="100000"/>
              </a:lnSpc>
              <a:spcBef>
                <a:spcPts val="30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7850" algn="l"/>
              </a:tabLst>
            </a:pPr>
            <a:r>
              <a:rPr sz="900" dirty="0">
                <a:latin typeface="Trebuchet MS"/>
                <a:cs typeface="Trebuchet MS"/>
              </a:rPr>
              <a:t>Strong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60" dirty="0">
                <a:latin typeface="Trebuchet MS"/>
                <a:cs typeface="Trebuchet MS"/>
              </a:rPr>
              <a:t>for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adjacent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collocations</a:t>
            </a:r>
            <a:endParaRPr sz="900">
              <a:latin typeface="Trebuchet MS"/>
              <a:cs typeface="Trebuchet MS"/>
            </a:endParaRPr>
          </a:p>
          <a:p>
            <a:pPr marL="577850" indent="-116205">
              <a:lnSpc>
                <a:spcPct val="100000"/>
              </a:lnSpc>
              <a:spcBef>
                <a:spcPts val="114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7850" algn="l"/>
              </a:tabLst>
            </a:pPr>
            <a:r>
              <a:rPr sz="900" dirty="0">
                <a:latin typeface="Trebuchet MS"/>
                <a:cs typeface="Trebuchet MS"/>
              </a:rPr>
              <a:t>Weaker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as</a:t>
            </a:r>
            <a:r>
              <a:rPr sz="900" spc="-25" dirty="0">
                <a:latin typeface="Trebuchet MS"/>
                <a:cs typeface="Trebuchet MS"/>
              </a:rPr>
              <a:t> 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distance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between</a:t>
            </a:r>
            <a:r>
              <a:rPr sz="900" spc="-25" dirty="0">
                <a:latin typeface="Trebuchet MS"/>
                <a:cs typeface="Trebuchet MS"/>
              </a:rPr>
              <a:t> the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increases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5538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C2C88A0B-EBB4-4DA3-86DA-50E2E20EBF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112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Yarowsky’s</a:t>
            </a:r>
            <a:r>
              <a:rPr spc="25" dirty="0"/>
              <a:t> </a:t>
            </a:r>
            <a:r>
              <a:rPr spc="-10" dirty="0"/>
              <a:t>Method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85431"/>
            <a:ext cx="4483735" cy="1558925"/>
            <a:chOff x="87743" y="985431"/>
            <a:chExt cx="4483735" cy="1558925"/>
          </a:xfrm>
        </p:grpSpPr>
        <p:sp>
          <p:nvSpPr>
            <p:cNvPr id="4" name="object 4"/>
            <p:cNvSpPr/>
            <p:nvPr/>
          </p:nvSpPr>
          <p:spPr>
            <a:xfrm>
              <a:off x="87743" y="98543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5844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442718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430018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29665"/>
              <a:ext cx="50800" cy="14130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02690"/>
              <a:ext cx="4432935" cy="1290955"/>
            </a:xfrm>
            <a:custGeom>
              <a:avLst/>
              <a:gdLst/>
              <a:ahLst/>
              <a:cxnLst/>
              <a:rect l="l" t="t" r="r" b="b"/>
              <a:pathLst>
                <a:path w="4432935" h="1290955">
                  <a:moveTo>
                    <a:pt x="4432554" y="0"/>
                  </a:moveTo>
                  <a:lnTo>
                    <a:pt x="0" y="0"/>
                  </a:lnTo>
                  <a:lnTo>
                    <a:pt x="0" y="1240027"/>
                  </a:lnTo>
                  <a:lnTo>
                    <a:pt x="4008" y="1259752"/>
                  </a:lnTo>
                  <a:lnTo>
                    <a:pt x="14922" y="1275905"/>
                  </a:lnTo>
                  <a:lnTo>
                    <a:pt x="31075" y="1286819"/>
                  </a:lnTo>
                  <a:lnTo>
                    <a:pt x="50800" y="1290827"/>
                  </a:lnTo>
                  <a:lnTo>
                    <a:pt x="4381754" y="1290827"/>
                  </a:lnTo>
                  <a:lnTo>
                    <a:pt x="4401478" y="1286819"/>
                  </a:lnTo>
                  <a:lnTo>
                    <a:pt x="4417631" y="1275905"/>
                  </a:lnTo>
                  <a:lnTo>
                    <a:pt x="4428545" y="1259752"/>
                  </a:lnTo>
                  <a:lnTo>
                    <a:pt x="4432554" y="1240027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067816"/>
              <a:ext cx="0" cy="1394460"/>
            </a:xfrm>
            <a:custGeom>
              <a:avLst/>
              <a:gdLst/>
              <a:ahLst/>
              <a:cxnLst/>
              <a:rect l="l" t="t" r="r" b="b"/>
              <a:pathLst>
                <a:path h="1394460">
                  <a:moveTo>
                    <a:pt x="0" y="139395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0550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0423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0296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5244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42237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98123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2191270"/>
              <a:ext cx="64757" cy="6475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13029" y="910657"/>
            <a:ext cx="4083050" cy="15576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Example</a:t>
            </a:r>
            <a:endParaRPr sz="1100">
              <a:latin typeface="Cambria"/>
              <a:cs typeface="Cambria"/>
            </a:endParaRPr>
          </a:p>
          <a:p>
            <a:pPr marL="302260" marR="43180">
              <a:lnSpc>
                <a:spcPct val="131000"/>
              </a:lnSpc>
              <a:spcBef>
                <a:spcPts val="70"/>
              </a:spcBef>
            </a:pPr>
            <a:r>
              <a:rPr sz="950" dirty="0">
                <a:latin typeface="Trebuchet MS"/>
                <a:cs typeface="Trebuchet MS"/>
              </a:rPr>
              <a:t>Disambiguating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(industrial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sense)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vs.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plant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(living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sense) </a:t>
            </a:r>
            <a:r>
              <a:rPr sz="950" dirty="0">
                <a:latin typeface="Trebuchet MS"/>
                <a:cs typeface="Trebuchet MS"/>
              </a:rPr>
              <a:t>Think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seed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sense</a:t>
            </a:r>
            <a:endParaRPr sz="950">
              <a:latin typeface="Trebuchet MS"/>
              <a:cs typeface="Trebuchet MS"/>
            </a:endParaRPr>
          </a:p>
          <a:p>
            <a:pPr marL="577850" indent="-116205">
              <a:lnSpc>
                <a:spcPct val="100000"/>
              </a:lnSpc>
              <a:spcBef>
                <a:spcPts val="30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7850" algn="l"/>
              </a:tabLst>
            </a:pPr>
            <a:r>
              <a:rPr sz="900" spc="-20" dirty="0">
                <a:latin typeface="Trebuchet MS"/>
                <a:cs typeface="Trebuchet MS"/>
              </a:rPr>
              <a:t>Industrial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sense:</a:t>
            </a:r>
            <a:r>
              <a:rPr sz="900" spc="9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co-</a:t>
            </a:r>
            <a:r>
              <a:rPr sz="900" spc="-10" dirty="0">
                <a:latin typeface="Trebuchet MS"/>
                <a:cs typeface="Trebuchet MS"/>
              </a:rPr>
              <a:t>occurring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‘manufacturing’</a:t>
            </a:r>
            <a:endParaRPr sz="900">
              <a:latin typeface="Trebuchet MS"/>
              <a:cs typeface="Trebuchet MS"/>
            </a:endParaRPr>
          </a:p>
          <a:p>
            <a:pPr marL="577850" indent="-116205">
              <a:lnSpc>
                <a:spcPct val="100000"/>
              </a:lnSpc>
              <a:spcBef>
                <a:spcPts val="114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577850" algn="l"/>
              </a:tabLst>
            </a:pPr>
            <a:r>
              <a:rPr sz="900" dirty="0">
                <a:latin typeface="Trebuchet MS"/>
                <a:cs typeface="Trebuchet MS"/>
              </a:rPr>
              <a:t>Living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thing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sense:</a:t>
            </a:r>
            <a:r>
              <a:rPr sz="900" spc="7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co-</a:t>
            </a:r>
            <a:r>
              <a:rPr sz="900" spc="-10" dirty="0">
                <a:latin typeface="Trebuchet MS"/>
                <a:cs typeface="Trebuchet MS"/>
              </a:rPr>
              <a:t>occurring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‘life’</a:t>
            </a:r>
            <a:endParaRPr sz="900">
              <a:latin typeface="Trebuchet MS"/>
              <a:cs typeface="Trebuchet MS"/>
            </a:endParaRPr>
          </a:p>
          <a:p>
            <a:pPr marL="302260">
              <a:lnSpc>
                <a:spcPct val="100000"/>
              </a:lnSpc>
              <a:spcBef>
                <a:spcPts val="525"/>
              </a:spcBef>
            </a:pPr>
            <a:r>
              <a:rPr sz="950" spc="75" dirty="0">
                <a:latin typeface="Trebuchet MS"/>
                <a:cs typeface="Trebuchet MS"/>
              </a:rPr>
              <a:t>Use</a:t>
            </a:r>
            <a:r>
              <a:rPr sz="950" spc="-10" dirty="0">
                <a:latin typeface="Trebuchet MS"/>
                <a:cs typeface="Trebuchet MS"/>
              </a:rPr>
              <a:t> ‘one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per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collocation’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10" dirty="0">
                <a:latin typeface="Trebuchet MS"/>
                <a:cs typeface="Trebuchet MS"/>
              </a:rPr>
              <a:t> build </a:t>
            </a:r>
            <a:r>
              <a:rPr sz="950" spc="-40" dirty="0">
                <a:latin typeface="Trebuchet MS"/>
                <a:cs typeface="Trebuchet MS"/>
              </a:rPr>
              <a:t>initial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decision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list</a:t>
            </a:r>
            <a:r>
              <a:rPr sz="950" spc="-10" dirty="0">
                <a:latin typeface="Trebuchet MS"/>
                <a:cs typeface="Trebuchet MS"/>
              </a:rPr>
              <a:t> classifier</a:t>
            </a:r>
            <a:endParaRPr sz="950">
              <a:latin typeface="Trebuchet MS"/>
              <a:cs typeface="Trebuchet MS"/>
            </a:endParaRPr>
          </a:p>
          <a:p>
            <a:pPr marL="302260" marR="133985">
              <a:lnSpc>
                <a:spcPct val="118900"/>
              </a:lnSpc>
              <a:spcBef>
                <a:spcPts val="300"/>
              </a:spcBef>
            </a:pPr>
            <a:r>
              <a:rPr sz="950" spc="-25" dirty="0">
                <a:latin typeface="Trebuchet MS"/>
                <a:cs typeface="Trebuchet MS"/>
              </a:rPr>
              <a:t>Treat</a:t>
            </a:r>
            <a:r>
              <a:rPr sz="950" dirty="0">
                <a:latin typeface="Trebuchet MS"/>
                <a:cs typeface="Trebuchet MS"/>
              </a:rPr>
              <a:t> results (having high </a:t>
            </a:r>
            <a:r>
              <a:rPr sz="950" spc="-20" dirty="0">
                <a:latin typeface="Trebuchet MS"/>
                <a:cs typeface="Trebuchet MS"/>
              </a:rPr>
              <a:t>probability)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dirty="0">
                <a:latin typeface="Trebuchet MS"/>
                <a:cs typeface="Trebuchet MS"/>
              </a:rPr>
              <a:t> annotated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data,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train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new </a:t>
            </a:r>
            <a:r>
              <a:rPr sz="950" dirty="0">
                <a:latin typeface="Trebuchet MS"/>
                <a:cs typeface="Trebuchet MS"/>
              </a:rPr>
              <a:t>decision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list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classifier,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iterate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4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188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Yarowsky’s</a:t>
            </a:r>
            <a:r>
              <a:rPr sz="1400" i="1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Method: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88" y="615276"/>
            <a:ext cx="3756659" cy="240411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5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188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Yarowsky’s</a:t>
            </a:r>
            <a:r>
              <a:rPr sz="1400" i="1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Method: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643" y="562572"/>
            <a:ext cx="2426969" cy="25488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6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188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Yarowsky’s</a:t>
            </a:r>
            <a:r>
              <a:rPr sz="1400" i="1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Method: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213" y="554951"/>
            <a:ext cx="2457449" cy="258318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7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188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Yarowsky’s</a:t>
            </a:r>
            <a:r>
              <a:rPr sz="1400" i="1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Method: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643" y="554951"/>
            <a:ext cx="2419350" cy="25869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8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Yarowsky’s</a:t>
            </a:r>
            <a:r>
              <a:rPr spc="25" dirty="0"/>
              <a:t> </a:t>
            </a:r>
            <a:r>
              <a:rPr spc="-10" dirty="0"/>
              <a:t>Method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19937"/>
            <a:ext cx="4483735" cy="957580"/>
            <a:chOff x="87743" y="919937"/>
            <a:chExt cx="4483735" cy="957580"/>
          </a:xfrm>
        </p:grpSpPr>
        <p:sp>
          <p:nvSpPr>
            <p:cNvPr id="4" name="object 4"/>
            <p:cNvSpPr/>
            <p:nvPr/>
          </p:nvSpPr>
          <p:spPr>
            <a:xfrm>
              <a:off x="87743" y="919937"/>
              <a:ext cx="4432935" cy="172085"/>
            </a:xfrm>
            <a:custGeom>
              <a:avLst/>
              <a:gdLst/>
              <a:ahLst/>
              <a:cxnLst/>
              <a:rect l="l" t="t" r="r" b="b"/>
              <a:pathLst>
                <a:path w="4432935" h="17208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1577"/>
                  </a:lnTo>
                  <a:lnTo>
                    <a:pt x="4432554" y="171577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78890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75371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62671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64171"/>
              <a:ext cx="50800" cy="8111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23226"/>
              <a:ext cx="4432935" cy="702945"/>
            </a:xfrm>
            <a:custGeom>
              <a:avLst/>
              <a:gdLst/>
              <a:ahLst/>
              <a:cxnLst/>
              <a:rect l="l" t="t" r="r" b="b"/>
              <a:pathLst>
                <a:path w="4432935" h="702944">
                  <a:moveTo>
                    <a:pt x="4432554" y="0"/>
                  </a:moveTo>
                  <a:lnTo>
                    <a:pt x="0" y="0"/>
                  </a:lnTo>
                  <a:lnTo>
                    <a:pt x="0" y="652144"/>
                  </a:lnTo>
                  <a:lnTo>
                    <a:pt x="4008" y="671869"/>
                  </a:lnTo>
                  <a:lnTo>
                    <a:pt x="14922" y="688022"/>
                  </a:lnTo>
                  <a:lnTo>
                    <a:pt x="31075" y="698936"/>
                  </a:lnTo>
                  <a:lnTo>
                    <a:pt x="50800" y="702944"/>
                  </a:lnTo>
                  <a:lnTo>
                    <a:pt x="4381754" y="702944"/>
                  </a:lnTo>
                  <a:lnTo>
                    <a:pt x="4401478" y="698936"/>
                  </a:lnTo>
                  <a:lnTo>
                    <a:pt x="4417631" y="688022"/>
                  </a:lnTo>
                  <a:lnTo>
                    <a:pt x="4428545" y="671869"/>
                  </a:lnTo>
                  <a:lnTo>
                    <a:pt x="4432554" y="65214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002322"/>
              <a:ext cx="0" cy="792480"/>
            </a:xfrm>
            <a:custGeom>
              <a:avLst/>
              <a:gdLst/>
              <a:ahLst/>
              <a:cxnLst/>
              <a:rect l="l" t="t" r="r" b="b"/>
              <a:pathLst>
                <a:path h="792480">
                  <a:moveTo>
                    <a:pt x="0" y="7920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895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9768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96417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7290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711896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978101"/>
            <a:ext cx="4483735" cy="664845"/>
            <a:chOff x="87743" y="1978101"/>
            <a:chExt cx="4483735" cy="664845"/>
          </a:xfrm>
        </p:grpSpPr>
        <p:sp>
          <p:nvSpPr>
            <p:cNvPr id="17" name="object 17"/>
            <p:cNvSpPr/>
            <p:nvPr/>
          </p:nvSpPr>
          <p:spPr>
            <a:xfrm>
              <a:off x="87743" y="197810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2151113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540939"/>
              <a:ext cx="101599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528239"/>
              <a:ext cx="4381754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2022335"/>
              <a:ext cx="50800" cy="51860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2195372"/>
              <a:ext cx="4432935" cy="396875"/>
            </a:xfrm>
            <a:custGeom>
              <a:avLst/>
              <a:gdLst/>
              <a:ahLst/>
              <a:cxnLst/>
              <a:rect l="l" t="t" r="r" b="b"/>
              <a:pathLst>
                <a:path w="4432935" h="396875">
                  <a:moveTo>
                    <a:pt x="4432554" y="0"/>
                  </a:moveTo>
                  <a:lnTo>
                    <a:pt x="0" y="0"/>
                  </a:lnTo>
                  <a:lnTo>
                    <a:pt x="0" y="345566"/>
                  </a:lnTo>
                  <a:lnTo>
                    <a:pt x="4008" y="365291"/>
                  </a:lnTo>
                  <a:lnTo>
                    <a:pt x="14922" y="381444"/>
                  </a:lnTo>
                  <a:lnTo>
                    <a:pt x="31075" y="392358"/>
                  </a:lnTo>
                  <a:lnTo>
                    <a:pt x="50800" y="396366"/>
                  </a:lnTo>
                  <a:lnTo>
                    <a:pt x="4381754" y="396366"/>
                  </a:lnTo>
                  <a:lnTo>
                    <a:pt x="4401478" y="392358"/>
                  </a:lnTo>
                  <a:lnTo>
                    <a:pt x="4417631" y="381444"/>
                  </a:lnTo>
                  <a:lnTo>
                    <a:pt x="4428545" y="365291"/>
                  </a:lnTo>
                  <a:lnTo>
                    <a:pt x="4432554" y="34556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2060371"/>
              <a:ext cx="0" cy="499745"/>
            </a:xfrm>
            <a:custGeom>
              <a:avLst/>
              <a:gdLst/>
              <a:ahLst/>
              <a:cxnLst/>
              <a:rect l="l" t="t" r="r" b="b"/>
              <a:pathLst>
                <a:path h="499744">
                  <a:moveTo>
                    <a:pt x="0" y="4996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0477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0350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0223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242261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452293"/>
              <a:ext cx="64757" cy="6475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7630" y="850991"/>
            <a:ext cx="3275965" cy="17062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4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Termination</a:t>
            </a:r>
            <a:endParaRPr sz="1100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  <a:spcBef>
                <a:spcPts val="350"/>
              </a:spcBef>
            </a:pPr>
            <a:r>
              <a:rPr sz="950" dirty="0">
                <a:latin typeface="Trebuchet MS"/>
                <a:cs typeface="Trebuchet MS"/>
              </a:rPr>
              <a:t>Stop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when</a:t>
            </a:r>
            <a:endParaRPr sz="950">
              <a:latin typeface="Trebuchet MS"/>
              <a:cs typeface="Trebuchet MS"/>
            </a:endParaRPr>
          </a:p>
          <a:p>
            <a:pPr marL="603250" indent="-116205">
              <a:lnSpc>
                <a:spcPct val="100000"/>
              </a:lnSpc>
              <a:spcBef>
                <a:spcPts val="30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3250" algn="l"/>
              </a:tabLst>
            </a:pPr>
            <a:r>
              <a:rPr sz="900" dirty="0">
                <a:latin typeface="Trebuchet MS"/>
                <a:cs typeface="Trebuchet MS"/>
              </a:rPr>
              <a:t>Error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training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data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is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less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than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threshold</a:t>
            </a:r>
            <a:endParaRPr sz="900">
              <a:latin typeface="Trebuchet MS"/>
              <a:cs typeface="Trebuchet MS"/>
            </a:endParaRPr>
          </a:p>
          <a:p>
            <a:pPr marL="603250" indent="-116205">
              <a:lnSpc>
                <a:spcPct val="100000"/>
              </a:lnSpc>
              <a:spcBef>
                <a:spcPts val="115"/>
              </a:spcBef>
              <a:buClr>
                <a:srgbClr val="D6D6EF"/>
              </a:buClr>
              <a:buSzPct val="66666"/>
              <a:buFont typeface="Lucida Sans Unicode"/>
              <a:buChar char="►"/>
              <a:tabLst>
                <a:tab pos="603250" algn="l"/>
              </a:tabLst>
            </a:pPr>
            <a:r>
              <a:rPr sz="900" dirty="0">
                <a:latin typeface="Trebuchet MS"/>
                <a:cs typeface="Trebuchet MS"/>
              </a:rPr>
              <a:t>No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more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training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data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is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covered</a:t>
            </a:r>
            <a:endParaRPr sz="90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520"/>
              </a:spcBef>
            </a:pPr>
            <a:r>
              <a:rPr sz="950" spc="75" dirty="0">
                <a:latin typeface="Trebuchet MS"/>
                <a:cs typeface="Trebuchet MS"/>
              </a:rPr>
              <a:t>Use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final</a:t>
            </a:r>
            <a:r>
              <a:rPr sz="950" dirty="0">
                <a:latin typeface="Trebuchet MS"/>
                <a:cs typeface="Trebuchet MS"/>
              </a:rPr>
              <a:t> decision </a:t>
            </a:r>
            <a:r>
              <a:rPr sz="950" spc="-25" dirty="0">
                <a:latin typeface="Trebuchet MS"/>
                <a:cs typeface="Trebuchet MS"/>
              </a:rPr>
              <a:t>list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110" dirty="0">
                <a:latin typeface="Trebuchet MS"/>
                <a:cs typeface="Trebuchet MS"/>
              </a:rPr>
              <a:t>WSD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9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Advantages</a:t>
            </a:r>
            <a:endParaRPr sz="1100">
              <a:latin typeface="Cambria"/>
              <a:cs typeface="Cambria"/>
            </a:endParaRPr>
          </a:p>
          <a:p>
            <a:pPr marL="327660" marR="17780">
              <a:lnSpc>
                <a:spcPts val="1650"/>
              </a:lnSpc>
            </a:pPr>
            <a:r>
              <a:rPr sz="950" dirty="0">
                <a:latin typeface="Trebuchet MS"/>
                <a:cs typeface="Trebuchet MS"/>
              </a:rPr>
              <a:t>Accuracy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 </a:t>
            </a:r>
            <a:r>
              <a:rPr sz="950" dirty="0">
                <a:latin typeface="Trebuchet MS"/>
                <a:cs typeface="Trebuchet MS"/>
              </a:rPr>
              <a:t>good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supervised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algorithm </a:t>
            </a:r>
            <a:r>
              <a:rPr sz="950" dirty="0">
                <a:latin typeface="Trebuchet MS"/>
                <a:cs typeface="Trebuchet MS"/>
              </a:rPr>
              <a:t>Bootstrapping:</a:t>
            </a:r>
            <a:r>
              <a:rPr sz="950" spc="13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far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less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manual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effort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4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4617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r>
              <a:rPr dirty="0"/>
              <a:t>9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60082"/>
            <a:ext cx="4483735" cy="985519"/>
            <a:chOff x="87743" y="560082"/>
            <a:chExt cx="4483735" cy="985519"/>
          </a:xfrm>
        </p:grpSpPr>
        <p:sp>
          <p:nvSpPr>
            <p:cNvPr id="4" name="object 4"/>
            <p:cNvSpPr/>
            <p:nvPr/>
          </p:nvSpPr>
          <p:spPr>
            <a:xfrm>
              <a:off x="87743" y="56008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3309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4363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3093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04316"/>
              <a:ext cx="50800" cy="83931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77392"/>
              <a:ext cx="4432935" cy="717550"/>
            </a:xfrm>
            <a:custGeom>
              <a:avLst/>
              <a:gdLst/>
              <a:ahLst/>
              <a:cxnLst/>
              <a:rect l="l" t="t" r="r" b="b"/>
              <a:pathLst>
                <a:path w="4432935" h="717550">
                  <a:moveTo>
                    <a:pt x="4432554" y="0"/>
                  </a:moveTo>
                  <a:lnTo>
                    <a:pt x="0" y="0"/>
                  </a:lnTo>
                  <a:lnTo>
                    <a:pt x="0" y="666242"/>
                  </a:lnTo>
                  <a:lnTo>
                    <a:pt x="4008" y="685966"/>
                  </a:lnTo>
                  <a:lnTo>
                    <a:pt x="14922" y="702119"/>
                  </a:lnTo>
                  <a:lnTo>
                    <a:pt x="31075" y="713033"/>
                  </a:lnTo>
                  <a:lnTo>
                    <a:pt x="50800" y="717042"/>
                  </a:lnTo>
                  <a:lnTo>
                    <a:pt x="4381754" y="717042"/>
                  </a:lnTo>
                  <a:lnTo>
                    <a:pt x="4401478" y="713033"/>
                  </a:lnTo>
                  <a:lnTo>
                    <a:pt x="4417631" y="702119"/>
                  </a:lnTo>
                  <a:lnTo>
                    <a:pt x="4428545" y="685966"/>
                  </a:lnTo>
                  <a:lnTo>
                    <a:pt x="4432554" y="66624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42391"/>
              <a:ext cx="0" cy="820419"/>
            </a:xfrm>
            <a:custGeom>
              <a:avLst/>
              <a:gdLst/>
              <a:ahLst/>
              <a:cxnLst/>
              <a:rect l="l" t="t" r="r" b="b"/>
              <a:pathLst>
                <a:path h="820419">
                  <a:moveTo>
                    <a:pt x="0" y="8202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97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170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043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827112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09217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485421"/>
            <a:ext cx="4321175" cy="100139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Key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Idea:</a:t>
            </a:r>
            <a:r>
              <a:rPr sz="1100" i="1" spc="5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75" dirty="0">
                <a:solidFill>
                  <a:srgbClr val="3232B2"/>
                </a:solidFill>
                <a:latin typeface="Cambria"/>
                <a:cs typeface="Cambria"/>
              </a:rPr>
              <a:t>Word</a:t>
            </a:r>
            <a:r>
              <a:rPr sz="1100" i="1" spc="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Sense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Induction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18800"/>
              </a:lnSpc>
              <a:spcBef>
                <a:spcPts val="210"/>
              </a:spcBef>
            </a:pPr>
            <a:r>
              <a:rPr sz="950" dirty="0">
                <a:latin typeface="Trebuchet MS"/>
                <a:cs typeface="Trebuchet MS"/>
              </a:rPr>
              <a:t>Instead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“dictionary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defined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senses”,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extract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“senses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corpus”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itself</a:t>
            </a:r>
            <a:endParaRPr sz="950">
              <a:latin typeface="Trebuchet MS"/>
              <a:cs typeface="Trebuchet MS"/>
            </a:endParaRPr>
          </a:p>
          <a:p>
            <a:pPr marL="289560" marR="429895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“corpus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senses”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“uses”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correspond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clusters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 </a:t>
            </a:r>
            <a:r>
              <a:rPr sz="950" dirty="0">
                <a:latin typeface="Trebuchet MS"/>
                <a:cs typeface="Trebuchet MS"/>
              </a:rPr>
              <a:t>contexts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0" dirty="0">
                <a:latin typeface="Trebuchet MS"/>
                <a:cs typeface="Trebuchet MS"/>
              </a:rPr>
              <a:t> word.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3398212F-9FC8-4922-8C6E-54C6F2E631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119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60082"/>
            <a:ext cx="4483735" cy="985519"/>
            <a:chOff x="87743" y="560082"/>
            <a:chExt cx="4483735" cy="985519"/>
          </a:xfrm>
        </p:grpSpPr>
        <p:sp>
          <p:nvSpPr>
            <p:cNvPr id="4" name="object 4"/>
            <p:cNvSpPr/>
            <p:nvPr/>
          </p:nvSpPr>
          <p:spPr>
            <a:xfrm>
              <a:off x="87743" y="56008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4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73309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43634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30934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04316"/>
              <a:ext cx="50800" cy="83931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77392"/>
              <a:ext cx="4432935" cy="717550"/>
            </a:xfrm>
            <a:custGeom>
              <a:avLst/>
              <a:gdLst/>
              <a:ahLst/>
              <a:cxnLst/>
              <a:rect l="l" t="t" r="r" b="b"/>
              <a:pathLst>
                <a:path w="4432935" h="717550">
                  <a:moveTo>
                    <a:pt x="4432554" y="0"/>
                  </a:moveTo>
                  <a:lnTo>
                    <a:pt x="0" y="0"/>
                  </a:lnTo>
                  <a:lnTo>
                    <a:pt x="0" y="666242"/>
                  </a:lnTo>
                  <a:lnTo>
                    <a:pt x="4008" y="685966"/>
                  </a:lnTo>
                  <a:lnTo>
                    <a:pt x="14922" y="702119"/>
                  </a:lnTo>
                  <a:lnTo>
                    <a:pt x="31075" y="713033"/>
                  </a:lnTo>
                  <a:lnTo>
                    <a:pt x="50800" y="717042"/>
                  </a:lnTo>
                  <a:lnTo>
                    <a:pt x="4381754" y="717042"/>
                  </a:lnTo>
                  <a:lnTo>
                    <a:pt x="4401478" y="713033"/>
                  </a:lnTo>
                  <a:lnTo>
                    <a:pt x="4417631" y="702119"/>
                  </a:lnTo>
                  <a:lnTo>
                    <a:pt x="4428545" y="685966"/>
                  </a:lnTo>
                  <a:lnTo>
                    <a:pt x="4432554" y="66624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42391"/>
              <a:ext cx="0" cy="820419"/>
            </a:xfrm>
            <a:custGeom>
              <a:avLst/>
              <a:gdLst/>
              <a:ahLst/>
              <a:cxnLst/>
              <a:rect l="l" t="t" r="r" b="b"/>
              <a:pathLst>
                <a:path h="820419">
                  <a:moveTo>
                    <a:pt x="0" y="8202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97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170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043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827112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09217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485421"/>
            <a:ext cx="4321175" cy="100139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Key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Idea:</a:t>
            </a:r>
            <a:r>
              <a:rPr sz="1100" i="1" spc="5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75" dirty="0">
                <a:solidFill>
                  <a:srgbClr val="3232B2"/>
                </a:solidFill>
                <a:latin typeface="Cambria"/>
                <a:cs typeface="Cambria"/>
              </a:rPr>
              <a:t>Word</a:t>
            </a:r>
            <a:r>
              <a:rPr sz="1100" i="1" spc="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Sense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Induction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18800"/>
              </a:lnSpc>
              <a:spcBef>
                <a:spcPts val="210"/>
              </a:spcBef>
            </a:pPr>
            <a:r>
              <a:rPr sz="950" dirty="0">
                <a:latin typeface="Trebuchet MS"/>
                <a:cs typeface="Trebuchet MS"/>
              </a:rPr>
              <a:t>Instead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“dictionary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defined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senses”,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extract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“senses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dirty="0">
                <a:latin typeface="Trebuchet MS"/>
                <a:cs typeface="Trebuchet MS"/>
              </a:rPr>
              <a:t>corpus”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itself</a:t>
            </a:r>
            <a:endParaRPr sz="950">
              <a:latin typeface="Trebuchet MS"/>
              <a:cs typeface="Trebuchet MS"/>
            </a:endParaRPr>
          </a:p>
          <a:p>
            <a:pPr marL="289560" marR="429895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“corpus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senses”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“uses”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correspond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clusters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similar </a:t>
            </a:r>
            <a:r>
              <a:rPr sz="950" dirty="0">
                <a:latin typeface="Trebuchet MS"/>
                <a:cs typeface="Trebuchet MS"/>
              </a:rPr>
              <a:t>contexts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0" dirty="0">
                <a:latin typeface="Trebuchet MS"/>
                <a:cs typeface="Trebuchet MS"/>
              </a:rPr>
              <a:t> word.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3521" y="1709559"/>
            <a:ext cx="2921000" cy="132079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DD4AAA12-1F25-42F9-932C-6EE70084700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47268"/>
            <a:ext cx="4483735" cy="2404745"/>
            <a:chOff x="87743" y="647268"/>
            <a:chExt cx="4483735" cy="2404745"/>
          </a:xfrm>
        </p:grpSpPr>
        <p:sp>
          <p:nvSpPr>
            <p:cNvPr id="4" name="object 4"/>
            <p:cNvSpPr/>
            <p:nvPr/>
          </p:nvSpPr>
          <p:spPr>
            <a:xfrm>
              <a:off x="87743" y="6472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202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4995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3725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91502"/>
              <a:ext cx="50800" cy="225845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64616"/>
              <a:ext cx="4432935" cy="2136140"/>
            </a:xfrm>
            <a:custGeom>
              <a:avLst/>
              <a:gdLst/>
              <a:ahLst/>
              <a:cxnLst/>
              <a:rect l="l" t="t" r="r" b="b"/>
              <a:pathLst>
                <a:path w="4432935" h="2136140">
                  <a:moveTo>
                    <a:pt x="4432554" y="0"/>
                  </a:moveTo>
                  <a:lnTo>
                    <a:pt x="0" y="0"/>
                  </a:lnTo>
                  <a:lnTo>
                    <a:pt x="0" y="2085339"/>
                  </a:lnTo>
                  <a:lnTo>
                    <a:pt x="4008" y="2105064"/>
                  </a:lnTo>
                  <a:lnTo>
                    <a:pt x="14922" y="2121217"/>
                  </a:lnTo>
                  <a:lnTo>
                    <a:pt x="31075" y="2132131"/>
                  </a:lnTo>
                  <a:lnTo>
                    <a:pt x="50800" y="2136140"/>
                  </a:lnTo>
                  <a:lnTo>
                    <a:pt x="4381754" y="2136140"/>
                  </a:lnTo>
                  <a:lnTo>
                    <a:pt x="4401478" y="2132131"/>
                  </a:lnTo>
                  <a:lnTo>
                    <a:pt x="4417631" y="2121217"/>
                  </a:lnTo>
                  <a:lnTo>
                    <a:pt x="4428545" y="2105064"/>
                  </a:lnTo>
                  <a:lnTo>
                    <a:pt x="4432554" y="208533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9615"/>
              <a:ext cx="0" cy="2239645"/>
            </a:xfrm>
            <a:custGeom>
              <a:avLst/>
              <a:gdLst/>
              <a:ahLst/>
              <a:cxnLst/>
              <a:rect l="l" t="t" r="r" b="b"/>
              <a:pathLst>
                <a:path h="2239645">
                  <a:moveTo>
                    <a:pt x="0" y="22393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16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04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914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1429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640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78508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25"/>
              </a:spcBef>
            </a:pPr>
            <a:r>
              <a:rPr spc="-20" dirty="0"/>
              <a:t>Detecting</a:t>
            </a:r>
            <a:r>
              <a:rPr spc="-5" dirty="0"/>
              <a:t> </a:t>
            </a:r>
            <a:r>
              <a:rPr spc="-10" dirty="0"/>
              <a:t>Root</a:t>
            </a:r>
            <a:r>
              <a:rPr dirty="0"/>
              <a:t> </a:t>
            </a:r>
            <a:r>
              <a:rPr spc="-20" dirty="0"/>
              <a:t>Hubs</a:t>
            </a:r>
          </a:p>
          <a:p>
            <a:pPr marL="327025" marR="5080">
              <a:lnSpc>
                <a:spcPct val="118900"/>
              </a:lnSpc>
              <a:spcBef>
                <a:spcPts val="209"/>
              </a:spcBef>
            </a:pP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Different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uses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of</a:t>
            </a:r>
            <a:r>
              <a:rPr sz="950" i="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target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word</a:t>
            </a:r>
            <a:r>
              <a:rPr sz="950" i="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form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highly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interconnected</a:t>
            </a:r>
            <a:r>
              <a:rPr sz="950" i="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bundles 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(or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high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density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components)</a:t>
            </a:r>
            <a:endParaRPr sz="950">
              <a:latin typeface="Trebuchet MS"/>
              <a:cs typeface="Trebuchet MS"/>
            </a:endParaRPr>
          </a:p>
          <a:p>
            <a:pPr marL="327025" marR="51435">
              <a:lnSpc>
                <a:spcPct val="118900"/>
              </a:lnSpc>
              <a:spcBef>
                <a:spcPts val="295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each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high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density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component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one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nodes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(hub)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5" dirty="0">
                <a:solidFill>
                  <a:srgbClr val="000000"/>
                </a:solidFill>
                <a:latin typeface="Trebuchet MS"/>
                <a:cs typeface="Trebuchet MS"/>
              </a:rPr>
              <a:t>has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higher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degree than the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others.</a:t>
            </a:r>
            <a:endParaRPr sz="950">
              <a:latin typeface="Trebuchet MS"/>
              <a:cs typeface="Trebuchet MS"/>
            </a:endParaRPr>
          </a:p>
          <a:p>
            <a:pPr marL="327025">
              <a:lnSpc>
                <a:spcPct val="100000"/>
              </a:lnSpc>
              <a:spcBef>
                <a:spcPts val="365"/>
              </a:spcBef>
            </a:pP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Step</a:t>
            </a:r>
            <a:r>
              <a:rPr sz="950" b="1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1:</a:t>
            </a:r>
            <a:r>
              <a:rPr sz="950" b="1" i="0" spc="1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Construct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co-occurrence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graph,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000000"/>
                </a:solidFill>
              </a:rPr>
              <a:t>G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87F7787F-1A2B-4973-8BFE-0496107F3E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121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47268"/>
            <a:ext cx="4483735" cy="2404745"/>
            <a:chOff x="87743" y="647268"/>
            <a:chExt cx="4483735" cy="2404745"/>
          </a:xfrm>
        </p:grpSpPr>
        <p:sp>
          <p:nvSpPr>
            <p:cNvPr id="4" name="object 4"/>
            <p:cNvSpPr/>
            <p:nvPr/>
          </p:nvSpPr>
          <p:spPr>
            <a:xfrm>
              <a:off x="87743" y="6472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202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4995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3725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91502"/>
              <a:ext cx="50800" cy="225845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64616"/>
              <a:ext cx="4432935" cy="2136140"/>
            </a:xfrm>
            <a:custGeom>
              <a:avLst/>
              <a:gdLst/>
              <a:ahLst/>
              <a:cxnLst/>
              <a:rect l="l" t="t" r="r" b="b"/>
              <a:pathLst>
                <a:path w="4432935" h="2136140">
                  <a:moveTo>
                    <a:pt x="4432554" y="0"/>
                  </a:moveTo>
                  <a:lnTo>
                    <a:pt x="0" y="0"/>
                  </a:lnTo>
                  <a:lnTo>
                    <a:pt x="0" y="2085339"/>
                  </a:lnTo>
                  <a:lnTo>
                    <a:pt x="4008" y="2105064"/>
                  </a:lnTo>
                  <a:lnTo>
                    <a:pt x="14922" y="2121217"/>
                  </a:lnTo>
                  <a:lnTo>
                    <a:pt x="31075" y="2132131"/>
                  </a:lnTo>
                  <a:lnTo>
                    <a:pt x="50800" y="2136140"/>
                  </a:lnTo>
                  <a:lnTo>
                    <a:pt x="4381754" y="2136140"/>
                  </a:lnTo>
                  <a:lnTo>
                    <a:pt x="4401478" y="2132131"/>
                  </a:lnTo>
                  <a:lnTo>
                    <a:pt x="4417631" y="2121217"/>
                  </a:lnTo>
                  <a:lnTo>
                    <a:pt x="4428545" y="2105064"/>
                  </a:lnTo>
                  <a:lnTo>
                    <a:pt x="4432554" y="208533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9615"/>
              <a:ext cx="0" cy="2239645"/>
            </a:xfrm>
            <a:custGeom>
              <a:avLst/>
              <a:gdLst/>
              <a:ahLst/>
              <a:cxnLst/>
              <a:rect l="l" t="t" r="r" b="b"/>
              <a:pathLst>
                <a:path h="2239645">
                  <a:moveTo>
                    <a:pt x="0" y="22393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16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04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914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1429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640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7850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888540"/>
              <a:ext cx="64757" cy="64757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25"/>
              </a:spcBef>
            </a:pPr>
            <a:r>
              <a:rPr spc="-20" dirty="0"/>
              <a:t>Detecting</a:t>
            </a:r>
            <a:r>
              <a:rPr spc="-5" dirty="0"/>
              <a:t> </a:t>
            </a:r>
            <a:r>
              <a:rPr spc="-10" dirty="0"/>
              <a:t>Root</a:t>
            </a:r>
            <a:r>
              <a:rPr dirty="0"/>
              <a:t> </a:t>
            </a:r>
            <a:r>
              <a:rPr spc="-20" dirty="0"/>
              <a:t>Hubs</a:t>
            </a:r>
          </a:p>
          <a:p>
            <a:pPr marL="327025" marR="5080">
              <a:lnSpc>
                <a:spcPct val="118900"/>
              </a:lnSpc>
              <a:spcBef>
                <a:spcPts val="209"/>
              </a:spcBef>
            </a:pP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Different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uses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of</a:t>
            </a:r>
            <a:r>
              <a:rPr sz="950" i="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target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word</a:t>
            </a:r>
            <a:r>
              <a:rPr sz="950" i="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form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 highly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interconnected</a:t>
            </a:r>
            <a:r>
              <a:rPr sz="950" i="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bundles 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(or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high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density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components)</a:t>
            </a:r>
            <a:endParaRPr sz="950">
              <a:latin typeface="Trebuchet MS"/>
              <a:cs typeface="Trebuchet MS"/>
            </a:endParaRPr>
          </a:p>
          <a:p>
            <a:pPr marL="327025" marR="51435">
              <a:lnSpc>
                <a:spcPct val="118900"/>
              </a:lnSpc>
              <a:spcBef>
                <a:spcPts val="295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each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high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density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component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one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nodes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(hub)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55" dirty="0">
                <a:solidFill>
                  <a:srgbClr val="000000"/>
                </a:solidFill>
                <a:latin typeface="Trebuchet MS"/>
                <a:cs typeface="Trebuchet MS"/>
              </a:rPr>
              <a:t>has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950" i="0" spc="2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higher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degree than the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others.</a:t>
            </a:r>
            <a:endParaRPr sz="950">
              <a:latin typeface="Trebuchet MS"/>
              <a:cs typeface="Trebuchet MS"/>
            </a:endParaRPr>
          </a:p>
          <a:p>
            <a:pPr marL="327025">
              <a:lnSpc>
                <a:spcPct val="100000"/>
              </a:lnSpc>
              <a:spcBef>
                <a:spcPts val="365"/>
              </a:spcBef>
            </a:pP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Step</a:t>
            </a:r>
            <a:r>
              <a:rPr sz="950" b="1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1:</a:t>
            </a:r>
            <a:r>
              <a:rPr sz="950" b="1" i="0" spc="1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Construct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co-occurrence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graph,</a:t>
            </a:r>
            <a:r>
              <a:rPr sz="950" i="0" spc="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000000"/>
                </a:solidFill>
              </a:rPr>
              <a:t>G</a:t>
            </a:r>
            <a:r>
              <a:rPr sz="950" i="0" spc="-25" dirty="0">
                <a:solidFill>
                  <a:srgbClr val="000000"/>
                </a:solidFill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327025">
              <a:lnSpc>
                <a:spcPct val="100000"/>
              </a:lnSpc>
              <a:spcBef>
                <a:spcPts val="335"/>
              </a:spcBef>
            </a:pP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Step</a:t>
            </a:r>
            <a:r>
              <a:rPr sz="950" b="1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b="1" i="0" dirty="0">
                <a:solidFill>
                  <a:srgbClr val="000000"/>
                </a:solidFill>
                <a:latin typeface="Trebuchet MS"/>
                <a:cs typeface="Trebuchet MS"/>
              </a:rPr>
              <a:t>2:</a:t>
            </a:r>
            <a:r>
              <a:rPr sz="950" b="1" i="0" spc="1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Arrange</a:t>
            </a:r>
            <a:r>
              <a:rPr sz="950" i="0" spc="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nodes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pc="145" dirty="0">
                <a:solidFill>
                  <a:srgbClr val="000000"/>
                </a:solidFill>
              </a:rPr>
              <a:t>G</a:t>
            </a:r>
            <a:r>
              <a:rPr spc="80" dirty="0">
                <a:solidFill>
                  <a:srgbClr val="000000"/>
                </a:solidFill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decreasing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order</a:t>
            </a:r>
            <a:r>
              <a:rPr sz="950" i="0" spc="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sz="950" i="0" spc="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degree.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779DEBA2-58C2-4FA9-A523-0DA62BAC9A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47268"/>
            <a:ext cx="4483735" cy="2404745"/>
            <a:chOff x="87743" y="647268"/>
            <a:chExt cx="4483735" cy="2404745"/>
          </a:xfrm>
        </p:grpSpPr>
        <p:sp>
          <p:nvSpPr>
            <p:cNvPr id="4" name="object 4"/>
            <p:cNvSpPr/>
            <p:nvPr/>
          </p:nvSpPr>
          <p:spPr>
            <a:xfrm>
              <a:off x="87743" y="6472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202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4995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3725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91502"/>
              <a:ext cx="50800" cy="225845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64616"/>
              <a:ext cx="4432935" cy="2136140"/>
            </a:xfrm>
            <a:custGeom>
              <a:avLst/>
              <a:gdLst/>
              <a:ahLst/>
              <a:cxnLst/>
              <a:rect l="l" t="t" r="r" b="b"/>
              <a:pathLst>
                <a:path w="4432935" h="2136140">
                  <a:moveTo>
                    <a:pt x="4432554" y="0"/>
                  </a:moveTo>
                  <a:lnTo>
                    <a:pt x="0" y="0"/>
                  </a:lnTo>
                  <a:lnTo>
                    <a:pt x="0" y="2085339"/>
                  </a:lnTo>
                  <a:lnTo>
                    <a:pt x="4008" y="2105064"/>
                  </a:lnTo>
                  <a:lnTo>
                    <a:pt x="14922" y="2121217"/>
                  </a:lnTo>
                  <a:lnTo>
                    <a:pt x="31075" y="2132131"/>
                  </a:lnTo>
                  <a:lnTo>
                    <a:pt x="50800" y="2136140"/>
                  </a:lnTo>
                  <a:lnTo>
                    <a:pt x="4381754" y="2136140"/>
                  </a:lnTo>
                  <a:lnTo>
                    <a:pt x="4401478" y="2132131"/>
                  </a:lnTo>
                  <a:lnTo>
                    <a:pt x="4417631" y="2121217"/>
                  </a:lnTo>
                  <a:lnTo>
                    <a:pt x="4428545" y="2105064"/>
                  </a:lnTo>
                  <a:lnTo>
                    <a:pt x="4432554" y="208533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9615"/>
              <a:ext cx="0" cy="2239645"/>
            </a:xfrm>
            <a:custGeom>
              <a:avLst/>
              <a:gdLst/>
              <a:ahLst/>
              <a:cxnLst/>
              <a:rect l="l" t="t" r="r" b="b"/>
              <a:pathLst>
                <a:path h="2239645">
                  <a:moveTo>
                    <a:pt x="0" y="22393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16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04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914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1429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640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7850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888540"/>
              <a:ext cx="64757" cy="647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2098573"/>
              <a:ext cx="64757" cy="6475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5729" y="572620"/>
            <a:ext cx="4324985" cy="18034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Detecting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Root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Hubs</a:t>
            </a:r>
            <a:endParaRPr sz="1100">
              <a:latin typeface="Cambria"/>
              <a:cs typeface="Cambria"/>
            </a:endParaRPr>
          </a:p>
          <a:p>
            <a:pPr marL="289560" marR="209550">
              <a:lnSpc>
                <a:spcPct val="118900"/>
              </a:lnSpc>
              <a:spcBef>
                <a:spcPts val="209"/>
              </a:spcBef>
            </a:pPr>
            <a:r>
              <a:rPr sz="950" spc="-25" dirty="0">
                <a:latin typeface="Trebuchet MS"/>
                <a:cs typeface="Trebuchet MS"/>
              </a:rPr>
              <a:t>Different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uses</a:t>
            </a:r>
            <a:r>
              <a:rPr sz="950" dirty="0">
                <a:latin typeface="Trebuchet MS"/>
                <a:cs typeface="Trebuchet MS"/>
              </a:rPr>
              <a:t> 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dirty="0">
                <a:latin typeface="Trebuchet MS"/>
                <a:cs typeface="Trebuchet MS"/>
              </a:rPr>
              <a:t> word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dirty="0">
                <a:latin typeface="Trebuchet MS"/>
                <a:cs typeface="Trebuchet MS"/>
              </a:rPr>
              <a:t> highly </a:t>
            </a:r>
            <a:r>
              <a:rPr sz="950" spc="-10" dirty="0">
                <a:latin typeface="Trebuchet MS"/>
                <a:cs typeface="Trebuchet MS"/>
              </a:rPr>
              <a:t>interconnected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bundles </a:t>
            </a:r>
            <a:r>
              <a:rPr sz="950" spc="-25" dirty="0">
                <a:latin typeface="Trebuchet MS"/>
                <a:cs typeface="Trebuchet MS"/>
              </a:rPr>
              <a:t>(or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components)</a:t>
            </a:r>
            <a:endParaRPr sz="950">
              <a:latin typeface="Trebuchet MS"/>
              <a:cs typeface="Trebuchet MS"/>
            </a:endParaRPr>
          </a:p>
          <a:p>
            <a:pPr marL="289560" marR="256540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component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(hub)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higher </a:t>
            </a:r>
            <a:r>
              <a:rPr sz="950" dirty="0">
                <a:latin typeface="Trebuchet MS"/>
                <a:cs typeface="Trebuchet MS"/>
              </a:rPr>
              <a:t>degree than the </a:t>
            </a:r>
            <a:r>
              <a:rPr sz="950" spc="-10" dirty="0">
                <a:latin typeface="Trebuchet MS"/>
                <a:cs typeface="Trebuchet MS"/>
              </a:rPr>
              <a:t>others.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6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Construct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co-occurrence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graph,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G</a:t>
            </a:r>
            <a:r>
              <a:rPr sz="950" spc="-25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Arrange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1100" i="1" spc="145" dirty="0">
                <a:latin typeface="Cambria"/>
                <a:cs typeface="Cambria"/>
              </a:rPr>
              <a:t>G</a:t>
            </a:r>
            <a:r>
              <a:rPr sz="1100" i="1" spc="8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decreasing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order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degree.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13999"/>
              </a:lnSpc>
              <a:spcBef>
                <a:spcPts val="15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3:</a:t>
            </a:r>
            <a:r>
              <a:rPr sz="950" b="1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Select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145" dirty="0">
                <a:latin typeface="Cambria"/>
                <a:cs typeface="Cambria"/>
              </a:rPr>
              <a:t>G</a:t>
            </a:r>
            <a:r>
              <a:rPr sz="1100" i="1" spc="5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highest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degree.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node </a:t>
            </a:r>
            <a:r>
              <a:rPr sz="950" spc="-50" dirty="0">
                <a:latin typeface="Trebuchet MS"/>
                <a:cs typeface="Trebuchet MS"/>
              </a:rPr>
              <a:t>will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-10" dirty="0">
                <a:latin typeface="Trebuchet MS"/>
                <a:cs typeface="Trebuchet MS"/>
              </a:rPr>
              <a:t> component.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0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B408B4EF-6B71-4925-82FA-E41368DF15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47268"/>
            <a:ext cx="4483735" cy="2404745"/>
            <a:chOff x="87743" y="647268"/>
            <a:chExt cx="4483735" cy="2404745"/>
          </a:xfrm>
        </p:grpSpPr>
        <p:sp>
          <p:nvSpPr>
            <p:cNvPr id="4" name="object 4"/>
            <p:cNvSpPr/>
            <p:nvPr/>
          </p:nvSpPr>
          <p:spPr>
            <a:xfrm>
              <a:off x="87743" y="6472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202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4995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3725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91502"/>
              <a:ext cx="50800" cy="225845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64616"/>
              <a:ext cx="4432935" cy="2136140"/>
            </a:xfrm>
            <a:custGeom>
              <a:avLst/>
              <a:gdLst/>
              <a:ahLst/>
              <a:cxnLst/>
              <a:rect l="l" t="t" r="r" b="b"/>
              <a:pathLst>
                <a:path w="4432935" h="2136140">
                  <a:moveTo>
                    <a:pt x="4432554" y="0"/>
                  </a:moveTo>
                  <a:lnTo>
                    <a:pt x="0" y="0"/>
                  </a:lnTo>
                  <a:lnTo>
                    <a:pt x="0" y="2085339"/>
                  </a:lnTo>
                  <a:lnTo>
                    <a:pt x="4008" y="2105064"/>
                  </a:lnTo>
                  <a:lnTo>
                    <a:pt x="14922" y="2121217"/>
                  </a:lnTo>
                  <a:lnTo>
                    <a:pt x="31075" y="2132131"/>
                  </a:lnTo>
                  <a:lnTo>
                    <a:pt x="50800" y="2136140"/>
                  </a:lnTo>
                  <a:lnTo>
                    <a:pt x="4381754" y="2136140"/>
                  </a:lnTo>
                  <a:lnTo>
                    <a:pt x="4401478" y="2132131"/>
                  </a:lnTo>
                  <a:lnTo>
                    <a:pt x="4417631" y="2121217"/>
                  </a:lnTo>
                  <a:lnTo>
                    <a:pt x="4428545" y="2105064"/>
                  </a:lnTo>
                  <a:lnTo>
                    <a:pt x="4432554" y="208533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9615"/>
              <a:ext cx="0" cy="2239645"/>
            </a:xfrm>
            <a:custGeom>
              <a:avLst/>
              <a:gdLst/>
              <a:ahLst/>
              <a:cxnLst/>
              <a:rect l="l" t="t" r="r" b="b"/>
              <a:pathLst>
                <a:path h="2239645">
                  <a:moveTo>
                    <a:pt x="0" y="22393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16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04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914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1429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640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7850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888540"/>
              <a:ext cx="64757" cy="647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2098573"/>
              <a:ext cx="64757" cy="6475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2480678"/>
              <a:ext cx="64757" cy="6475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25729" y="572620"/>
            <a:ext cx="4324985" cy="20161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Detecting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Root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Hubs</a:t>
            </a:r>
            <a:endParaRPr sz="1100">
              <a:latin typeface="Cambria"/>
              <a:cs typeface="Cambria"/>
            </a:endParaRPr>
          </a:p>
          <a:p>
            <a:pPr marL="289560" marR="209550">
              <a:lnSpc>
                <a:spcPct val="118900"/>
              </a:lnSpc>
              <a:spcBef>
                <a:spcPts val="209"/>
              </a:spcBef>
            </a:pPr>
            <a:r>
              <a:rPr sz="950" spc="-25" dirty="0">
                <a:latin typeface="Trebuchet MS"/>
                <a:cs typeface="Trebuchet MS"/>
              </a:rPr>
              <a:t>Different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uses</a:t>
            </a:r>
            <a:r>
              <a:rPr sz="950" dirty="0">
                <a:latin typeface="Trebuchet MS"/>
                <a:cs typeface="Trebuchet MS"/>
              </a:rPr>
              <a:t> 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dirty="0">
                <a:latin typeface="Trebuchet MS"/>
                <a:cs typeface="Trebuchet MS"/>
              </a:rPr>
              <a:t> word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dirty="0">
                <a:latin typeface="Trebuchet MS"/>
                <a:cs typeface="Trebuchet MS"/>
              </a:rPr>
              <a:t> highly </a:t>
            </a:r>
            <a:r>
              <a:rPr sz="950" spc="-10" dirty="0">
                <a:latin typeface="Trebuchet MS"/>
                <a:cs typeface="Trebuchet MS"/>
              </a:rPr>
              <a:t>interconnected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bundles </a:t>
            </a:r>
            <a:r>
              <a:rPr sz="950" spc="-25" dirty="0">
                <a:latin typeface="Trebuchet MS"/>
                <a:cs typeface="Trebuchet MS"/>
              </a:rPr>
              <a:t>(or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components)</a:t>
            </a:r>
            <a:endParaRPr sz="950">
              <a:latin typeface="Trebuchet MS"/>
              <a:cs typeface="Trebuchet MS"/>
            </a:endParaRPr>
          </a:p>
          <a:p>
            <a:pPr marL="289560" marR="256540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component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(hub)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higher </a:t>
            </a:r>
            <a:r>
              <a:rPr sz="950" dirty="0">
                <a:latin typeface="Trebuchet MS"/>
                <a:cs typeface="Trebuchet MS"/>
              </a:rPr>
              <a:t>degree than the </a:t>
            </a:r>
            <a:r>
              <a:rPr sz="950" spc="-10" dirty="0">
                <a:latin typeface="Trebuchet MS"/>
                <a:cs typeface="Trebuchet MS"/>
              </a:rPr>
              <a:t>others.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6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Construct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co-occurrence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graph,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G</a:t>
            </a:r>
            <a:r>
              <a:rPr sz="950" spc="-25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Arrange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1100" i="1" spc="145" dirty="0">
                <a:latin typeface="Cambria"/>
                <a:cs typeface="Cambria"/>
              </a:rPr>
              <a:t>G</a:t>
            </a:r>
            <a:r>
              <a:rPr sz="1100" i="1" spc="8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decreasing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order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degree.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13999"/>
              </a:lnSpc>
              <a:spcBef>
                <a:spcPts val="15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3:</a:t>
            </a:r>
            <a:r>
              <a:rPr sz="950" b="1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Select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145" dirty="0">
                <a:latin typeface="Cambria"/>
                <a:cs typeface="Cambria"/>
              </a:rPr>
              <a:t>G</a:t>
            </a:r>
            <a:r>
              <a:rPr sz="1100" i="1" spc="5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highest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degree.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node </a:t>
            </a:r>
            <a:r>
              <a:rPr sz="950" spc="-50" dirty="0">
                <a:latin typeface="Trebuchet MS"/>
                <a:cs typeface="Trebuchet MS"/>
              </a:rPr>
              <a:t>will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-10" dirty="0">
                <a:latin typeface="Trebuchet MS"/>
                <a:cs typeface="Trebuchet MS"/>
              </a:rPr>
              <a:t> component.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6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4:</a:t>
            </a:r>
            <a:r>
              <a:rPr sz="950" b="1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Delete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neighbors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G</a:t>
            </a:r>
            <a:r>
              <a:rPr sz="950" spc="-25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1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FE3F2F25-5CDF-48FB-85C7-FBB38DF2AF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HyperLex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47268"/>
            <a:ext cx="4483735" cy="2404745"/>
            <a:chOff x="87743" y="647268"/>
            <a:chExt cx="4483735" cy="2404745"/>
          </a:xfrm>
        </p:grpSpPr>
        <p:sp>
          <p:nvSpPr>
            <p:cNvPr id="4" name="object 4"/>
            <p:cNvSpPr/>
            <p:nvPr/>
          </p:nvSpPr>
          <p:spPr>
            <a:xfrm>
              <a:off x="87743" y="64726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2029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49956"/>
              <a:ext cx="101599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37256"/>
              <a:ext cx="4381754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691502"/>
              <a:ext cx="50800" cy="225845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64616"/>
              <a:ext cx="4432935" cy="2136140"/>
            </a:xfrm>
            <a:custGeom>
              <a:avLst/>
              <a:gdLst/>
              <a:ahLst/>
              <a:cxnLst/>
              <a:rect l="l" t="t" r="r" b="b"/>
              <a:pathLst>
                <a:path w="4432935" h="2136140">
                  <a:moveTo>
                    <a:pt x="4432554" y="0"/>
                  </a:moveTo>
                  <a:lnTo>
                    <a:pt x="0" y="0"/>
                  </a:lnTo>
                  <a:lnTo>
                    <a:pt x="0" y="2085339"/>
                  </a:lnTo>
                  <a:lnTo>
                    <a:pt x="4008" y="2105064"/>
                  </a:lnTo>
                  <a:lnTo>
                    <a:pt x="14922" y="2121217"/>
                  </a:lnTo>
                  <a:lnTo>
                    <a:pt x="31075" y="2132131"/>
                  </a:lnTo>
                  <a:lnTo>
                    <a:pt x="50800" y="2136140"/>
                  </a:lnTo>
                  <a:lnTo>
                    <a:pt x="4381754" y="2136140"/>
                  </a:lnTo>
                  <a:lnTo>
                    <a:pt x="4401478" y="2132131"/>
                  </a:lnTo>
                  <a:lnTo>
                    <a:pt x="4417631" y="2121217"/>
                  </a:lnTo>
                  <a:lnTo>
                    <a:pt x="4428545" y="2105064"/>
                  </a:lnTo>
                  <a:lnTo>
                    <a:pt x="4432554" y="208533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29615"/>
              <a:ext cx="0" cy="2239645"/>
            </a:xfrm>
            <a:custGeom>
              <a:avLst/>
              <a:gdLst/>
              <a:ahLst/>
              <a:cxnLst/>
              <a:rect l="l" t="t" r="r" b="b"/>
              <a:pathLst>
                <a:path h="2239645">
                  <a:moveTo>
                    <a:pt x="0" y="22393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16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04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6914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914298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640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7850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888540"/>
              <a:ext cx="64757" cy="647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2098573"/>
              <a:ext cx="64757" cy="6475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2480678"/>
              <a:ext cx="64757" cy="6475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690711"/>
              <a:ext cx="64757" cy="6475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25729" y="572620"/>
            <a:ext cx="4324985" cy="239522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Detecting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Root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Hubs</a:t>
            </a:r>
            <a:endParaRPr sz="1100">
              <a:latin typeface="Cambria"/>
              <a:cs typeface="Cambria"/>
            </a:endParaRPr>
          </a:p>
          <a:p>
            <a:pPr marL="289560" marR="209550">
              <a:lnSpc>
                <a:spcPct val="118900"/>
              </a:lnSpc>
              <a:spcBef>
                <a:spcPts val="209"/>
              </a:spcBef>
            </a:pPr>
            <a:r>
              <a:rPr sz="950" spc="-25" dirty="0">
                <a:latin typeface="Trebuchet MS"/>
                <a:cs typeface="Trebuchet MS"/>
              </a:rPr>
              <a:t>Different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uses</a:t>
            </a:r>
            <a:r>
              <a:rPr sz="950" dirty="0">
                <a:latin typeface="Trebuchet MS"/>
                <a:cs typeface="Trebuchet MS"/>
              </a:rPr>
              <a:t> 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dirty="0">
                <a:latin typeface="Trebuchet MS"/>
                <a:cs typeface="Trebuchet MS"/>
              </a:rPr>
              <a:t> word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form</a:t>
            </a:r>
            <a:r>
              <a:rPr sz="950" dirty="0">
                <a:latin typeface="Trebuchet MS"/>
                <a:cs typeface="Trebuchet MS"/>
              </a:rPr>
              <a:t> highly </a:t>
            </a:r>
            <a:r>
              <a:rPr sz="950" spc="-10" dirty="0">
                <a:latin typeface="Trebuchet MS"/>
                <a:cs typeface="Trebuchet MS"/>
              </a:rPr>
              <a:t>interconnected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bundles </a:t>
            </a:r>
            <a:r>
              <a:rPr sz="950" spc="-25" dirty="0">
                <a:latin typeface="Trebuchet MS"/>
                <a:cs typeface="Trebuchet MS"/>
              </a:rPr>
              <a:t>(or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components)</a:t>
            </a:r>
            <a:endParaRPr sz="950">
              <a:latin typeface="Trebuchet MS"/>
              <a:cs typeface="Trebuchet MS"/>
            </a:endParaRPr>
          </a:p>
          <a:p>
            <a:pPr marL="289560" marR="256540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component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(hub)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higher </a:t>
            </a:r>
            <a:r>
              <a:rPr sz="950" dirty="0">
                <a:latin typeface="Trebuchet MS"/>
                <a:cs typeface="Trebuchet MS"/>
              </a:rPr>
              <a:t>degree than the </a:t>
            </a:r>
            <a:r>
              <a:rPr sz="950" spc="-10" dirty="0">
                <a:latin typeface="Trebuchet MS"/>
                <a:cs typeface="Trebuchet MS"/>
              </a:rPr>
              <a:t>others.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6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1:</a:t>
            </a:r>
            <a:r>
              <a:rPr sz="950" b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Construct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co-occurrence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graph,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G</a:t>
            </a:r>
            <a:r>
              <a:rPr sz="950" spc="-25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5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2:</a:t>
            </a:r>
            <a:r>
              <a:rPr sz="950" b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Arrange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1100" i="1" spc="145" dirty="0">
                <a:latin typeface="Cambria"/>
                <a:cs typeface="Cambria"/>
              </a:rPr>
              <a:t>G</a:t>
            </a:r>
            <a:r>
              <a:rPr sz="1100" i="1" spc="8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decreasing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order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degree.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13999"/>
              </a:lnSpc>
              <a:spcBef>
                <a:spcPts val="15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3:</a:t>
            </a:r>
            <a:r>
              <a:rPr sz="950" b="1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Select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spc="145" dirty="0">
                <a:latin typeface="Cambria"/>
                <a:cs typeface="Cambria"/>
              </a:rPr>
              <a:t>G</a:t>
            </a:r>
            <a:r>
              <a:rPr sz="1100" i="1" spc="5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highest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degree.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node </a:t>
            </a:r>
            <a:r>
              <a:rPr sz="950" spc="-50" dirty="0">
                <a:latin typeface="Trebuchet MS"/>
                <a:cs typeface="Trebuchet MS"/>
              </a:rPr>
              <a:t>will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first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density</a:t>
            </a:r>
            <a:r>
              <a:rPr sz="950" spc="-10" dirty="0">
                <a:latin typeface="Trebuchet MS"/>
                <a:cs typeface="Trebuchet MS"/>
              </a:rPr>
              <a:t> component.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6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1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4:</a:t>
            </a:r>
            <a:r>
              <a:rPr sz="950" b="1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Delete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neighbors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G</a:t>
            </a:r>
            <a:r>
              <a:rPr sz="950" spc="-25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289560" marR="241300">
              <a:lnSpc>
                <a:spcPct val="118900"/>
              </a:lnSpc>
              <a:spcBef>
                <a:spcPts val="270"/>
              </a:spcBef>
            </a:pPr>
            <a:r>
              <a:rPr sz="950" b="1" dirty="0">
                <a:latin typeface="Trebuchet MS"/>
                <a:cs typeface="Trebuchet MS"/>
              </a:rPr>
              <a:t>Step</a:t>
            </a:r>
            <a:r>
              <a:rPr sz="950" b="1" spc="3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5:</a:t>
            </a:r>
            <a:r>
              <a:rPr sz="950" b="1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Repeat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Step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3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4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detect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other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density components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12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8EF63CDA-E368-4935-8A6D-B360C525B5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3856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HyperLex:</a:t>
            </a:r>
            <a:r>
              <a:rPr sz="1400" i="1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Detecting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Root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Hubs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596" y="1079385"/>
            <a:ext cx="3800475" cy="12826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/>
              <a:t>12</a:t>
            </a:r>
            <a:r>
              <a:rPr spc="-20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Delineating</a:t>
            </a:r>
            <a:r>
              <a:rPr spc="50" dirty="0"/>
              <a:t> </a:t>
            </a:r>
            <a:r>
              <a:rPr spc="-10" dirty="0"/>
              <a:t>Components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41108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910597"/>
            <a:ext cx="3834765" cy="6178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dirty="0">
                <a:latin typeface="Trebuchet MS"/>
                <a:cs typeface="Trebuchet MS"/>
              </a:rPr>
              <a:t>Attach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root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closest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it.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distance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two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measured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smallest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sum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weights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edges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paths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linking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them.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51140"/>
            <a:ext cx="64757" cy="647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A5411C2-3D5C-4645-A7C4-1D72A85F7C2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127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Delineating</a:t>
            </a:r>
            <a:r>
              <a:rPr spc="50" dirty="0"/>
              <a:t> </a:t>
            </a:r>
            <a:r>
              <a:rPr spc="-10" dirty="0"/>
              <a:t>Components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41108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51140"/>
            <a:ext cx="64757" cy="6475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7743" y="1695424"/>
            <a:ext cx="4483735" cy="884555"/>
            <a:chOff x="87743" y="1695424"/>
            <a:chExt cx="4483735" cy="884555"/>
          </a:xfrm>
        </p:grpSpPr>
        <p:sp>
          <p:nvSpPr>
            <p:cNvPr id="6" name="object 6"/>
            <p:cNvSpPr/>
            <p:nvPr/>
          </p:nvSpPr>
          <p:spPr>
            <a:xfrm>
              <a:off x="87743" y="1695424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755"/>
                  </a:lnTo>
                  <a:lnTo>
                    <a:pt x="4432554" y="198755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4" y="1881593"/>
              <a:ext cx="4432554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544" y="2478341"/>
              <a:ext cx="101599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344" y="2465641"/>
              <a:ext cx="4381754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298" y="1739671"/>
              <a:ext cx="50800" cy="73867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1925891"/>
              <a:ext cx="4432935" cy="603250"/>
            </a:xfrm>
            <a:custGeom>
              <a:avLst/>
              <a:gdLst/>
              <a:ahLst/>
              <a:cxnLst/>
              <a:rect l="l" t="t" r="r" b="b"/>
              <a:pathLst>
                <a:path w="4432935" h="603250">
                  <a:moveTo>
                    <a:pt x="4432554" y="0"/>
                  </a:moveTo>
                  <a:lnTo>
                    <a:pt x="0" y="0"/>
                  </a:lnTo>
                  <a:lnTo>
                    <a:pt x="0" y="552450"/>
                  </a:lnTo>
                  <a:lnTo>
                    <a:pt x="4008" y="572174"/>
                  </a:lnTo>
                  <a:lnTo>
                    <a:pt x="14922" y="588327"/>
                  </a:lnTo>
                  <a:lnTo>
                    <a:pt x="31075" y="599241"/>
                  </a:lnTo>
                  <a:lnTo>
                    <a:pt x="50800" y="603250"/>
                  </a:lnTo>
                  <a:lnTo>
                    <a:pt x="4381754" y="603250"/>
                  </a:lnTo>
                  <a:lnTo>
                    <a:pt x="4401478" y="599241"/>
                  </a:lnTo>
                  <a:lnTo>
                    <a:pt x="4417631" y="588327"/>
                  </a:lnTo>
                  <a:lnTo>
                    <a:pt x="4428545" y="572174"/>
                  </a:lnTo>
                  <a:lnTo>
                    <a:pt x="4432554" y="55245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777809"/>
              <a:ext cx="0" cy="720090"/>
            </a:xfrm>
            <a:custGeom>
              <a:avLst/>
              <a:gdLst/>
              <a:ahLst/>
              <a:cxnLst/>
              <a:rect l="l" t="t" r="r" b="b"/>
              <a:pathLst>
                <a:path h="720089">
                  <a:moveTo>
                    <a:pt x="0" y="7195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7650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17523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09" y="173965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4930" y="910597"/>
            <a:ext cx="4188460" cy="125349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40360">
              <a:lnSpc>
                <a:spcPct val="100000"/>
              </a:lnSpc>
              <a:spcBef>
                <a:spcPts val="605"/>
              </a:spcBef>
            </a:pPr>
            <a:r>
              <a:rPr sz="950" dirty="0">
                <a:latin typeface="Trebuchet MS"/>
                <a:cs typeface="Trebuchet MS"/>
              </a:rPr>
              <a:t>Attach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root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closest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it.</a:t>
            </a:r>
            <a:endParaRPr sz="950">
              <a:latin typeface="Trebuchet MS"/>
              <a:cs typeface="Trebuchet MS"/>
            </a:endParaRPr>
          </a:p>
          <a:p>
            <a:pPr marL="340360" marR="30480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distance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two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nodes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measured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smallest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sum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weights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edges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paths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linking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them.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95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Computing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distance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between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45" dirty="0">
                <a:solidFill>
                  <a:srgbClr val="3232B2"/>
                </a:solidFill>
                <a:latin typeface="Cambria"/>
                <a:cs typeface="Cambria"/>
              </a:rPr>
              <a:t>two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nodes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w</a:t>
            </a:r>
            <a:r>
              <a:rPr sz="1200" i="1" baseline="-10416" dirty="0">
                <a:solidFill>
                  <a:srgbClr val="3232B2"/>
                </a:solidFill>
                <a:latin typeface="Cambria"/>
                <a:cs typeface="Cambria"/>
              </a:rPr>
              <a:t>i</a:t>
            </a:r>
            <a:r>
              <a:rPr sz="1200" i="1" spc="135" baseline="-10416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and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w</a:t>
            </a:r>
            <a:r>
              <a:rPr sz="1200" i="1" spc="-37" baseline="-10416" dirty="0">
                <a:solidFill>
                  <a:srgbClr val="3232B2"/>
                </a:solidFill>
                <a:latin typeface="Cambria"/>
                <a:cs typeface="Cambria"/>
              </a:rPr>
              <a:t>j</a:t>
            </a:r>
            <a:endParaRPr sz="1200" baseline="-10416">
              <a:latin typeface="Cambria"/>
              <a:cs typeface="Cambria"/>
            </a:endParaRPr>
          </a:p>
          <a:p>
            <a:pPr marL="269875" algn="ctr">
              <a:lnSpc>
                <a:spcPct val="100000"/>
              </a:lnSpc>
              <a:spcBef>
                <a:spcPts val="1010"/>
              </a:spcBef>
            </a:pP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ij</a:t>
            </a:r>
            <a:r>
              <a:rPr sz="1200" i="1" spc="179" baseline="-10416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75" dirty="0">
                <a:latin typeface="Cambria"/>
                <a:cs typeface="Cambria"/>
              </a:rPr>
              <a:t>1</a:t>
            </a:r>
            <a:r>
              <a:rPr sz="1100" spc="-90" dirty="0">
                <a:latin typeface="Cambria"/>
                <a:cs typeface="Cambria"/>
              </a:rPr>
              <a:t> </a:t>
            </a:r>
            <a:r>
              <a:rPr sz="1100" spc="-190" dirty="0">
                <a:latin typeface="Lucida Sans Unicode"/>
                <a:cs typeface="Lucida Sans Unicode"/>
              </a:rPr>
              <a:t>− </a:t>
            </a:r>
            <a:r>
              <a:rPr sz="1100" i="1" spc="-25" dirty="0">
                <a:latin typeface="Cambria"/>
                <a:cs typeface="Cambria"/>
              </a:rPr>
              <a:t>max</a:t>
            </a:r>
            <a:r>
              <a:rPr sz="1100" spc="-25" dirty="0">
                <a:latin typeface="Lucida Sans Unicode"/>
                <a:cs typeface="Lucida Sans Unicode"/>
              </a:rPr>
              <a:t>{</a:t>
            </a:r>
            <a:r>
              <a:rPr sz="1100" i="1" spc="-25" dirty="0">
                <a:latin typeface="Cambria"/>
                <a:cs typeface="Cambria"/>
              </a:rPr>
              <a:t>P</a:t>
            </a:r>
            <a:r>
              <a:rPr sz="1100" spc="-25" dirty="0">
                <a:latin typeface="Arial MT"/>
                <a:cs typeface="Arial MT"/>
              </a:rPr>
              <a:t>(</a:t>
            </a:r>
            <a:r>
              <a:rPr sz="1100" i="1" spc="-25" dirty="0">
                <a:latin typeface="Cambria"/>
                <a:cs typeface="Cambria"/>
              </a:rPr>
              <a:t>w</a:t>
            </a:r>
            <a:r>
              <a:rPr sz="1200" i="1" spc="-37" baseline="-10416" dirty="0">
                <a:latin typeface="Cambria"/>
                <a:cs typeface="Cambria"/>
              </a:rPr>
              <a:t>i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100" i="1" spc="-25" dirty="0">
                <a:latin typeface="Cambria"/>
                <a:cs typeface="Cambria"/>
              </a:rPr>
              <a:t>w</a:t>
            </a:r>
            <a:r>
              <a:rPr sz="1200" i="1" spc="-37" baseline="-10416" dirty="0">
                <a:latin typeface="Cambria"/>
                <a:cs typeface="Cambria"/>
              </a:rPr>
              <a:t>j</a:t>
            </a:r>
            <a:r>
              <a:rPr sz="1100" spc="-25" dirty="0">
                <a:latin typeface="Arial MT"/>
                <a:cs typeface="Arial MT"/>
              </a:rPr>
              <a:t>)</a:t>
            </a:r>
            <a:r>
              <a:rPr sz="1100" spc="-25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P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i="1" spc="-15" baseline="-10416" dirty="0">
                <a:latin typeface="Cambria"/>
                <a:cs typeface="Cambria"/>
              </a:rPr>
              <a:t>j</a:t>
            </a:r>
            <a:r>
              <a:rPr sz="1100" spc="-10" dirty="0">
                <a:latin typeface="Lucida Sans Unicode"/>
                <a:cs typeface="Lucida Sans Unicode"/>
              </a:rPr>
              <a:t>|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i="1" spc="-15" baseline="-10416" dirty="0">
                <a:latin typeface="Cambria"/>
                <a:cs typeface="Cambria"/>
              </a:rPr>
              <a:t>i</a:t>
            </a:r>
            <a:r>
              <a:rPr sz="1100" spc="-10" dirty="0">
                <a:latin typeface="Arial MT"/>
                <a:cs typeface="Arial MT"/>
              </a:rPr>
              <a:t>)</a:t>
            </a:r>
            <a:r>
              <a:rPr sz="1100" spc="-10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330" y="2254961"/>
            <a:ext cx="13106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where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P</a:t>
            </a:r>
            <a:r>
              <a:rPr sz="1100" spc="-20" dirty="0">
                <a:latin typeface="Arial MT"/>
                <a:cs typeface="Arial MT"/>
              </a:rPr>
              <a:t>(</a:t>
            </a:r>
            <a:r>
              <a:rPr sz="1100" i="1" spc="-20" dirty="0">
                <a:latin typeface="Cambria"/>
                <a:cs typeface="Cambria"/>
              </a:rPr>
              <a:t>w</a:t>
            </a:r>
            <a:r>
              <a:rPr sz="1200" i="1" spc="-30" baseline="-10416" dirty="0">
                <a:latin typeface="Cambria"/>
                <a:cs typeface="Cambria"/>
              </a:rPr>
              <a:t>i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r>
              <a:rPr sz="1100" i="1" spc="-20" dirty="0">
                <a:latin typeface="Cambria"/>
                <a:cs typeface="Cambria"/>
              </a:rPr>
              <a:t>w</a:t>
            </a:r>
            <a:r>
              <a:rPr sz="1200" i="1" spc="-30" baseline="-10416" dirty="0">
                <a:latin typeface="Cambria"/>
                <a:cs typeface="Cambria"/>
              </a:rPr>
              <a:t>j</a:t>
            </a:r>
            <a:r>
              <a:rPr sz="1100" spc="-20" dirty="0">
                <a:latin typeface="Arial MT"/>
                <a:cs typeface="Arial MT"/>
              </a:rPr>
              <a:t>)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200" i="1" u="sng" spc="-15" baseline="4166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freq</a:t>
            </a:r>
            <a:r>
              <a:rPr sz="900" i="1" u="sng" spc="-15" baseline="46296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ij</a:t>
            </a:r>
            <a:endParaRPr sz="900" baseline="46296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43571" y="2340089"/>
            <a:ext cx="2571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Cambria"/>
                <a:cs typeface="Cambria"/>
              </a:rPr>
              <a:t>freq</a:t>
            </a:r>
            <a:r>
              <a:rPr sz="900" i="1" spc="-15" baseline="-9259" dirty="0">
                <a:latin typeface="Cambria"/>
                <a:cs typeface="Cambria"/>
              </a:rPr>
              <a:t>j</a:t>
            </a:r>
            <a:endParaRPr sz="900" baseline="-9259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04873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8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82EA7172-D3FD-469B-BB42-32A28E9457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128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Disambiguation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4686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41040"/>
            <a:ext cx="4104640" cy="5956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 marR="30480">
              <a:lnSpc>
                <a:spcPct val="113999"/>
              </a:lnSpc>
              <a:spcBef>
                <a:spcPts val="75"/>
              </a:spcBef>
            </a:pPr>
            <a:r>
              <a:rPr sz="950" dirty="0">
                <a:latin typeface="Trebuchet MS"/>
                <a:cs typeface="Trebuchet MS"/>
              </a:rPr>
              <a:t>Let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100" i="1" spc="90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spc="-15" baseline="-10416" dirty="0">
                <a:latin typeface="Cambria"/>
                <a:cs typeface="Cambria"/>
              </a:rPr>
              <a:t>1</a:t>
            </a:r>
            <a:r>
              <a:rPr sz="1100" spc="-10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i="1" spc="55" dirty="0">
                <a:latin typeface="Cambria"/>
                <a:cs typeface="Cambria"/>
              </a:rPr>
              <a:t>w</a:t>
            </a:r>
            <a:r>
              <a:rPr sz="1200" spc="82" baseline="-10416" dirty="0">
                <a:latin typeface="Cambria"/>
                <a:cs typeface="Cambria"/>
              </a:rPr>
              <a:t>2</a:t>
            </a:r>
            <a:r>
              <a:rPr sz="1100" spc="55" dirty="0">
                <a:latin typeface="Calibri"/>
                <a:cs typeface="Calibri"/>
              </a:rPr>
              <a:t>,...,</a:t>
            </a:r>
            <a:r>
              <a:rPr sz="1100" spc="-13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i="1" spc="-15" baseline="-10416" dirty="0">
                <a:latin typeface="Cambria"/>
                <a:cs typeface="Cambria"/>
              </a:rPr>
              <a:t>i</a:t>
            </a:r>
            <a:r>
              <a:rPr sz="1100" spc="-10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.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.</a:t>
            </a:r>
            <a:r>
              <a:rPr sz="1100" spc="-1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.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n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i</a:t>
            </a:r>
            <a:r>
              <a:rPr sz="1200" i="1" spc="232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our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Let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i</a:t>
            </a:r>
            <a:r>
              <a:rPr sz="1200" i="1" spc="247" baseline="-10416" dirty="0">
                <a:latin typeface="Cambria"/>
                <a:cs typeface="Cambria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k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hubs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dirty="0">
                <a:latin typeface="Trebuchet MS"/>
                <a:cs typeface="Trebuchet MS"/>
              </a:rPr>
              <a:t> minimum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spanning </a:t>
            </a:r>
            <a:r>
              <a:rPr sz="950" spc="-20" dirty="0">
                <a:latin typeface="Trebuchet MS"/>
                <a:cs typeface="Trebuchet MS"/>
              </a:rPr>
              <a:t>tree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128966"/>
            <a:ext cx="64757" cy="647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D6E9B93-5D51-4272-B2BB-A9178F9C35E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129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Disambiguation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4686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41040"/>
            <a:ext cx="4104640" cy="9779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 marR="30480">
              <a:lnSpc>
                <a:spcPct val="113999"/>
              </a:lnSpc>
              <a:spcBef>
                <a:spcPts val="75"/>
              </a:spcBef>
            </a:pPr>
            <a:r>
              <a:rPr sz="950" dirty="0">
                <a:latin typeface="Trebuchet MS"/>
                <a:cs typeface="Trebuchet MS"/>
              </a:rPr>
              <a:t>Let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100" i="1" spc="90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spc="-15" baseline="-10416" dirty="0">
                <a:latin typeface="Cambria"/>
                <a:cs typeface="Cambria"/>
              </a:rPr>
              <a:t>1</a:t>
            </a:r>
            <a:r>
              <a:rPr sz="1100" spc="-10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i="1" spc="55" dirty="0">
                <a:latin typeface="Cambria"/>
                <a:cs typeface="Cambria"/>
              </a:rPr>
              <a:t>w</a:t>
            </a:r>
            <a:r>
              <a:rPr sz="1200" spc="82" baseline="-10416" dirty="0">
                <a:latin typeface="Cambria"/>
                <a:cs typeface="Cambria"/>
              </a:rPr>
              <a:t>2</a:t>
            </a:r>
            <a:r>
              <a:rPr sz="1100" spc="55" dirty="0">
                <a:latin typeface="Calibri"/>
                <a:cs typeface="Calibri"/>
              </a:rPr>
              <a:t>,...,</a:t>
            </a:r>
            <a:r>
              <a:rPr sz="1100" spc="-13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i="1" spc="-15" baseline="-10416" dirty="0">
                <a:latin typeface="Cambria"/>
                <a:cs typeface="Cambria"/>
              </a:rPr>
              <a:t>i</a:t>
            </a:r>
            <a:r>
              <a:rPr sz="1100" spc="-10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.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.</a:t>
            </a:r>
            <a:r>
              <a:rPr sz="1100" spc="-1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.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n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context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i</a:t>
            </a:r>
            <a:r>
              <a:rPr sz="1200" i="1" spc="232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instance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our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target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Let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i</a:t>
            </a:r>
            <a:r>
              <a:rPr sz="1200" i="1" spc="247" baseline="-10416" dirty="0">
                <a:latin typeface="Cambria"/>
                <a:cs typeface="Cambria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k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hubs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dirty="0">
                <a:latin typeface="Trebuchet MS"/>
                <a:cs typeface="Trebuchet MS"/>
              </a:rPr>
              <a:t> minimum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spanning </a:t>
            </a:r>
            <a:r>
              <a:rPr sz="950" spc="-20" dirty="0">
                <a:latin typeface="Trebuchet MS"/>
                <a:cs typeface="Trebuchet MS"/>
              </a:rPr>
              <a:t>tree</a:t>
            </a:r>
            <a:endParaRPr sz="950">
              <a:latin typeface="Trebuchet MS"/>
              <a:cs typeface="Trebuchet MS"/>
            </a:endParaRPr>
          </a:p>
          <a:p>
            <a:pPr marL="38100" marR="393065">
              <a:lnSpc>
                <a:spcPct val="102699"/>
              </a:lnSpc>
              <a:spcBef>
                <a:spcPts val="30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vector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s</a:t>
            </a:r>
            <a:r>
              <a:rPr sz="1100" i="1" spc="7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associated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j</a:t>
            </a:r>
            <a:r>
              <a:rPr sz="1200" i="1" spc="232" baseline="-10416" dirty="0">
                <a:latin typeface="Cambria"/>
                <a:cs typeface="Cambria"/>
              </a:rPr>
              <a:t> </a:t>
            </a:r>
            <a:r>
              <a:rPr sz="1100" spc="-300" dirty="0">
                <a:latin typeface="Lucida Sans Unicode"/>
                <a:cs typeface="Lucida Sans Unicode"/>
              </a:rPr>
              <a:t>∈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j</a:t>
            </a:r>
            <a:r>
              <a:rPr sz="1100" i="1" spc="35" dirty="0">
                <a:latin typeface="Cambria"/>
                <a:cs typeface="Cambria"/>
              </a:rPr>
              <a:t> </a:t>
            </a:r>
            <a:r>
              <a:rPr sz="1100" spc="90" dirty="0">
                <a:latin typeface="Arial MT"/>
                <a:cs typeface="Arial MT"/>
              </a:rPr>
              <a:t>≠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i="1" dirty="0">
                <a:latin typeface="Cambria"/>
                <a:cs typeface="Cambria"/>
              </a:rPr>
              <a:t>i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950" dirty="0">
                <a:latin typeface="Trebuchet MS"/>
                <a:cs typeface="Trebuchet MS"/>
              </a:rPr>
              <a:t>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such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200" i="1" spc="-37" baseline="-10416" dirty="0">
                <a:latin typeface="Cambria"/>
                <a:cs typeface="Cambria"/>
              </a:rPr>
              <a:t>k</a:t>
            </a:r>
            <a:r>
              <a:rPr sz="1200" i="1" spc="750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represents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contribution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spc="-45" dirty="0">
                <a:latin typeface="Cambria"/>
                <a:cs typeface="Cambria"/>
              </a:rPr>
              <a:t>k</a:t>
            </a:r>
            <a:r>
              <a:rPr sz="950" spc="-45" dirty="0">
                <a:latin typeface="Trebuchet MS"/>
                <a:cs typeface="Trebuchet MS"/>
              </a:rPr>
              <a:t>th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as: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128966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338999"/>
            <a:ext cx="64757" cy="647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29842" y="1792922"/>
            <a:ext cx="261937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283845" algn="l"/>
                <a:tab pos="533400" algn="l"/>
                <a:tab pos="846455" algn="l"/>
                <a:tab pos="1228725" algn="l"/>
              </a:tabLst>
            </a:pP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200" i="1" spc="-37" baseline="-10416" dirty="0">
                <a:latin typeface="Cambria"/>
                <a:cs typeface="Cambria"/>
              </a:rPr>
              <a:t>k</a:t>
            </a:r>
            <a:r>
              <a:rPr sz="1200" i="1" baseline="-10416" dirty="0">
                <a:latin typeface="Cambria"/>
                <a:cs typeface="Cambria"/>
              </a:rPr>
              <a:t>	</a:t>
            </a:r>
            <a:r>
              <a:rPr sz="1100" spc="150" dirty="0">
                <a:latin typeface="Arial MT"/>
                <a:cs typeface="Arial MT"/>
              </a:rPr>
              <a:t>=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650" u="sng" baseline="3787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50" u="sng" spc="-75" baseline="37878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sz="1650" u="sng" baseline="37878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1650" spc="-187" baseline="37878" dirty="0">
                <a:latin typeface="Cambria"/>
                <a:cs typeface="Cambria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if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h</a:t>
            </a:r>
            <a:r>
              <a:rPr sz="1200" i="1" baseline="-10416" dirty="0">
                <a:latin typeface="Cambria"/>
                <a:cs typeface="Cambria"/>
              </a:rPr>
              <a:t>k</a:t>
            </a:r>
            <a:r>
              <a:rPr sz="1200" i="1" spc="240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ancestor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j</a:t>
            </a:r>
            <a:endParaRPr sz="1200" baseline="-10416">
              <a:latin typeface="Cambria"/>
              <a:cs typeface="Cambria"/>
            </a:endParaRPr>
          </a:p>
          <a:p>
            <a:pPr marL="69215">
              <a:lnSpc>
                <a:spcPct val="100000"/>
              </a:lnSpc>
              <a:spcBef>
                <a:spcPts val="894"/>
              </a:spcBef>
            </a:pPr>
            <a:r>
              <a:rPr sz="1100" i="1" spc="-25" dirty="0">
                <a:latin typeface="Cambria"/>
                <a:cs typeface="Cambria"/>
              </a:rPr>
              <a:t>s</a:t>
            </a:r>
            <a:r>
              <a:rPr sz="1200" i="1" spc="-37" baseline="-10416" dirty="0">
                <a:latin typeface="Cambria"/>
                <a:cs typeface="Cambria"/>
              </a:rPr>
              <a:t>i</a:t>
            </a:r>
            <a:endParaRPr sz="1200" baseline="-10416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5956" y="1868599"/>
            <a:ext cx="1021080" cy="39751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245"/>
              </a:spcBef>
            </a:pPr>
            <a:r>
              <a:rPr sz="1100" spc="-75" dirty="0">
                <a:latin typeface="Cambria"/>
                <a:cs typeface="Cambria"/>
              </a:rPr>
              <a:t>1</a:t>
            </a:r>
            <a:r>
              <a:rPr sz="1100" spc="-90" dirty="0">
                <a:latin typeface="Cambria"/>
                <a:cs typeface="Cambria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-145" dirty="0">
                <a:latin typeface="Arial MT"/>
                <a:cs typeface="Arial MT"/>
              </a:rPr>
              <a:t> </a:t>
            </a:r>
            <a:r>
              <a:rPr sz="1100" i="1" dirty="0">
                <a:latin typeface="Cambria"/>
                <a:cs typeface="Cambria"/>
              </a:rPr>
              <a:t>d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h</a:t>
            </a:r>
            <a:r>
              <a:rPr sz="1200" i="1" baseline="-10416" dirty="0">
                <a:latin typeface="Cambria"/>
                <a:cs typeface="Cambria"/>
              </a:rPr>
              <a:t>k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-125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w</a:t>
            </a:r>
            <a:r>
              <a:rPr sz="1200" i="1" spc="-37" baseline="-10416" dirty="0">
                <a:latin typeface="Cambria"/>
                <a:cs typeface="Cambria"/>
              </a:rPr>
              <a:t>j</a:t>
            </a:r>
            <a:r>
              <a:rPr sz="1100" spc="-25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45"/>
              </a:spcBef>
            </a:pPr>
            <a:r>
              <a:rPr sz="1100" spc="200" dirty="0">
                <a:latin typeface="Arial MT"/>
                <a:cs typeface="Arial MT"/>
              </a:rPr>
              <a:t>=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Cambria"/>
                <a:cs typeface="Cambria"/>
              </a:rPr>
              <a:t>0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otherwise.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2469616"/>
            <a:ext cx="64757" cy="6475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77532" y="2321617"/>
            <a:ext cx="3744595" cy="63563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 marR="30480">
              <a:lnSpc>
                <a:spcPct val="127800"/>
              </a:lnSpc>
              <a:spcBef>
                <a:spcPts val="225"/>
              </a:spcBef>
            </a:pPr>
            <a:r>
              <a:rPr sz="950" dirty="0">
                <a:latin typeface="Trebuchet MS"/>
                <a:cs typeface="Trebuchet MS"/>
              </a:rPr>
              <a:t>All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vectors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associated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j</a:t>
            </a:r>
            <a:r>
              <a:rPr sz="1200" i="1" spc="240" baseline="-10416" dirty="0">
                <a:latin typeface="Cambria"/>
                <a:cs typeface="Cambria"/>
              </a:rPr>
              <a:t> </a:t>
            </a:r>
            <a:r>
              <a:rPr sz="1100" spc="-300" dirty="0">
                <a:latin typeface="Lucida Sans Unicode"/>
                <a:cs typeface="Lucida Sans Unicode"/>
              </a:rPr>
              <a:t>∈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i="1" dirty="0">
                <a:latin typeface="Cambria"/>
                <a:cs typeface="Cambria"/>
              </a:rPr>
              <a:t>j</a:t>
            </a:r>
            <a:r>
              <a:rPr sz="1100" i="1" spc="45" dirty="0">
                <a:latin typeface="Cambria"/>
                <a:cs typeface="Cambria"/>
              </a:rPr>
              <a:t> </a:t>
            </a:r>
            <a:r>
              <a:rPr sz="1100" spc="90" dirty="0">
                <a:latin typeface="Arial MT"/>
                <a:cs typeface="Arial MT"/>
              </a:rPr>
              <a:t>≠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i="1" dirty="0">
                <a:latin typeface="Cambria"/>
                <a:cs typeface="Cambria"/>
              </a:rPr>
              <a:t>i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summed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up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hub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which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receives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maximum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chosen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most </a:t>
            </a:r>
            <a:r>
              <a:rPr sz="950" dirty="0">
                <a:latin typeface="Trebuchet MS"/>
                <a:cs typeface="Trebuchet MS"/>
              </a:rPr>
              <a:t>appropriate</a:t>
            </a:r>
            <a:r>
              <a:rPr sz="950" spc="-55" dirty="0">
                <a:latin typeface="Trebuchet MS"/>
                <a:cs typeface="Trebuchet MS"/>
              </a:rPr>
              <a:t> </a:t>
            </a:r>
            <a:r>
              <a:rPr sz="950" spc="45" dirty="0">
                <a:latin typeface="Trebuchet MS"/>
                <a:cs typeface="Trebuchet MS"/>
              </a:rPr>
              <a:t>sense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2679649"/>
            <a:ext cx="64757" cy="6475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804885" y="3339672"/>
            <a:ext cx="9988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Sense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Disambiguation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-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  <a:hlinkClick r:id="rId7" action="ppaction://hlinksldjump"/>
              </a:rPr>
              <a:t>II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0826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17424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4A250E6-C3BE-4E8C-8A68-6C8E4BA70A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130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0893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423"/>
                </a:lnTo>
                <a:lnTo>
                  <a:pt x="4432554" y="82423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53363"/>
            <a:ext cx="4483735" cy="347345"/>
            <a:chOff x="87743" y="953363"/>
            <a:chExt cx="4483735" cy="3473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198854"/>
              <a:ext cx="101599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186154"/>
              <a:ext cx="4381754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959510"/>
              <a:ext cx="50800" cy="2393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53363"/>
              <a:ext cx="4432935" cy="296545"/>
            </a:xfrm>
            <a:custGeom>
              <a:avLst/>
              <a:gdLst/>
              <a:ahLst/>
              <a:cxnLst/>
              <a:rect l="l" t="t" r="r" b="b"/>
              <a:pathLst>
                <a:path w="4432935" h="296544">
                  <a:moveTo>
                    <a:pt x="4432554" y="0"/>
                  </a:moveTo>
                  <a:lnTo>
                    <a:pt x="0" y="0"/>
                  </a:lnTo>
                  <a:lnTo>
                    <a:pt x="0" y="245490"/>
                  </a:lnTo>
                  <a:lnTo>
                    <a:pt x="4008" y="265215"/>
                  </a:lnTo>
                  <a:lnTo>
                    <a:pt x="14922" y="281368"/>
                  </a:lnTo>
                  <a:lnTo>
                    <a:pt x="31075" y="292282"/>
                  </a:lnTo>
                  <a:lnTo>
                    <a:pt x="50800" y="296290"/>
                  </a:lnTo>
                  <a:lnTo>
                    <a:pt x="4381754" y="296290"/>
                  </a:lnTo>
                  <a:lnTo>
                    <a:pt x="4401478" y="292282"/>
                  </a:lnTo>
                  <a:lnTo>
                    <a:pt x="4417631" y="281368"/>
                  </a:lnTo>
                  <a:lnTo>
                    <a:pt x="4428545" y="265215"/>
                  </a:lnTo>
                  <a:lnTo>
                    <a:pt x="4432554" y="24549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997559"/>
              <a:ext cx="0" cy="220345"/>
            </a:xfrm>
            <a:custGeom>
              <a:avLst/>
              <a:gdLst/>
              <a:ahLst/>
              <a:cxnLst/>
              <a:rect l="l" t="t" r="r" b="b"/>
              <a:pathLst>
                <a:path h="220344">
                  <a:moveTo>
                    <a:pt x="0" y="22034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9849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722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5951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59077" y="957732"/>
            <a:ext cx="20904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Novel</a:t>
            </a:r>
            <a:r>
              <a:rPr sz="14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60" dirty="0">
                <a:solidFill>
                  <a:srgbClr val="FFFFFF"/>
                </a:solidFill>
                <a:latin typeface="Cambria"/>
                <a:cs typeface="Cambria"/>
              </a:rPr>
              <a:t>Word</a:t>
            </a:r>
            <a:r>
              <a:rPr sz="14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Sense</a:t>
            </a:r>
            <a:r>
              <a:rPr sz="14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Detection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61172" y="3339672"/>
            <a:ext cx="88582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Novel</a:t>
            </a:r>
            <a:r>
              <a:rPr sz="600" i="1" spc="-1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Sense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Detection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50"/>
              </a:spcBef>
            </a:pPr>
            <a:r>
              <a:rPr dirty="0"/>
              <a:t>1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50" dirty="0"/>
              <a:t>5</a:t>
            </a:r>
          </a:p>
        </p:txBody>
      </p:sp>
    </p:spTree>
  </p:cSld>
  <p:clrMapOvr>
    <a:masterClrMapping/>
  </p:clrMapOvr>
  <p:transition>
    <p:cut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743" y="470293"/>
            <a:ext cx="4432935" cy="176530"/>
          </a:xfrm>
          <a:custGeom>
            <a:avLst/>
            <a:gdLst/>
            <a:ahLst/>
            <a:cxnLst/>
            <a:rect l="l" t="t" r="r" b="b"/>
            <a:pathLst>
              <a:path w="4432935" h="176529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6276"/>
                </a:lnTo>
                <a:lnTo>
                  <a:pt x="4432554" y="176276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250" y="60502"/>
            <a:ext cx="1809114" cy="582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Tracking</a:t>
            </a:r>
            <a:r>
              <a:rPr sz="14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Sense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Changes</a:t>
            </a:r>
            <a:endParaRPr sz="1400">
              <a:latin typeface="Cambria"/>
              <a:cs typeface="Cambria"/>
            </a:endParaRPr>
          </a:p>
          <a:p>
            <a:pPr marL="43180">
              <a:lnSpc>
                <a:spcPct val="100000"/>
              </a:lnSpc>
              <a:spcBef>
                <a:spcPts val="135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Classical</a:t>
            </a:r>
            <a:r>
              <a:rPr sz="1100" i="1" spc="14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sense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514540"/>
            <a:ext cx="4483735" cy="1246505"/>
            <a:chOff x="87743" y="514540"/>
            <a:chExt cx="4483735" cy="12465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633958"/>
              <a:ext cx="4483354" cy="1648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0298" y="514540"/>
              <a:ext cx="50800" cy="18263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678256"/>
              <a:ext cx="4432935" cy="69850"/>
            </a:xfrm>
            <a:custGeom>
              <a:avLst/>
              <a:gdLst/>
              <a:ahLst/>
              <a:cxnLst/>
              <a:rect l="l" t="t" r="r" b="b"/>
              <a:pathLst>
                <a:path w="4432935" h="69850">
                  <a:moveTo>
                    <a:pt x="4432554" y="0"/>
                  </a:moveTo>
                  <a:lnTo>
                    <a:pt x="0" y="0"/>
                  </a:lnTo>
                  <a:lnTo>
                    <a:pt x="0" y="18923"/>
                  </a:lnTo>
                  <a:lnTo>
                    <a:pt x="4008" y="38647"/>
                  </a:lnTo>
                  <a:lnTo>
                    <a:pt x="14922" y="54800"/>
                  </a:lnTo>
                  <a:lnTo>
                    <a:pt x="31075" y="65714"/>
                  </a:lnTo>
                  <a:lnTo>
                    <a:pt x="50800" y="69723"/>
                  </a:lnTo>
                  <a:lnTo>
                    <a:pt x="4381754" y="69723"/>
                  </a:lnTo>
                  <a:lnTo>
                    <a:pt x="4401478" y="65714"/>
                  </a:lnTo>
                  <a:lnTo>
                    <a:pt x="4417631" y="54800"/>
                  </a:lnTo>
                  <a:lnTo>
                    <a:pt x="4428545" y="38647"/>
                  </a:lnTo>
                  <a:lnTo>
                    <a:pt x="4432554" y="1892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552653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16357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399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272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5145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512" y="804523"/>
              <a:ext cx="2700020" cy="95598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612806" y="1606423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Trebuchet MS"/>
                <a:cs typeface="Trebuchet MS"/>
              </a:rPr>
              <a:t>1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8544" y="3163036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9676" y="3166681"/>
            <a:ext cx="1882775" cy="1701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120" baseline="27777" dirty="0">
                <a:latin typeface="Trebuchet MS"/>
                <a:cs typeface="Trebuchet MS"/>
              </a:rPr>
              <a:t>1</a:t>
            </a:r>
            <a:r>
              <a:rPr sz="900" spc="-80" dirty="0">
                <a:latin typeface="Courier New"/>
                <a:cs typeface="Courier New"/>
                <a:hlinkClick r:id="rId5"/>
              </a:rPr>
              <a:t>http://www.merriam-</a:t>
            </a:r>
            <a:r>
              <a:rPr sz="900" spc="-75" dirty="0">
                <a:latin typeface="Courier New"/>
                <a:cs typeface="Courier New"/>
                <a:hlinkClick r:id="rId5"/>
              </a:rPr>
              <a:t>webster.com/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61172" y="3339672"/>
            <a:ext cx="88582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Novel</a:t>
            </a:r>
            <a:r>
              <a:rPr sz="600" i="1" spc="-1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Sense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6" action="ppaction://hlinksldjump"/>
              </a:rPr>
              <a:t>Detection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93345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F1D285D-6B57-4D05-A46F-FE41B05BBA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132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743" y="470293"/>
            <a:ext cx="4432935" cy="176530"/>
          </a:xfrm>
          <a:custGeom>
            <a:avLst/>
            <a:gdLst/>
            <a:ahLst/>
            <a:cxnLst/>
            <a:rect l="l" t="t" r="r" b="b"/>
            <a:pathLst>
              <a:path w="4432935" h="176529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6276"/>
                </a:lnTo>
                <a:lnTo>
                  <a:pt x="4432554" y="176276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250" y="60502"/>
            <a:ext cx="1809114" cy="582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Tracking</a:t>
            </a:r>
            <a:r>
              <a:rPr sz="14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Sense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Changes</a:t>
            </a:r>
            <a:endParaRPr sz="1400">
              <a:latin typeface="Cambria"/>
              <a:cs typeface="Cambria"/>
            </a:endParaRPr>
          </a:p>
          <a:p>
            <a:pPr marL="43180">
              <a:lnSpc>
                <a:spcPct val="100000"/>
              </a:lnSpc>
              <a:spcBef>
                <a:spcPts val="135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Classical</a:t>
            </a:r>
            <a:r>
              <a:rPr sz="1100" i="1" spc="14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sense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514540"/>
            <a:ext cx="4483735" cy="1246505"/>
            <a:chOff x="87743" y="514540"/>
            <a:chExt cx="4483735" cy="12465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633958"/>
              <a:ext cx="4483354" cy="1648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0298" y="514540"/>
              <a:ext cx="50800" cy="18263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678256"/>
              <a:ext cx="4432935" cy="69850"/>
            </a:xfrm>
            <a:custGeom>
              <a:avLst/>
              <a:gdLst/>
              <a:ahLst/>
              <a:cxnLst/>
              <a:rect l="l" t="t" r="r" b="b"/>
              <a:pathLst>
                <a:path w="4432935" h="69850">
                  <a:moveTo>
                    <a:pt x="4432554" y="0"/>
                  </a:moveTo>
                  <a:lnTo>
                    <a:pt x="0" y="0"/>
                  </a:lnTo>
                  <a:lnTo>
                    <a:pt x="0" y="18923"/>
                  </a:lnTo>
                  <a:lnTo>
                    <a:pt x="4008" y="38647"/>
                  </a:lnTo>
                  <a:lnTo>
                    <a:pt x="14922" y="54800"/>
                  </a:lnTo>
                  <a:lnTo>
                    <a:pt x="31075" y="65714"/>
                  </a:lnTo>
                  <a:lnTo>
                    <a:pt x="50800" y="69723"/>
                  </a:lnTo>
                  <a:lnTo>
                    <a:pt x="4381754" y="69723"/>
                  </a:lnTo>
                  <a:lnTo>
                    <a:pt x="4401478" y="65714"/>
                  </a:lnTo>
                  <a:lnTo>
                    <a:pt x="4417631" y="54800"/>
                  </a:lnTo>
                  <a:lnTo>
                    <a:pt x="4428545" y="38647"/>
                  </a:lnTo>
                  <a:lnTo>
                    <a:pt x="4432554" y="1892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552653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29">
                  <a:moveTo>
                    <a:pt x="0" y="16357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399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272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5145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512" y="804523"/>
              <a:ext cx="2700020" cy="95598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612806" y="1606423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Trebuchet MS"/>
                <a:cs typeface="Trebuchet MS"/>
              </a:rPr>
              <a:t>1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743" y="1848256"/>
            <a:ext cx="4432935" cy="176530"/>
          </a:xfrm>
          <a:custGeom>
            <a:avLst/>
            <a:gdLst/>
            <a:ahLst/>
            <a:cxnLst/>
            <a:rect l="l" t="t" r="r" b="b"/>
            <a:pathLst>
              <a:path w="4432935" h="17653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6276"/>
                </a:lnTo>
                <a:lnTo>
                  <a:pt x="4432554" y="176276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5729" y="1829041"/>
            <a:ext cx="682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Novel</a:t>
            </a:r>
            <a:r>
              <a:rPr sz="1100" i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sense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7743" y="1892490"/>
            <a:ext cx="4483735" cy="284480"/>
            <a:chOff x="87743" y="1892490"/>
            <a:chExt cx="4483735" cy="28448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44" y="2011921"/>
              <a:ext cx="4483354" cy="16482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298" y="1892490"/>
              <a:ext cx="50800" cy="18265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2056218"/>
              <a:ext cx="4432935" cy="69850"/>
            </a:xfrm>
            <a:custGeom>
              <a:avLst/>
              <a:gdLst/>
              <a:ahLst/>
              <a:cxnLst/>
              <a:rect l="l" t="t" r="r" b="b"/>
              <a:pathLst>
                <a:path w="4432935" h="69850">
                  <a:moveTo>
                    <a:pt x="4432554" y="0"/>
                  </a:moveTo>
                  <a:lnTo>
                    <a:pt x="0" y="0"/>
                  </a:lnTo>
                  <a:lnTo>
                    <a:pt x="0" y="18922"/>
                  </a:lnTo>
                  <a:lnTo>
                    <a:pt x="4008" y="38647"/>
                  </a:lnTo>
                  <a:lnTo>
                    <a:pt x="14922" y="54800"/>
                  </a:lnTo>
                  <a:lnTo>
                    <a:pt x="31075" y="65714"/>
                  </a:lnTo>
                  <a:lnTo>
                    <a:pt x="50800" y="69722"/>
                  </a:lnTo>
                  <a:lnTo>
                    <a:pt x="4381754" y="69722"/>
                  </a:lnTo>
                  <a:lnTo>
                    <a:pt x="4401478" y="65714"/>
                  </a:lnTo>
                  <a:lnTo>
                    <a:pt x="4417631" y="54800"/>
                  </a:lnTo>
                  <a:lnTo>
                    <a:pt x="4428545" y="38647"/>
                  </a:lnTo>
                  <a:lnTo>
                    <a:pt x="4432554" y="1892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930615"/>
              <a:ext cx="0" cy="163830"/>
            </a:xfrm>
            <a:custGeom>
              <a:avLst/>
              <a:gdLst/>
              <a:ahLst/>
              <a:cxnLst/>
              <a:rect l="l" t="t" r="r" b="b"/>
              <a:pathLst>
                <a:path h="163830">
                  <a:moveTo>
                    <a:pt x="0" y="16357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9178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9051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8924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138544" y="2238237"/>
            <a:ext cx="3736340" cy="927735"/>
            <a:chOff x="138544" y="2238237"/>
            <a:chExt cx="3736340" cy="927735"/>
          </a:xfrm>
        </p:grpSpPr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3556" y="2238237"/>
              <a:ext cx="3140841" cy="89827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38544" y="3163036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59676" y="3166681"/>
            <a:ext cx="1882775" cy="1701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120" baseline="27777" dirty="0">
                <a:latin typeface="Trebuchet MS"/>
                <a:cs typeface="Trebuchet MS"/>
              </a:rPr>
              <a:t>1</a:t>
            </a:r>
            <a:r>
              <a:rPr sz="900" spc="-80" dirty="0">
                <a:latin typeface="Courier New"/>
                <a:cs typeface="Courier New"/>
                <a:hlinkClick r:id="rId8"/>
              </a:rPr>
              <a:t>http://www.merriam-</a:t>
            </a:r>
            <a:r>
              <a:rPr sz="900" spc="-75" dirty="0">
                <a:latin typeface="Courier New"/>
                <a:cs typeface="Courier New"/>
                <a:hlinkClick r:id="rId8"/>
              </a:rPr>
              <a:t>webster.com/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61172" y="3339672"/>
            <a:ext cx="88582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Novel</a:t>
            </a:r>
            <a:r>
              <a:rPr sz="600" i="1" spc="-1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Sense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9" action="ppaction://hlinksldjump"/>
              </a:rPr>
              <a:t>Detection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93345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6D82F616-8464-49D6-8BC3-8049D3F6BD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133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Comparing</a:t>
            </a:r>
            <a:r>
              <a:rPr spc="50" dirty="0"/>
              <a:t> </a:t>
            </a:r>
            <a:r>
              <a:rPr dirty="0"/>
              <a:t>sense</a:t>
            </a:r>
            <a:r>
              <a:rPr spc="50" dirty="0"/>
              <a:t> </a:t>
            </a:r>
            <a:r>
              <a:rPr spc="-10" dirty="0"/>
              <a:t>clusters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56285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63747"/>
            <a:ext cx="3903345" cy="369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spc="-20" dirty="0">
                <a:latin typeface="Trebuchet MS"/>
                <a:cs typeface="Trebuchet MS"/>
              </a:rPr>
              <a:t>If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undergoes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change,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detected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comparing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clusters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obtained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-20" dirty="0">
                <a:latin typeface="Trebuchet MS"/>
                <a:cs typeface="Trebuchet MS"/>
              </a:rPr>
              <a:t> two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time </a:t>
            </a:r>
            <a:r>
              <a:rPr sz="950" spc="-10" dirty="0">
                <a:latin typeface="Trebuchet MS"/>
                <a:cs typeface="Trebuchet MS"/>
              </a:rPr>
              <a:t>periods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61172" y="3339672"/>
            <a:ext cx="88582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Novel</a:t>
            </a:r>
            <a:r>
              <a:rPr sz="600" i="1" spc="-1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Detection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93345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4E008E-52DF-4DAA-ABCD-4BE9D214C4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134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Comparing</a:t>
            </a:r>
            <a:r>
              <a:rPr spc="50" dirty="0"/>
              <a:t> </a:t>
            </a:r>
            <a:r>
              <a:rPr dirty="0"/>
              <a:t>sense</a:t>
            </a:r>
            <a:r>
              <a:rPr spc="50" dirty="0"/>
              <a:t> </a:t>
            </a:r>
            <a:r>
              <a:rPr spc="-10" dirty="0"/>
              <a:t>clusters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56285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63747"/>
            <a:ext cx="3903345" cy="369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spc="-20" dirty="0">
                <a:latin typeface="Trebuchet MS"/>
                <a:cs typeface="Trebuchet MS"/>
              </a:rPr>
              <a:t>If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undergoes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change,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detected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comparing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sense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clusters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obtained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-20" dirty="0">
                <a:latin typeface="Trebuchet MS"/>
                <a:cs typeface="Trebuchet MS"/>
              </a:rPr>
              <a:t> two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time </a:t>
            </a:r>
            <a:r>
              <a:rPr sz="950" spc="-10" dirty="0">
                <a:latin typeface="Trebuchet MS"/>
                <a:cs typeface="Trebuchet MS"/>
              </a:rPr>
              <a:t>periods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270" y="1266561"/>
            <a:ext cx="3591515" cy="158009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61172" y="3339672"/>
            <a:ext cx="88582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Novel</a:t>
            </a:r>
            <a:r>
              <a:rPr sz="600" i="1" spc="-1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Sense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Detection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93345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6276571-185D-44F5-9F05-30B72FFB57A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/>
          <a:lstStyle/>
          <a:p>
            <a:pPr marL="75565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lang="en-IN" smtClean="0"/>
              <a:t>135</a:t>
            </a:fld>
            <a:r>
              <a:rPr lang="en-IN" spc="-5"/>
              <a:t> </a:t>
            </a:r>
            <a:r>
              <a:rPr lang="en-IN" spc="-110"/>
              <a:t>/</a:t>
            </a:r>
            <a:r>
              <a:rPr lang="en-IN" spc="15"/>
              <a:t> </a:t>
            </a:r>
            <a:r>
              <a:rPr lang="en-IN" spc="-25"/>
              <a:t>18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9494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Split,</a:t>
            </a:r>
            <a:r>
              <a:rPr sz="14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join,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birth</a:t>
            </a:r>
            <a:r>
              <a:rPr sz="14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death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654" y="521184"/>
            <a:ext cx="3190473" cy="264318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61172" y="3339672"/>
            <a:ext cx="88582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Novel</a:t>
            </a:r>
            <a:r>
              <a:rPr sz="600" i="1" spc="-1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Detection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50"/>
              </a:spcBef>
            </a:pPr>
            <a:r>
              <a:rPr dirty="0"/>
              <a:t>4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50" dirty="0"/>
              <a:t>5</a:t>
            </a:r>
          </a:p>
        </p:txBody>
      </p:sp>
    </p:spTree>
  </p:cSld>
  <p:clrMapOvr>
    <a:masterClrMapping/>
  </p:clrMapOvr>
  <p:transition>
    <p:cut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8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9"/>
                </a:lnTo>
                <a:lnTo>
                  <a:pt x="4607941" y="351409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705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4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real</a:t>
            </a:r>
            <a:r>
              <a:rPr sz="14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r>
              <a:rPr sz="14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14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birth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450" y="888295"/>
            <a:ext cx="3252548" cy="185173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61172" y="3339672"/>
            <a:ext cx="88582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Novel</a:t>
            </a:r>
            <a:r>
              <a:rPr sz="600" i="1" spc="-1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Word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Sense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Detection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4180" y="3339672"/>
            <a:ext cx="56388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4292024" y="3339672"/>
            <a:ext cx="262254" cy="11620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50"/>
              </a:spcBef>
            </a:pPr>
            <a:r>
              <a:rPr dirty="0"/>
              <a:t>5</a:t>
            </a:r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50" dirty="0"/>
              <a:t>5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7901</Words>
  <Application>Microsoft Office PowerPoint</Application>
  <PresentationFormat>Custom</PresentationFormat>
  <Paragraphs>1218</Paragraphs>
  <Slides>137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137</vt:i4>
      </vt:variant>
    </vt:vector>
  </HeadingPairs>
  <TitlesOfParts>
    <vt:vector size="147" baseType="lpstr">
      <vt:lpstr>Arial</vt:lpstr>
      <vt:lpstr>Arial MT</vt:lpstr>
      <vt:lpstr>Calibri</vt:lpstr>
      <vt:lpstr>Cambria</vt:lpstr>
      <vt:lpstr>Courier New</vt:lpstr>
      <vt:lpstr>Lucida Sans Unicode</vt:lpstr>
      <vt:lpstr>Tahoma</vt:lpstr>
      <vt:lpstr>Times New Roman</vt:lpstr>
      <vt:lpstr>Trebuchet MS</vt:lpstr>
      <vt:lpstr>Office Theme</vt:lpstr>
      <vt:lpstr>PowerPoint Presentation</vt:lpstr>
      <vt:lpstr>Lexical Semantics</vt:lpstr>
      <vt:lpstr>Lexical Semantics</vt:lpstr>
      <vt:lpstr>Lexical Semantics</vt:lpstr>
      <vt:lpstr>PowerPoint Presentation</vt:lpstr>
      <vt:lpstr>Example: meaning related facts?</vt:lpstr>
      <vt:lpstr>Example: meaning related facts?</vt:lpstr>
      <vt:lpstr>Relations between word meanings</vt:lpstr>
      <vt:lpstr>PowerPoint Presentation</vt:lpstr>
      <vt:lpstr>Homonymy</vt:lpstr>
      <vt:lpstr>Homonymy</vt:lpstr>
      <vt:lpstr>Problems for NLP applications</vt:lpstr>
      <vt:lpstr>Problems for NLP applications</vt:lpstr>
      <vt:lpstr>Problems for NLP applications</vt:lpstr>
      <vt:lpstr>Polysemy</vt:lpstr>
      <vt:lpstr>Polysemy</vt:lpstr>
      <vt:lpstr>Polysemy: multiple related meanings</vt:lpstr>
      <vt:lpstr>Polysemy: multiple related meanings</vt:lpstr>
      <vt:lpstr>Polysemy: multiple related meanings</vt:lpstr>
      <vt:lpstr>Polysemy: multiple related meanings</vt:lpstr>
      <vt:lpstr>Polysemy: multiple related meanings</vt:lpstr>
      <vt:lpstr>Synonymy</vt:lpstr>
      <vt:lpstr>Synonymy: A relation between senses</vt:lpstr>
      <vt:lpstr>Synonymy: A relation between senses</vt:lpstr>
      <vt:lpstr>Synonymy: A relation between senses</vt:lpstr>
      <vt:lpstr>PowerPoint Presentation</vt:lpstr>
      <vt:lpstr>Synonyms</vt:lpstr>
      <vt:lpstr>Antonyms</vt:lpstr>
      <vt:lpstr>Antonyms</vt:lpstr>
      <vt:lpstr>Hyponymy and Hypernymy</vt:lpstr>
      <vt:lpstr>Hyponymy and Hypernymy</vt:lpstr>
      <vt:lpstr>Hyponymy more formally</vt:lpstr>
      <vt:lpstr>Meronyms and holonyms</vt:lpstr>
      <vt:lpstr>PowerPoint Presentation</vt:lpstr>
      <vt:lpstr>WordNet</vt:lpstr>
      <vt:lpstr>Synsets in WordNet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Word Similarity</vt:lpstr>
      <vt:lpstr>Word Similarity</vt:lpstr>
      <vt:lpstr>Word Similarity</vt:lpstr>
      <vt:lpstr>Word Similarity</vt:lpstr>
      <vt:lpstr>Two classes of algorithms</vt:lpstr>
      <vt:lpstr>Thesaurus-based Word Similarity</vt:lpstr>
      <vt:lpstr>Thesaurus-based Word Similarity</vt:lpstr>
      <vt:lpstr>Thesaurus-based Word Similarity</vt:lpstr>
      <vt:lpstr>PowerPoint Presentation</vt:lpstr>
      <vt:lpstr>Path-based similarity</vt:lpstr>
      <vt:lpstr>Path-based similarity</vt:lpstr>
      <vt:lpstr>Path-based similarity</vt:lpstr>
      <vt:lpstr>PowerPoint Presentation</vt:lpstr>
      <vt:lpstr>Leacock-Chodorow (L-C) Similarity</vt:lpstr>
      <vt:lpstr>Leacock-Chodorow (L-C) Similarity</vt:lpstr>
      <vt:lpstr>Leacock-Chodorow (L-C) Similarity</vt:lpstr>
      <vt:lpstr>Concept probability models</vt:lpstr>
      <vt:lpstr>Concept probability models</vt:lpstr>
      <vt:lpstr>Concept probability models</vt:lpstr>
      <vt:lpstr>PowerPoint Presentation</vt:lpstr>
      <vt:lpstr>PowerPoint Presentation</vt:lpstr>
      <vt:lpstr>Information content</vt:lpstr>
      <vt:lpstr>PowerPoint Presentation</vt:lpstr>
      <vt:lpstr>Resnik Similarity</vt:lpstr>
      <vt:lpstr>PowerPoint Presentation</vt:lpstr>
      <vt:lpstr>Lin similarity</vt:lpstr>
      <vt:lpstr>PowerPoint Presentation</vt:lpstr>
      <vt:lpstr>Jiang-Conrath distance</vt:lpstr>
      <vt:lpstr>PowerPoint Presentation</vt:lpstr>
      <vt:lpstr>The (extended) Lesk Algorithm</vt:lpstr>
      <vt:lpstr>The (extended) Lesk Algorithm</vt:lpstr>
      <vt:lpstr>The (extended) Lesk Algorithm</vt:lpstr>
      <vt:lpstr>Problem in mapping words to wordnet senses</vt:lpstr>
      <vt:lpstr>PowerPoint Presentation</vt:lpstr>
      <vt:lpstr>PowerPoint Presentation</vt:lpstr>
      <vt:lpstr>Word Sense Disambiguation (WSD)</vt:lpstr>
      <vt:lpstr>Word Sense Disambiguation (WSD)</vt:lpstr>
      <vt:lpstr>Word Sense Disambiguation (WSD)</vt:lpstr>
      <vt:lpstr>Algorithms</vt:lpstr>
      <vt:lpstr>Knowledge Based Approaches</vt:lpstr>
      <vt:lpstr>Lesk’s Algorithm</vt:lpstr>
      <vt:lpstr>Lesk’s Algorithm</vt:lpstr>
      <vt:lpstr>Lesk’s Algorithm</vt:lpstr>
      <vt:lpstr>Lesk’s Algorithm</vt:lpstr>
      <vt:lpstr>PowerPoint Presentation</vt:lpstr>
      <vt:lpstr>Walker’s Algorithm</vt:lpstr>
      <vt:lpstr>Walker’s Algorithm</vt:lpstr>
      <vt:lpstr>Walker’s Algorithm</vt:lpstr>
      <vt:lpstr>Walker’s Algorithm</vt:lpstr>
      <vt:lpstr>Walker’s Algorithm</vt:lpstr>
      <vt:lpstr>Walker’s Algorithm</vt:lpstr>
      <vt:lpstr>PowerPoint Presentation</vt:lpstr>
      <vt:lpstr>PowerPoint Presentation</vt:lpstr>
      <vt:lpstr>PowerPoint Presentation</vt:lpstr>
      <vt:lpstr>PowerPoint Presentation</vt:lpstr>
      <vt:lpstr>Naïve Bayes for WSD</vt:lpstr>
      <vt:lpstr>Naïve Bayes for WSD</vt:lpstr>
      <vt:lpstr>Naïve Bayes for WSD</vt:lpstr>
      <vt:lpstr>Training for Naïve Bayes</vt:lpstr>
      <vt:lpstr>Training for Naïve Bayes</vt:lpstr>
      <vt:lpstr>Decision List Algorithm</vt:lpstr>
      <vt:lpstr>Decision List Algorithm</vt:lpstr>
      <vt:lpstr>Decision List Algorithm</vt:lpstr>
      <vt:lpstr>PowerPoint Presentation</vt:lpstr>
      <vt:lpstr>Decision List Algorithm</vt:lpstr>
      <vt:lpstr>Example: discriminating between bass (fish) and bass (music):</vt:lpstr>
      <vt:lpstr>PowerPoint Presentation</vt:lpstr>
      <vt:lpstr>Minimally Supervised WSD - Yarowsky</vt:lpstr>
      <vt:lpstr>Minimally Supervised WSD - Yarowsky</vt:lpstr>
      <vt:lpstr>More about heuristics</vt:lpstr>
      <vt:lpstr>More about heuristics</vt:lpstr>
      <vt:lpstr>Yarowsky’s Method</vt:lpstr>
      <vt:lpstr>PowerPoint Presentation</vt:lpstr>
      <vt:lpstr>PowerPoint Presentation</vt:lpstr>
      <vt:lpstr>PowerPoint Presentation</vt:lpstr>
      <vt:lpstr>PowerPoint Presentation</vt:lpstr>
      <vt:lpstr>Yarowsky’s Method</vt:lpstr>
      <vt:lpstr>HyperLex</vt:lpstr>
      <vt:lpstr>HyperLex</vt:lpstr>
      <vt:lpstr>HyperLex</vt:lpstr>
      <vt:lpstr>HyperLex</vt:lpstr>
      <vt:lpstr>HyperLex</vt:lpstr>
      <vt:lpstr>HyperLex</vt:lpstr>
      <vt:lpstr>HyperLex</vt:lpstr>
      <vt:lpstr>PowerPoint Presentation</vt:lpstr>
      <vt:lpstr>Delineating Components</vt:lpstr>
      <vt:lpstr>Delineating Components</vt:lpstr>
      <vt:lpstr>Disambiguation</vt:lpstr>
      <vt:lpstr>Disambiguation</vt:lpstr>
      <vt:lpstr>PowerPoint Presentation</vt:lpstr>
      <vt:lpstr>PowerPoint Presentation</vt:lpstr>
      <vt:lpstr>PowerPoint Presentation</vt:lpstr>
      <vt:lpstr>Comparing sense clusters</vt:lpstr>
      <vt:lpstr>Comparing sense clusters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Karnam Akhil</dc:creator>
  <cp:lastModifiedBy>KARNAM AKHIL 20071D5806</cp:lastModifiedBy>
  <cp:revision>8</cp:revision>
  <cp:lastPrinted>2025-03-24T15:13:56Z</cp:lastPrinted>
  <dcterms:created xsi:type="dcterms:W3CDTF">2025-03-24T15:02:43Z</dcterms:created>
  <dcterms:modified xsi:type="dcterms:W3CDTF">2025-05-12T01:09:50Z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2025-03-24T00:00:00Z</vt:filetime>
  </property>
  <property fmtid="{D5CDD505-2E9C-101B-9397-08002B2CF9AE}" pid="3" name="LastSaved">
    <vt:filetime>2025-03-24T00:00:00Z</vt:filetime>
  </property>
  <property fmtid="{D5CDD505-2E9C-101B-9397-08002B2CF9AE}" pid="4" name="Producer">
    <vt:lpwstr>Pdftools SDK</vt:lpwstr>
  </property>
</Properties>
</file>