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82" r:id="rId2"/>
    <p:sldId id="257" r:id="rId3"/>
    <p:sldId id="258" r:id="rId4"/>
    <p:sldId id="259" r:id="rId5"/>
    <p:sldId id="260" r:id="rId6"/>
    <p:sldId id="261" r:id="rId7"/>
    <p:sldId id="264" r:id="rId8"/>
    <p:sldId id="285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2h5gOhpn9JcJg5eTL1ssYnajg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70D83D4-E473-4518-A452-77823955FA9F}">
  <a:tblStyle styleId="{270D83D4-E473-4518-A452-77823955FA9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92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590b06faa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1590b06faa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590b06faa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1590b06faa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90b06faa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590b06faa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3013db52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3013db52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3013db52f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3013db52f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3013db52f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3013db52f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3013db52f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3013db52f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3013db52f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13013db52f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3013db52f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13013db52f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system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468414" y="4297433"/>
            <a:ext cx="5363886" cy="19807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I Ravindra </a:t>
            </a:r>
            <a:r>
              <a:rPr lang="en" b="1" dirty="0" smtClean="0">
                <a:solidFill>
                  <a:srgbClr val="FF0000"/>
                </a:solidFill>
              </a:rPr>
              <a:t>kumar, B.Tech, M.Tech,(Ph.D.)</a:t>
            </a:r>
            <a:endParaRPr b="1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Assistant professor, </a:t>
            </a:r>
            <a:endParaRPr lang="en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Dept </a:t>
            </a:r>
            <a:r>
              <a:rPr lang="en" dirty="0"/>
              <a:t>of CSE, VNR VJIET</a:t>
            </a:r>
            <a:endParaRPr/>
          </a:p>
        </p:txBody>
      </p:sp>
      <p:pic>
        <p:nvPicPr>
          <p:cNvPr id="4" name="Picture 3" descr="slid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4"/>
            <a:ext cx="9144000" cy="68546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590b06faad_0_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lang="en-US"/>
              <a:t>Inter process communication (Cooperating processes)</a:t>
            </a:r>
            <a:endParaRPr/>
          </a:p>
        </p:txBody>
      </p:sp>
      <p:sp>
        <p:nvSpPr>
          <p:cNvPr id="91" name="Google Shape;91;g1590b06faad_0_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 cooperating process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 one that </a:t>
            </a:r>
            <a:r>
              <a:rPr lang="en-US" dirty="0">
                <a:solidFill>
                  <a:srgbClr val="FF0000"/>
                </a:solidFill>
              </a:rPr>
              <a:t>can affect or be affected by other processes</a:t>
            </a:r>
            <a:r>
              <a:rPr lang="en-US" dirty="0"/>
              <a:t> executing in the system.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 can directly </a:t>
            </a:r>
            <a:r>
              <a:rPr lang="en-US" dirty="0">
                <a:solidFill>
                  <a:srgbClr val="FF0000"/>
                </a:solidFill>
              </a:rPr>
              <a:t>share a logical address space </a:t>
            </a:r>
            <a:r>
              <a:rPr lang="en-US" dirty="0"/>
              <a:t>(that is, both code and data) or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can be </a:t>
            </a:r>
            <a:r>
              <a:rPr lang="en-US" dirty="0">
                <a:solidFill>
                  <a:srgbClr val="FF0000"/>
                </a:solidFill>
              </a:rPr>
              <a:t>allowed to share data </a:t>
            </a:r>
            <a:r>
              <a:rPr lang="en-US" dirty="0"/>
              <a:t>only through </a:t>
            </a:r>
            <a:r>
              <a:rPr lang="en-US" dirty="0">
                <a:solidFill>
                  <a:srgbClr val="FF0000"/>
                </a:solidFill>
              </a:rPr>
              <a:t>files or messages.</a:t>
            </a:r>
            <a:endParaRPr>
              <a:solidFill>
                <a:srgbClr val="FF0000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Messages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Shared Data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90b06faad_0_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Bounded buffer Problem</a:t>
            </a:r>
            <a:endParaRPr/>
          </a:p>
        </p:txBody>
      </p:sp>
      <p:sp>
        <p:nvSpPr>
          <p:cNvPr id="97" name="Google Shape;97;g1590b06faad_0_11"/>
          <p:cNvSpPr txBox="1">
            <a:spLocks noGrp="1"/>
          </p:cNvSpPr>
          <p:nvPr>
            <p:ph type="body" idx="1"/>
          </p:nvPr>
        </p:nvSpPr>
        <p:spPr>
          <a:xfrm>
            <a:off x="0" y="1235525"/>
            <a:ext cx="9144000" cy="54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our solution allows at most </a:t>
            </a:r>
            <a:r>
              <a:rPr lang="en-US" sz="2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BUFFER.SIZE - 1 items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 the buffer at the same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7771" y="1942295"/>
            <a:ext cx="424815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6264" y="3425922"/>
            <a:ext cx="4238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6390" y="3899681"/>
            <a:ext cx="37814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7625" y="4363475"/>
            <a:ext cx="22479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70816" y="4668203"/>
            <a:ext cx="3000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64295" y="5494313"/>
            <a:ext cx="14097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62536" y="5118589"/>
            <a:ext cx="34671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30518" y="2668393"/>
            <a:ext cx="15335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76092" y="5834282"/>
            <a:ext cx="4857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556980" y="1989040"/>
            <a:ext cx="43910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5019235" y="3393245"/>
            <a:ext cx="2819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069498" y="3895138"/>
            <a:ext cx="238125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4988609" y="4232105"/>
            <a:ext cx="37528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4772025" y="4663661"/>
            <a:ext cx="43719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5171488" y="5113827"/>
            <a:ext cx="19240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823313" y="5425661"/>
            <a:ext cx="32956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4765724" y="2573583"/>
            <a:ext cx="16383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4696632" y="6231988"/>
            <a:ext cx="257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590b06faad_0_17"/>
          <p:cNvSpPr txBox="1">
            <a:spLocks noGrp="1"/>
          </p:cNvSpPr>
          <p:nvPr>
            <p:ph type="body" idx="1"/>
          </p:nvPr>
        </p:nvSpPr>
        <p:spPr>
          <a:xfrm>
            <a:off x="107425" y="125350"/>
            <a:ext cx="8953200" cy="60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One such interleaving is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T0:	Producer	 execute	register1=counter			{register1=5}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T1:	 Producer 	execute		register1=register1+1		{register1=6}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T2:	Consumer 	execute	 	register2=counter			{register2=5}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T3: Consumer 	execute		register2=register2-1		{register2=4}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T4: Producer 	execute		counter=register1			{counter=6}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T5: Consumer 	execute		counter=register2			{counter=4}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Race condition:</a:t>
            </a: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Where several processes access and manipulate the same data concurrently and </a:t>
            </a:r>
            <a:r>
              <a:rPr lang="en-US" sz="2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outcome of the execution depends on the particular order </a:t>
            </a: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in which the access takes place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Critical Section</a:t>
            </a:r>
            <a:endParaRPr/>
          </a:p>
        </p:txBody>
      </p:sp>
      <p:sp>
        <p:nvSpPr>
          <p:cNvPr id="109" name="Google Shape;109;p2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A solution to the critical-section problem must satisfy the following three requirements: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 b="1" dirty="0"/>
              <a:t>Mutual Exclusion: </a:t>
            </a:r>
            <a:endParaRPr/>
          </a:p>
          <a:p>
            <a:pPr marL="914400" lvl="1" indent="-514350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If process </a:t>
            </a:r>
            <a:r>
              <a:rPr lang="en-US" i="1" dirty="0">
                <a:solidFill>
                  <a:srgbClr val="FF0000"/>
                </a:solidFill>
              </a:rPr>
              <a:t>Pi is executing </a:t>
            </a:r>
            <a:r>
              <a:rPr lang="en-US" i="1" dirty="0"/>
              <a:t>in its critical section, then </a:t>
            </a:r>
            <a:r>
              <a:rPr lang="en-US" i="1" dirty="0">
                <a:solidFill>
                  <a:srgbClr val="FF0000"/>
                </a:solidFill>
              </a:rPr>
              <a:t>no </a:t>
            </a:r>
            <a:r>
              <a:rPr lang="en-US" dirty="0">
                <a:solidFill>
                  <a:srgbClr val="FF0000"/>
                </a:solidFill>
              </a:rPr>
              <a:t>other processes</a:t>
            </a:r>
            <a:r>
              <a:rPr lang="en-US" dirty="0"/>
              <a:t> can be executing in their critical sections.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2. </a:t>
            </a:r>
            <a:r>
              <a:rPr lang="en-US" b="1" dirty="0"/>
              <a:t>Progress: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	 </a:t>
            </a:r>
            <a:r>
              <a:rPr lang="en-US" sz="2800" i="1" dirty="0"/>
              <a:t>If no process is executing in its critical section and some processes wish to enter their critical sections, then only </a:t>
            </a:r>
            <a:r>
              <a:rPr lang="en-US" sz="2800" i="1" dirty="0">
                <a:solidFill>
                  <a:srgbClr val="FF0000"/>
                </a:solidFill>
              </a:rPr>
              <a:t>those processes that are not executing in their remainder section </a:t>
            </a:r>
            <a:r>
              <a:rPr lang="en-US" sz="2800" i="1" dirty="0"/>
              <a:t>can participate in the decision on which will enter its critical section next, and </a:t>
            </a:r>
            <a:r>
              <a:rPr lang="en-US" sz="2800" i="1" dirty="0">
                <a:solidFill>
                  <a:srgbClr val="FF0000"/>
                </a:solidFill>
              </a:rPr>
              <a:t>this selection cannot be postponed indefinitely.</a:t>
            </a:r>
            <a:endParaRPr>
              <a:solidFill>
                <a:srgbClr val="FF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3. Bounded Waiting: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	</a:t>
            </a:r>
            <a:r>
              <a:rPr lang="en-US" sz="2800" i="1" dirty="0"/>
              <a:t>There exists a bound on </a:t>
            </a:r>
            <a:r>
              <a:rPr lang="en-US" sz="2800" i="1" dirty="0">
                <a:solidFill>
                  <a:srgbClr val="FF0000"/>
                </a:solidFill>
              </a:rPr>
              <a:t>the number of times that other processes are allowed to enter their critical sections </a:t>
            </a:r>
            <a:r>
              <a:rPr lang="en-US" sz="2800" i="1" dirty="0"/>
              <a:t>after a process has made a request to enter its critical section and before that request is granted.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Two-Process Solutions/Peterson’s Solution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124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Applicable to </a:t>
            </a:r>
            <a:r>
              <a:rPr lang="en-US" dirty="0">
                <a:solidFill>
                  <a:srgbClr val="FF0000"/>
                </a:solidFill>
              </a:rPr>
              <a:t>only two processes at a time</a:t>
            </a:r>
            <a:endParaRPr>
              <a:solidFill>
                <a:srgbClr val="FF0000"/>
              </a:solidFill>
            </a:endParaRPr>
          </a:p>
          <a:p>
            <a:pPr marL="342900" lvl="0" indent="-312419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The processes are numbered </a:t>
            </a:r>
            <a:r>
              <a:rPr lang="en-US" b="1" i="1" dirty="0">
                <a:solidFill>
                  <a:srgbClr val="FF0000"/>
                </a:solidFill>
              </a:rPr>
              <a:t>Po and P1</a:t>
            </a:r>
            <a:r>
              <a:rPr lang="en-US" b="1" i="1" dirty="0"/>
              <a:t>.</a:t>
            </a:r>
            <a:endParaRPr/>
          </a:p>
          <a:p>
            <a:pPr marL="342900" lvl="0" indent="-312419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When presenting </a:t>
            </a:r>
            <a:r>
              <a:rPr lang="en-US" i="1" dirty="0">
                <a:solidFill>
                  <a:srgbClr val="FF0000"/>
                </a:solidFill>
              </a:rPr>
              <a:t>Pi</a:t>
            </a:r>
            <a:r>
              <a:rPr lang="en-US" i="1" dirty="0"/>
              <a:t>, we use </a:t>
            </a:r>
            <a:r>
              <a:rPr lang="en-US" i="1" dirty="0" err="1" smtClean="0"/>
              <a:t>Pj</a:t>
            </a:r>
            <a:r>
              <a:rPr lang="en-US" i="1" dirty="0" smtClean="0"/>
              <a:t> </a:t>
            </a:r>
            <a:r>
              <a:rPr lang="en-US" i="1" dirty="0"/>
              <a:t>to denote the other process;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i="1" dirty="0"/>
              <a:t>			 that </a:t>
            </a:r>
            <a:r>
              <a:rPr lang="en-US" dirty="0"/>
              <a:t>is, </a:t>
            </a:r>
            <a:r>
              <a:rPr lang="en-US" dirty="0">
                <a:solidFill>
                  <a:srgbClr val="FF0000"/>
                </a:solidFill>
              </a:rPr>
              <a:t>j == 1 –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endParaRPr>
              <a:solidFill>
                <a:srgbClr val="FF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i="1" dirty="0" smtClean="0"/>
              <a:t>Algorithm:</a:t>
            </a:r>
            <a:endParaRPr/>
          </a:p>
          <a:p>
            <a:pPr marL="342900" lvl="0" indent="-312419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let the processes share a common integer variable turn</a:t>
            </a:r>
            <a:endParaRPr/>
          </a:p>
          <a:p>
            <a:pPr marL="342900" lvl="0" indent="-312419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initialized to 0 (or 1). </a:t>
            </a:r>
            <a:r>
              <a:rPr lang="en-US" dirty="0">
                <a:solidFill>
                  <a:srgbClr val="FF0000"/>
                </a:solidFill>
              </a:rPr>
              <a:t>If turn ==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/>
              <a:t>, then process </a:t>
            </a:r>
            <a:r>
              <a:rPr lang="en-US" b="1" i="1" dirty="0"/>
              <a:t>Pi is allowed to execute in its </a:t>
            </a:r>
            <a:r>
              <a:rPr lang="en-US" dirty="0"/>
              <a:t>critical section</a:t>
            </a:r>
            <a:endParaRPr i="1"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i="1" dirty="0"/>
              <a:t>			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15494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15494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Boolean flag[2];</a:t>
            </a:r>
            <a:br>
              <a:rPr lang="en-US" sz="2400"/>
            </a:br>
            <a:r>
              <a:rPr lang="en-US" sz="2400"/>
              <a:t>int turn;</a:t>
            </a:r>
            <a:br>
              <a:rPr lang="en-US" sz="2400"/>
            </a:br>
            <a:r>
              <a:rPr lang="en-US" sz="2400"/>
              <a:t> Initially flag [0] = flag [1] = false</a:t>
            </a:r>
            <a:endParaRPr sz="2400"/>
          </a:p>
        </p:txBody>
      </p:sp>
      <p:pic>
        <p:nvPicPr>
          <p:cNvPr id="132" name="Google Shape;132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824830"/>
            <a:ext cx="8077200" cy="4728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SzPts val="2400"/>
            </a:pP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/>
              <a:t>turn;</a:t>
            </a:r>
            <a:br>
              <a:rPr lang="en-US" sz="2400" dirty="0"/>
            </a:br>
            <a:r>
              <a:rPr lang="en-US" sz="2400" dirty="0"/>
              <a:t> Initially flag [0] = flag [1] = false</a:t>
            </a:r>
            <a:endParaRPr sz="240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88388" y="1308296"/>
            <a:ext cx="4030394" cy="5549704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do{</a:t>
            </a:r>
          </a:p>
          <a:p>
            <a:pPr>
              <a:buNone/>
            </a:pPr>
            <a:r>
              <a:rPr lang="en-US" dirty="0" smtClean="0"/>
              <a:t>Flag[0]=True</a:t>
            </a:r>
          </a:p>
          <a:p>
            <a:pPr>
              <a:buNone/>
            </a:pPr>
            <a:r>
              <a:rPr lang="en-US" dirty="0" smtClean="0"/>
              <a:t>Turn=1;</a:t>
            </a:r>
          </a:p>
          <a:p>
            <a:pPr>
              <a:buNone/>
            </a:pPr>
            <a:r>
              <a:rPr lang="en-US" dirty="0" smtClean="0"/>
              <a:t>While(flag[1] &amp;&amp;turn==1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//Critical section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Flag[0]==False;</a:t>
            </a:r>
          </a:p>
          <a:p>
            <a:pPr>
              <a:buNone/>
            </a:pPr>
            <a:r>
              <a:rPr lang="en-US" dirty="0" smtClean="0"/>
              <a:t>}while(1);</a:t>
            </a: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4576689" y="1308296"/>
            <a:ext cx="4030394" cy="554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do{</a:t>
            </a: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Flag[1]=True</a:t>
            </a: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Turn=0;</a:t>
            </a: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While(flag[0] &amp;&amp;turn==0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);</a:t>
            </a:r>
          </a:p>
          <a:p>
            <a:pPr marL="457200" lvl="0" indent="-342900">
              <a:spcBef>
                <a:spcPts val="360"/>
              </a:spcBef>
              <a:buClr>
                <a:schemeClr val="dk1"/>
              </a:buClr>
              <a:buSzPts val="1800"/>
              <a:defRPr/>
            </a:pPr>
            <a:r>
              <a:rPr lang="en-US" sz="3200" dirty="0" smtClean="0"/>
              <a:t>//Critical section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Flag[1]==False;</a:t>
            </a: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}while(1);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Synchronization Hardware</a:t>
            </a:r>
            <a:br>
              <a:rPr lang="en-US" b="1"/>
            </a:b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990600" y="914401"/>
            <a:ext cx="69342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 TestAndSet(boo1ean &amp;target) 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boolean rv = target;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target = true;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rv;}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362200"/>
            <a:ext cx="7467599" cy="41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533400"/>
            <a:ext cx="52006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0" y="2057400"/>
            <a:ext cx="58674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914400"/>
            <a:ext cx="7010400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400" y="6019800"/>
            <a:ext cx="51816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52400"/>
            <a:ext cx="2800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Semaphores</a:t>
            </a:r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semaphore S is </a:t>
            </a:r>
            <a:r>
              <a:rPr lang="en-US" dirty="0">
                <a:solidFill>
                  <a:srgbClr val="FF0000"/>
                </a:solidFill>
              </a:rPr>
              <a:t>an integer variable that</a:t>
            </a:r>
            <a:r>
              <a:rPr lang="en-US" dirty="0"/>
              <a:t>, apart from initialization, is accessed only through </a:t>
            </a:r>
            <a:r>
              <a:rPr lang="en-US" dirty="0">
                <a:solidFill>
                  <a:srgbClr val="FF0000"/>
                </a:solidFill>
              </a:rPr>
              <a:t>two standard atomic operations: wait and signal.</a:t>
            </a:r>
            <a:endParaRPr>
              <a:solidFill>
                <a:srgbClr val="FF0000"/>
              </a:solidFill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3000" dirty="0">
                <a:solidFill>
                  <a:srgbClr val="FF0000"/>
                </a:solidFill>
              </a:rPr>
              <a:t>wait(S) {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3000" dirty="0">
                <a:solidFill>
                  <a:srgbClr val="FF0000"/>
                </a:solidFill>
              </a:rPr>
              <a:t>while (S </a:t>
            </a:r>
            <a:r>
              <a:rPr lang="en-US" sz="3000" i="1" dirty="0">
                <a:solidFill>
                  <a:srgbClr val="FF0000"/>
                </a:solidFill>
              </a:rPr>
              <a:t>&lt;=0) </a:t>
            </a:r>
            <a:r>
              <a:rPr lang="en-US" sz="3000" dirty="0">
                <a:solidFill>
                  <a:srgbClr val="FF0000"/>
                </a:solidFill>
              </a:rPr>
              <a:t>; // no-op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3000" dirty="0">
                <a:solidFill>
                  <a:srgbClr val="FF0000"/>
                </a:solidFill>
              </a:rPr>
              <a:t>S --;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3000" dirty="0">
                <a:solidFill>
                  <a:srgbClr val="FF0000"/>
                </a:solidFill>
              </a:rPr>
              <a:t>}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3000" b="1" dirty="0">
                <a:solidFill>
                  <a:srgbClr val="974806"/>
                </a:solidFill>
              </a:rPr>
              <a:t>Signal(s)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3000" b="1" dirty="0">
                <a:solidFill>
                  <a:srgbClr val="974806"/>
                </a:solidFill>
              </a:rPr>
              <a:t>{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3000" b="1" dirty="0">
                <a:solidFill>
                  <a:srgbClr val="974806"/>
                </a:solidFill>
              </a:rPr>
              <a:t>S++;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3000" b="1" dirty="0">
                <a:solidFill>
                  <a:srgbClr val="974806"/>
                </a:solidFill>
              </a:rPr>
              <a:t>}</a:t>
            </a:r>
            <a:endParaRPr sz="3000" b="1">
              <a:solidFill>
                <a:srgbClr val="97480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>
            <a:spLocks noGrp="1"/>
          </p:cNvSpPr>
          <p:nvPr>
            <p:ph type="body" idx="1"/>
          </p:nvPr>
        </p:nvSpPr>
        <p:spPr>
          <a:xfrm>
            <a:off x="457200" y="152400"/>
            <a:ext cx="8229600" cy="597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Mutual-exclusion implementation with semaphores.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i="1" dirty="0"/>
              <a:t>do {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wait (</a:t>
            </a:r>
            <a:r>
              <a:rPr lang="en-US" b="1" dirty="0" err="1"/>
              <a:t>mutex</a:t>
            </a:r>
            <a:r>
              <a:rPr lang="en-US" b="1" dirty="0"/>
              <a:t>) ; 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critical section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signal (</a:t>
            </a:r>
            <a:r>
              <a:rPr lang="en-US" b="1" dirty="0" err="1"/>
              <a:t>mutex</a:t>
            </a:r>
            <a:r>
              <a:rPr lang="en-US" b="1" dirty="0"/>
              <a:t>) ; 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remainder section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} </a:t>
            </a:r>
            <a:r>
              <a:rPr lang="en-US" b="1" dirty="0"/>
              <a:t>while (1);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i="1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 dirty="0"/>
              <a:t>Problem is Busy waiting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err="1"/>
              <a:t>typedef</a:t>
            </a:r>
            <a:r>
              <a:rPr lang="en-US" dirty="0"/>
              <a:t> </a:t>
            </a:r>
            <a:r>
              <a:rPr lang="en-US" dirty="0" err="1"/>
              <a:t>struct</a:t>
            </a:r>
            <a:r>
              <a:rPr lang="en-US" dirty="0"/>
              <a:t> {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 err="1"/>
              <a:t>int</a:t>
            </a:r>
            <a:r>
              <a:rPr lang="en-US" dirty="0"/>
              <a:t> value </a:t>
            </a:r>
            <a:r>
              <a:rPr lang="en-US" sz="800" dirty="0"/>
              <a:t>;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 err="1"/>
              <a:t>struct</a:t>
            </a:r>
            <a:r>
              <a:rPr lang="en-US" dirty="0"/>
              <a:t> process *L;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} semaphore;</a:t>
            </a:r>
            <a:endParaRPr i="1"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i="1"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>
            <a:spLocks noGrp="1"/>
          </p:cNvSpPr>
          <p:nvPr>
            <p:ph type="body" idx="1"/>
          </p:nvPr>
        </p:nvSpPr>
        <p:spPr>
          <a:xfrm>
            <a:off x="457200" y="228600"/>
            <a:ext cx="8229600" cy="6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Each semaphore </a:t>
            </a:r>
            <a:r>
              <a:rPr lang="en-US" dirty="0">
                <a:solidFill>
                  <a:srgbClr val="FF0000"/>
                </a:solidFill>
              </a:rPr>
              <a:t>has an integer value and a list of processes. </a:t>
            </a:r>
            <a:endParaRPr>
              <a:solidFill>
                <a:srgbClr val="FF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When </a:t>
            </a:r>
            <a:r>
              <a:rPr lang="en-US" dirty="0">
                <a:solidFill>
                  <a:srgbClr val="FF0000"/>
                </a:solidFill>
              </a:rPr>
              <a:t>a process must wait on a semaphore, it is added to the list of processes</a:t>
            </a:r>
            <a:r>
              <a:rPr lang="en-US" dirty="0"/>
              <a:t>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 </a:t>
            </a:r>
            <a:r>
              <a:rPr lang="en-US" b="1" dirty="0"/>
              <a:t>signal </a:t>
            </a:r>
            <a:r>
              <a:rPr lang="en-US" dirty="0"/>
              <a:t>operation </a:t>
            </a:r>
            <a:r>
              <a:rPr lang="en-US" dirty="0">
                <a:solidFill>
                  <a:srgbClr val="FF0000"/>
                </a:solidFill>
              </a:rPr>
              <a:t>removes one process from the list of waiting processes </a:t>
            </a:r>
            <a:r>
              <a:rPr lang="en-US" dirty="0"/>
              <a:t>and awakens that process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2800" b="1" dirty="0">
                <a:solidFill>
                  <a:srgbClr val="974806"/>
                </a:solidFill>
              </a:rPr>
              <a:t>void wait(semaphore S) {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2800" b="1" dirty="0" err="1">
                <a:solidFill>
                  <a:srgbClr val="974806"/>
                </a:solidFill>
              </a:rPr>
              <a:t>S.value</a:t>
            </a:r>
            <a:r>
              <a:rPr lang="en-US" sz="2800" b="1" dirty="0">
                <a:solidFill>
                  <a:srgbClr val="974806"/>
                </a:solidFill>
              </a:rPr>
              <a:t>--;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2800" b="1" dirty="0">
                <a:solidFill>
                  <a:srgbClr val="974806"/>
                </a:solidFill>
              </a:rPr>
              <a:t>if (</a:t>
            </a:r>
            <a:r>
              <a:rPr lang="en-US" sz="2800" b="1" dirty="0" err="1">
                <a:solidFill>
                  <a:srgbClr val="974806"/>
                </a:solidFill>
              </a:rPr>
              <a:t>S.value</a:t>
            </a:r>
            <a:r>
              <a:rPr lang="en-US" sz="2800" b="1" dirty="0">
                <a:solidFill>
                  <a:srgbClr val="974806"/>
                </a:solidFill>
              </a:rPr>
              <a:t> &lt; 0) {</a:t>
            </a:r>
            <a:endParaRPr/>
          </a:p>
          <a:p>
            <a:pPr marL="2057400" lvl="4" indent="-2286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2800" b="1" dirty="0">
                <a:solidFill>
                  <a:srgbClr val="974806"/>
                </a:solidFill>
              </a:rPr>
              <a:t>add this process to S . L;</a:t>
            </a:r>
            <a:endParaRPr/>
          </a:p>
          <a:p>
            <a:pPr marL="2057400" lvl="4" indent="-2286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2800" b="1" dirty="0">
                <a:solidFill>
                  <a:srgbClr val="974806"/>
                </a:solidFill>
              </a:rPr>
              <a:t>block() ;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2800" b="1" dirty="0">
                <a:solidFill>
                  <a:srgbClr val="974806"/>
                </a:solidFill>
              </a:rPr>
              <a:t>}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974806"/>
              </a:buClr>
              <a:buSzPct val="100000"/>
              <a:buNone/>
            </a:pPr>
            <a:r>
              <a:rPr lang="en-US" sz="2800" b="1" dirty="0">
                <a:solidFill>
                  <a:srgbClr val="974806"/>
                </a:solidFill>
              </a:rPr>
              <a:t>}</a:t>
            </a:r>
            <a:endParaRPr sz="2800" b="1">
              <a:solidFill>
                <a:srgbClr val="97480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>
            <a:spLocks noGrp="1"/>
          </p:cNvSpPr>
          <p:nvPr>
            <p:ph type="body" idx="1"/>
          </p:nvPr>
        </p:nvSpPr>
        <p:spPr>
          <a:xfrm>
            <a:off x="457200" y="0"/>
            <a:ext cx="8229600" cy="70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</a:t>
            </a:r>
            <a:r>
              <a:rPr lang="en-US" b="1"/>
              <a:t>signal semaphore operation can now be defined as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74806"/>
              </a:buClr>
              <a:buSzPts val="2400"/>
              <a:buNone/>
            </a:pPr>
            <a:r>
              <a:rPr lang="en-US" b="1">
                <a:solidFill>
                  <a:srgbClr val="974806"/>
                </a:solidFill>
              </a:rPr>
              <a:t>void signal(semaphore S) {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74806"/>
              </a:buClr>
              <a:buSzPts val="2400"/>
              <a:buNone/>
            </a:pPr>
            <a:r>
              <a:rPr lang="en-US" sz="2400" b="1">
                <a:solidFill>
                  <a:srgbClr val="974806"/>
                </a:solidFill>
              </a:rPr>
              <a:t>S.value++;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74806"/>
              </a:buClr>
              <a:buSzPts val="2400"/>
              <a:buNone/>
            </a:pPr>
            <a:r>
              <a:rPr lang="en-US" sz="2400" b="1">
                <a:solidFill>
                  <a:srgbClr val="974806"/>
                </a:solidFill>
              </a:rPr>
              <a:t>if (S.value &lt;= 0) {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74806"/>
              </a:buClr>
              <a:buSzPts val="2400"/>
              <a:buNone/>
            </a:pPr>
            <a:r>
              <a:rPr lang="en-US" sz="2400" b="1">
                <a:solidFill>
                  <a:srgbClr val="974806"/>
                </a:solidFill>
              </a:rPr>
              <a:t>remove a process </a:t>
            </a:r>
            <a:r>
              <a:rPr lang="en-US" sz="2400" b="1" i="1">
                <a:solidFill>
                  <a:srgbClr val="974806"/>
                </a:solidFill>
              </a:rPr>
              <a:t>P from S . L ;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74806"/>
              </a:buClr>
              <a:buSzPts val="2400"/>
              <a:buNone/>
            </a:pPr>
            <a:r>
              <a:rPr lang="en-US" sz="2400" b="1">
                <a:solidFill>
                  <a:srgbClr val="974806"/>
                </a:solidFill>
              </a:rPr>
              <a:t>wakeup (Pi) ;</a:t>
            </a:r>
            <a:endParaRPr/>
          </a:p>
          <a:p>
            <a:pPr marL="1600200" lvl="3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74806"/>
              </a:buClr>
              <a:buSzPts val="2400"/>
              <a:buNone/>
            </a:pPr>
            <a:r>
              <a:rPr lang="en-US" sz="2400" b="1">
                <a:solidFill>
                  <a:srgbClr val="974806"/>
                </a:solidFill>
              </a:rPr>
              <a:t>}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74806"/>
              </a:buClr>
              <a:buSzPts val="2400"/>
              <a:buNone/>
            </a:pPr>
            <a:r>
              <a:rPr lang="en-US" b="1">
                <a:solidFill>
                  <a:srgbClr val="974806"/>
                </a:solidFill>
              </a:rPr>
              <a:t>}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Deadlock: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Starvation:</a:t>
            </a:r>
            <a:endParaRPr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2895600"/>
            <a:ext cx="49530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5"/>
          <p:cNvSpPr txBox="1"/>
          <p:nvPr/>
        </p:nvSpPr>
        <p:spPr>
          <a:xfrm>
            <a:off x="381000" y="5288340"/>
            <a:ext cx="87630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situation where processes wait indefinitely within the semaphore.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we add and remove processes from the list associated with a semaphore in LIFO order.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Classic Problems of Synchronization</a:t>
            </a:r>
            <a:endParaRPr/>
          </a:p>
        </p:txBody>
      </p:sp>
      <p:pic>
        <p:nvPicPr>
          <p:cNvPr id="181" name="Google Shape;181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048000"/>
            <a:ext cx="48006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 txBox="1"/>
          <p:nvPr/>
        </p:nvSpPr>
        <p:spPr>
          <a:xfrm>
            <a:off x="609600" y="1295400"/>
            <a:ext cx="7848600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Bounded-Buffer Problem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mutex semaphore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mutual exclusion for accesses to the buffer pool and is initialized to the value 1.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empty and full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semaphores count the number of empty and full buffers, respectively.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2895600"/>
            <a:ext cx="44958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The Readers- Writers Problem</a:t>
            </a:r>
            <a:endParaRPr/>
          </a:p>
        </p:txBody>
      </p:sp>
      <p:pic>
        <p:nvPicPr>
          <p:cNvPr id="189" name="Google Shape;189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971800"/>
            <a:ext cx="357187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990600" y="1524000"/>
            <a:ext cx="33528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mutex, wrt;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readcount;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6200" y="1752600"/>
            <a:ext cx="51054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The Dining-Philosophers Problem</a:t>
            </a:r>
            <a:endParaRPr/>
          </a:p>
        </p:txBody>
      </p:sp>
      <p:pic>
        <p:nvPicPr>
          <p:cNvPr id="197" name="Google Shape;197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1371600"/>
            <a:ext cx="4648200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Dining Philosophers Problem in C and C++ - The Crazy Programm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0200"/>
            <a:ext cx="364807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381000" y="5791200"/>
            <a:ext cx="25925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chopstick [5];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Allow at most four philosophers to be sitting simultaneously at the table.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Allow a philosopher to pick up her chopsticks only if both chopsticks are available (to do this she must pick them up in a critical section).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 an asymmetric solution;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an odd philosopher picks up first her left chopstick and then her right chopstick, whereas an even philosopher picks up her right chopstick and then her left chopstick.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3013db52f8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Monitors</a:t>
            </a:r>
            <a:endParaRPr b="1"/>
          </a:p>
        </p:txBody>
      </p:sp>
      <p:sp>
        <p:nvSpPr>
          <p:cNvPr id="211" name="Google Shape;211;g13013db52f8_0_0"/>
          <p:cNvSpPr txBox="1">
            <a:spLocks noGrp="1"/>
          </p:cNvSpPr>
          <p:nvPr>
            <p:ph type="body" idx="1"/>
          </p:nvPr>
        </p:nvSpPr>
        <p:spPr>
          <a:xfrm>
            <a:off x="457200" y="1273400"/>
            <a:ext cx="8229600" cy="55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semaphore:  but only if programmers use them properly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monitor</a:t>
            </a:r>
            <a:r>
              <a:rPr lang="en-US" dirty="0"/>
              <a:t> is essentially a class</a:t>
            </a:r>
            <a:endParaRPr/>
          </a:p>
          <a:p>
            <a:pPr marL="9144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all data is private</a:t>
            </a:r>
            <a:endParaRPr/>
          </a:p>
          <a:p>
            <a:pPr marL="9144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restrictions</a:t>
            </a:r>
            <a:endParaRPr/>
          </a:p>
          <a:p>
            <a:pPr marL="13716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only one method</a:t>
            </a:r>
            <a:r>
              <a:rPr lang="en-US" dirty="0"/>
              <a:t> within any given monitor object may be </a:t>
            </a:r>
            <a:r>
              <a:rPr lang="en-US" dirty="0">
                <a:solidFill>
                  <a:srgbClr val="FF0000"/>
                </a:solidFill>
              </a:rPr>
              <a:t>active at the same time</a:t>
            </a:r>
            <a:r>
              <a:rPr lang="en-US" dirty="0"/>
              <a:t>. </a:t>
            </a:r>
            <a:endParaRPr/>
          </a:p>
          <a:p>
            <a:pPr marL="13716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monitor methods may only </a:t>
            </a:r>
            <a:r>
              <a:rPr lang="en-US" dirty="0">
                <a:solidFill>
                  <a:srgbClr val="FF0000"/>
                </a:solidFill>
              </a:rPr>
              <a:t>access the shared data</a:t>
            </a:r>
            <a:r>
              <a:rPr lang="en-US" dirty="0"/>
              <a:t> within the monitor and any data passed to them as parameters. </a:t>
            </a:r>
            <a:endParaRPr/>
          </a:p>
          <a:p>
            <a:pPr marL="13716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I.e. they </a:t>
            </a:r>
            <a:r>
              <a:rPr lang="en-US" dirty="0">
                <a:solidFill>
                  <a:srgbClr val="FF0000"/>
                </a:solidFill>
              </a:rPr>
              <a:t>cannot access </a:t>
            </a:r>
            <a:r>
              <a:rPr lang="en-US" dirty="0"/>
              <a:t>any </a:t>
            </a:r>
            <a:r>
              <a:rPr lang="en-US" dirty="0">
                <a:solidFill>
                  <a:srgbClr val="FF0000"/>
                </a:solidFill>
              </a:rPr>
              <a:t>data external</a:t>
            </a:r>
            <a:r>
              <a:rPr lang="en-US" dirty="0"/>
              <a:t> to the monitor.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13013db52f8_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400" y="0"/>
            <a:ext cx="5345712" cy="652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13013db52f8_0_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5775" y="959370"/>
            <a:ext cx="4358225" cy="5898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3013db52f8_0_18"/>
          <p:cNvSpPr txBox="1">
            <a:spLocks noGrp="1"/>
          </p:cNvSpPr>
          <p:nvPr>
            <p:ph type="body" idx="1"/>
          </p:nvPr>
        </p:nvSpPr>
        <p:spPr>
          <a:xfrm>
            <a:off x="457200" y="168775"/>
            <a:ext cx="8229600" cy="6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Condition: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A variable of type condition has only two legal operations, 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wait and signal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I.e. if X was defined as type condition, then legal operations would be </a:t>
            </a:r>
            <a:endParaRPr/>
          </a:p>
          <a:p>
            <a:pPr marL="457200" lvl="0" indent="4572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X.wait</a:t>
            </a:r>
            <a:r>
              <a:rPr lang="en-US" dirty="0"/>
              <a:t>( ) and </a:t>
            </a:r>
            <a:r>
              <a:rPr lang="en-US" dirty="0" err="1"/>
              <a:t>X.signal</a:t>
            </a:r>
            <a:r>
              <a:rPr lang="en-US" dirty="0"/>
              <a:t>( )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wait</a:t>
            </a:r>
            <a:r>
              <a:rPr lang="en-US" dirty="0"/>
              <a:t> operation blocks a process until some other process calls signal, and adds the blocked process onto a list associated with that condition.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signal</a:t>
            </a:r>
            <a:r>
              <a:rPr lang="en-US" dirty="0"/>
              <a:t> process does nothing if there are no processes waiting on that condition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3013db52f8_0_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28" name="Google Shape;228;g13013db52f8_0_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29" name="Google Shape;229;g13013db52f8_0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500" y="122750"/>
            <a:ext cx="8484274" cy="63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3013db52f8_0_30"/>
          <p:cNvSpPr txBox="1">
            <a:spLocks noGrp="1"/>
          </p:cNvSpPr>
          <p:nvPr>
            <p:ph type="body" idx="1"/>
          </p:nvPr>
        </p:nvSpPr>
        <p:spPr>
          <a:xfrm>
            <a:off x="457200" y="306850"/>
            <a:ext cx="8229600" cy="6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r>
              <a:rPr lang="en-US" dirty="0"/>
              <a:t> If process P within the monitor issues a signal that would wake up process Q also within the monitor, </a:t>
            </a:r>
            <a:endParaRPr lang="en-US" dirty="0" smtClean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r>
              <a:rPr lang="en-US" dirty="0" smtClean="0"/>
              <a:t>then </a:t>
            </a:r>
            <a:r>
              <a:rPr lang="en-US" dirty="0"/>
              <a:t>there would be two processes running simultaneously within the monitor,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r>
              <a:rPr lang="en-US" dirty="0"/>
              <a:t>violating the exclusion requirement.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r>
              <a:rPr lang="en-US" dirty="0"/>
              <a:t>Two possible solutions to this dilemma: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endParaRPr/>
          </a:p>
          <a:p>
            <a:pPr marL="457200" lvl="0" indent="-31718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 dirty="0"/>
              <a:t>Signal and wait - 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r>
              <a:rPr lang="en-US" dirty="0"/>
              <a:t>When process P issues the signal to wake up process Q, P then waits, either for Q to leave the monitor or on some other condition.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endParaRPr/>
          </a:p>
          <a:p>
            <a:pPr marL="457200" lvl="0" indent="-31718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 dirty="0"/>
              <a:t>Signal and continue - 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r>
              <a:rPr lang="en-US" dirty="0"/>
              <a:t>When P issues the signal, Q waits, either for P to exit the monitor or for some other condition.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13013db52f8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100" y="0"/>
            <a:ext cx="69654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122" name="Picture 2" descr="Create Linux Operating System desktop background in Photoshop C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8128" y="1"/>
            <a:ext cx="5856341" cy="5542457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886778" y="5626893"/>
            <a:ext cx="39164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8000">
                  <a:solidFill>
                    <a:srgbClr val="FF0000"/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</a:t>
            </a:r>
            <a:endParaRPr lang="en-US" sz="5400" b="1" cap="none" spc="0" dirty="0">
              <a:ln w="18000">
                <a:solidFill>
                  <a:srgbClr val="FF0000"/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876</Words>
  <PresentationFormat>On-screen Show (4:3)</PresentationFormat>
  <Paragraphs>153</Paragraphs>
  <Slides>26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Operating system</vt:lpstr>
      <vt:lpstr>Inter process communication (Cooperating processes)</vt:lpstr>
      <vt:lpstr>Bounded buffer Problem</vt:lpstr>
      <vt:lpstr>Slide 4</vt:lpstr>
      <vt:lpstr>Critical Section</vt:lpstr>
      <vt:lpstr>Two-Process Solutions/Peterson’s Solution</vt:lpstr>
      <vt:lpstr>Boolean flag[2]; int turn;  Initially flag [0] = flag [1] = false</vt:lpstr>
      <vt:lpstr>int turn;  Initially flag [0] = flag [1] = false</vt:lpstr>
      <vt:lpstr>Synchronization Hardware </vt:lpstr>
      <vt:lpstr>Slide 10</vt:lpstr>
      <vt:lpstr>Slide 11</vt:lpstr>
      <vt:lpstr>Semaphores</vt:lpstr>
      <vt:lpstr>Slide 13</vt:lpstr>
      <vt:lpstr>Slide 14</vt:lpstr>
      <vt:lpstr>Slide 15</vt:lpstr>
      <vt:lpstr>Classic Problems of Synchronization</vt:lpstr>
      <vt:lpstr>The Readers- Writers Problem</vt:lpstr>
      <vt:lpstr>The Dining-Philosophers Problem</vt:lpstr>
      <vt:lpstr>Solution</vt:lpstr>
      <vt:lpstr>Monitors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Ravindra</dc:creator>
  <cp:lastModifiedBy>DELL</cp:lastModifiedBy>
  <cp:revision>13</cp:revision>
  <dcterms:created xsi:type="dcterms:W3CDTF">2006-08-16T00:00:00Z</dcterms:created>
  <dcterms:modified xsi:type="dcterms:W3CDTF">2024-04-05T06:12:38Z</dcterms:modified>
</cp:coreProperties>
</file>