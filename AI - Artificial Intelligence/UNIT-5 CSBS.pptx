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60" r:id="rId2"/>
    <p:sldId id="256" r:id="rId3"/>
    <p:sldId id="259" r:id="rId4"/>
    <p:sldId id="258" r:id="rId5"/>
    <p:sldId id="257" r:id="rId6"/>
    <p:sldId id="263" r:id="rId7"/>
    <p:sldId id="262" r:id="rId8"/>
    <p:sldId id="261" r:id="rId9"/>
    <p:sldId id="268" r:id="rId10"/>
    <p:sldId id="267" r:id="rId11"/>
    <p:sldId id="266" r:id="rId12"/>
    <p:sldId id="265" r:id="rId13"/>
    <p:sldId id="276" r:id="rId14"/>
    <p:sldId id="275" r:id="rId15"/>
    <p:sldId id="274" r:id="rId16"/>
    <p:sldId id="278" r:id="rId17"/>
    <p:sldId id="283" r:id="rId18"/>
    <p:sldId id="277" r:id="rId19"/>
    <p:sldId id="282" r:id="rId20"/>
    <p:sldId id="281" r:id="rId21"/>
    <p:sldId id="280" r:id="rId22"/>
    <p:sldId id="279" r:id="rId23"/>
    <p:sldId id="286" r:id="rId24"/>
    <p:sldId id="285" r:id="rId25"/>
    <p:sldId id="288" r:id="rId26"/>
    <p:sldId id="289" r:id="rId27"/>
    <p:sldId id="284" r:id="rId28"/>
    <p:sldId id="295" r:id="rId29"/>
    <p:sldId id="300" r:id="rId30"/>
    <p:sldId id="296" r:id="rId31"/>
    <p:sldId id="290" r:id="rId32"/>
    <p:sldId id="292" r:id="rId33"/>
    <p:sldId id="299" r:id="rId34"/>
    <p:sldId id="303" r:id="rId35"/>
    <p:sldId id="304" r:id="rId36"/>
    <p:sldId id="298" r:id="rId37"/>
    <p:sldId id="297" r:id="rId38"/>
    <p:sldId id="302" r:id="rId39"/>
    <p:sldId id="318" r:id="rId40"/>
    <p:sldId id="321" r:id="rId41"/>
    <p:sldId id="322" r:id="rId42"/>
    <p:sldId id="313" r:id="rId43"/>
    <p:sldId id="314" r:id="rId44"/>
    <p:sldId id="317" r:id="rId45"/>
    <p:sldId id="301" r:id="rId46"/>
    <p:sldId id="305" r:id="rId47"/>
    <p:sldId id="306" r:id="rId48"/>
    <p:sldId id="307" r:id="rId49"/>
    <p:sldId id="327" r:id="rId50"/>
    <p:sldId id="323" r:id="rId51"/>
    <p:sldId id="315" r:id="rId52"/>
    <p:sldId id="324" r:id="rId53"/>
    <p:sldId id="310" r:id="rId54"/>
    <p:sldId id="326" r:id="rId55"/>
    <p:sldId id="325" r:id="rId56"/>
    <p:sldId id="329" r:id="rId57"/>
    <p:sldId id="328" r:id="rId58"/>
    <p:sldId id="331" r:id="rId59"/>
    <p:sldId id="330"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7ED489-E130-4C0B-9100-BC43B3FDD8B1}" type="datetimeFigureOut">
              <a:rPr lang="en-US" smtClean="0"/>
              <a:pPr/>
              <a:t>5/1/2025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9D0D56-EA57-4B2F-9443-9E51DDB8076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289BB47-BA84-4634-A90F-E17A95E87CF0}"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89BB47-BA84-4634-A90F-E17A95E87CF0}"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89BB47-BA84-4634-A90F-E17A95E87CF0}"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289BB47-BA84-4634-A90F-E17A95E87CF0}"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289BB47-BA84-4634-A90F-E17A95E87CF0}" type="datetimeFigureOut">
              <a:rPr lang="en-US" smtClean="0"/>
              <a:pPr/>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289BB47-BA84-4634-A90F-E17A95E87CF0}" type="datetimeFigureOut">
              <a:rPr lang="en-US" smtClean="0"/>
              <a:pPr/>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89BB47-BA84-4634-A90F-E17A95E87CF0}" type="datetimeFigureOut">
              <a:rPr lang="en-US" smtClean="0"/>
              <a:pPr/>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89BB47-BA84-4634-A90F-E17A95E87CF0}"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89BB47-BA84-4634-A90F-E17A95E87CF0}"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89BB47-BA84-4634-A90F-E17A95E87CF0}"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89BB47-BA84-4634-A90F-E17A95E87CF0}"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62A3F-53FF-4F32-9008-B7DE46D655D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89BB47-BA84-4634-A90F-E17A95E87CF0}" type="datetimeFigureOut">
              <a:rPr lang="en-US" smtClean="0"/>
              <a:pPr/>
              <a:t>5/1/2025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F62A3F-53FF-4F32-9008-B7DE46D655D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artificial-intelligence-an-introduc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geeksforgeeks.org/What-is-ai-artificial-intelligence/"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nurix.ai/blogs/ai-agents-in-action-a-beginners-guide-to-reinforcement-learning"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s://aithefuture.wordpress.com/2018/02/26/goal-stack-planning/"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UNIT-V</a:t>
            </a:r>
            <a:endParaRPr lang="en-US" dirty="0"/>
          </a:p>
        </p:txBody>
      </p:sp>
      <p:sp>
        <p:nvSpPr>
          <p:cNvPr id="3" name="Content Placeholder 2"/>
          <p:cNvSpPr>
            <a:spLocks noGrp="1"/>
          </p:cNvSpPr>
          <p:nvPr>
            <p:ph idx="1"/>
          </p:nvPr>
        </p:nvSpPr>
        <p:spPr>
          <a:xfrm>
            <a:off x="457200" y="1219200"/>
            <a:ext cx="8229600" cy="4906963"/>
          </a:xfrm>
        </p:spPr>
        <p:txBody>
          <a:bodyPr>
            <a:normAutofit lnSpcReduction="10000"/>
          </a:bodyPr>
          <a:lstStyle/>
          <a:p>
            <a:pPr algn="just"/>
            <a:r>
              <a:rPr lang="en-US" dirty="0" smtClean="0"/>
              <a:t>Probabilistic Reasoning: Representing knowledge in an uncertain domain, the semantics of Bayesian networks, </a:t>
            </a:r>
            <a:r>
              <a:rPr lang="en-US" dirty="0" err="1" smtClean="0"/>
              <a:t>Dempster</a:t>
            </a:r>
            <a:r>
              <a:rPr lang="en-US" dirty="0" smtClean="0"/>
              <a:t>-Shafer theory, </a:t>
            </a:r>
          </a:p>
          <a:p>
            <a:pPr algn="just"/>
            <a:r>
              <a:rPr lang="en-US" dirty="0" smtClean="0"/>
              <a:t>Planning Overview, components of a planning system, Goal stack planning, Hierarchical planning, other planning techniques.</a:t>
            </a:r>
          </a:p>
          <a:p>
            <a:pPr algn="just"/>
            <a:r>
              <a:rPr lang="en-US" dirty="0" smtClean="0"/>
              <a:t> Expert Systems: Representing and using domain knowledge, expert system shells, and knowledge acquisition.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Reasoning in Artificial intelligence</a:t>
            </a:r>
            <a:br>
              <a:rPr lang="en-US" dirty="0"/>
            </a:br>
            <a:endParaRPr lang="en-US" dirty="0"/>
          </a:p>
        </p:txBody>
      </p:sp>
      <p:sp>
        <p:nvSpPr>
          <p:cNvPr id="5" name="Content Placeholder 4"/>
          <p:cNvSpPr>
            <a:spLocks noGrp="1"/>
          </p:cNvSpPr>
          <p:nvPr>
            <p:ph idx="1"/>
          </p:nvPr>
        </p:nvSpPr>
        <p:spPr>
          <a:xfrm>
            <a:off x="304800" y="990600"/>
            <a:ext cx="8382000" cy="5135563"/>
          </a:xfrm>
        </p:spPr>
        <p:txBody>
          <a:bodyPr>
            <a:normAutofit lnSpcReduction="10000"/>
          </a:bodyPr>
          <a:lstStyle/>
          <a:p>
            <a:pPr algn="just"/>
            <a:r>
              <a:rPr lang="en-US" dirty="0"/>
              <a:t>The reasoning is the mental process of deriving logical conclusion and making predictions from available knowledge, facts, and beliefs. </a:t>
            </a:r>
            <a:endParaRPr lang="en-US" dirty="0" smtClean="0"/>
          </a:p>
          <a:p>
            <a:pPr algn="just"/>
            <a:r>
              <a:rPr lang="en-US" dirty="0" smtClean="0"/>
              <a:t>"</a:t>
            </a:r>
            <a:r>
              <a:rPr lang="en-US" b="1" dirty="0"/>
              <a:t>Reasoning is a way to infer facts from existing data</a:t>
            </a:r>
            <a:r>
              <a:rPr lang="en-US" dirty="0"/>
              <a:t>." It is a general process of thinking rationally, to find valid conclusions</a:t>
            </a:r>
            <a:r>
              <a:rPr lang="en-US" dirty="0" smtClean="0"/>
              <a:t>.</a:t>
            </a:r>
          </a:p>
          <a:p>
            <a:pPr algn="just"/>
            <a:r>
              <a:rPr lang="en-US" dirty="0"/>
              <a:t>In artificial intelligence, the reasoning is essential so that the machine can also think rationally as a human brain, and can perform like a human.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Reasoning</a:t>
            </a:r>
            <a:br>
              <a:rPr lang="en-US" dirty="0" smtClean="0"/>
            </a:br>
            <a:endParaRPr lang="en-US" dirty="0"/>
          </a:p>
        </p:txBody>
      </p:sp>
      <p:sp>
        <p:nvSpPr>
          <p:cNvPr id="3" name="Content Placeholder 2"/>
          <p:cNvSpPr>
            <a:spLocks noGrp="1"/>
          </p:cNvSpPr>
          <p:nvPr>
            <p:ph idx="1"/>
          </p:nvPr>
        </p:nvSpPr>
        <p:spPr>
          <a:xfrm>
            <a:off x="457200" y="990600"/>
            <a:ext cx="8229600" cy="5135563"/>
          </a:xfrm>
        </p:spPr>
        <p:txBody>
          <a:bodyPr>
            <a:normAutofit lnSpcReduction="10000"/>
          </a:bodyPr>
          <a:lstStyle/>
          <a:p>
            <a:r>
              <a:rPr lang="en-US" dirty="0" smtClean="0"/>
              <a:t>Deductive </a:t>
            </a:r>
            <a:r>
              <a:rPr lang="en-US" dirty="0"/>
              <a:t>reasoning</a:t>
            </a:r>
          </a:p>
          <a:p>
            <a:r>
              <a:rPr lang="en-US" dirty="0"/>
              <a:t>Inductive reasoning</a:t>
            </a:r>
          </a:p>
          <a:p>
            <a:r>
              <a:rPr lang="en-US" dirty="0" err="1"/>
              <a:t>Abductive</a:t>
            </a:r>
            <a:r>
              <a:rPr lang="en-US" dirty="0"/>
              <a:t> reasoning</a:t>
            </a:r>
          </a:p>
          <a:p>
            <a:r>
              <a:rPr lang="en-US" dirty="0"/>
              <a:t>Common Sense Reasoning</a:t>
            </a:r>
          </a:p>
          <a:p>
            <a:r>
              <a:rPr lang="en-US" dirty="0"/>
              <a:t>Monotonic Reasoning</a:t>
            </a:r>
          </a:p>
          <a:p>
            <a:r>
              <a:rPr lang="en-US" dirty="0"/>
              <a:t>Non-monotonic </a:t>
            </a:r>
            <a:r>
              <a:rPr lang="en-US" dirty="0" smtClean="0"/>
              <a:t>Reasoning</a:t>
            </a:r>
          </a:p>
          <a:p>
            <a:endParaRPr lang="en-US" dirty="0"/>
          </a:p>
          <a:p>
            <a:r>
              <a:rPr lang="en-US" i="1" dirty="0"/>
              <a:t>Note: Inductive and deductive reasoning are the forms of propositional logic.</a:t>
            </a:r>
          </a:p>
          <a:p>
            <a:endParaRPr lang="en-US" dirty="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Representing knowledge in an uncertain domain</a:t>
            </a:r>
            <a:endParaRPr lang="en-US" b="1" dirty="0"/>
          </a:p>
        </p:txBody>
      </p:sp>
      <p:sp>
        <p:nvSpPr>
          <p:cNvPr id="3" name="Content Placeholder 2"/>
          <p:cNvSpPr>
            <a:spLocks noGrp="1"/>
          </p:cNvSpPr>
          <p:nvPr>
            <p:ph idx="1"/>
          </p:nvPr>
        </p:nvSpPr>
        <p:spPr>
          <a:xfrm>
            <a:off x="457200" y="1295400"/>
            <a:ext cx="8229600" cy="4830763"/>
          </a:xfrm>
        </p:spPr>
        <p:txBody>
          <a:bodyPr>
            <a:normAutofit fontScale="92500" lnSpcReduction="10000"/>
          </a:bodyPr>
          <a:lstStyle/>
          <a:p>
            <a:pPr algn="just"/>
            <a:r>
              <a:rPr lang="en-US" dirty="0"/>
              <a:t>Artificial Intelligence (AI) systems often operate in environments where uncertainty is a fundamental aspect. </a:t>
            </a:r>
            <a:endParaRPr lang="en-US" dirty="0" smtClean="0"/>
          </a:p>
          <a:p>
            <a:pPr algn="just"/>
            <a:r>
              <a:rPr lang="en-US" dirty="0" smtClean="0"/>
              <a:t>Representing </a:t>
            </a:r>
            <a:r>
              <a:rPr lang="en-US" dirty="0"/>
              <a:t>and reasoning about knowledge in such uncertain domains is crucial for building robust and intelligent systems</a:t>
            </a:r>
            <a:r>
              <a:rPr lang="en-US" dirty="0" smtClean="0"/>
              <a:t>.</a:t>
            </a:r>
          </a:p>
          <a:p>
            <a:pPr algn="just"/>
            <a:r>
              <a:rPr lang="en-US" dirty="0"/>
              <a:t>An uncertain domain in</a:t>
            </a:r>
            <a:r>
              <a:rPr lang="en-US" dirty="0">
                <a:hlinkClick r:id="rId2"/>
              </a:rPr>
              <a:t> </a:t>
            </a:r>
            <a:r>
              <a:rPr lang="en-US" dirty="0" smtClean="0"/>
              <a:t>AI refers </a:t>
            </a:r>
            <a:r>
              <a:rPr lang="en-US" dirty="0"/>
              <a:t>to a field or environment where the information available is incomplete, ambiguous, noisy, or inherently unpredictable.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Characteristics of Uncertain Domains</a:t>
            </a:r>
            <a:br>
              <a:rPr lang="en-US" b="1" dirty="0" smtClean="0"/>
            </a:br>
            <a:endParaRPr lang="en-US" dirty="0"/>
          </a:p>
        </p:txBody>
      </p:sp>
      <p:sp>
        <p:nvSpPr>
          <p:cNvPr id="3" name="Content Placeholder 2"/>
          <p:cNvSpPr>
            <a:spLocks noGrp="1"/>
          </p:cNvSpPr>
          <p:nvPr>
            <p:ph idx="1"/>
          </p:nvPr>
        </p:nvSpPr>
        <p:spPr>
          <a:xfrm>
            <a:off x="457200" y="914400"/>
            <a:ext cx="8229600" cy="5486400"/>
          </a:xfrm>
        </p:spPr>
        <p:txBody>
          <a:bodyPr>
            <a:normAutofit/>
          </a:bodyPr>
          <a:lstStyle/>
          <a:p>
            <a:pPr fontAlgn="base"/>
            <a:r>
              <a:rPr lang="en-US" b="1" dirty="0" smtClean="0"/>
              <a:t>Incomplete </a:t>
            </a:r>
            <a:r>
              <a:rPr lang="en-US" b="1" dirty="0"/>
              <a:t>Information</a:t>
            </a:r>
            <a:r>
              <a:rPr lang="en-US" dirty="0"/>
              <a:t>: The system does not have access to all the data required to make a fully informed decision.</a:t>
            </a:r>
          </a:p>
          <a:p>
            <a:pPr fontAlgn="base"/>
            <a:r>
              <a:rPr lang="en-US" b="1" dirty="0"/>
              <a:t>Ambiguity</a:t>
            </a:r>
            <a:r>
              <a:rPr lang="en-US" dirty="0"/>
              <a:t>: Information might be unclear or open to multiple interpretations.</a:t>
            </a:r>
          </a:p>
          <a:p>
            <a:pPr fontAlgn="base"/>
            <a:r>
              <a:rPr lang="en-US" b="1" dirty="0"/>
              <a:t>Noise</a:t>
            </a:r>
            <a:r>
              <a:rPr lang="en-US" dirty="0"/>
              <a:t>: Data might be corrupted or imprecise due to measurement errors or external factors.</a:t>
            </a:r>
          </a:p>
          <a:p>
            <a:pPr fontAlgn="base"/>
            <a:r>
              <a:rPr lang="en-US" b="1" dirty="0"/>
              <a:t>Stochastic Processes</a:t>
            </a:r>
            <a:r>
              <a:rPr lang="en-US" dirty="0"/>
              <a:t>: The environment might involve random processes or events.</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Representing knowledge in an uncertain domain</a:t>
            </a:r>
            <a:endParaRPr lang="en-US" dirty="0"/>
          </a:p>
        </p:txBody>
      </p:sp>
      <p:sp>
        <p:nvSpPr>
          <p:cNvPr id="3" name="Content Placeholder 2"/>
          <p:cNvSpPr>
            <a:spLocks noGrp="1"/>
          </p:cNvSpPr>
          <p:nvPr>
            <p:ph idx="1"/>
          </p:nvPr>
        </p:nvSpPr>
        <p:spPr/>
        <p:txBody>
          <a:bodyPr/>
          <a:lstStyle/>
          <a:p>
            <a:r>
              <a:rPr lang="en-US" dirty="0"/>
              <a:t>Following are some leading causes of uncertainty to occur in the real world.</a:t>
            </a:r>
          </a:p>
          <a:p>
            <a:r>
              <a:rPr lang="en-US" dirty="0"/>
              <a:t>Information occurred from unreliable sources.</a:t>
            </a:r>
          </a:p>
          <a:p>
            <a:r>
              <a:rPr lang="en-US" dirty="0"/>
              <a:t>Experimental Errors</a:t>
            </a:r>
          </a:p>
          <a:p>
            <a:r>
              <a:rPr lang="en-US" dirty="0"/>
              <a:t>Equipment fault</a:t>
            </a:r>
          </a:p>
          <a:p>
            <a:r>
              <a:rPr lang="en-US" dirty="0"/>
              <a:t>Temperature variation</a:t>
            </a:r>
          </a:p>
          <a:p>
            <a:r>
              <a:rPr lang="en-US" dirty="0"/>
              <a:t>Climate change.</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Probabilistic reasoning:</a:t>
            </a:r>
            <a:br>
              <a:rPr lang="en-US" b="1" dirty="0"/>
            </a:br>
            <a:endParaRPr lang="en-US" b="1" dirty="0"/>
          </a:p>
        </p:txBody>
      </p:sp>
      <p:sp>
        <p:nvSpPr>
          <p:cNvPr id="3" name="Content Placeholder 2"/>
          <p:cNvSpPr>
            <a:spLocks noGrp="1"/>
          </p:cNvSpPr>
          <p:nvPr>
            <p:ph idx="1"/>
          </p:nvPr>
        </p:nvSpPr>
        <p:spPr>
          <a:xfrm>
            <a:off x="457200" y="914400"/>
            <a:ext cx="8229600" cy="5211763"/>
          </a:xfrm>
        </p:spPr>
        <p:txBody>
          <a:bodyPr>
            <a:normAutofit/>
          </a:bodyPr>
          <a:lstStyle/>
          <a:p>
            <a:pPr algn="just"/>
            <a:r>
              <a:rPr lang="en-US" dirty="0"/>
              <a:t>Probabilistic reasoning is a way of knowledge representation where we apply the concept of probability to indicate the uncertainty in knowledge</a:t>
            </a:r>
            <a:r>
              <a:rPr lang="en-US" dirty="0" smtClean="0"/>
              <a:t>.</a:t>
            </a:r>
          </a:p>
          <a:p>
            <a:pPr algn="just"/>
            <a:r>
              <a:rPr lang="en-US" dirty="0" smtClean="0"/>
              <a:t> </a:t>
            </a:r>
            <a:r>
              <a:rPr lang="en-US" dirty="0"/>
              <a:t>In probabilistic reasoning, we combine probability theory with logic to handle the uncertainty</a:t>
            </a:r>
            <a:r>
              <a:rPr lang="en-US" dirty="0" smtClean="0"/>
              <a:t>.</a:t>
            </a:r>
          </a:p>
          <a:p>
            <a:pPr algn="just"/>
            <a:r>
              <a:rPr lang="en-US" b="1" dirty="0" smtClean="0"/>
              <a:t>Bayesian </a:t>
            </a:r>
            <a:r>
              <a:rPr lang="en-US" b="1" dirty="0"/>
              <a:t>Statistics</a:t>
            </a:r>
            <a:endParaRPr lang="en-US" dirty="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Probability</a:t>
            </a:r>
            <a:endParaRPr lang="en-US" b="1" dirty="0"/>
          </a:p>
        </p:txBody>
      </p:sp>
      <p:sp>
        <p:nvSpPr>
          <p:cNvPr id="3" name="Content Placeholder 2"/>
          <p:cNvSpPr>
            <a:spLocks noGrp="1"/>
          </p:cNvSpPr>
          <p:nvPr>
            <p:ph idx="1"/>
          </p:nvPr>
        </p:nvSpPr>
        <p:spPr>
          <a:xfrm>
            <a:off x="457200" y="838200"/>
            <a:ext cx="8229600" cy="5287963"/>
          </a:xfrm>
        </p:spPr>
        <p:txBody>
          <a:bodyPr>
            <a:normAutofit fontScale="92500"/>
          </a:bodyPr>
          <a:lstStyle/>
          <a:p>
            <a:r>
              <a:rPr lang="en-US" dirty="0" smtClean="0"/>
              <a:t>Probability can be defined as a chance that an uncertain event will occur.</a:t>
            </a:r>
          </a:p>
          <a:p>
            <a:r>
              <a:rPr lang="en-US" dirty="0" smtClean="0"/>
              <a:t> It is the numerical measure of the likelihood that an event will occur. </a:t>
            </a:r>
          </a:p>
          <a:p>
            <a:r>
              <a:rPr lang="en-US" dirty="0" smtClean="0"/>
              <a:t>The value of probability always remains between 0 and 1 that represent ideal uncertainties. </a:t>
            </a:r>
          </a:p>
          <a:p>
            <a:pPr>
              <a:buNone/>
            </a:pPr>
            <a:r>
              <a:rPr lang="en-US" dirty="0" smtClean="0"/>
              <a:t>1. 0 ≤ P(A) ≤ 1, where P(A) is the probability of an event A. </a:t>
            </a:r>
          </a:p>
          <a:p>
            <a:pPr>
              <a:buNone/>
            </a:pPr>
            <a:r>
              <a:rPr lang="en-US" dirty="0" smtClean="0"/>
              <a:t>2. P(A) = 0, indicates total uncertainty in an event</a:t>
            </a:r>
          </a:p>
          <a:p>
            <a:pPr>
              <a:buNone/>
            </a:pPr>
            <a:r>
              <a:rPr lang="en-US" dirty="0" smtClean="0"/>
              <a:t>3. P(A) =1, indicates total certainty in an event A</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Probability</a:t>
            </a:r>
            <a:endParaRPr lang="en-US" dirty="0"/>
          </a:p>
        </p:txBody>
      </p:sp>
      <p:sp>
        <p:nvSpPr>
          <p:cNvPr id="3" name="Content Placeholder 2"/>
          <p:cNvSpPr>
            <a:spLocks noGrp="1"/>
          </p:cNvSpPr>
          <p:nvPr>
            <p:ph idx="1"/>
          </p:nvPr>
        </p:nvSpPr>
        <p:spPr>
          <a:xfrm>
            <a:off x="457200" y="838200"/>
            <a:ext cx="8229600" cy="5287963"/>
          </a:xfrm>
        </p:spPr>
        <p:txBody>
          <a:bodyPr>
            <a:normAutofit fontScale="77500" lnSpcReduction="20000"/>
          </a:bodyPr>
          <a:lstStyle/>
          <a:p>
            <a:r>
              <a:rPr lang="en-US" dirty="0"/>
              <a:t>We can find the probability of an uncertain event by using the below formula</a:t>
            </a:r>
            <a:r>
              <a:rPr lang="en-US" dirty="0" smtClean="0"/>
              <a:t>.</a:t>
            </a:r>
          </a:p>
          <a:p>
            <a:endParaRPr lang="en-US" dirty="0" smtClean="0"/>
          </a:p>
          <a:p>
            <a:endParaRPr lang="en-US" dirty="0" smtClean="0"/>
          </a:p>
          <a:p>
            <a:endParaRPr lang="en-US" dirty="0"/>
          </a:p>
          <a:p>
            <a:r>
              <a:rPr lang="en-US" dirty="0"/>
              <a:t>P(¬A) = probability of a not happening event.</a:t>
            </a:r>
          </a:p>
          <a:p>
            <a:r>
              <a:rPr lang="en-US" dirty="0"/>
              <a:t>P(¬A) + P(A) = 1.</a:t>
            </a:r>
          </a:p>
          <a:p>
            <a:r>
              <a:rPr lang="en-US" b="1" dirty="0"/>
              <a:t>Sample space:</a:t>
            </a:r>
            <a:r>
              <a:rPr lang="en-US" dirty="0"/>
              <a:t> The collection of all possible events is called sample space.</a:t>
            </a:r>
          </a:p>
          <a:p>
            <a:r>
              <a:rPr lang="en-US" b="1" dirty="0"/>
              <a:t>Random variables:</a:t>
            </a:r>
            <a:r>
              <a:rPr lang="en-US" dirty="0"/>
              <a:t> Random variables are used to represent the events and objects in the real world.</a:t>
            </a:r>
          </a:p>
          <a:p>
            <a:r>
              <a:rPr lang="en-US" b="1" dirty="0"/>
              <a:t>Prior probability:</a:t>
            </a:r>
            <a:r>
              <a:rPr lang="en-US" dirty="0"/>
              <a:t> The prior probability of an event is probability computed before observing new information.</a:t>
            </a:r>
          </a:p>
          <a:p>
            <a:endParaRPr lang="en-US" dirty="0"/>
          </a:p>
        </p:txBody>
      </p:sp>
      <p:pic>
        <p:nvPicPr>
          <p:cNvPr id="1027" name="Picture 3"/>
          <p:cNvPicPr>
            <a:picLocks noChangeAspect="1" noChangeArrowheads="1"/>
          </p:cNvPicPr>
          <p:nvPr/>
        </p:nvPicPr>
        <p:blipFill>
          <a:blip r:embed="rId2"/>
          <a:srcRect/>
          <a:stretch>
            <a:fillRect/>
          </a:stretch>
        </p:blipFill>
        <p:spPr bwMode="auto">
          <a:xfrm>
            <a:off x="762000" y="1447800"/>
            <a:ext cx="6991350" cy="714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Probability</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Posterior Probability:</a:t>
            </a:r>
            <a:r>
              <a:rPr lang="en-US" dirty="0" smtClean="0"/>
              <a:t> The probability that is calculated after all evidence or information has taken into account. It is a combination of prior probability and new information.</a:t>
            </a:r>
          </a:p>
          <a:p>
            <a:r>
              <a:rPr lang="en-US" b="1" dirty="0" smtClean="0"/>
              <a:t>Conditional probability:</a:t>
            </a:r>
          </a:p>
          <a:p>
            <a:r>
              <a:rPr lang="en-US" dirty="0" smtClean="0"/>
              <a:t>Conditional probability is a probability of occurring an event when another event has already happened.</a:t>
            </a:r>
          </a:p>
          <a:p>
            <a:r>
              <a:rPr lang="en-US" dirty="0"/>
              <a:t>Let's suppose, we want to calculate the event A when event B has already occurred, "the probability of A under the conditions of B", it can be written as:</a:t>
            </a:r>
            <a:endParaRPr lang="en-US" dirty="0" smtClean="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Probability</a:t>
            </a:r>
            <a:endParaRPr lang="en-US" dirty="0"/>
          </a:p>
        </p:txBody>
      </p:sp>
      <p:sp>
        <p:nvSpPr>
          <p:cNvPr id="3" name="Content Placeholder 2"/>
          <p:cNvSpPr>
            <a:spLocks noGrp="1"/>
          </p:cNvSpPr>
          <p:nvPr>
            <p:ph idx="1"/>
          </p:nvPr>
        </p:nvSpPr>
        <p:spPr>
          <a:xfrm>
            <a:off x="457200" y="838200"/>
            <a:ext cx="8229600" cy="5287963"/>
          </a:xfrm>
        </p:spPr>
        <p:txBody>
          <a:bodyPr>
            <a:noAutofit/>
          </a:bodyPr>
          <a:lstStyle/>
          <a:p>
            <a:r>
              <a:rPr lang="en-US" sz="2400" b="1" dirty="0"/>
              <a:t>Example:</a:t>
            </a:r>
            <a:endParaRPr lang="en-US" sz="2400" dirty="0"/>
          </a:p>
          <a:p>
            <a:r>
              <a:rPr lang="en-US" sz="2400" dirty="0"/>
              <a:t>In a class, there are 70% of the students who like English and 40% of the students who likes English and mathematics, and then what is the percent of students those who like English also like mathematics?</a:t>
            </a:r>
          </a:p>
          <a:p>
            <a:r>
              <a:rPr lang="en-US" sz="2400" b="1" dirty="0"/>
              <a:t>Solution:</a:t>
            </a:r>
            <a:endParaRPr lang="en-US" sz="2400" dirty="0"/>
          </a:p>
          <a:p>
            <a:r>
              <a:rPr lang="en-US" sz="2400" dirty="0"/>
              <a:t>Let, A is an event that a student likes Mathematics</a:t>
            </a:r>
          </a:p>
          <a:p>
            <a:r>
              <a:rPr lang="en-US" sz="2400" dirty="0"/>
              <a:t>B is an event that a student likes English</a:t>
            </a:r>
            <a:r>
              <a:rPr lang="en-US" sz="2400" dirty="0" smtClean="0"/>
              <a:t>.</a:t>
            </a:r>
          </a:p>
          <a:p>
            <a:endParaRPr lang="en-US" sz="2400" dirty="0"/>
          </a:p>
          <a:p>
            <a:endParaRPr lang="en-US" sz="2400" dirty="0" smtClean="0"/>
          </a:p>
          <a:p>
            <a:endParaRPr lang="en-US" sz="2400" dirty="0"/>
          </a:p>
          <a:p>
            <a:r>
              <a:rPr lang="en-US" sz="2400" b="1" dirty="0"/>
              <a:t>Hence, 57% are the students who like English also like Mathematics.</a:t>
            </a:r>
            <a:endParaRPr lang="en-US" sz="2400" dirty="0"/>
          </a:p>
          <a:p>
            <a:pPr>
              <a:buNone/>
            </a:pPr>
            <a:r>
              <a:rPr lang="en-US" sz="2400" dirty="0" smtClean="0"/>
              <a:t/>
            </a:r>
            <a:br>
              <a:rPr lang="en-US" sz="2400" dirty="0" smtClean="0"/>
            </a:br>
            <a:endParaRPr lang="en-US" sz="2400" dirty="0"/>
          </a:p>
        </p:txBody>
      </p:sp>
      <p:pic>
        <p:nvPicPr>
          <p:cNvPr id="3074" name="Picture 2"/>
          <p:cNvPicPr>
            <a:picLocks noChangeAspect="1" noChangeArrowheads="1"/>
          </p:cNvPicPr>
          <p:nvPr/>
        </p:nvPicPr>
        <p:blipFill>
          <a:blip r:embed="rId2"/>
          <a:srcRect/>
          <a:stretch>
            <a:fillRect/>
          </a:stretch>
        </p:blipFill>
        <p:spPr bwMode="auto">
          <a:xfrm>
            <a:off x="990600" y="4343400"/>
            <a:ext cx="6248400" cy="914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Bayesian </a:t>
            </a:r>
            <a:r>
              <a:rPr lang="en-US" dirty="0" smtClean="0"/>
              <a:t>Network </a:t>
            </a:r>
            <a:r>
              <a:rPr lang="en-US" dirty="0"/>
              <a:t/>
            </a:r>
            <a:br>
              <a:rPr lang="en-US" dirty="0"/>
            </a:br>
            <a:endParaRPr lang="en-US" dirty="0"/>
          </a:p>
        </p:txBody>
      </p:sp>
      <p:sp>
        <p:nvSpPr>
          <p:cNvPr id="3" name="Content Placeholder 2"/>
          <p:cNvSpPr>
            <a:spLocks noGrp="1"/>
          </p:cNvSpPr>
          <p:nvPr>
            <p:ph idx="1"/>
          </p:nvPr>
        </p:nvSpPr>
        <p:spPr>
          <a:xfrm>
            <a:off x="457200" y="838200"/>
            <a:ext cx="8229600" cy="6019800"/>
          </a:xfrm>
        </p:spPr>
        <p:txBody>
          <a:bodyPr>
            <a:normAutofit fontScale="85000" lnSpcReduction="10000"/>
          </a:bodyPr>
          <a:lstStyle/>
          <a:p>
            <a:pPr algn="just"/>
            <a:r>
              <a:rPr lang="en-US" dirty="0"/>
              <a:t>A Bayesian network is a probabilistic graphical model which represents a set of variables and their conditional dependencies using a directed acyclic </a:t>
            </a:r>
            <a:r>
              <a:rPr lang="en-US" dirty="0" smtClean="0"/>
              <a:t>graph.</a:t>
            </a:r>
          </a:p>
          <a:p>
            <a:pPr algn="just"/>
            <a:r>
              <a:rPr lang="en-US" dirty="0"/>
              <a:t>Bayesian networks are probabilistic, because these networks are built from a </a:t>
            </a:r>
            <a:r>
              <a:rPr lang="en-US" b="1" dirty="0"/>
              <a:t>probability distribution</a:t>
            </a:r>
            <a:r>
              <a:rPr lang="en-US" dirty="0"/>
              <a:t>, and also use probability theory for prediction and anomaly detection</a:t>
            </a:r>
            <a:r>
              <a:rPr lang="en-US" dirty="0" smtClean="0"/>
              <a:t>.</a:t>
            </a:r>
          </a:p>
          <a:p>
            <a:pPr algn="just"/>
            <a:r>
              <a:rPr lang="en-US" dirty="0"/>
              <a:t>Real world applications are probabilistic in nature, and to represent the relationship between multiple events, we need a Bayesian network. </a:t>
            </a:r>
            <a:endParaRPr lang="en-US" dirty="0" smtClean="0"/>
          </a:p>
          <a:p>
            <a:pPr algn="just"/>
            <a:r>
              <a:rPr lang="en-US" dirty="0" smtClean="0"/>
              <a:t>It </a:t>
            </a:r>
            <a:r>
              <a:rPr lang="en-US" dirty="0"/>
              <a:t>can also be used in various tasks including </a:t>
            </a:r>
            <a:r>
              <a:rPr lang="en-US" b="1" dirty="0"/>
              <a:t>prediction, anomaly detection, diagnostics, automated insight, reasoning, time series prediction</a:t>
            </a:r>
            <a:r>
              <a:rPr lang="en-US" dirty="0"/>
              <a:t>, and </a:t>
            </a:r>
            <a:r>
              <a:rPr lang="en-US" b="1" dirty="0"/>
              <a:t>decision making under uncertainty</a:t>
            </a:r>
            <a:r>
              <a:rPr lang="en-US" dirty="0"/>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Bayesian Network</a:t>
            </a:r>
            <a:endParaRPr lang="en-US" dirty="0"/>
          </a:p>
        </p:txBody>
      </p:sp>
      <p:sp>
        <p:nvSpPr>
          <p:cNvPr id="3" name="Content Placeholder 2"/>
          <p:cNvSpPr>
            <a:spLocks noGrp="1"/>
          </p:cNvSpPr>
          <p:nvPr>
            <p:ph idx="1"/>
          </p:nvPr>
        </p:nvSpPr>
        <p:spPr>
          <a:xfrm>
            <a:off x="457200" y="1066800"/>
            <a:ext cx="8229600" cy="5791200"/>
          </a:xfrm>
        </p:spPr>
        <p:txBody>
          <a:bodyPr>
            <a:normAutofit fontScale="85000" lnSpcReduction="20000"/>
          </a:bodyPr>
          <a:lstStyle/>
          <a:p>
            <a:r>
              <a:rPr lang="en-US" dirty="0"/>
              <a:t>Bayesian Network can be used for building models from data and experts opinions, and it consists of two parts:</a:t>
            </a:r>
          </a:p>
          <a:p>
            <a:r>
              <a:rPr lang="en-US" b="1" dirty="0"/>
              <a:t>Directed Acyclic Graph</a:t>
            </a:r>
            <a:endParaRPr lang="en-US" dirty="0"/>
          </a:p>
          <a:p>
            <a:r>
              <a:rPr lang="en-US" b="1" dirty="0"/>
              <a:t>Table of conditional probabilities</a:t>
            </a:r>
            <a:r>
              <a:rPr lang="en-US" b="1" dirty="0" smtClean="0"/>
              <a:t>.</a:t>
            </a:r>
          </a:p>
          <a:p>
            <a:pPr>
              <a:buNone/>
            </a:pPr>
            <a:endParaRPr lang="en-US" b="1" dirty="0" smtClean="0"/>
          </a:p>
          <a:p>
            <a:pPr algn="just" fontAlgn="base"/>
            <a:r>
              <a:rPr lang="en-US" b="1" dirty="0"/>
              <a:t>Graphical Representation</a:t>
            </a:r>
            <a:r>
              <a:rPr lang="en-US" dirty="0"/>
              <a:t>: Variables are represented as nodes in a directed acyclic graph (DAG), and their dependencies are shown as edges.</a:t>
            </a:r>
          </a:p>
          <a:p>
            <a:pPr algn="just" fontAlgn="base"/>
            <a:r>
              <a:rPr lang="en-US" b="1" dirty="0"/>
              <a:t>Conditional Probabilities</a:t>
            </a:r>
            <a:r>
              <a:rPr lang="en-US" dirty="0"/>
              <a:t>: Each node’s probability depends on its parent nodes, expressed as P(Variable | </a:t>
            </a:r>
            <a:r>
              <a:rPr lang="en-US" dirty="0" smtClean="0"/>
              <a:t>Parent).</a:t>
            </a:r>
            <a:endParaRPr lang="en-US" dirty="0"/>
          </a:p>
          <a:p>
            <a:pPr algn="just" fontAlgn="base"/>
            <a:r>
              <a:rPr lang="en-US" b="1" dirty="0"/>
              <a:t>Probabilistic Model</a:t>
            </a:r>
            <a:r>
              <a:rPr lang="en-US" dirty="0"/>
              <a:t>: Built from probability distributions, BBNs apply probability theory for tasks like prediction and anomaly detection.</a:t>
            </a:r>
          </a:p>
          <a:p>
            <a:endParaRPr lang="en-US" dirty="0"/>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762000"/>
          </a:xfrm>
        </p:spPr>
        <p:txBody>
          <a:bodyPr>
            <a:normAutofit fontScale="90000"/>
          </a:bodyPr>
          <a:lstStyle/>
          <a:p>
            <a:r>
              <a:rPr lang="en-US" sz="3100" dirty="0" smtClean="0">
                <a:latin typeface="Times New Roman" pitchFamily="18" charset="0"/>
                <a:cs typeface="Times New Roman" pitchFamily="18" charset="0"/>
              </a:rPr>
              <a:t/>
            </a:r>
            <a:br>
              <a:rPr lang="en-US" sz="3100" dirty="0" smtClean="0">
                <a:latin typeface="Times New Roman" pitchFamily="18" charset="0"/>
                <a:cs typeface="Times New Roman" pitchFamily="18" charset="0"/>
              </a:rPr>
            </a:br>
            <a:r>
              <a:rPr lang="en-US" sz="3100" dirty="0" smtClean="0">
                <a:latin typeface="Times New Roman" pitchFamily="18" charset="0"/>
                <a:cs typeface="Times New Roman" pitchFamily="18" charset="0"/>
              </a:rPr>
              <a:t>A Bayesian network graph is made up of nodes and Arcs (directed links), where</a:t>
            </a:r>
            <a:r>
              <a:rPr lang="en-US" dirty="0" smtClean="0"/>
              <a:t>:</a:t>
            </a:r>
            <a:br>
              <a:rPr lang="en-US" dirty="0" smtClean="0"/>
            </a:br>
            <a:endParaRPr lang="en-US" dirty="0"/>
          </a:p>
        </p:txBody>
      </p:sp>
      <p:pic>
        <p:nvPicPr>
          <p:cNvPr id="8194" name="Picture 2"/>
          <p:cNvPicPr>
            <a:picLocks noGrp="1" noChangeAspect="1" noChangeArrowheads="1"/>
          </p:cNvPicPr>
          <p:nvPr>
            <p:ph idx="1"/>
          </p:nvPr>
        </p:nvPicPr>
        <p:blipFill>
          <a:blip r:embed="rId2"/>
          <a:srcRect/>
          <a:stretch>
            <a:fillRect/>
          </a:stretch>
        </p:blipFill>
        <p:spPr bwMode="auto">
          <a:xfrm>
            <a:off x="0" y="1143000"/>
            <a:ext cx="9143999" cy="571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1" y="0"/>
            <a:ext cx="9144000" cy="670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1"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0" y="0"/>
            <a:ext cx="9144000" cy="6857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0" y="0"/>
            <a:ext cx="9144000" cy="6857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1" y="0"/>
            <a:ext cx="8991599" cy="6857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0" y="0"/>
            <a:ext cx="8686800" cy="6857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srcRect/>
          <a:stretch>
            <a:fillRect/>
          </a:stretch>
        </p:blipFill>
        <p:spPr bwMode="auto">
          <a:xfrm>
            <a:off x="1" y="0"/>
            <a:ext cx="9144000" cy="655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457200" y="228600"/>
            <a:ext cx="8229600" cy="640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p:cNvPicPr>
            <a:picLocks noGrp="1" noChangeAspect="1" noChangeArrowheads="1"/>
          </p:cNvPicPr>
          <p:nvPr>
            <p:ph idx="1"/>
          </p:nvPr>
        </p:nvPicPr>
        <p:blipFill>
          <a:blip r:embed="rId2"/>
          <a:srcRect/>
          <a:stretch>
            <a:fillRect/>
          </a:stretch>
        </p:blipFill>
        <p:spPr bwMode="auto">
          <a:xfrm>
            <a:off x="0" y="152400"/>
            <a:ext cx="9144000" cy="670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p:cNvPicPr>
            <a:picLocks noGrp="1" noChangeAspect="1" noChangeArrowheads="1"/>
          </p:cNvPicPr>
          <p:nvPr>
            <p:ph idx="1"/>
          </p:nvPr>
        </p:nvPicPr>
        <p:blipFill>
          <a:blip r:embed="rId2"/>
          <a:srcRect/>
          <a:stretch>
            <a:fillRect/>
          </a:stretch>
        </p:blipFill>
        <p:spPr bwMode="auto">
          <a:xfrm>
            <a:off x="0" y="0"/>
            <a:ext cx="9144000" cy="6857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42" name="Picture 2"/>
          <p:cNvPicPr>
            <a:picLocks noChangeAspect="1" noChangeArrowheads="1"/>
          </p:cNvPicPr>
          <p:nvPr/>
        </p:nvPicPr>
        <p:blipFill>
          <a:blip r:embed="rId2"/>
          <a:srcRect/>
          <a:stretch>
            <a:fillRect/>
          </a:stretch>
        </p:blipFill>
        <p:spPr bwMode="auto">
          <a:xfrm>
            <a:off x="1" y="0"/>
            <a:ext cx="9143999" cy="6857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r>
              <a:rPr lang="en-US" b="1" dirty="0" err="1" smtClean="0"/>
              <a:t>Dempster</a:t>
            </a:r>
            <a:r>
              <a:rPr lang="en-US" b="1" dirty="0" smtClean="0"/>
              <a:t> Shafer Theory</a:t>
            </a:r>
            <a:br>
              <a:rPr lang="en-US" b="1" dirty="0" smtClean="0"/>
            </a:br>
            <a:endParaRPr lang="en-US" dirty="0"/>
          </a:p>
        </p:txBody>
      </p:sp>
      <p:sp>
        <p:nvSpPr>
          <p:cNvPr id="3" name="Content Placeholder 2"/>
          <p:cNvSpPr>
            <a:spLocks noGrp="1"/>
          </p:cNvSpPr>
          <p:nvPr>
            <p:ph idx="1"/>
          </p:nvPr>
        </p:nvSpPr>
        <p:spPr>
          <a:xfrm>
            <a:off x="457200" y="990600"/>
            <a:ext cx="8229600" cy="5135563"/>
          </a:xfrm>
        </p:spPr>
        <p:txBody>
          <a:bodyPr>
            <a:normAutofit fontScale="92500"/>
          </a:bodyPr>
          <a:lstStyle/>
          <a:p>
            <a:pPr algn="just" fontAlgn="base"/>
            <a:r>
              <a:rPr lang="en-US" b="1" dirty="0" err="1" smtClean="0"/>
              <a:t>Dempster</a:t>
            </a:r>
            <a:r>
              <a:rPr lang="en-US" b="1" dirty="0" smtClean="0"/>
              <a:t>-Shafer Theory</a:t>
            </a:r>
            <a:r>
              <a:rPr lang="en-US" dirty="0" smtClean="0"/>
              <a:t> was given by Arthur P. </a:t>
            </a:r>
            <a:r>
              <a:rPr lang="en-US" dirty="0" err="1" smtClean="0"/>
              <a:t>Dempster</a:t>
            </a:r>
            <a:r>
              <a:rPr lang="en-US" dirty="0" smtClean="0"/>
              <a:t> in 1967 and was later developed by his student Glenn Shafer in 1976. This theory was released because of the following reason:- </a:t>
            </a:r>
          </a:p>
          <a:p>
            <a:pPr algn="just" fontAlgn="base"/>
            <a:r>
              <a:rPr lang="en-US" dirty="0" smtClean="0"/>
              <a:t>Bayesian theory is only concerned about single evidence.</a:t>
            </a:r>
          </a:p>
          <a:p>
            <a:pPr algn="just" fontAlgn="base"/>
            <a:r>
              <a:rPr lang="en-US" dirty="0" smtClean="0"/>
              <a:t>Bayesian probability cannot describe ignorance.</a:t>
            </a:r>
          </a:p>
          <a:p>
            <a:pPr algn="just" fontAlgn="base"/>
            <a:r>
              <a:rPr lang="en-US" dirty="0" smtClean="0"/>
              <a:t>It extends probability theory by allowing us to combine evidence from multiple sources.</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r>
              <a:rPr lang="en-US" b="1" dirty="0" err="1" smtClean="0"/>
              <a:t>Dempster</a:t>
            </a:r>
            <a:r>
              <a:rPr lang="en-US" b="1" dirty="0" smtClean="0"/>
              <a:t> Shafer Theory</a:t>
            </a:r>
            <a:endParaRPr lang="en-US" dirty="0"/>
          </a:p>
        </p:txBody>
      </p:sp>
      <p:sp>
        <p:nvSpPr>
          <p:cNvPr id="3" name="Content Placeholder 2"/>
          <p:cNvSpPr>
            <a:spLocks noGrp="1"/>
          </p:cNvSpPr>
          <p:nvPr>
            <p:ph idx="1"/>
          </p:nvPr>
        </p:nvSpPr>
        <p:spPr/>
        <p:txBody>
          <a:bodyPr>
            <a:normAutofit fontScale="92500"/>
          </a:bodyPr>
          <a:lstStyle/>
          <a:p>
            <a:r>
              <a:rPr lang="en-US" b="1" dirty="0" smtClean="0"/>
              <a:t>How Does the </a:t>
            </a:r>
            <a:r>
              <a:rPr lang="en-US" b="1" dirty="0" err="1" smtClean="0"/>
              <a:t>Dempster</a:t>
            </a:r>
            <a:r>
              <a:rPr lang="en-US" b="1" dirty="0" smtClean="0"/>
              <a:t>-Shafer Theory Work?</a:t>
            </a:r>
          </a:p>
          <a:p>
            <a:r>
              <a:rPr lang="en-US" dirty="0" smtClean="0"/>
              <a:t>Unlike regular probability, DST allows for a </a:t>
            </a:r>
            <a:r>
              <a:rPr lang="en-US" b="1" dirty="0" smtClean="0"/>
              <a:t>degree of ignorance</a:t>
            </a:r>
            <a:r>
              <a:rPr lang="en-US" dirty="0" smtClean="0"/>
              <a:t>.</a:t>
            </a:r>
          </a:p>
          <a:p>
            <a:r>
              <a:rPr lang="en-US" dirty="0" smtClean="0"/>
              <a:t>It helps AI systems </a:t>
            </a:r>
            <a:r>
              <a:rPr lang="en-US" b="1" dirty="0" smtClean="0"/>
              <a:t>combine multiple pieces of evidence</a:t>
            </a:r>
            <a:r>
              <a:rPr lang="en-US" dirty="0" smtClean="0"/>
              <a:t>, even when some data is uncertain or conflicting.</a:t>
            </a:r>
          </a:p>
          <a:p>
            <a:r>
              <a:rPr lang="en-US" dirty="0" smtClean="0"/>
              <a:t>Instead of assigning precise probabilities, DST uses </a:t>
            </a:r>
            <a:r>
              <a:rPr lang="en-US" b="1" dirty="0" smtClean="0"/>
              <a:t>belief functions</a:t>
            </a:r>
            <a:r>
              <a:rPr lang="en-US" dirty="0" smtClean="0"/>
              <a:t> to express confidence levels in different possibilities.</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r>
              <a:rPr lang="en-US" b="1" dirty="0" err="1" smtClean="0"/>
              <a:t>Dempster</a:t>
            </a:r>
            <a:r>
              <a:rPr lang="en-US" b="1" dirty="0" smtClean="0"/>
              <a:t> Shafer Theory</a:t>
            </a:r>
            <a:br>
              <a:rPr lang="en-US" b="1" dirty="0" smtClean="0"/>
            </a:br>
            <a:endParaRPr lang="en-US" dirty="0"/>
          </a:p>
        </p:txBody>
      </p:sp>
      <p:sp>
        <p:nvSpPr>
          <p:cNvPr id="3" name="Content Placeholder 2"/>
          <p:cNvSpPr>
            <a:spLocks noGrp="1"/>
          </p:cNvSpPr>
          <p:nvPr>
            <p:ph idx="1"/>
          </p:nvPr>
        </p:nvSpPr>
        <p:spPr>
          <a:xfrm>
            <a:off x="457200" y="1066800"/>
            <a:ext cx="8229600" cy="5059363"/>
          </a:xfrm>
        </p:spPr>
        <p:txBody>
          <a:bodyPr/>
          <a:lstStyle/>
          <a:p>
            <a:pPr algn="just"/>
            <a:r>
              <a:rPr lang="en-US" dirty="0" smtClean="0"/>
              <a:t>The </a:t>
            </a:r>
            <a:r>
              <a:rPr lang="en-US" dirty="0" err="1" smtClean="0"/>
              <a:t>Dempster</a:t>
            </a:r>
            <a:r>
              <a:rPr lang="en-US" dirty="0" smtClean="0"/>
              <a:t>-Shafer Theory (DST) is a mathematical framework for handling uncertainty and incomplete information in decision-making.</a:t>
            </a:r>
          </a:p>
          <a:p>
            <a:pPr algn="just"/>
            <a:r>
              <a:rPr lang="en-US" dirty="0" smtClean="0"/>
              <a:t>It extends probability theory by allowing for degrees of belief rather than requiring precise probabilities.</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 y="228600"/>
            <a:ext cx="9144001" cy="6019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err="1" smtClean="0"/>
              <a:t>Dempster</a:t>
            </a:r>
            <a:r>
              <a:rPr lang="en-US" b="1" dirty="0" smtClean="0"/>
              <a:t> Shafer Theory</a:t>
            </a:r>
            <a:endParaRPr lang="en-US" dirty="0"/>
          </a:p>
        </p:txBody>
      </p:sp>
      <p:sp>
        <p:nvSpPr>
          <p:cNvPr id="3" name="Content Placeholder 2"/>
          <p:cNvSpPr>
            <a:spLocks noGrp="1"/>
          </p:cNvSpPr>
          <p:nvPr>
            <p:ph idx="1"/>
          </p:nvPr>
        </p:nvSpPr>
        <p:spPr>
          <a:xfrm>
            <a:off x="457200" y="1066800"/>
            <a:ext cx="8229600" cy="5059363"/>
          </a:xfrm>
        </p:spPr>
        <p:txBody>
          <a:bodyPr>
            <a:normAutofit fontScale="92500" lnSpcReduction="10000"/>
          </a:bodyPr>
          <a:lstStyle/>
          <a:p>
            <a:pPr algn="just"/>
            <a:r>
              <a:rPr lang="en-US" dirty="0" smtClean="0"/>
              <a:t>DST is often compared to Bayesian probability, but the two approaches differ in key ways. </a:t>
            </a:r>
          </a:p>
          <a:p>
            <a:pPr algn="just"/>
            <a:r>
              <a:rPr lang="en-US" dirty="0" smtClean="0"/>
              <a:t>Bayesian probability requires precisely defined prior probabilities, whereas DST allows beliefs to be updated dynamically based on new evidence without needing initial probability assumptions. </a:t>
            </a:r>
          </a:p>
          <a:p>
            <a:pPr algn="just"/>
            <a:r>
              <a:rPr lang="en-US" dirty="0" err="1" smtClean="0"/>
              <a:t>Dempster’s</a:t>
            </a:r>
            <a:r>
              <a:rPr lang="en-US" dirty="0" smtClean="0"/>
              <a:t> rule of combination provides a systematic method to merge evidence from multiple sources, making DST particularly valuable in sensor networks, expert systems, and AI-driven diagnostics.</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err="1" smtClean="0"/>
              <a:t>Dempster</a:t>
            </a:r>
            <a:r>
              <a:rPr lang="en-US" b="1" dirty="0" smtClean="0"/>
              <a:t> Shafer Theory</a:t>
            </a:r>
            <a:endParaRPr lang="en-US" dirty="0"/>
          </a:p>
        </p:txBody>
      </p:sp>
      <p:sp>
        <p:nvSpPr>
          <p:cNvPr id="3" name="Content Placeholder 2"/>
          <p:cNvSpPr>
            <a:spLocks noGrp="1"/>
          </p:cNvSpPr>
          <p:nvPr>
            <p:ph idx="1"/>
          </p:nvPr>
        </p:nvSpPr>
        <p:spPr>
          <a:xfrm>
            <a:off x="381000" y="609600"/>
            <a:ext cx="8305800" cy="5516563"/>
          </a:xfrm>
        </p:spPr>
        <p:txBody>
          <a:bodyPr>
            <a:normAutofit fontScale="85000" lnSpcReduction="10000"/>
          </a:bodyPr>
          <a:lstStyle/>
          <a:p>
            <a:pPr fontAlgn="base"/>
            <a:r>
              <a:rPr lang="en-US" b="1" dirty="0" smtClean="0"/>
              <a:t>Example:</a:t>
            </a:r>
          </a:p>
          <a:p>
            <a:pPr fontAlgn="base"/>
            <a:r>
              <a:rPr lang="en-US" dirty="0" smtClean="0"/>
              <a:t>Let us consider a room where four people are present, A, B, C, and D. Suddenly the lights go out and when the lights come back, B has been stabbed in the back by a knife, leading to his death. No one came into the room and no one left the room. We know that B has not committed suicide. Now we have to find out who the murderer is. </a:t>
            </a:r>
          </a:p>
          <a:p>
            <a:pPr fontAlgn="base"/>
            <a:r>
              <a:rPr lang="en-US" dirty="0" smtClean="0"/>
              <a:t>To solve these there are the </a:t>
            </a:r>
            <a:r>
              <a:rPr lang="en-US" b="1" dirty="0" smtClean="0"/>
              <a:t>following possibilities</a:t>
            </a:r>
            <a:r>
              <a:rPr lang="en-US" dirty="0" smtClean="0"/>
              <a:t>: </a:t>
            </a:r>
          </a:p>
          <a:p>
            <a:pPr fontAlgn="base"/>
            <a:r>
              <a:rPr lang="en-US" dirty="0" smtClean="0"/>
              <a:t>Either {A} or {C} or {D} has killed him.</a:t>
            </a:r>
          </a:p>
          <a:p>
            <a:pPr fontAlgn="base"/>
            <a:r>
              <a:rPr lang="en-US" dirty="0" smtClean="0"/>
              <a:t>Either {A, C} or {C, D} or {A, D} have killed him.</a:t>
            </a:r>
          </a:p>
          <a:p>
            <a:pPr fontAlgn="base"/>
            <a:r>
              <a:rPr lang="en-US" dirty="0" smtClean="0"/>
              <a:t>Or the three of them have killed him i.e.; {A, C, D}</a:t>
            </a:r>
          </a:p>
          <a:p>
            <a:pPr fontAlgn="base"/>
            <a:r>
              <a:rPr lang="en-US" dirty="0" smtClean="0"/>
              <a:t>None of them have killed him {o} (let’s say).</a:t>
            </a: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0" y="152400"/>
            <a:ext cx="9144000" cy="6705599"/>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Planning in Artificial Intelligence</a:t>
            </a:r>
            <a:br>
              <a:rPr lang="en-US" b="1" dirty="0" smtClean="0"/>
            </a:br>
            <a:endParaRPr lang="en-US" dirty="0"/>
          </a:p>
        </p:txBody>
      </p:sp>
      <p:sp>
        <p:nvSpPr>
          <p:cNvPr id="3" name="Content Placeholder 2"/>
          <p:cNvSpPr>
            <a:spLocks noGrp="1"/>
          </p:cNvSpPr>
          <p:nvPr>
            <p:ph idx="1"/>
          </p:nvPr>
        </p:nvSpPr>
        <p:spPr>
          <a:xfrm>
            <a:off x="457200" y="838200"/>
            <a:ext cx="8229600" cy="5715000"/>
          </a:xfrm>
        </p:spPr>
        <p:txBody>
          <a:bodyPr>
            <a:normAutofit fontScale="85000" lnSpcReduction="20000"/>
          </a:bodyPr>
          <a:lstStyle/>
          <a:p>
            <a:pPr algn="just"/>
            <a:r>
              <a:rPr lang="en-US" dirty="0" smtClean="0"/>
              <a:t>In </a:t>
            </a:r>
            <a:r>
              <a:rPr lang="en-US" u="sng" dirty="0" smtClean="0">
                <a:hlinkClick r:id="rId2"/>
              </a:rPr>
              <a:t>Artificial </a:t>
            </a:r>
            <a:r>
              <a:rPr lang="en-US" u="sng" dirty="0" err="1" smtClean="0">
                <a:hlinkClick r:id="rId2"/>
              </a:rPr>
              <a:t>Intellingence</a:t>
            </a:r>
            <a:r>
              <a:rPr lang="en-US" u="sng" dirty="0" smtClean="0">
                <a:hlinkClick r:id="rId2"/>
              </a:rPr>
              <a:t> (AI)</a:t>
            </a:r>
            <a:r>
              <a:rPr lang="en-US" dirty="0" smtClean="0"/>
              <a:t>, planning refers to the process of deciding a sequence of actions that a system must take to achieve a specific goal</a:t>
            </a:r>
          </a:p>
          <a:p>
            <a:pPr algn="just"/>
            <a:r>
              <a:rPr lang="en-US" dirty="0" smtClean="0"/>
              <a:t>AI systems use planning algorithms to break down a problem into smaller, manageable tasks and determine the best course of action.</a:t>
            </a:r>
          </a:p>
          <a:p>
            <a:pPr algn="just" fontAlgn="base"/>
            <a:r>
              <a:rPr lang="en-US" dirty="0" smtClean="0"/>
              <a:t>Planning allows machines to:</a:t>
            </a:r>
          </a:p>
          <a:p>
            <a:pPr algn="just" fontAlgn="base"/>
            <a:r>
              <a:rPr lang="en-US" b="1" dirty="0" smtClean="0"/>
              <a:t>Think ahead:</a:t>
            </a:r>
            <a:r>
              <a:rPr lang="en-US" dirty="0" smtClean="0"/>
              <a:t> AI systems evaluate multiple possible outcomes before selecting the optimal one.</a:t>
            </a:r>
          </a:p>
          <a:p>
            <a:pPr algn="just" fontAlgn="base"/>
            <a:r>
              <a:rPr lang="en-US" b="1" dirty="0" smtClean="0"/>
              <a:t>Adapt to changes:</a:t>
            </a:r>
            <a:r>
              <a:rPr lang="en-US" dirty="0" smtClean="0"/>
              <a:t> When faced with uncertain environments, AI systems can revise their plans based on new information.</a:t>
            </a:r>
          </a:p>
          <a:p>
            <a:pPr algn="just" fontAlgn="base"/>
            <a:r>
              <a:rPr lang="en-US" b="1" dirty="0" smtClean="0"/>
              <a:t>Act autonomously:</a:t>
            </a:r>
            <a:r>
              <a:rPr lang="en-US" dirty="0" smtClean="0"/>
              <a:t> Whether it’s an autonomous robot or a smart assistant, AI planning enables machines to perform tasks independently.</a:t>
            </a:r>
          </a:p>
          <a:p>
            <a:pPr algn="just"/>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57200"/>
          </a:xfrm>
        </p:spPr>
        <p:txBody>
          <a:bodyPr>
            <a:normAutofit fontScale="90000"/>
          </a:bodyPr>
          <a:lstStyle/>
          <a:p>
            <a:r>
              <a:rPr lang="en-US" b="1" dirty="0" smtClean="0"/>
              <a:t/>
            </a:r>
            <a:br>
              <a:rPr lang="en-US" b="1" dirty="0" smtClean="0"/>
            </a:br>
            <a:r>
              <a:rPr lang="en-US" b="1" dirty="0" smtClean="0"/>
              <a:t/>
            </a:r>
            <a:br>
              <a:rPr lang="en-US" b="1" dirty="0" smtClean="0"/>
            </a:br>
            <a:endParaRPr lang="en-US" dirty="0"/>
          </a:p>
        </p:txBody>
      </p:sp>
      <p:sp>
        <p:nvSpPr>
          <p:cNvPr id="5" name="Rectangle 4"/>
          <p:cNvSpPr/>
          <p:nvPr/>
        </p:nvSpPr>
        <p:spPr>
          <a:xfrm>
            <a:off x="914400" y="381000"/>
            <a:ext cx="7086600" cy="584775"/>
          </a:xfrm>
          <a:prstGeom prst="rect">
            <a:avLst/>
          </a:prstGeom>
        </p:spPr>
        <p:txBody>
          <a:bodyPr wrap="square">
            <a:spAutoFit/>
          </a:bodyPr>
          <a:lstStyle/>
          <a:p>
            <a:r>
              <a:rPr lang="en-US" sz="3200" b="1" dirty="0" smtClean="0"/>
              <a:t>Planning in Artificial Intelligence</a:t>
            </a:r>
            <a:endParaRPr lang="en-US" sz="3200" dirty="0"/>
          </a:p>
        </p:txBody>
      </p:sp>
      <p:sp>
        <p:nvSpPr>
          <p:cNvPr id="6" name="Content Placeholder 5"/>
          <p:cNvSpPr>
            <a:spLocks noGrp="1"/>
          </p:cNvSpPr>
          <p:nvPr>
            <p:ph idx="1"/>
          </p:nvPr>
        </p:nvSpPr>
        <p:spPr>
          <a:xfrm>
            <a:off x="457200" y="838200"/>
            <a:ext cx="8229600" cy="5287963"/>
          </a:xfrm>
        </p:spPr>
        <p:txBody>
          <a:bodyPr>
            <a:normAutofit fontScale="77500" lnSpcReduction="20000"/>
          </a:bodyPr>
          <a:lstStyle/>
          <a:p>
            <a:pPr algn="just"/>
            <a:r>
              <a:rPr lang="en-US" b="1" dirty="0" smtClean="0"/>
              <a:t>Example:</a:t>
            </a:r>
          </a:p>
          <a:p>
            <a:pPr algn="just"/>
            <a:r>
              <a:rPr lang="en-US" dirty="0" smtClean="0"/>
              <a:t>In robot navigation, a robot must plan its path from one location to another while avoiding obstacles. The plan would include the robot’s movement decisions, such as turning left, moving forward, and stopping at certain points. </a:t>
            </a:r>
          </a:p>
          <a:p>
            <a:pPr algn="just"/>
            <a:r>
              <a:rPr lang="en-US" dirty="0" smtClean="0"/>
              <a:t>Similarly, in route optimization, AI systems create plans to minimize travel time and cost while ensuring that all</a:t>
            </a:r>
          </a:p>
          <a:p>
            <a:pPr algn="just"/>
            <a:r>
              <a:rPr lang="en-US" b="1" dirty="0" smtClean="0"/>
              <a:t>Importance of Planning:</a:t>
            </a:r>
          </a:p>
          <a:p>
            <a:pPr algn="just"/>
            <a:r>
              <a:rPr lang="en-US" b="1" dirty="0" smtClean="0"/>
              <a:t>Problem Solving</a:t>
            </a:r>
            <a:r>
              <a:rPr lang="en-US" dirty="0" smtClean="0"/>
              <a:t>: AI systems rely on planning to break down complex problems into manageable steps, allowing them to find solutions that meet specified goals.</a:t>
            </a:r>
          </a:p>
          <a:p>
            <a:pPr algn="just"/>
            <a:r>
              <a:rPr lang="en-US" b="1" dirty="0" smtClean="0"/>
              <a:t>Decision Making</a:t>
            </a:r>
            <a:r>
              <a:rPr lang="en-US" dirty="0" smtClean="0"/>
              <a:t>: Planning helps AI systems evaluate multiple potential actions and select the best course based on predicted outcomes.</a:t>
            </a:r>
          </a:p>
          <a:p>
            <a:pPr algn="just"/>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6562" name="Picture 2"/>
          <p:cNvPicPr>
            <a:picLocks noChangeAspect="1" noChangeArrowheads="1"/>
          </p:cNvPicPr>
          <p:nvPr/>
        </p:nvPicPr>
        <p:blipFill>
          <a:blip r:embed="rId2"/>
          <a:srcRect/>
          <a:stretch>
            <a:fillRect/>
          </a:stretch>
        </p:blipFill>
        <p:spPr bwMode="auto">
          <a:xfrm>
            <a:off x="152400" y="228600"/>
            <a:ext cx="8991600" cy="62484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7586" name="Picture 2"/>
          <p:cNvPicPr>
            <a:picLocks noChangeAspect="1" noChangeArrowheads="1"/>
          </p:cNvPicPr>
          <p:nvPr/>
        </p:nvPicPr>
        <p:blipFill>
          <a:blip r:embed="rId2"/>
          <a:srcRect/>
          <a:stretch>
            <a:fillRect/>
          </a:stretch>
        </p:blipFill>
        <p:spPr bwMode="auto">
          <a:xfrm>
            <a:off x="338138" y="0"/>
            <a:ext cx="8467725" cy="6157913"/>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0658" name="Picture 2"/>
          <p:cNvPicPr>
            <a:picLocks noGrp="1" noChangeAspect="1" noChangeArrowheads="1"/>
          </p:cNvPicPr>
          <p:nvPr>
            <p:ph idx="1"/>
          </p:nvPr>
        </p:nvPicPr>
        <p:blipFill>
          <a:blip r:embed="rId2"/>
          <a:srcRect/>
          <a:stretch>
            <a:fillRect/>
          </a:stretch>
        </p:blipFill>
        <p:spPr bwMode="auto">
          <a:xfrm>
            <a:off x="0" y="0"/>
            <a:ext cx="9144000" cy="662940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Types of Planning </a:t>
            </a:r>
            <a:br>
              <a:rPr lang="en-US" b="1" dirty="0" smtClean="0"/>
            </a:br>
            <a:r>
              <a:rPr lang="en-US" dirty="0" smtClean="0"/>
              <a:t/>
            </a:r>
            <a:br>
              <a:rPr lang="en-US" dirty="0" smtClean="0"/>
            </a:br>
            <a:endParaRPr lang="en-US" dirty="0"/>
          </a:p>
        </p:txBody>
      </p:sp>
      <p:sp>
        <p:nvSpPr>
          <p:cNvPr id="3" name="Content Placeholder 2"/>
          <p:cNvSpPr>
            <a:spLocks noGrp="1"/>
          </p:cNvSpPr>
          <p:nvPr>
            <p:ph idx="1"/>
          </p:nvPr>
        </p:nvSpPr>
        <p:spPr>
          <a:xfrm>
            <a:off x="457200" y="762000"/>
            <a:ext cx="8229600" cy="5867400"/>
          </a:xfrm>
        </p:spPr>
        <p:txBody>
          <a:bodyPr>
            <a:normAutofit fontScale="70000" lnSpcReduction="20000"/>
          </a:bodyPr>
          <a:lstStyle/>
          <a:p>
            <a:pPr>
              <a:buNone/>
            </a:pPr>
            <a:r>
              <a:rPr lang="en-US" dirty="0" smtClean="0"/>
              <a:t>Planning in AI isn't one-size-fits-all. Depending on the task, AI uses different types of planning in artificial intelligence to solve problems more effectively. So, what are the different types of planning in artificial intelligence, and how do they work? Let's break them down.</a:t>
            </a:r>
          </a:p>
          <a:p>
            <a:pPr>
              <a:buNone/>
            </a:pPr>
            <a:r>
              <a:rPr lang="en-US" b="1" dirty="0" smtClean="0"/>
              <a:t>1. Classical Planning</a:t>
            </a:r>
          </a:p>
          <a:p>
            <a:pPr>
              <a:buNone/>
            </a:pPr>
            <a:r>
              <a:rPr lang="en-US" dirty="0" smtClean="0"/>
              <a:t>Assumes a predictable, static environment where a predefined set of actions leads to goal completion. This works well for simple, well-defined problems using types of planning in artificial intelligence.</a:t>
            </a:r>
          </a:p>
          <a:p>
            <a:pPr>
              <a:buNone/>
            </a:pPr>
            <a:r>
              <a:rPr lang="en-US" b="1" dirty="0" smtClean="0"/>
              <a:t>2. Hierarchical Planning</a:t>
            </a:r>
          </a:p>
          <a:p>
            <a:pPr>
              <a:buNone/>
            </a:pPr>
            <a:r>
              <a:rPr lang="en-US" dirty="0" smtClean="0"/>
              <a:t>Breaks complex problems into smaller sub-problems, creating a hierarchy of plans. This structure enhances efficiency, a key aspect of types of planning in artificial intelligence.</a:t>
            </a:r>
          </a:p>
          <a:p>
            <a:pPr>
              <a:buNone/>
            </a:pPr>
            <a:r>
              <a:rPr lang="en-US" b="1" dirty="0" smtClean="0"/>
              <a:t>3. Temporal Planning</a:t>
            </a:r>
          </a:p>
          <a:p>
            <a:pPr>
              <a:buNone/>
            </a:pPr>
            <a:r>
              <a:rPr lang="en-US" dirty="0" smtClean="0"/>
              <a:t>Focuses on time constraints and dependencies, ensuring actions are sequenced within specific time limits. This is crucial in types of planning in artificial intelligence where timing matters.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Types of Planning </a:t>
            </a:r>
            <a:br>
              <a:rPr lang="en-US" b="1" dirty="0" smtClean="0"/>
            </a:br>
            <a:endParaRPr lang="en-US" dirty="0"/>
          </a:p>
        </p:txBody>
      </p:sp>
      <p:sp>
        <p:nvSpPr>
          <p:cNvPr id="3" name="Content Placeholder 2"/>
          <p:cNvSpPr>
            <a:spLocks noGrp="1"/>
          </p:cNvSpPr>
          <p:nvPr>
            <p:ph idx="1"/>
          </p:nvPr>
        </p:nvSpPr>
        <p:spPr>
          <a:xfrm>
            <a:off x="457200" y="990600"/>
            <a:ext cx="8229600" cy="5562600"/>
          </a:xfrm>
        </p:spPr>
        <p:txBody>
          <a:bodyPr>
            <a:normAutofit fontScale="70000" lnSpcReduction="20000"/>
          </a:bodyPr>
          <a:lstStyle/>
          <a:p>
            <a:pPr>
              <a:buNone/>
            </a:pPr>
            <a:r>
              <a:rPr lang="en-US" b="1" dirty="0" smtClean="0"/>
              <a:t>4. Forward State Space Planning (FSSP)</a:t>
            </a:r>
          </a:p>
          <a:p>
            <a:pPr>
              <a:buNone/>
            </a:pPr>
            <a:r>
              <a:rPr lang="en-US" dirty="0" smtClean="0"/>
              <a:t>It starts from an initial state and applies actions sequentially to reach the goal state, exploring possible future states along the way with types of planning in artificial intelligence.</a:t>
            </a:r>
          </a:p>
          <a:p>
            <a:pPr>
              <a:buNone/>
            </a:pPr>
            <a:r>
              <a:rPr lang="en-US" b="1" dirty="0" smtClean="0"/>
              <a:t>5. Backward State Space Planning (BSSP)</a:t>
            </a:r>
          </a:p>
          <a:p>
            <a:pPr>
              <a:buNone/>
            </a:pPr>
            <a:r>
              <a:rPr lang="en-US" dirty="0" smtClean="0"/>
              <a:t>Works backward from the goal state, identifying actions to reach the target. This reduces search space complexity in types of planning in artificial intelligence.</a:t>
            </a:r>
          </a:p>
          <a:p>
            <a:pPr>
              <a:buNone/>
            </a:pPr>
            <a:r>
              <a:rPr lang="en-US" b="1" dirty="0" smtClean="0"/>
              <a:t>6. Goal Stack Planning</a:t>
            </a:r>
          </a:p>
          <a:p>
            <a:pPr>
              <a:buNone/>
            </a:pPr>
            <a:r>
              <a:rPr lang="en-US" dirty="0" smtClean="0"/>
              <a:t>It combines FSSP and BSSP using a stack structure to manage goals and actions, ensuring systematic achievement of objectives in different types of planning in artificial intelligence.</a:t>
            </a:r>
          </a:p>
          <a:p>
            <a:pPr>
              <a:buNone/>
            </a:pPr>
            <a:r>
              <a:rPr lang="en-US" b="1" dirty="0" smtClean="0"/>
              <a:t>7. Non-linear Planning</a:t>
            </a:r>
          </a:p>
          <a:p>
            <a:pPr>
              <a:buNone/>
            </a:pPr>
            <a:r>
              <a:rPr lang="en-US" dirty="0" smtClean="0"/>
              <a:t>Allows multiple goals to be pursued simultaneously, optimizing solutions based on various interactions, though it comes with a more complex search space in types of planning in artificial intelligence.</a:t>
            </a:r>
          </a:p>
          <a:p>
            <a:pPr>
              <a:buNone/>
            </a:pPr>
            <a:endParaRPr lang="en-US" dirty="0" smtClean="0"/>
          </a:p>
          <a:p>
            <a:endParaRPr lang="en-US" dirty="0" smtClean="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
            </a:r>
            <a:br>
              <a:rPr lang="en-US" b="1" dirty="0" smtClean="0"/>
            </a:br>
            <a:r>
              <a:rPr lang="en-US" b="1" dirty="0" smtClean="0"/>
              <a:t>Tools and Techniques for AI Planning</a:t>
            </a:r>
            <a:br>
              <a:rPr lang="en-US" b="1" dirty="0" smtClean="0"/>
            </a:br>
            <a:endParaRPr lang="en-US" dirty="0"/>
          </a:p>
        </p:txBody>
      </p:sp>
      <p:sp>
        <p:nvSpPr>
          <p:cNvPr id="3" name="Content Placeholder 2"/>
          <p:cNvSpPr>
            <a:spLocks noGrp="1"/>
          </p:cNvSpPr>
          <p:nvPr>
            <p:ph idx="1"/>
          </p:nvPr>
        </p:nvSpPr>
        <p:spPr>
          <a:xfrm>
            <a:off x="457200" y="1066800"/>
            <a:ext cx="8229600" cy="5059363"/>
          </a:xfrm>
        </p:spPr>
        <p:txBody>
          <a:bodyPr>
            <a:normAutofit fontScale="92500" lnSpcReduction="20000"/>
          </a:bodyPr>
          <a:lstStyle/>
          <a:p>
            <a:pPr algn="just"/>
            <a:r>
              <a:rPr lang="en-US" b="1" dirty="0" smtClean="0"/>
              <a:t>Automated Planners: </a:t>
            </a:r>
            <a:r>
              <a:rPr lang="en-US" dirty="0" smtClean="0"/>
              <a:t>They are programs that autonomously generate plans, with frameworks like STRIPS and PDDL used for defining planning problems.</a:t>
            </a:r>
          </a:p>
          <a:p>
            <a:pPr algn="just"/>
            <a:r>
              <a:rPr lang="en-US" b="1" dirty="0" smtClean="0"/>
              <a:t>Constraint Programming: </a:t>
            </a:r>
            <a:r>
              <a:rPr lang="en-US" dirty="0" smtClean="0"/>
              <a:t>This powerful technique allows for modeling and solving complex planning issues that involve multiple constraints.</a:t>
            </a:r>
          </a:p>
          <a:p>
            <a:pPr algn="just"/>
            <a:r>
              <a:rPr lang="en-US" b="1" dirty="0" smtClean="0"/>
              <a:t>Machine Learning:</a:t>
            </a:r>
            <a:r>
              <a:rPr lang="en-US" dirty="0" smtClean="0"/>
              <a:t> </a:t>
            </a:r>
            <a:r>
              <a:rPr lang="en-US" dirty="0" smtClean="0">
                <a:hlinkClick r:id="rId2"/>
              </a:rPr>
              <a:t>Reinforcement learning</a:t>
            </a:r>
            <a:r>
              <a:rPr lang="en-US" dirty="0" smtClean="0"/>
              <a:t>, a subset of machine learning, enhances planning by learning from past experiences and refining strategies based on feedback.</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planning</a:t>
            </a:r>
            <a:endParaRPr lang="en-US" dirty="0"/>
          </a:p>
        </p:txBody>
      </p:sp>
      <p:sp>
        <p:nvSpPr>
          <p:cNvPr id="5" name="Content Placeholder 4"/>
          <p:cNvSpPr>
            <a:spLocks noGrp="1"/>
          </p:cNvSpPr>
          <p:nvPr>
            <p:ph idx="1"/>
          </p:nvPr>
        </p:nvSpPr>
        <p:spPr>
          <a:xfrm>
            <a:off x="457200" y="1066800"/>
            <a:ext cx="8229600" cy="5059363"/>
          </a:xfrm>
        </p:spPr>
        <p:txBody>
          <a:bodyPr/>
          <a:lstStyle/>
          <a:p>
            <a:r>
              <a:rPr lang="en-US" dirty="0" smtClean="0"/>
              <a:t>A Simple problem solving tasks basically involve the following tasks:</a:t>
            </a:r>
          </a:p>
          <a:p>
            <a:r>
              <a:rPr lang="en-US" dirty="0" smtClean="0"/>
              <a:t>Choose the best rule based upon heuristics.</a:t>
            </a:r>
          </a:p>
          <a:p>
            <a:r>
              <a:rPr lang="en-US" dirty="0" smtClean="0"/>
              <a:t>Apply this rule to create a new state.</a:t>
            </a:r>
          </a:p>
          <a:p>
            <a:r>
              <a:rPr lang="en-US" dirty="0" smtClean="0"/>
              <a:t>Detect when a solution is found.</a:t>
            </a:r>
          </a:p>
          <a:p>
            <a:r>
              <a:rPr lang="en-US" dirty="0" smtClean="0"/>
              <a:t>Detect dead ends so that they can be avoided.</a:t>
            </a:r>
          </a:p>
          <a:p>
            <a:r>
              <a:rPr lang="en-US" dirty="0" smtClean="0"/>
              <a:t>Detect when a nearly solved state occurs and use special methods to make it a solved state.</a:t>
            </a:r>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planning</a:t>
            </a:r>
            <a:endParaRPr lang="en-US" dirty="0"/>
          </a:p>
        </p:txBody>
      </p:sp>
      <p:sp>
        <p:nvSpPr>
          <p:cNvPr id="3" name="Content Placeholder 2"/>
          <p:cNvSpPr>
            <a:spLocks noGrp="1"/>
          </p:cNvSpPr>
          <p:nvPr>
            <p:ph idx="1"/>
          </p:nvPr>
        </p:nvSpPr>
        <p:spPr/>
        <p:txBody>
          <a:bodyPr/>
          <a:lstStyle/>
          <a:p>
            <a:pPr algn="just">
              <a:buNone/>
            </a:pPr>
            <a:r>
              <a:rPr lang="en-US" b="1" dirty="0" smtClean="0"/>
              <a:t>1.Choosing Rules to apply :</a:t>
            </a:r>
            <a:r>
              <a:rPr lang="en-US" dirty="0" smtClean="0"/>
              <a:t>In order to select appropriate rules first isolate a set of difference between the desired goal state and current state and then identify those rules that are relevant to reducing those differences. If several rules are found, a variety of other heuristic information can be exploited to choose among them.</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400800"/>
          </a:xfrm>
        </p:spPr>
        <p:txBody>
          <a:bodyPr>
            <a:normAutofit fontScale="77500" lnSpcReduction="20000"/>
          </a:bodyPr>
          <a:lstStyle/>
          <a:p>
            <a:pPr>
              <a:buNone/>
            </a:pPr>
            <a:r>
              <a:rPr lang="en-US" b="1" dirty="0" smtClean="0"/>
              <a:t>2.Applying Rules</a:t>
            </a:r>
            <a:endParaRPr lang="en-US" dirty="0" smtClean="0"/>
          </a:p>
          <a:p>
            <a:pPr algn="just"/>
            <a:r>
              <a:rPr lang="en-US" dirty="0" smtClean="0"/>
              <a:t>In general case Rules usually specify the problem state, however in our situation rules could also be used to represent a part of the complex problem state. There are many ways to describe such kind of rules.</a:t>
            </a:r>
          </a:p>
          <a:p>
            <a:pPr algn="just">
              <a:buNone/>
            </a:pPr>
            <a:r>
              <a:rPr lang="en-US" b="1" dirty="0" smtClean="0"/>
              <a:t>3. Detecting a Solution :</a:t>
            </a:r>
            <a:endParaRPr lang="en-US" dirty="0" smtClean="0"/>
          </a:p>
          <a:p>
            <a:pPr algn="just"/>
            <a:r>
              <a:rPr lang="en-US" dirty="0" smtClean="0"/>
              <a:t>A planning system will succeed in finding a solution to a problem only when it has found a sequence of operators that transforms the initial problem state into the goal state. But how could a system will know it has found the solution. This could be done by comparing the problem`s goal state with the current state if it matches it we could straightaway say that a solution state has been reached.  But on the other hand if the entire states are not represented  explicitly but rather described in term of some properties then detecting a solution becomes more </a:t>
            </a:r>
            <a:r>
              <a:rPr lang="en-US" dirty="0" err="1" smtClean="0"/>
              <a:t>complex.This</a:t>
            </a:r>
            <a:r>
              <a:rPr lang="en-US" dirty="0" smtClean="0"/>
              <a:t> could be solved depending on the way the state descriptions are represented.</a:t>
            </a:r>
          </a:p>
          <a:p>
            <a:pPr algn="just">
              <a:buNone/>
            </a:pPr>
            <a:endParaRPr lang="en-US" dirty="0" smtClean="0"/>
          </a:p>
          <a:p>
            <a:endParaRPr lang="en-US" dirty="0" smtClean="0"/>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Components of planning</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 4.Detecting Dead Ends :</a:t>
            </a:r>
            <a:endParaRPr lang="en-US" dirty="0" smtClean="0"/>
          </a:p>
          <a:p>
            <a:r>
              <a:rPr lang="en-US" dirty="0" smtClean="0"/>
              <a:t>A Planning system might sometime could land into dead-ends when searching for a sequence of operators to solve a particular problem. The same reasoning mechanism that is used for reasoning can also be used for detecting the dead ends.</a:t>
            </a:r>
          </a:p>
          <a:p>
            <a:r>
              <a:rPr lang="en-US" dirty="0" smtClean="0"/>
              <a:t>If the search process is reasoning forward from the initial state, it can prune any paths that leads to a state from which the goal state cannot be reached.</a:t>
            </a:r>
          </a:p>
          <a:p>
            <a:pPr>
              <a:buNone/>
            </a:pPr>
            <a:r>
              <a:rPr lang="en-US" b="1" dirty="0" smtClean="0"/>
              <a:t>5. Repairing an Almost Correct Solution:</a:t>
            </a:r>
            <a:endParaRPr lang="en-US" dirty="0" smtClean="0"/>
          </a:p>
          <a:p>
            <a:r>
              <a:rPr lang="en-US" dirty="0" smtClean="0"/>
              <a:t>While solving a nearly decomposable problem the sub solutions when combined may not yield a complete solution . So when such situation arises there are certain approaches to handle it. The simplest is just to throw out the solution, look for another one, and hope that is </a:t>
            </a:r>
            <a:r>
              <a:rPr lang="en-US" dirty="0" err="1" smtClean="0"/>
              <a:t>is</a:t>
            </a:r>
            <a:r>
              <a:rPr lang="en-US" dirty="0" smtClean="0"/>
              <a:t> better. This approach looks simple but it may lead to a great deal of wasted effort.</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Stack Planning</a:t>
            </a:r>
            <a:endParaRPr lang="en-US" dirty="0"/>
          </a:p>
        </p:txBody>
      </p:sp>
      <p:sp>
        <p:nvSpPr>
          <p:cNvPr id="3" name="Content Placeholder 2"/>
          <p:cNvSpPr>
            <a:spLocks noGrp="1"/>
          </p:cNvSpPr>
          <p:nvPr>
            <p:ph idx="1"/>
          </p:nvPr>
        </p:nvSpPr>
        <p:spPr/>
        <p:txBody>
          <a:bodyPr/>
          <a:lstStyle/>
          <a:p>
            <a:r>
              <a:rPr lang="en-US" dirty="0" smtClean="0"/>
              <a:t>Goal stack planning is a technique used in artificial intelligence (AI) to solve complex problems by breaking them down into smaller, more manageable </a:t>
            </a:r>
            <a:r>
              <a:rPr lang="en-US" dirty="0" err="1" smtClean="0"/>
              <a:t>subgoals</a:t>
            </a:r>
            <a:r>
              <a:rPr lang="en-US" dirty="0" smtClean="0"/>
              <a:t>. It involves organizing goals into a hierarchical structure called a goal stack. Each goal in the stack represents a specific task or objective that the AI agent needs to achieve to solve the overall problem. </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Stack Planning</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Goal Stack Planning (in short GSP) is the one of the simplest planning algorithm that is designed to handle problems having compound goals. And it utilizes STRIP as a formal language for specifying and manipulating the world with which it is working.</a:t>
            </a:r>
          </a:p>
          <a:p>
            <a:pPr algn="just"/>
            <a:r>
              <a:rPr lang="en-US" dirty="0" smtClean="0"/>
              <a:t>This approach uses a Stack for plan generation. The stack can contain Sub-goal and actions described using predicates. The Sub-goals can be solved one by one in any order.</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Goal Stack Planning</a:t>
            </a:r>
            <a:endParaRPr lang="en-US" dirty="0"/>
          </a:p>
        </p:txBody>
      </p:sp>
      <p:sp>
        <p:nvSpPr>
          <p:cNvPr id="3" name="Content Placeholder 2"/>
          <p:cNvSpPr>
            <a:spLocks noGrp="1"/>
          </p:cNvSpPr>
          <p:nvPr>
            <p:ph idx="1"/>
          </p:nvPr>
        </p:nvSpPr>
        <p:spPr>
          <a:xfrm>
            <a:off x="457200" y="914400"/>
            <a:ext cx="8229600" cy="5715000"/>
          </a:xfrm>
        </p:spPr>
        <p:txBody>
          <a:bodyPr>
            <a:normAutofit fontScale="70000" lnSpcReduction="20000"/>
          </a:bodyPr>
          <a:lstStyle/>
          <a:p>
            <a:r>
              <a:rPr lang="en-US" b="1" dirty="0" smtClean="0"/>
              <a:t>Algorithm:</a:t>
            </a:r>
            <a:endParaRPr lang="en-US" dirty="0" smtClean="0"/>
          </a:p>
          <a:p>
            <a:r>
              <a:rPr lang="en-US" dirty="0" smtClean="0"/>
              <a:t>Push the Goal state in to the Stack</a:t>
            </a:r>
          </a:p>
          <a:p>
            <a:r>
              <a:rPr lang="en-US" dirty="0" smtClean="0"/>
              <a:t>Push the individual Predicates of the Goal State into the Stack</a:t>
            </a:r>
          </a:p>
          <a:p>
            <a:r>
              <a:rPr lang="en-US" dirty="0" smtClean="0"/>
              <a:t>Loop till the Stack is empty</a:t>
            </a:r>
          </a:p>
          <a:p>
            <a:r>
              <a:rPr lang="en-US" dirty="0" smtClean="0"/>
              <a:t>Pop an element E from the stack</a:t>
            </a:r>
          </a:p>
          <a:p>
            <a:r>
              <a:rPr lang="en-US" dirty="0" smtClean="0"/>
              <a:t>IF E is a Predicate</a:t>
            </a:r>
          </a:p>
          <a:p>
            <a:r>
              <a:rPr lang="en-US" dirty="0" smtClean="0"/>
              <a:t>IF E is True then</a:t>
            </a:r>
          </a:p>
          <a:p>
            <a:r>
              <a:rPr lang="en-US" dirty="0" smtClean="0"/>
              <a:t>Do Nothing</a:t>
            </a:r>
          </a:p>
          <a:p>
            <a:r>
              <a:rPr lang="en-US" dirty="0" smtClean="0"/>
              <a:t>ELSE</a:t>
            </a:r>
          </a:p>
          <a:p>
            <a:r>
              <a:rPr lang="en-US" dirty="0" smtClean="0"/>
              <a:t>Push the relevant action into the Stack</a:t>
            </a:r>
          </a:p>
          <a:p>
            <a:r>
              <a:rPr lang="en-US" dirty="0" smtClean="0"/>
              <a:t>Push the individual predicates of the Precondition of the action into the Stack</a:t>
            </a:r>
          </a:p>
          <a:p>
            <a:r>
              <a:rPr lang="en-US" dirty="0" smtClean="0"/>
              <a:t>Else IF E is an Action</a:t>
            </a:r>
          </a:p>
          <a:p>
            <a:r>
              <a:rPr lang="en-US" dirty="0" smtClean="0"/>
              <a:t>Apply the action to the current State.</a:t>
            </a:r>
          </a:p>
          <a:p>
            <a:r>
              <a:rPr lang="en-US" dirty="0" smtClean="0"/>
              <a:t>Add the action ‘a’ to the plan</a:t>
            </a:r>
          </a:p>
          <a:p>
            <a:pPr>
              <a:buNone/>
            </a:pPr>
            <a:r>
              <a:rPr lang="en-US" dirty="0" smtClean="0"/>
              <a:t/>
            </a:r>
            <a:br>
              <a:rPr lang="en-US" dirty="0" smtClean="0"/>
            </a:b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hlinkClick r:id="rId2"/>
              </a:rPr>
              <a:t>Goal Stack Planning</a:t>
            </a:r>
            <a:r>
              <a:rPr lang="en-US" dirty="0" smtClean="0"/>
              <a:t/>
            </a:r>
            <a:br>
              <a:rPr lang="en-US" dirty="0" smtClean="0"/>
            </a:br>
            <a:endParaRPr lang="en-US" dirty="0"/>
          </a:p>
        </p:txBody>
      </p:sp>
      <p:sp>
        <p:nvSpPr>
          <p:cNvPr id="3" name="Content Placeholder 2"/>
          <p:cNvSpPr>
            <a:spLocks noGrp="1"/>
          </p:cNvSpPr>
          <p:nvPr>
            <p:ph idx="1"/>
          </p:nvPr>
        </p:nvSpPr>
        <p:spPr>
          <a:xfrm>
            <a:off x="533400" y="3810000"/>
            <a:ext cx="8229600" cy="2697163"/>
          </a:xfrm>
        </p:spPr>
        <p:txBody>
          <a:bodyPr/>
          <a:lstStyle/>
          <a:p>
            <a:endParaRPr lang="en-US" dirty="0"/>
          </a:p>
        </p:txBody>
      </p:sp>
      <p:pic>
        <p:nvPicPr>
          <p:cNvPr id="3074" name="Picture 2" descr="https://aithefuture.files.wordpress.com/2018/02/15.jpg?w=811&amp;h=383&amp;crop=1"/>
          <p:cNvPicPr>
            <a:picLocks noChangeAspect="1" noChangeArrowheads="1"/>
          </p:cNvPicPr>
          <p:nvPr/>
        </p:nvPicPr>
        <p:blipFill>
          <a:blip r:embed="rId3"/>
          <a:srcRect/>
          <a:stretch>
            <a:fillRect/>
          </a:stretch>
        </p:blipFill>
        <p:spPr bwMode="auto">
          <a:xfrm>
            <a:off x="381000" y="1219200"/>
            <a:ext cx="7724775" cy="3648076"/>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229600" cy="1981200"/>
          </a:xfrm>
        </p:spPr>
        <p:txBody>
          <a:bodyPr>
            <a:normAutofit fontScale="92500"/>
          </a:bodyPr>
          <a:lstStyle/>
          <a:p>
            <a:r>
              <a:rPr lang="en-US" dirty="0" smtClean="0"/>
              <a:t>the initial state is our current description of our world. The Goal state is what we have to achieve. The following list of actions can be applied to the various situation in our problem.</a:t>
            </a:r>
            <a:endParaRPr lang="en-US" dirty="0"/>
          </a:p>
        </p:txBody>
      </p:sp>
      <p:pic>
        <p:nvPicPr>
          <p:cNvPr id="5" name="Picture 2" descr="Picture1.png"/>
          <p:cNvPicPr>
            <a:picLocks noChangeAspect="1" noChangeArrowheads="1"/>
          </p:cNvPicPr>
          <p:nvPr/>
        </p:nvPicPr>
        <p:blipFill>
          <a:blip r:embed="rId2"/>
          <a:srcRect/>
          <a:stretch>
            <a:fillRect/>
          </a:stretch>
        </p:blipFill>
        <p:spPr bwMode="auto">
          <a:xfrm>
            <a:off x="0" y="2438400"/>
            <a:ext cx="8458200" cy="3362326"/>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rmAutofit fontScale="62500" lnSpcReduction="20000"/>
          </a:bodyPr>
          <a:lstStyle/>
          <a:p>
            <a:r>
              <a:rPr lang="en-US" dirty="0" smtClean="0"/>
              <a:t>Goal Stack Planning (GSP) is a technique used in AI to manage multiple goals by organizing them in a specific order. This method is particularly useful in scenarios where several actions or goals need to be achieved sequentially. In GSP, goals are stacked on top of each other with the most immediate goal placed on top. As each goal is addressed, it is removed from the stack, and the next goal becomes the focus.</a:t>
            </a:r>
          </a:p>
          <a:p>
            <a:r>
              <a:rPr lang="en-US" dirty="0" smtClean="0"/>
              <a:t>The primary advantage of using Goal Stack Planning is its systematic approach to problem-solving. It simplifies complex tasks by breaking them down into smaller, more manageable steps. This method ensures that each goal is addressed in the correct sequence, preventing any oversight or omission that might occur if multiple goals were pursued simultaneously.</a:t>
            </a:r>
          </a:p>
          <a:p>
            <a:r>
              <a:rPr lang="en-US" dirty="0" smtClean="0"/>
              <a:t>To illustrate, consider a robot designed to navigate a room to pick up objects. Using GSP, the robot's tasks might be stacked as follows: navigate to the object, pick up the object, and then navigate back to the start. Each of these tasks would be tackled one at a time, ensuring the robot completes all steps efficiently &amp; without error.</a:t>
            </a:r>
          </a:p>
          <a:p>
            <a:r>
              <a:rPr lang="en-US" dirty="0" smtClean="0"/>
              <a:t>This approach is not only practical but also minimizes errors, as focusing on one goal at a time allows for more concentrated effort &amp; fewer distractions. For students studying AI, understanding &amp; applying Goal Stack Planning can significantly enhance their ability to develop solutions that are both effective &amp; orderly.</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Hierarchical Planning in Artificial Intelligence</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Hierarchical planning in artificial intelligence (AI) is a planning approach that involves organizing tasks and actions into multiple levels of abstraction or hierarchy, where higher-level tasks are decomposed into a sequence of lower-level tasks. It provides a way to efficiently reason and plan in complex domains by utilizing a hierarchy of goals and </a:t>
            </a:r>
            <a:r>
              <a:rPr lang="en-US" dirty="0" err="1" smtClean="0"/>
              <a:t>subgoals</a:t>
            </a:r>
            <a:r>
              <a:rPr lang="en-US" dirty="0" smtClean="0"/>
              <a:t>. Hierarchical planning allows AI systems to make decisions at different levels of abstraction, enabling them to tackle complex tasks and environments effectively.</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Hierarchical Planning in Artificial Intelligence</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In hierarchical planning, the high-level task is represented as the ultimate goal, and it is decomposed into </a:t>
            </a:r>
            <a:r>
              <a:rPr lang="en-US" dirty="0" err="1" smtClean="0"/>
              <a:t>subgoals</a:t>
            </a:r>
            <a:r>
              <a:rPr lang="en-US" dirty="0" smtClean="0"/>
              <a:t> or actions at lower levels of the hierarchy. The hierarchy can be organized as a tree or a directed acyclic graph (DAG), with the high-level goal as the root node and the lowest-level tasks or actions as leaf nodes. Planning can occur at different levels of the hierarchy, with the system selecting goals and generating plans for achieving </a:t>
            </a:r>
            <a:r>
              <a:rPr lang="en-US" dirty="0" err="1" smtClean="0"/>
              <a:t>subgoals</a:t>
            </a:r>
            <a:r>
              <a:rPr lang="en-US" dirty="0" smtClean="0"/>
              <a:t> or actions. The plans generated at different levels are then synthesized into a cohesive plan for execution.</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0000" lnSpcReduction="20000"/>
          </a:bodyPr>
          <a:lstStyle/>
          <a:p>
            <a:r>
              <a:rPr lang="en-US" b="1" dirty="0" smtClean="0"/>
              <a:t>Components of Hierarchical Planning</a:t>
            </a:r>
          </a:p>
          <a:p>
            <a:r>
              <a:rPr lang="en-US" dirty="0" smtClean="0"/>
              <a:t>Hierarchical planning in artificial intelligence (AI) typically involves several key components, including:</a:t>
            </a:r>
          </a:p>
          <a:p>
            <a:r>
              <a:rPr lang="en-US" b="1" dirty="0" smtClean="0"/>
              <a:t>High-level goals:</a:t>
            </a:r>
            <a:r>
              <a:rPr lang="en-US" dirty="0" smtClean="0"/>
              <a:t> The overall objectives or tasks that the AI system aims to achieve.</a:t>
            </a:r>
          </a:p>
          <a:p>
            <a:r>
              <a:rPr lang="en-US" b="1" dirty="0" smtClean="0"/>
              <a:t>Task decomposition:</a:t>
            </a:r>
            <a:r>
              <a:rPr lang="en-US" dirty="0" smtClean="0"/>
              <a:t> Breaking down high-level goals into lower-level tasks or </a:t>
            </a:r>
            <a:r>
              <a:rPr lang="en-US" dirty="0" err="1" smtClean="0"/>
              <a:t>subgoals</a:t>
            </a:r>
            <a:r>
              <a:rPr lang="en-US" dirty="0" smtClean="0"/>
              <a:t>.</a:t>
            </a:r>
          </a:p>
          <a:p>
            <a:r>
              <a:rPr lang="en-US" b="1" dirty="0" smtClean="0"/>
              <a:t>Planning hierarchy:</a:t>
            </a:r>
            <a:r>
              <a:rPr lang="en-US" dirty="0" smtClean="0"/>
              <a:t> The organization of tasks or </a:t>
            </a:r>
            <a:r>
              <a:rPr lang="en-US" dirty="0" err="1" smtClean="0"/>
              <a:t>subgoals</a:t>
            </a:r>
            <a:r>
              <a:rPr lang="en-US" dirty="0" smtClean="0"/>
              <a:t> into a hierarchical structure, such as a tree or a directed acyclic graph (DAG).</a:t>
            </a:r>
          </a:p>
          <a:p>
            <a:r>
              <a:rPr lang="en-US" b="1" dirty="0" smtClean="0"/>
              <a:t>Plan generation at different levels:</a:t>
            </a:r>
            <a:r>
              <a:rPr lang="en-US" dirty="0" smtClean="0"/>
              <a:t> Reasoning and planning at different levels of the hierarchy, with plans generated for achieving </a:t>
            </a:r>
            <a:r>
              <a:rPr lang="en-US" dirty="0" err="1" smtClean="0"/>
              <a:t>subgoals</a:t>
            </a:r>
            <a:r>
              <a:rPr lang="en-US" dirty="0" smtClean="0"/>
              <a:t> or actions.</a:t>
            </a:r>
          </a:p>
          <a:p>
            <a:r>
              <a:rPr lang="en-US" b="1" dirty="0" smtClean="0"/>
              <a:t>Plan synthesis:</a:t>
            </a:r>
            <a:r>
              <a:rPr lang="en-US" dirty="0" smtClean="0"/>
              <a:t> Combining the plans for achieving </a:t>
            </a:r>
            <a:r>
              <a:rPr lang="en-US" dirty="0" err="1" smtClean="0"/>
              <a:t>subgoals</a:t>
            </a:r>
            <a:r>
              <a:rPr lang="en-US" dirty="0" smtClean="0"/>
              <a:t> or actions into a cohesive plan for execution.</a:t>
            </a:r>
          </a:p>
          <a:p>
            <a:r>
              <a:rPr lang="en-US" b="1" dirty="0" smtClean="0"/>
              <a:t>Plan execution:</a:t>
            </a:r>
            <a:r>
              <a:rPr lang="en-US" dirty="0" smtClean="0"/>
              <a:t> Carrying out the actions or </a:t>
            </a:r>
            <a:r>
              <a:rPr lang="en-US" dirty="0" err="1" smtClean="0"/>
              <a:t>subgoals</a:t>
            </a:r>
            <a:r>
              <a:rPr lang="en-US" dirty="0" smtClean="0"/>
              <a:t> in the plan in the correct order.</a:t>
            </a:r>
          </a:p>
          <a:p>
            <a:r>
              <a:rPr lang="en-US" b="1" dirty="0" smtClean="0"/>
              <a:t>Plan adaptation:</a:t>
            </a:r>
            <a:r>
              <a:rPr lang="en-US" dirty="0" smtClean="0"/>
              <a:t> Revising plans at different levels of abstraction to accommodate changes in the environment or goals.</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229600" cy="6324600"/>
          </a:xfrm>
        </p:spPr>
        <p:txBody>
          <a:bodyPr>
            <a:normAutofit fontScale="47500" lnSpcReduction="20000"/>
          </a:bodyPr>
          <a:lstStyle/>
          <a:p>
            <a:pPr>
              <a:buNone/>
            </a:pPr>
            <a:r>
              <a:rPr lang="en-US" b="1" dirty="0" smtClean="0"/>
              <a:t>Types of Planning in Artificial Intelligence</a:t>
            </a:r>
          </a:p>
          <a:p>
            <a:pPr>
              <a:buNone/>
            </a:pPr>
            <a:r>
              <a:rPr lang="en-US" dirty="0" smtClean="0"/>
              <a:t>Planning in AI isn't one-size-fits-all. Depending on the task, AI uses different types of planning in artificial intelligence to solve problems more effectively. So, what are the different types of planning in artificial intelligence, and how do they work? Let's break them down.</a:t>
            </a:r>
          </a:p>
          <a:p>
            <a:pPr>
              <a:buNone/>
            </a:pPr>
            <a:r>
              <a:rPr lang="en-US" b="1" dirty="0" smtClean="0"/>
              <a:t>1. Classical Planning</a:t>
            </a:r>
          </a:p>
          <a:p>
            <a:pPr>
              <a:buNone/>
            </a:pPr>
            <a:r>
              <a:rPr lang="en-US" dirty="0" smtClean="0"/>
              <a:t>Assumes a predictable, static environment where a predefined set of actions leads to goal completion. This works well for simple, well-defined problems using types of planning in artificial intelligence.</a:t>
            </a:r>
          </a:p>
          <a:p>
            <a:pPr>
              <a:buNone/>
            </a:pPr>
            <a:r>
              <a:rPr lang="en-US" b="1" dirty="0" smtClean="0"/>
              <a:t>2. Hierarchical Planning</a:t>
            </a:r>
          </a:p>
          <a:p>
            <a:pPr>
              <a:buNone/>
            </a:pPr>
            <a:r>
              <a:rPr lang="en-US" dirty="0" smtClean="0"/>
              <a:t>Breaks complex problems into smaller sub-problems, creating a hierarchy of plans. This structure enhances efficiency, a key aspect of types of planning in artificial intelligence.</a:t>
            </a:r>
          </a:p>
          <a:p>
            <a:pPr>
              <a:buNone/>
            </a:pPr>
            <a:r>
              <a:rPr lang="en-US" b="1" dirty="0" smtClean="0"/>
              <a:t>3. Temporal Planning</a:t>
            </a:r>
          </a:p>
          <a:p>
            <a:pPr>
              <a:buNone/>
            </a:pPr>
            <a:r>
              <a:rPr lang="en-US" dirty="0" smtClean="0"/>
              <a:t>Focuses on time constraints and dependencies, ensuring actions are sequenced within specific time limits. This is crucial in types of planning in artificial intelligence where timing matters.</a:t>
            </a:r>
          </a:p>
          <a:p>
            <a:pPr>
              <a:buNone/>
            </a:pPr>
            <a:r>
              <a:rPr lang="en-US" b="1" dirty="0" smtClean="0"/>
              <a:t>4. Forward State Space Planning (FSSP)</a:t>
            </a:r>
          </a:p>
          <a:p>
            <a:pPr>
              <a:buNone/>
            </a:pPr>
            <a:r>
              <a:rPr lang="en-US" dirty="0" smtClean="0"/>
              <a:t>It starts from an initial state and applies actions sequentially to reach the goal state, exploring possible future states along the way with types of planning in artificial intelligence.</a:t>
            </a:r>
          </a:p>
          <a:p>
            <a:pPr>
              <a:buNone/>
            </a:pPr>
            <a:r>
              <a:rPr lang="en-US" b="1" dirty="0" smtClean="0"/>
              <a:t>5. Backward State Space Planning (BSSP)</a:t>
            </a:r>
          </a:p>
          <a:p>
            <a:pPr>
              <a:buNone/>
            </a:pPr>
            <a:r>
              <a:rPr lang="en-US" dirty="0" smtClean="0"/>
              <a:t>Works backward from the goal state, identifying actions to reach the target. This reduces search space complexity in types of planning in artificial intelligence.</a:t>
            </a:r>
          </a:p>
          <a:p>
            <a:pPr>
              <a:buNone/>
            </a:pPr>
            <a:r>
              <a:rPr lang="en-US" b="1" dirty="0" smtClean="0"/>
              <a:t>6. Goal Stack Planning</a:t>
            </a:r>
          </a:p>
          <a:p>
            <a:pPr>
              <a:buNone/>
            </a:pPr>
            <a:r>
              <a:rPr lang="en-US" dirty="0" smtClean="0"/>
              <a:t>It combines FSSP and BSSP using a stack structure to manage goals and actions, ensuring systematic achievement of objectives in different types of planning in artificial intelligence.</a:t>
            </a:r>
          </a:p>
          <a:p>
            <a:pPr>
              <a:buNone/>
            </a:pPr>
            <a:r>
              <a:rPr lang="en-US" b="1" dirty="0" smtClean="0"/>
              <a:t>7. Non-linear Planning</a:t>
            </a:r>
          </a:p>
          <a:p>
            <a:pPr>
              <a:buNone/>
            </a:pPr>
            <a:r>
              <a:rPr lang="en-US" dirty="0" smtClean="0"/>
              <a:t>Allows multiple goals to be pursued simultaneously, optimizing solutions based on various interactions, though it comes with a more complex search space in types of planning in artificial intelligence.</a:t>
            </a:r>
          </a:p>
          <a:p>
            <a:pPr>
              <a:buNone/>
            </a:pPr>
            <a:r>
              <a:rPr lang="en-US" dirty="0" smtClean="0"/>
              <a:t>Since we’ve outlined the types of planning in artificial intelligence, let’s look into the tools and techniques that make these planning methods work efficiently.</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13353</TotalTime>
  <Words>2752</Words>
  <Application>Microsoft Office PowerPoint</Application>
  <PresentationFormat>On-screen Show (4:3)</PresentationFormat>
  <Paragraphs>223</Paragraphs>
  <Slides>59</Slides>
  <Notes>0</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Office Theme</vt:lpstr>
      <vt:lpstr>UNIT-V</vt:lpstr>
      <vt:lpstr>Reasoning in Artificial intelligence </vt:lpstr>
      <vt:lpstr>Types of Reasoning </vt:lpstr>
      <vt:lpstr>Representing knowledge in an uncertain domain</vt:lpstr>
      <vt:lpstr>Characteristics of Uncertain Domains </vt:lpstr>
      <vt:lpstr>Representing knowledge in an uncertain domain</vt:lpstr>
      <vt:lpstr>Probabilistic reasoning: </vt:lpstr>
      <vt:lpstr>Probability</vt:lpstr>
      <vt:lpstr>Probability</vt:lpstr>
      <vt:lpstr>Probability</vt:lpstr>
      <vt:lpstr>Slide 11</vt:lpstr>
      <vt:lpstr>Probability</vt:lpstr>
      <vt:lpstr>Bayesian Network  </vt:lpstr>
      <vt:lpstr>Bayesian Network</vt:lpstr>
      <vt:lpstr> A Bayesian network graph is made up of nodes and Arcs (directed links), where: </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 Dempster Shafer Theory </vt:lpstr>
      <vt:lpstr> Dempster Shafer Theory</vt:lpstr>
      <vt:lpstr> Dempster Shafer Theory </vt:lpstr>
      <vt:lpstr>Slide 31</vt:lpstr>
      <vt:lpstr>Dempster Shafer Theory</vt:lpstr>
      <vt:lpstr>Dempster Shafer Theory</vt:lpstr>
      <vt:lpstr>Slide 34</vt:lpstr>
      <vt:lpstr>Slide 35</vt:lpstr>
      <vt:lpstr>Slide 36</vt:lpstr>
      <vt:lpstr>Planning in Artificial Intelligence </vt:lpstr>
      <vt:lpstr>  </vt:lpstr>
      <vt:lpstr>Slide 39</vt:lpstr>
      <vt:lpstr>Slide 40</vt:lpstr>
      <vt:lpstr>Slide 41</vt:lpstr>
      <vt:lpstr>Types of Planning   </vt:lpstr>
      <vt:lpstr>Types of Planning  </vt:lpstr>
      <vt:lpstr> Tools and Techniques for AI Planning </vt:lpstr>
      <vt:lpstr>Components of planning</vt:lpstr>
      <vt:lpstr>Components of planning</vt:lpstr>
      <vt:lpstr>Slide 47</vt:lpstr>
      <vt:lpstr>Components of planning</vt:lpstr>
      <vt:lpstr>Goal Stack Planning</vt:lpstr>
      <vt:lpstr>Goal Stack Planning</vt:lpstr>
      <vt:lpstr>Goal Stack Planning</vt:lpstr>
      <vt:lpstr>Goal Stack Planning </vt:lpstr>
      <vt:lpstr>Slide 53</vt:lpstr>
      <vt:lpstr>Slide 54</vt:lpstr>
      <vt:lpstr>Hierarchical Planning in Artificial Intelligence </vt:lpstr>
      <vt:lpstr>Hierarchical Planning in Artificial Intelligence</vt:lpstr>
      <vt:lpstr>Slide 57</vt:lpstr>
      <vt:lpstr>Slide 58</vt:lpstr>
      <vt:lpstr>Slide 59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Windows User</cp:lastModifiedBy>
  <cp:revision>55</cp:revision>
  <dcterms:created xsi:type="dcterms:W3CDTF">2025-04-08T06:14:24Z</dcterms:created>
  <dcterms:modified xsi:type="dcterms:W3CDTF">2025-05-01T06:49:40Z</dcterms:modified>
</cp:coreProperties>
</file>