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5"/>
  </p:notesMasterIdLst>
  <p:sldIdLst>
    <p:sldId id="275" r:id="rId2"/>
    <p:sldId id="258" r:id="rId3"/>
    <p:sldId id="407" r:id="rId4"/>
    <p:sldId id="408" r:id="rId5"/>
    <p:sldId id="409" r:id="rId6"/>
    <p:sldId id="352" r:id="rId7"/>
    <p:sldId id="410" r:id="rId8"/>
    <p:sldId id="277" r:id="rId9"/>
    <p:sldId id="399" r:id="rId10"/>
    <p:sldId id="403" r:id="rId11"/>
    <p:sldId id="404" r:id="rId12"/>
    <p:sldId id="347" r:id="rId13"/>
    <p:sldId id="281" r:id="rId14"/>
    <p:sldId id="405" r:id="rId15"/>
    <p:sldId id="289" r:id="rId16"/>
    <p:sldId id="406" r:id="rId17"/>
    <p:sldId id="292" r:id="rId18"/>
    <p:sldId id="293" r:id="rId19"/>
    <p:sldId id="415" r:id="rId20"/>
    <p:sldId id="414" r:id="rId21"/>
    <p:sldId id="413" r:id="rId22"/>
    <p:sldId id="412" r:id="rId23"/>
    <p:sldId id="411" r:id="rId24"/>
    <p:sldId id="419" r:id="rId25"/>
    <p:sldId id="418" r:id="rId26"/>
    <p:sldId id="417" r:id="rId27"/>
    <p:sldId id="297" r:id="rId28"/>
    <p:sldId id="423" r:id="rId29"/>
    <p:sldId id="422" r:id="rId30"/>
    <p:sldId id="425" r:id="rId31"/>
    <p:sldId id="424" r:id="rId32"/>
    <p:sldId id="432" r:id="rId33"/>
    <p:sldId id="428" r:id="rId34"/>
    <p:sldId id="427" r:id="rId35"/>
    <p:sldId id="430" r:id="rId36"/>
    <p:sldId id="299" r:id="rId37"/>
    <p:sldId id="340" r:id="rId38"/>
    <p:sldId id="339" r:id="rId39"/>
    <p:sldId id="338" r:id="rId40"/>
    <p:sldId id="450" r:id="rId41"/>
    <p:sldId id="451" r:id="rId42"/>
    <p:sldId id="452" r:id="rId43"/>
    <p:sldId id="401" r:id="rId44"/>
    <p:sldId id="259" r:id="rId45"/>
    <p:sldId id="257" r:id="rId46"/>
    <p:sldId id="364" r:id="rId47"/>
    <p:sldId id="377" r:id="rId48"/>
    <p:sldId id="378" r:id="rId49"/>
    <p:sldId id="307" r:id="rId50"/>
    <p:sldId id="362" r:id="rId51"/>
    <p:sldId id="363" r:id="rId52"/>
    <p:sldId id="383" r:id="rId53"/>
    <p:sldId id="360" r:id="rId54"/>
    <p:sldId id="361" r:id="rId55"/>
    <p:sldId id="365" r:id="rId56"/>
    <p:sldId id="366" r:id="rId57"/>
    <p:sldId id="440" r:id="rId58"/>
    <p:sldId id="367" r:id="rId59"/>
    <p:sldId id="387" r:id="rId60"/>
    <p:sldId id="439" r:id="rId61"/>
    <p:sldId id="441" r:id="rId62"/>
    <p:sldId id="443" r:id="rId63"/>
    <p:sldId id="434" r:id="rId64"/>
    <p:sldId id="442" r:id="rId65"/>
    <p:sldId id="444" r:id="rId66"/>
    <p:sldId id="447" r:id="rId67"/>
    <p:sldId id="446" r:id="rId68"/>
    <p:sldId id="445" r:id="rId69"/>
    <p:sldId id="448" r:id="rId70"/>
    <p:sldId id="449" r:id="rId71"/>
    <p:sldId id="435" r:id="rId72"/>
    <p:sldId id="436" r:id="rId73"/>
    <p:sldId id="437" r:id="rId74"/>
    <p:sldId id="438" r:id="rId75"/>
    <p:sldId id="402" r:id="rId76"/>
    <p:sldId id="368" r:id="rId77"/>
    <p:sldId id="373" r:id="rId78"/>
    <p:sldId id="393" r:id="rId79"/>
    <p:sldId id="394" r:id="rId80"/>
    <p:sldId id="372" r:id="rId81"/>
    <p:sldId id="371" r:id="rId82"/>
    <p:sldId id="370" r:id="rId83"/>
    <p:sldId id="369" r:id="rId84"/>
    <p:sldId id="395" r:id="rId85"/>
    <p:sldId id="374" r:id="rId86"/>
    <p:sldId id="376" r:id="rId87"/>
    <p:sldId id="396" r:id="rId88"/>
    <p:sldId id="454" r:id="rId89"/>
    <p:sldId id="375" r:id="rId90"/>
    <p:sldId id="453" r:id="rId91"/>
    <p:sldId id="455" r:id="rId92"/>
    <p:sldId id="457" r:id="rId93"/>
    <p:sldId id="456" r:id="rId9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6" d="100"/>
          <a:sy n="66" d="100"/>
        </p:scale>
        <p:origin x="-1506" y="-14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46CC44-CE3A-450E-B54F-2C290C032DE3}" type="datetimeFigureOut">
              <a:rPr lang="en-US" smtClean="0"/>
              <a:pPr/>
              <a:t>2/19/2025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84B0E7-5350-4F92-AE13-973A1103C54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 level of abstraction?  Knowledge, circuitry, chemical?</a:t>
            </a:r>
            <a:endParaRPr lang="en-US" dirty="0"/>
          </a:p>
        </p:txBody>
      </p:sp>
      <p:sp>
        <p:nvSpPr>
          <p:cNvPr id="4" name="Slide Number Placeholder 3"/>
          <p:cNvSpPr>
            <a:spLocks noGrp="1"/>
          </p:cNvSpPr>
          <p:nvPr>
            <p:ph type="sldNum" sz="quarter" idx="10"/>
          </p:nvPr>
        </p:nvSpPr>
        <p:spPr/>
        <p:txBody>
          <a:bodyPr/>
          <a:lstStyle/>
          <a:p>
            <a:fld id="{51E72822-39EC-4284-92EC-8BB2119733A9}" type="slidenum">
              <a:rPr lang="en-US" smtClean="0"/>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history.computer.org/pioneers/samuel.html" TargetMode="External"/><Relationship Id="rId2" Type="http://schemas.openxmlformats.org/officeDocument/2006/relationships/hyperlink" Target="https://academic.oup.com/mind/article/LIX/236/433/986238" TargetMode="External"/><Relationship Id="rId1" Type="http://schemas.openxmlformats.org/officeDocument/2006/relationships/slideLayout" Target="../slideLayouts/slideLayout2.xml"/><Relationship Id="rId4" Type="http://schemas.openxmlformats.org/officeDocument/2006/relationships/hyperlink" Target="https://computerhistory.org/profile/john-mccarthy/"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infolab.stanford.edu/pub/voy/museum/samuel.html" TargetMode="External"/><Relationship Id="rId2" Type="http://schemas.openxmlformats.org/officeDocument/2006/relationships/hyperlink" Target="https://www.britannica.com/technology/LISP-computer-language" TargetMode="External"/><Relationship Id="rId1" Type="http://schemas.openxmlformats.org/officeDocument/2006/relationships/slideLayout" Target="../slideLayouts/slideLayout2.xml"/><Relationship Id="rId5" Type="http://schemas.openxmlformats.org/officeDocument/2006/relationships/hyperlink" Target="https://www.computer.org/profiles/edward-feigenbaum" TargetMode="External"/><Relationship Id="rId4" Type="http://schemas.openxmlformats.org/officeDocument/2006/relationships/hyperlink" Target="https://robots.ieee.org/robots/unimate/"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yourtechstory.com/2019/11/13/success-story-of-cleverbot/" TargetMode="External"/><Relationship Id="rId2" Type="http://schemas.openxmlformats.org/officeDocument/2006/relationships/hyperlink" Target="https://www.federalreserve.gov/pubs/feds/2007/200713/200713pap.pd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ibm.com/ibm/history/ibm100/us/en/icons/deepblue/"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ibm.com/ibm/history/ibm100/us/en/icons/watson/" TargetMode="External"/><Relationship Id="rId2" Type="http://schemas.openxmlformats.org/officeDocument/2006/relationships/hyperlink" Target="https://mars.nasa.gov/mars-exploration/missions/historical-lo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freecodecamp.org/news/what-to-know-about-gpt-4/"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130425"/>
            <a:ext cx="8077200" cy="1470025"/>
          </a:xfrm>
        </p:spPr>
        <p:txBody>
          <a:bodyPr/>
          <a:lstStyle/>
          <a:p>
            <a:r>
              <a:rPr lang="en-US" dirty="0" smtClean="0"/>
              <a:t>(22PC1CB304) </a:t>
            </a:r>
            <a:br>
              <a:rPr lang="en-US" dirty="0" smtClean="0"/>
            </a:br>
            <a:r>
              <a:rPr lang="en-US" dirty="0" smtClean="0"/>
              <a:t>ARTIFICIAL INTELLIGENCE</a:t>
            </a:r>
            <a:endParaRPr lang="en-US" dirty="0"/>
          </a:p>
        </p:txBody>
      </p:sp>
      <p:sp>
        <p:nvSpPr>
          <p:cNvPr id="3" name="Subtitle 2"/>
          <p:cNvSpPr>
            <a:spLocks noGrp="1"/>
          </p:cNvSpPr>
          <p:nvPr>
            <p:ph type="subTitle" idx="1"/>
          </p:nvPr>
        </p:nvSpPr>
        <p:spPr/>
        <p:txBody>
          <a:bodyPr/>
          <a:lstStyle/>
          <a:p>
            <a:r>
              <a:rPr lang="en-US" dirty="0" smtClean="0"/>
              <a:t>UNIT-1</a:t>
            </a:r>
            <a:endParaRPr lang="en-US" dirty="0"/>
          </a:p>
        </p:txBody>
      </p:sp>
      <p:sp>
        <p:nvSpPr>
          <p:cNvPr id="4" name="TextBox 3"/>
          <p:cNvSpPr txBox="1"/>
          <p:nvPr/>
        </p:nvSpPr>
        <p:spPr>
          <a:xfrm>
            <a:off x="1524000" y="4876800"/>
            <a:ext cx="6096000" cy="369332"/>
          </a:xfrm>
          <a:prstGeom prst="rect">
            <a:avLst/>
          </a:prstGeom>
          <a:noFill/>
        </p:spPr>
        <p:txBody>
          <a:bodyPr wrap="square" rtlCol="0">
            <a:spAutoFit/>
          </a:bodyPr>
          <a:lstStyle/>
          <a:p>
            <a:r>
              <a:rPr lang="en-US" dirty="0" smtClean="0"/>
              <a:t>By Dr. </a:t>
            </a:r>
            <a:r>
              <a:rPr lang="en-US" dirty="0" err="1" smtClean="0"/>
              <a:t>Anjusha</a:t>
            </a:r>
            <a:r>
              <a:rPr lang="en-US" dirty="0" smtClean="0"/>
              <a:t> </a:t>
            </a:r>
            <a:r>
              <a:rPr lang="en-US" dirty="0" err="1" smtClean="0"/>
              <a:t>Pimpalshende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ARTIFICIAL INTELLIGENCE</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UNIT-I: </a:t>
            </a:r>
          </a:p>
          <a:p>
            <a:pPr>
              <a:buNone/>
            </a:pPr>
            <a:r>
              <a:rPr lang="en-US" dirty="0" smtClean="0"/>
              <a:t>	Introduction, Overview of Artificial intelligence: Problems of AI, AI technique, Tic - </a:t>
            </a:r>
            <a:r>
              <a:rPr lang="en-US" dirty="0" err="1" smtClean="0"/>
              <a:t>Tac</a:t>
            </a:r>
            <a:r>
              <a:rPr lang="en-US" dirty="0" smtClean="0"/>
              <a:t> - Toe problem. Intelligent Agents, Agents &amp; environment, nature of environment, structure of agents, goal based agents, utility based agents, learning agents. Problem Solving, Problems, Problem Space &amp; search: Defining the problem as state space search, production system, problem characteristics, issues in the design of search programs.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Introduction:ARTIFICIAL</a:t>
            </a:r>
            <a:r>
              <a:rPr lang="en-US" dirty="0" smtClean="0"/>
              <a:t> INTELLIGENCE</a:t>
            </a:r>
            <a:endParaRPr lang="en-US" dirty="0"/>
          </a:p>
        </p:txBody>
      </p:sp>
      <p:sp>
        <p:nvSpPr>
          <p:cNvPr id="3" name="Content Placeholder 2"/>
          <p:cNvSpPr>
            <a:spLocks noGrp="1"/>
          </p:cNvSpPr>
          <p:nvPr>
            <p:ph idx="1"/>
          </p:nvPr>
        </p:nvSpPr>
        <p:spPr>
          <a:xfrm>
            <a:off x="457200" y="1219200"/>
            <a:ext cx="8229600" cy="5486400"/>
          </a:xfrm>
        </p:spPr>
        <p:txBody>
          <a:bodyPr>
            <a:normAutofit fontScale="92500" lnSpcReduction="20000"/>
          </a:bodyPr>
          <a:lstStyle/>
          <a:p>
            <a:r>
              <a:rPr lang="en-US" dirty="0" smtClean="0"/>
              <a:t>Artificial refers to something that is made or produced by humans rather than occurring naturally.</a:t>
            </a:r>
          </a:p>
          <a:p>
            <a:pPr algn="just"/>
            <a:r>
              <a:rPr lang="en-US" b="1" dirty="0" smtClean="0"/>
              <a:t>Intelligence: </a:t>
            </a:r>
            <a:r>
              <a:rPr lang="en-US" dirty="0" smtClean="0"/>
              <a:t>The general meaning of intelligence refers to the ability to acquire, understand, and apply knowledge and skills to solve problems, understand complex ideas, and adapt to new situations.</a:t>
            </a:r>
          </a:p>
          <a:p>
            <a:pPr algn="just"/>
            <a:r>
              <a:rPr lang="en-US" dirty="0" smtClean="0"/>
              <a:t>ability to learn from experience, reason logically, and understand abstract concepts.</a:t>
            </a:r>
          </a:p>
          <a:p>
            <a:pPr algn="just"/>
            <a:r>
              <a:rPr lang="en-US" dirty="0" smtClean="0"/>
              <a:t>Intelligence can be measured through cognitive tests, but it also encompasses emotional and social abilities, such as empathy and self-awareness.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smtClean="0"/>
              <a:t>Types of Intelligence:</a:t>
            </a:r>
            <a:endParaRPr lang="en-US" dirty="0"/>
          </a:p>
        </p:txBody>
      </p:sp>
      <p:sp>
        <p:nvSpPr>
          <p:cNvPr id="3" name="Content Placeholder 2"/>
          <p:cNvSpPr>
            <a:spLocks noGrp="1"/>
          </p:cNvSpPr>
          <p:nvPr>
            <p:ph idx="1"/>
          </p:nvPr>
        </p:nvSpPr>
        <p:spPr>
          <a:xfrm>
            <a:off x="457200" y="1066800"/>
            <a:ext cx="8229600" cy="5638800"/>
          </a:xfrm>
        </p:spPr>
        <p:txBody>
          <a:bodyPr>
            <a:normAutofit fontScale="92500" lnSpcReduction="20000"/>
          </a:bodyPr>
          <a:lstStyle/>
          <a:p>
            <a:r>
              <a:rPr lang="en-US" u="sng" dirty="0" smtClean="0"/>
              <a:t>Linguistic intelligence</a:t>
            </a:r>
            <a:r>
              <a:rPr lang="en-US" dirty="0" smtClean="0"/>
              <a:t>: The ability to understand and use language effectively, including speaking, writing, and reading.</a:t>
            </a:r>
          </a:p>
          <a:p>
            <a:r>
              <a:rPr lang="en-US" u="sng" dirty="0" smtClean="0"/>
              <a:t>Logical-mathematical intelligence</a:t>
            </a:r>
            <a:r>
              <a:rPr lang="en-US" dirty="0" smtClean="0"/>
              <a:t>: The ability to understand and work with abstract concepts, patterns, and relationships, as well as perform mathematical operations.</a:t>
            </a:r>
          </a:p>
          <a:p>
            <a:r>
              <a:rPr lang="en-US" u="sng" dirty="0" smtClean="0"/>
              <a:t>Spatial intelligence</a:t>
            </a:r>
            <a:r>
              <a:rPr lang="en-US" dirty="0" smtClean="0"/>
              <a:t>: The ability to perceive and manipulate visual images, understand spatial relationships and create mental maps.</a:t>
            </a:r>
          </a:p>
          <a:p>
            <a:r>
              <a:rPr lang="en-US" u="sng" dirty="0" smtClean="0"/>
              <a:t>Bodily-kinesthetic intelligence</a:t>
            </a:r>
            <a:r>
              <a:rPr lang="en-US" dirty="0" smtClean="0"/>
              <a:t>: The ability to control and coordinate one’s physical movements, as well as understand and express emotions through body language.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smtClean="0"/>
              <a:t>Types of Intelligence:</a:t>
            </a:r>
            <a:endParaRPr lang="en-US" dirty="0"/>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r>
              <a:rPr lang="en-US" u="sng" dirty="0" smtClean="0"/>
              <a:t>Musical intelligence</a:t>
            </a:r>
            <a:r>
              <a:rPr lang="en-US" dirty="0" smtClean="0"/>
              <a:t>: The ability to understand and create music, as well as recognize and appreciate different musical styles and forms.</a:t>
            </a:r>
          </a:p>
          <a:p>
            <a:r>
              <a:rPr lang="en-US" u="sng" dirty="0" smtClean="0"/>
              <a:t>Interpersonal intelligence</a:t>
            </a:r>
            <a:r>
              <a:rPr lang="en-US" dirty="0" smtClean="0"/>
              <a:t>: The ability to understand and interact effectively with others, including interpreting and managing emotions, and building and maintaining relationships.</a:t>
            </a:r>
          </a:p>
          <a:p>
            <a:r>
              <a:rPr lang="en-US" u="sng" dirty="0" smtClean="0"/>
              <a:t>Intrapersonal intelligence</a:t>
            </a:r>
            <a:r>
              <a:rPr lang="en-US" dirty="0" smtClean="0"/>
              <a:t>: The ability to understand and manage one’s own emotions, motivations, and behaviors, as well as to have a strong sense of self-awareness.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solidFill>
                  <a:schemeClr val="accent1"/>
                </a:solidFill>
              </a:rPr>
              <a:t>ARTIFICIAL INTELLIGENCE</a:t>
            </a:r>
            <a:endParaRPr lang="en-US" dirty="0">
              <a:solidFill>
                <a:schemeClr val="accent1"/>
              </a:solidFill>
            </a:endParaRPr>
          </a:p>
        </p:txBody>
      </p:sp>
      <p:sp>
        <p:nvSpPr>
          <p:cNvPr id="3" name="Content Placeholder 2"/>
          <p:cNvSpPr>
            <a:spLocks noGrp="1"/>
          </p:cNvSpPr>
          <p:nvPr>
            <p:ph idx="1"/>
          </p:nvPr>
        </p:nvSpPr>
        <p:spPr>
          <a:xfrm>
            <a:off x="457200" y="1219200"/>
            <a:ext cx="8229600" cy="5334000"/>
          </a:xfrm>
        </p:spPr>
        <p:txBody>
          <a:bodyPr>
            <a:normAutofit fontScale="92500"/>
          </a:bodyPr>
          <a:lstStyle/>
          <a:p>
            <a:pPr algn="just"/>
            <a:r>
              <a:rPr lang="en-US" dirty="0" smtClean="0"/>
              <a:t>Artificial Intelligence is composed of two words </a:t>
            </a:r>
            <a:r>
              <a:rPr lang="en-US" b="1" dirty="0" smtClean="0"/>
              <a:t>Artificial</a:t>
            </a:r>
            <a:r>
              <a:rPr lang="en-US" dirty="0" smtClean="0"/>
              <a:t> and </a:t>
            </a:r>
            <a:r>
              <a:rPr lang="en-US" b="1" dirty="0" smtClean="0"/>
              <a:t>Intelligence</a:t>
            </a:r>
            <a:r>
              <a:rPr lang="en-US" dirty="0" smtClean="0"/>
              <a:t>, where Artificial defines </a:t>
            </a:r>
            <a:r>
              <a:rPr lang="en-US" i="1" dirty="0" smtClean="0"/>
              <a:t>"man-made,"</a:t>
            </a:r>
            <a:r>
              <a:rPr lang="en-US" dirty="0" smtClean="0"/>
              <a:t> and intelligence defines </a:t>
            </a:r>
            <a:r>
              <a:rPr lang="en-US" i="1" dirty="0" smtClean="0"/>
              <a:t>"thinking power"</a:t>
            </a:r>
            <a:r>
              <a:rPr lang="en-US" dirty="0" smtClean="0"/>
              <a:t>, hence AI means </a:t>
            </a:r>
            <a:r>
              <a:rPr lang="en-US" i="1" dirty="0" smtClean="0"/>
              <a:t>"a man-made thinking power.“</a:t>
            </a:r>
            <a:endParaRPr lang="en-US" dirty="0" smtClean="0"/>
          </a:p>
          <a:p>
            <a:r>
              <a:rPr lang="en-US" dirty="0" smtClean="0"/>
              <a:t>Artificial Intelligence is the study of how to make machines do things that at present humans can do better.</a:t>
            </a:r>
          </a:p>
          <a:p>
            <a:r>
              <a:rPr lang="en-US" dirty="0" smtClean="0"/>
              <a:t>An artificial Intelligence system works like a human brain, where a machine or software shows intelligence while performing a given task.</a:t>
            </a:r>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Artificial Intelligence:</a:t>
            </a:r>
            <a:r>
              <a:rPr lang="en-US" dirty="0" smtClean="0"/>
              <a:t/>
            </a:r>
            <a:br>
              <a:rPr lang="en-US" dirty="0" smtClean="0"/>
            </a:br>
            <a:endParaRPr lang="en-US" dirty="0"/>
          </a:p>
        </p:txBody>
      </p:sp>
      <p:sp>
        <p:nvSpPr>
          <p:cNvPr id="3" name="Content Placeholder 2"/>
          <p:cNvSpPr>
            <a:spLocks noGrp="1"/>
          </p:cNvSpPr>
          <p:nvPr>
            <p:ph idx="1"/>
          </p:nvPr>
        </p:nvSpPr>
        <p:spPr>
          <a:xfrm>
            <a:off x="457200" y="914400"/>
            <a:ext cx="8229600" cy="5486400"/>
          </a:xfrm>
        </p:spPr>
        <p:txBody>
          <a:bodyPr>
            <a:normAutofit fontScale="92500" lnSpcReduction="20000"/>
          </a:bodyPr>
          <a:lstStyle/>
          <a:p>
            <a:pPr algn="just"/>
            <a:r>
              <a:rPr lang="en-US" dirty="0" smtClean="0"/>
              <a:t>Artificial Intelligence (AI) is a branch of computer science that focuses on creating intelligent computer systems that can perform tasks that typically require human intelligence, such as understanding natural language, recognizing objects and images, making decisions, and solving problems. </a:t>
            </a:r>
          </a:p>
          <a:p>
            <a:pPr algn="just"/>
            <a:r>
              <a:rPr lang="en-US" dirty="0" smtClean="0"/>
              <a:t>AI systems are designed to learn from data and experience, and they can be programmed to simulate human-like intelligence and decision-making processes.</a:t>
            </a:r>
          </a:p>
          <a:p>
            <a:pPr algn="just"/>
            <a:r>
              <a:rPr lang="en-US" dirty="0" smtClean="0"/>
              <a:t>Some definition measures fidelity of human performance some measures ideal concept of intelligence(Rationality)</a:t>
            </a:r>
          </a:p>
          <a:p>
            <a:pPr algn="just"/>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Different Approaches of AI</a:t>
            </a:r>
            <a:endParaRPr lang="en-US" dirty="0"/>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0" y="1524000"/>
            <a:ext cx="9144000" cy="4876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solidFill>
                  <a:srgbClr val="FF0000"/>
                </a:solidFill>
              </a:rPr>
              <a:t>Approach 1: Thinking Humanly</a:t>
            </a:r>
            <a:endParaRPr lang="en-US" dirty="0">
              <a:solidFill>
                <a:srgbClr val="FF0000"/>
              </a:solidFill>
            </a:endParaRPr>
          </a:p>
        </p:txBody>
      </p:sp>
      <p:sp>
        <p:nvSpPr>
          <p:cNvPr id="3" name="Content Placeholder 2"/>
          <p:cNvSpPr>
            <a:spLocks noGrp="1"/>
          </p:cNvSpPr>
          <p:nvPr>
            <p:ph idx="1"/>
          </p:nvPr>
        </p:nvSpPr>
        <p:spPr>
          <a:xfrm>
            <a:off x="457200" y="914400"/>
            <a:ext cx="8229600" cy="5791200"/>
          </a:xfrm>
        </p:spPr>
        <p:txBody>
          <a:bodyPr>
            <a:normAutofit fontScale="70000" lnSpcReduction="20000"/>
          </a:bodyPr>
          <a:lstStyle/>
          <a:p>
            <a:pPr algn="just"/>
            <a:r>
              <a:rPr lang="en-US" sz="3400" b="1" dirty="0" smtClean="0">
                <a:latin typeface="Times New Roman" pitchFamily="18" charset="0"/>
                <a:cs typeface="Times New Roman" pitchFamily="18" charset="0"/>
              </a:rPr>
              <a:t>Thinking Humanly:</a:t>
            </a:r>
            <a:endParaRPr lang="en-US" sz="3400" dirty="0" smtClean="0">
              <a:latin typeface="Times New Roman" pitchFamily="18" charset="0"/>
              <a:cs typeface="Times New Roman" pitchFamily="18" charset="0"/>
            </a:endParaRPr>
          </a:p>
          <a:p>
            <a:pPr algn="just"/>
            <a:r>
              <a:rPr lang="en-US" sz="3400" dirty="0" smtClean="0">
                <a:latin typeface="Times New Roman" pitchFamily="18" charset="0"/>
                <a:cs typeface="Times New Roman" pitchFamily="18" charset="0"/>
              </a:rPr>
              <a:t>This approach focuses on building artificial intelligence systems that can think like a human. </a:t>
            </a:r>
          </a:p>
          <a:p>
            <a:pPr algn="just"/>
            <a:r>
              <a:rPr lang="en-US" sz="3400" dirty="0" smtClean="0">
                <a:latin typeface="Times New Roman" pitchFamily="18" charset="0"/>
                <a:cs typeface="Times New Roman" pitchFamily="18" charset="0"/>
              </a:rPr>
              <a:t>The goal is to create systems that can understand human language, emotions, and culture and can interact with humans in a natural way.</a:t>
            </a:r>
          </a:p>
          <a:p>
            <a:pPr algn="just"/>
            <a:r>
              <a:rPr lang="en-US" sz="3400" dirty="0" smtClean="0">
                <a:latin typeface="Times New Roman" pitchFamily="18" charset="0"/>
                <a:cs typeface="Times New Roman" pitchFamily="18" charset="0"/>
              </a:rPr>
              <a:t>This approach is mainly used in the development of conversational AI systems, such as </a:t>
            </a:r>
            <a:r>
              <a:rPr lang="en-US" sz="3400" dirty="0" err="1" smtClean="0">
                <a:latin typeface="Times New Roman" pitchFamily="18" charset="0"/>
                <a:cs typeface="Times New Roman" pitchFamily="18" charset="0"/>
              </a:rPr>
              <a:t>chatbots</a:t>
            </a:r>
            <a:r>
              <a:rPr lang="en-US" sz="3400" dirty="0" smtClean="0">
                <a:latin typeface="Times New Roman" pitchFamily="18" charset="0"/>
                <a:cs typeface="Times New Roman" pitchFamily="18" charset="0"/>
              </a:rPr>
              <a:t> and virtual assistants, that need to understand and respond to natural language input from humans.</a:t>
            </a:r>
          </a:p>
          <a:p>
            <a:pPr algn="just"/>
            <a:r>
              <a:rPr lang="en-US" sz="3400" b="1" dirty="0" smtClean="0">
                <a:latin typeface="Times New Roman" pitchFamily="18" charset="0"/>
                <a:cs typeface="Times New Roman" pitchFamily="18" charset="0"/>
              </a:rPr>
              <a:t>Examples:</a:t>
            </a:r>
            <a:endParaRPr lang="en-US" sz="3400" dirty="0" smtClean="0">
              <a:latin typeface="Times New Roman" pitchFamily="18" charset="0"/>
              <a:cs typeface="Times New Roman" pitchFamily="18" charset="0"/>
            </a:endParaRPr>
          </a:p>
          <a:p>
            <a:pPr algn="just"/>
            <a:r>
              <a:rPr lang="en-US" sz="3400" dirty="0" smtClean="0">
                <a:latin typeface="Times New Roman" pitchFamily="18" charset="0"/>
                <a:cs typeface="Times New Roman" pitchFamily="18" charset="0"/>
              </a:rPr>
              <a:t>a. </a:t>
            </a:r>
            <a:r>
              <a:rPr lang="en-US" sz="3400" dirty="0" err="1" smtClean="0">
                <a:latin typeface="Times New Roman" pitchFamily="18" charset="0"/>
                <a:cs typeface="Times New Roman" pitchFamily="18" charset="0"/>
              </a:rPr>
              <a:t>Siri</a:t>
            </a:r>
            <a:r>
              <a:rPr lang="en-US" sz="3400" dirty="0" smtClean="0">
                <a:latin typeface="Times New Roman" pitchFamily="18" charset="0"/>
                <a:cs typeface="Times New Roman" pitchFamily="18" charset="0"/>
              </a:rPr>
              <a:t>, </a:t>
            </a:r>
            <a:r>
              <a:rPr lang="en-US" sz="3400" dirty="0" err="1" smtClean="0">
                <a:latin typeface="Times New Roman" pitchFamily="18" charset="0"/>
                <a:cs typeface="Times New Roman" pitchFamily="18" charset="0"/>
              </a:rPr>
              <a:t>Alexa</a:t>
            </a:r>
            <a:r>
              <a:rPr lang="en-US" sz="3400" dirty="0" smtClean="0">
                <a:latin typeface="Times New Roman" pitchFamily="18" charset="0"/>
                <a:cs typeface="Times New Roman" pitchFamily="18" charset="0"/>
              </a:rPr>
              <a:t>, and Google Assistant: Virtual assistants that can understand and respond to natural language input from users.</a:t>
            </a:r>
            <a:br>
              <a:rPr lang="en-US" sz="3400" dirty="0" smtClean="0">
                <a:latin typeface="Times New Roman" pitchFamily="18" charset="0"/>
                <a:cs typeface="Times New Roman" pitchFamily="18" charset="0"/>
              </a:rPr>
            </a:br>
            <a:r>
              <a:rPr lang="en-US" sz="3400" dirty="0" smtClean="0">
                <a:latin typeface="Times New Roman" pitchFamily="18" charset="0"/>
                <a:cs typeface="Times New Roman" pitchFamily="18" charset="0"/>
              </a:rPr>
              <a:t>b. </a:t>
            </a:r>
            <a:r>
              <a:rPr lang="en-US" sz="3400" dirty="0" err="1" smtClean="0">
                <a:latin typeface="Times New Roman" pitchFamily="18" charset="0"/>
                <a:cs typeface="Times New Roman" pitchFamily="18" charset="0"/>
              </a:rPr>
              <a:t>Chatbots</a:t>
            </a:r>
            <a:r>
              <a:rPr lang="en-US" sz="3400" dirty="0" smtClean="0">
                <a:latin typeface="Times New Roman" pitchFamily="18" charset="0"/>
                <a:cs typeface="Times New Roman" pitchFamily="18" charset="0"/>
              </a:rPr>
              <a:t>: AI systems that can have conversations with humans using natural language processing techniques.</a:t>
            </a:r>
            <a:br>
              <a:rPr lang="en-US" sz="3400" dirty="0" smtClean="0">
                <a:latin typeface="Times New Roman" pitchFamily="18" charset="0"/>
                <a:cs typeface="Times New Roman" pitchFamily="18" charset="0"/>
              </a:rPr>
            </a:br>
            <a:r>
              <a:rPr lang="en-US" sz="3400" dirty="0" smtClean="0">
                <a:latin typeface="Times New Roman" pitchFamily="18" charset="0"/>
                <a:cs typeface="Times New Roman" pitchFamily="18" charset="0"/>
              </a:rPr>
              <a:t>c. Emotion recognition systems: AI systems that can detect emotions in human speech and facial expressions.</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Approach 2: Acting Humanly</a:t>
            </a:r>
            <a:endParaRPr lang="en-US" dirty="0"/>
          </a:p>
        </p:txBody>
      </p:sp>
      <p:sp>
        <p:nvSpPr>
          <p:cNvPr id="3" name="Content Placeholder 2"/>
          <p:cNvSpPr>
            <a:spLocks noGrp="1"/>
          </p:cNvSpPr>
          <p:nvPr>
            <p:ph idx="1"/>
          </p:nvPr>
        </p:nvSpPr>
        <p:spPr>
          <a:xfrm>
            <a:off x="457200" y="1219200"/>
            <a:ext cx="8229600" cy="5334000"/>
          </a:xfrm>
        </p:spPr>
        <p:txBody>
          <a:bodyPr>
            <a:noAutofit/>
          </a:bodyPr>
          <a:lstStyle/>
          <a:p>
            <a:pPr algn="just"/>
            <a:r>
              <a:rPr lang="en-US" sz="2400" dirty="0" smtClean="0">
                <a:latin typeface="Times New Roman" pitchFamily="18" charset="0"/>
                <a:cs typeface="Times New Roman" pitchFamily="18" charset="0"/>
              </a:rPr>
              <a:t>This approach focuses on building artificial intelligence systems that can act like humans. </a:t>
            </a:r>
          </a:p>
          <a:p>
            <a:pPr algn="just"/>
            <a:r>
              <a:rPr lang="en-US" sz="2400" dirty="0" smtClean="0">
                <a:latin typeface="Times New Roman" pitchFamily="18" charset="0"/>
                <a:cs typeface="Times New Roman" pitchFamily="18" charset="0"/>
              </a:rPr>
              <a:t>The goal is to create systems that can perform tasks such as recognizing speech, recognizing images, and controlling robots in a human-like manner.</a:t>
            </a:r>
          </a:p>
          <a:p>
            <a:pPr algn="just"/>
            <a:r>
              <a:rPr lang="en-US" sz="2400" dirty="0" smtClean="0">
                <a:latin typeface="Times New Roman" pitchFamily="18" charset="0"/>
                <a:cs typeface="Times New Roman" pitchFamily="18" charset="0"/>
              </a:rPr>
              <a:t>This approach is mainly used in computer vision and robotics, where the goal is to create systems that can perceive and interact with the physical world in a human-like manner.</a:t>
            </a:r>
          </a:p>
          <a:p>
            <a:pPr algn="just"/>
            <a:r>
              <a:rPr lang="en-US" sz="2400" b="1" dirty="0" smtClean="0">
                <a:latin typeface="Times New Roman" pitchFamily="18" charset="0"/>
                <a:cs typeface="Times New Roman" pitchFamily="18" charset="0"/>
              </a:rPr>
              <a:t>Examples:</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self-driving cars, facial recognition systems, and gesture-based human-computer interfaces.</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a. Self-driving cars: AI systems that can control a vehicle and navigate roads, traffic, and obstacles in a human-like manner.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Approach 2: Acting Humanly</a:t>
            </a:r>
            <a:endParaRPr lang="en-US" dirty="0"/>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b. Facial recognition systems: AI systems that can identify individuals based on their facial features.</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c. Gesture-based human-computer interfaces: AI systems that can interpret and respond to gestures made by a user.</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solidFill>
                  <a:srgbClr val="FF0000"/>
                </a:solidFill>
              </a:rPr>
              <a:t>Approach 3: Thinking Rationally</a:t>
            </a:r>
            <a:endParaRPr lang="en-US" dirty="0">
              <a:solidFill>
                <a:srgbClr val="FF0000"/>
              </a:solidFill>
            </a:endParaRPr>
          </a:p>
        </p:txBody>
      </p:sp>
      <p:sp>
        <p:nvSpPr>
          <p:cNvPr id="3" name="Content Placeholder 2"/>
          <p:cNvSpPr>
            <a:spLocks noGrp="1"/>
          </p:cNvSpPr>
          <p:nvPr>
            <p:ph idx="1"/>
          </p:nvPr>
        </p:nvSpPr>
        <p:spPr>
          <a:xfrm>
            <a:off x="457200" y="990600"/>
            <a:ext cx="8229600" cy="5638800"/>
          </a:xfrm>
        </p:spPr>
        <p:txBody>
          <a:bodyPr>
            <a:noAutofit/>
          </a:bodyPr>
          <a:lstStyle/>
          <a:p>
            <a:pPr algn="just"/>
            <a:r>
              <a:rPr lang="en-US" sz="2800" dirty="0" smtClean="0">
                <a:latin typeface="Times New Roman" pitchFamily="18" charset="0"/>
                <a:cs typeface="Times New Roman" pitchFamily="18" charset="0"/>
              </a:rPr>
              <a:t>This approach focuses on building artificial intelligence systems that can reason logically and make decisions based on information and rules. </a:t>
            </a:r>
          </a:p>
          <a:p>
            <a:pPr algn="just"/>
            <a:r>
              <a:rPr lang="en-US" sz="2800" dirty="0" smtClean="0">
                <a:latin typeface="Times New Roman" pitchFamily="18" charset="0"/>
                <a:cs typeface="Times New Roman" pitchFamily="18" charset="0"/>
              </a:rPr>
              <a:t>The goal is to create systems that can solve problems and make decisions in a way that is consistent with the principles of rational thinking.</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This approach is used in a wide range of applications, including decision-making, planning, and problem-solving. </a:t>
            </a:r>
          </a:p>
          <a:p>
            <a:pPr algn="just"/>
            <a:r>
              <a:rPr lang="en-US" sz="2800" dirty="0" smtClean="0">
                <a:latin typeface="Times New Roman" pitchFamily="18" charset="0"/>
                <a:cs typeface="Times New Roman" pitchFamily="18" charset="0"/>
              </a:rPr>
              <a:t>For example, expert systems, recommendation systems, and optimization algorithms.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Approach 3: Thinking Rationally</a:t>
            </a:r>
            <a:endParaRPr lang="en-US" dirty="0"/>
          </a:p>
        </p:txBody>
      </p:sp>
      <p:sp>
        <p:nvSpPr>
          <p:cNvPr id="3" name="Content Placeholder 2"/>
          <p:cNvSpPr>
            <a:spLocks noGrp="1"/>
          </p:cNvSpPr>
          <p:nvPr>
            <p:ph idx="1"/>
          </p:nvPr>
        </p:nvSpPr>
        <p:spPr/>
        <p:txBody>
          <a:bodyPr>
            <a:normAutofit lnSpcReduction="10000"/>
          </a:bodyPr>
          <a:lstStyle/>
          <a:p>
            <a:r>
              <a:rPr lang="en-US" b="1" dirty="0" smtClean="0">
                <a:latin typeface="Times New Roman" pitchFamily="18" charset="0"/>
                <a:cs typeface="Times New Roman" pitchFamily="18" charset="0"/>
              </a:rPr>
              <a:t>Examples: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a. Expert systems: AI systems that can make decisions and provide advice based on a set of rules and knowledge.</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b. Recommendation systems: AI systems that can provide personalized recommendations to users based on their preferences and behavior.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c. Optimization algorithms: AI systems that can find the best solution to a problem by considering multiple factors and constraints.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Approach 4: Acting Rationally</a:t>
            </a:r>
            <a:endParaRPr lang="en-US" dirty="0">
              <a:solidFill>
                <a:srgbClr val="FF0000"/>
              </a:solidFill>
            </a:endParaRPr>
          </a:p>
        </p:txBody>
      </p:sp>
      <p:sp>
        <p:nvSpPr>
          <p:cNvPr id="3" name="Content Placeholder 2"/>
          <p:cNvSpPr>
            <a:spLocks noGrp="1"/>
          </p:cNvSpPr>
          <p:nvPr>
            <p:ph idx="1"/>
          </p:nvPr>
        </p:nvSpPr>
        <p:spPr>
          <a:xfrm>
            <a:off x="457200" y="1219200"/>
            <a:ext cx="8229600" cy="5410200"/>
          </a:xfrm>
        </p:spPr>
        <p:txBody>
          <a:bodyPr>
            <a:normAutofit fontScale="92500" lnSpcReduction="20000"/>
          </a:bodyPr>
          <a:lstStyle/>
          <a:p>
            <a:pPr algn="just"/>
            <a:r>
              <a:rPr lang="en-US" dirty="0" smtClean="0"/>
              <a:t>This approach focuses on building artificial intelligence systems that can act rationally. </a:t>
            </a:r>
          </a:p>
          <a:p>
            <a:pPr algn="just"/>
            <a:r>
              <a:rPr lang="en-US" dirty="0" smtClean="0"/>
              <a:t>The goal is to create systems that can make decisions and take actions that are consistent with the principles of rational thinking and that achieve their goals efficiently and effectively.</a:t>
            </a:r>
          </a:p>
          <a:p>
            <a:r>
              <a:rPr lang="en-US" dirty="0" smtClean="0"/>
              <a:t>This approach is mainly used in artificial intelligence systems that need to make decisions and take actions to achieve their goals in a rational and efficient manner. </a:t>
            </a:r>
          </a:p>
          <a:p>
            <a:r>
              <a:rPr lang="en-US" dirty="0" smtClean="0"/>
              <a:t>For example, autonomous agents, recommendation systems, and reinforcement learning algorithms.</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Approach 4: Acting Rationally</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Examples:</a:t>
            </a:r>
            <a:r>
              <a:rPr lang="en-US" dirty="0" smtClean="0"/>
              <a:t/>
            </a:r>
            <a:br>
              <a:rPr lang="en-US" dirty="0" smtClean="0"/>
            </a:br>
            <a:r>
              <a:rPr lang="en-US" dirty="0" smtClean="0"/>
              <a:t>a. Autonomous agents: AI systems that can make decisions and take actions to achieve their goals in an efficient and effective manner.</a:t>
            </a:r>
            <a:br>
              <a:rPr lang="en-US" dirty="0" smtClean="0"/>
            </a:br>
            <a:r>
              <a:rPr lang="en-US" dirty="0" smtClean="0"/>
              <a:t>b. Reinforcement learning algorithms: AI systems that can learn to take actions in an environment by receiving rewards and punishments based on their decisions.</a:t>
            </a:r>
            <a:br>
              <a:rPr lang="en-US" dirty="0" smtClean="0"/>
            </a:br>
            <a:r>
              <a:rPr lang="en-US" dirty="0" smtClean="0"/>
              <a:t>c. Game AI: AI systems that can play games such as chess, Go, or poker and make decisions based on the rules and objectives of the game.</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Goals of Artificial Intelligence</a:t>
            </a:r>
            <a:r>
              <a:rPr lang="en-US" b="1" dirty="0" smtClean="0"/>
              <a:t/>
            </a:r>
            <a:br>
              <a:rPr lang="en-US" b="1" dirty="0" smtClean="0"/>
            </a:br>
            <a:endParaRPr lang="en-US" dirty="0"/>
          </a:p>
        </p:txBody>
      </p:sp>
      <p:sp>
        <p:nvSpPr>
          <p:cNvPr id="3" name="Content Placeholder 2"/>
          <p:cNvSpPr>
            <a:spLocks noGrp="1"/>
          </p:cNvSpPr>
          <p:nvPr>
            <p:ph idx="1"/>
          </p:nvPr>
        </p:nvSpPr>
        <p:spPr>
          <a:xfrm>
            <a:off x="457200" y="914400"/>
            <a:ext cx="8229600" cy="5486400"/>
          </a:xfrm>
        </p:spPr>
        <p:txBody>
          <a:bodyPr>
            <a:normAutofit fontScale="92500" lnSpcReduction="20000"/>
          </a:bodyPr>
          <a:lstStyle/>
          <a:p>
            <a:pPr lvl="0"/>
            <a:r>
              <a:rPr lang="en-US" dirty="0" smtClean="0"/>
              <a:t>Replicate human intelligence</a:t>
            </a:r>
            <a:endParaRPr lang="en-US" sz="2800" dirty="0" smtClean="0"/>
          </a:p>
          <a:p>
            <a:pPr lvl="0"/>
            <a:r>
              <a:rPr lang="en-US" dirty="0" smtClean="0"/>
              <a:t>Solve Knowledge-intensive tasks</a:t>
            </a:r>
            <a:endParaRPr lang="en-US" sz="2800" dirty="0" smtClean="0"/>
          </a:p>
          <a:p>
            <a:pPr lvl="0"/>
            <a:r>
              <a:rPr lang="en-US" dirty="0" smtClean="0"/>
              <a:t>An intelligent connection of perception and action</a:t>
            </a:r>
            <a:endParaRPr lang="en-US" sz="2800" dirty="0" smtClean="0"/>
          </a:p>
          <a:p>
            <a:pPr lvl="0"/>
            <a:r>
              <a:rPr lang="en-US" dirty="0" smtClean="0"/>
              <a:t>Building a machine which can perform tasks that requires human intelligence such as:</a:t>
            </a:r>
            <a:endParaRPr lang="en-US" sz="2800" dirty="0" smtClean="0"/>
          </a:p>
          <a:p>
            <a:pPr lvl="1"/>
            <a:r>
              <a:rPr lang="en-US" dirty="0" smtClean="0"/>
              <a:t>Proving a theorem</a:t>
            </a:r>
            <a:endParaRPr lang="en-US" sz="2400" dirty="0" smtClean="0"/>
          </a:p>
          <a:p>
            <a:pPr lvl="1"/>
            <a:r>
              <a:rPr lang="en-US" dirty="0" smtClean="0"/>
              <a:t>Playing chess</a:t>
            </a:r>
            <a:endParaRPr lang="en-US" sz="2400" dirty="0" smtClean="0"/>
          </a:p>
          <a:p>
            <a:pPr lvl="1"/>
            <a:r>
              <a:rPr lang="en-US" dirty="0" smtClean="0"/>
              <a:t>Plan some surgical operation</a:t>
            </a:r>
            <a:endParaRPr lang="en-US" sz="2400" dirty="0" smtClean="0"/>
          </a:p>
          <a:p>
            <a:pPr lvl="1"/>
            <a:r>
              <a:rPr lang="en-US" dirty="0" smtClean="0"/>
              <a:t>Driving a car in traffic</a:t>
            </a:r>
            <a:endParaRPr lang="en-US" sz="2400" dirty="0" smtClean="0"/>
          </a:p>
          <a:p>
            <a:pPr lvl="0"/>
            <a:r>
              <a:rPr lang="en-US" dirty="0" smtClean="0"/>
              <a:t>Creating some system which can exhibit intelligent behavior, learn new things by itself, demonstrate, explain, and can advise to its user.</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4000" dirty="0" smtClean="0"/>
              <a:t>Foundation of AI</a:t>
            </a:r>
            <a:endParaRPr lang="en-US" dirty="0"/>
          </a:p>
        </p:txBody>
      </p:sp>
      <p:sp>
        <p:nvSpPr>
          <p:cNvPr id="3" name="Content Placeholder 2"/>
          <p:cNvSpPr>
            <a:spLocks noGrp="1"/>
          </p:cNvSpPr>
          <p:nvPr>
            <p:ph idx="1"/>
          </p:nvPr>
        </p:nvSpPr>
        <p:spPr>
          <a:xfrm>
            <a:off x="304800" y="990600"/>
            <a:ext cx="8382000" cy="5562600"/>
          </a:xfrm>
        </p:spPr>
        <p:txBody>
          <a:bodyPr>
            <a:normAutofit fontScale="70000" lnSpcReduction="20000"/>
          </a:bodyPr>
          <a:lstStyle/>
          <a:p>
            <a:r>
              <a:rPr lang="en-US" dirty="0" smtClean="0"/>
              <a:t>To create the AI requires lots of other factors .</a:t>
            </a:r>
          </a:p>
          <a:p>
            <a:pPr algn="just"/>
            <a:r>
              <a:rPr lang="en-US" dirty="0" smtClean="0"/>
              <a:t>Intelligence is an intangible part of our brain which is a combination of </a:t>
            </a:r>
            <a:r>
              <a:rPr lang="en-US" b="1" dirty="0" smtClean="0"/>
              <a:t>Reasoning, learning, problem-solving perception, language understanding.</a:t>
            </a:r>
          </a:p>
          <a:p>
            <a:r>
              <a:rPr lang="en-US" dirty="0" smtClean="0"/>
              <a:t>To achieve the above factors for a machine or software Artificial Intelligence requires the following discipline:</a:t>
            </a:r>
          </a:p>
          <a:p>
            <a:r>
              <a:rPr lang="en-US" dirty="0" smtClean="0"/>
              <a:t>philosophy</a:t>
            </a:r>
          </a:p>
          <a:p>
            <a:pPr lvl="0"/>
            <a:r>
              <a:rPr lang="en-US" dirty="0" smtClean="0"/>
              <a:t>Mathematics</a:t>
            </a:r>
          </a:p>
          <a:p>
            <a:pPr lvl="0"/>
            <a:r>
              <a:rPr lang="en-US" dirty="0" smtClean="0"/>
              <a:t>Economics</a:t>
            </a:r>
          </a:p>
          <a:p>
            <a:pPr lvl="0"/>
            <a:r>
              <a:rPr lang="en-US" dirty="0" smtClean="0"/>
              <a:t>Neuroscience</a:t>
            </a:r>
          </a:p>
          <a:p>
            <a:pPr lvl="0"/>
            <a:r>
              <a:rPr lang="en-US" dirty="0" smtClean="0"/>
              <a:t>Psychology</a:t>
            </a:r>
          </a:p>
          <a:p>
            <a:pPr lvl="0"/>
            <a:r>
              <a:rPr lang="en-US" dirty="0" smtClean="0"/>
              <a:t>Sociology</a:t>
            </a:r>
          </a:p>
          <a:p>
            <a:pPr lvl="0"/>
            <a:r>
              <a:rPr lang="en-US" dirty="0" smtClean="0"/>
              <a:t>Computer Science</a:t>
            </a:r>
          </a:p>
          <a:p>
            <a:pPr lvl="0"/>
            <a:r>
              <a:rPr lang="en-US" dirty="0" smtClean="0"/>
              <a:t>Control theory and cybernetics</a:t>
            </a:r>
          </a:p>
          <a:p>
            <a:pPr lvl="0"/>
            <a:r>
              <a:rPr lang="en-US" dirty="0" smtClean="0"/>
              <a:t>Statistics</a:t>
            </a:r>
          </a:p>
          <a:p>
            <a:pPr lvl="0"/>
            <a:r>
              <a:rPr lang="en-US" dirty="0" smtClean="0"/>
              <a:t>Linguistics</a:t>
            </a:r>
          </a:p>
          <a:p>
            <a:pPr algn="just"/>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31838"/>
          </a:xfrm>
        </p:spPr>
        <p:txBody>
          <a:bodyPr>
            <a:normAutofit fontScale="90000"/>
          </a:bodyPr>
          <a:lstStyle/>
          <a:p>
            <a:r>
              <a:rPr lang="en-US" b="1" dirty="0" smtClean="0"/>
              <a:t>Applications of AI </a:t>
            </a:r>
            <a:br>
              <a:rPr lang="en-US" b="1" dirty="0" smtClean="0"/>
            </a:br>
            <a:endParaRPr lang="en-US" dirty="0"/>
          </a:p>
        </p:txBody>
      </p:sp>
      <p:sp>
        <p:nvSpPr>
          <p:cNvPr id="3" name="Content Placeholder 2"/>
          <p:cNvSpPr>
            <a:spLocks noGrp="1"/>
          </p:cNvSpPr>
          <p:nvPr>
            <p:ph idx="1"/>
          </p:nvPr>
        </p:nvSpPr>
        <p:spPr>
          <a:xfrm>
            <a:off x="457200" y="685800"/>
            <a:ext cx="8229600" cy="6019800"/>
          </a:xfrm>
        </p:spPr>
        <p:txBody>
          <a:bodyPr>
            <a:normAutofit fontScale="62500" lnSpcReduction="20000"/>
          </a:bodyPr>
          <a:lstStyle/>
          <a:p>
            <a:pPr>
              <a:buNone/>
            </a:pPr>
            <a:r>
              <a:rPr lang="en-US" b="1" dirty="0" smtClean="0"/>
              <a:t>1.Natural Language Processing (NLP):</a:t>
            </a:r>
            <a:endParaRPr lang="en-US" dirty="0" smtClean="0"/>
          </a:p>
          <a:p>
            <a:pPr>
              <a:buNone/>
            </a:pPr>
            <a:r>
              <a:rPr lang="en-US" dirty="0" smtClean="0"/>
              <a:t>AI systems that can understand and generate human language, including speech recognition, text classification, sentiment analysis, and machine translation.</a:t>
            </a:r>
            <a:br>
              <a:rPr lang="en-US" dirty="0" smtClean="0"/>
            </a:br>
            <a:r>
              <a:rPr lang="en-US" b="1" dirty="0" smtClean="0"/>
              <a:t>Examples:</a:t>
            </a:r>
            <a:r>
              <a:rPr lang="en-US" dirty="0" smtClean="0"/>
              <a:t/>
            </a:r>
            <a:br>
              <a:rPr lang="en-US" dirty="0" smtClean="0"/>
            </a:br>
            <a:r>
              <a:rPr lang="en-US" dirty="0" smtClean="0"/>
              <a:t>a. </a:t>
            </a:r>
            <a:r>
              <a:rPr lang="en-US" dirty="0" err="1" smtClean="0"/>
              <a:t>Siri</a:t>
            </a:r>
            <a:r>
              <a:rPr lang="en-US" dirty="0" smtClean="0"/>
              <a:t>, </a:t>
            </a:r>
            <a:r>
              <a:rPr lang="en-US" dirty="0" err="1" smtClean="0"/>
              <a:t>Alexa</a:t>
            </a:r>
            <a:r>
              <a:rPr lang="en-US" dirty="0" smtClean="0"/>
              <a:t>, and Google Assistant virtual assistants.</a:t>
            </a:r>
            <a:br>
              <a:rPr lang="en-US" dirty="0" smtClean="0"/>
            </a:br>
            <a:r>
              <a:rPr lang="en-US" dirty="0" smtClean="0"/>
              <a:t>b. Sentiment analysis of customer reviews.</a:t>
            </a:r>
            <a:br>
              <a:rPr lang="en-US" dirty="0" smtClean="0"/>
            </a:br>
            <a:r>
              <a:rPr lang="en-US" dirty="0" smtClean="0"/>
              <a:t>c. Machine translation of web pages or documents.</a:t>
            </a:r>
          </a:p>
          <a:p>
            <a:pPr>
              <a:buNone/>
            </a:pPr>
            <a:r>
              <a:rPr lang="en-US" b="1" dirty="0" smtClean="0"/>
              <a:t>2. Computer Vision:</a:t>
            </a:r>
            <a:endParaRPr lang="en-US" dirty="0" smtClean="0"/>
          </a:p>
          <a:p>
            <a:pPr>
              <a:buNone/>
            </a:pPr>
            <a:r>
              <a:rPr lang="en-US" dirty="0" smtClean="0"/>
              <a:t>AI systems that can perceive, understand and analyze visual information, including object recognition, image classification, and facial recognition.</a:t>
            </a:r>
            <a:br>
              <a:rPr lang="en-US" dirty="0" smtClean="0"/>
            </a:br>
            <a:r>
              <a:rPr lang="en-US" b="1" dirty="0" smtClean="0"/>
              <a:t>Examples:</a:t>
            </a:r>
            <a:r>
              <a:rPr lang="en-US" dirty="0" smtClean="0"/>
              <a:t/>
            </a:r>
            <a:br>
              <a:rPr lang="en-US" dirty="0" smtClean="0"/>
            </a:br>
            <a:r>
              <a:rPr lang="en-US" dirty="0" smtClean="0"/>
              <a:t>a. Face recognition systems for security or identification.</a:t>
            </a:r>
            <a:br>
              <a:rPr lang="en-US" dirty="0" smtClean="0"/>
            </a:br>
            <a:r>
              <a:rPr lang="en-US" dirty="0" smtClean="0"/>
              <a:t>b. Image recognition systems for sorting and categorizing photos.</a:t>
            </a:r>
            <a:br>
              <a:rPr lang="en-US" dirty="0" smtClean="0"/>
            </a:br>
            <a:r>
              <a:rPr lang="en-US" dirty="0" smtClean="0"/>
              <a:t>c. Object detection systems in autonomous vehicles.</a:t>
            </a:r>
          </a:p>
          <a:p>
            <a:pPr>
              <a:buNone/>
            </a:pPr>
            <a:r>
              <a:rPr lang="en-US" b="1" dirty="0" smtClean="0"/>
              <a:t>3. Robotics:</a:t>
            </a:r>
            <a:endParaRPr lang="en-US" dirty="0" smtClean="0"/>
          </a:p>
          <a:p>
            <a:pPr>
              <a:buNone/>
            </a:pPr>
            <a:r>
              <a:rPr lang="en-US" dirty="0" smtClean="0"/>
              <a:t>AI systems that can interact with the physical world, including autonomous robots, drones, and self-driving cars.</a:t>
            </a:r>
            <a:br>
              <a:rPr lang="en-US" dirty="0" smtClean="0"/>
            </a:br>
            <a:r>
              <a:rPr lang="en-US" b="1" dirty="0" smtClean="0"/>
              <a:t>Examples:</a:t>
            </a:r>
            <a:r>
              <a:rPr lang="en-US" dirty="0" smtClean="0"/>
              <a:t/>
            </a:r>
            <a:br>
              <a:rPr lang="en-US" dirty="0" smtClean="0"/>
            </a:br>
            <a:r>
              <a:rPr lang="en-US" dirty="0" smtClean="0"/>
              <a:t>a. Self-driving cars.</a:t>
            </a:r>
            <a:br>
              <a:rPr lang="en-US" dirty="0" smtClean="0"/>
            </a:br>
            <a:r>
              <a:rPr lang="en-US" dirty="0" smtClean="0"/>
              <a:t>b. Industrial robots in manufacturing plants.</a:t>
            </a:r>
            <a:br>
              <a:rPr lang="en-US" dirty="0" smtClean="0"/>
            </a:br>
            <a:r>
              <a:rPr lang="en-US" dirty="0" smtClean="0"/>
              <a:t>c. Service robots in hospitals or airports.</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fontScale="62500" lnSpcReduction="20000"/>
          </a:bodyPr>
          <a:lstStyle/>
          <a:p>
            <a:pPr>
              <a:buNone/>
            </a:pPr>
            <a:r>
              <a:rPr lang="en-US" b="1" dirty="0" smtClean="0"/>
              <a:t>4. Recommender Systems:</a:t>
            </a:r>
            <a:endParaRPr lang="en-US" dirty="0" smtClean="0"/>
          </a:p>
          <a:p>
            <a:pPr>
              <a:buNone/>
            </a:pPr>
            <a:r>
              <a:rPr lang="en-US" dirty="0" smtClean="0"/>
              <a:t>AI systems that can provide personalized recommendations to users based on their preferences and behavior, such as movie recommendations or product suggestions.</a:t>
            </a:r>
            <a:br>
              <a:rPr lang="en-US" dirty="0" smtClean="0"/>
            </a:br>
            <a:r>
              <a:rPr lang="en-US" b="1" dirty="0" smtClean="0"/>
              <a:t>Examples:</a:t>
            </a:r>
            <a:r>
              <a:rPr lang="en-US" dirty="0" smtClean="0"/>
              <a:t/>
            </a:r>
            <a:br>
              <a:rPr lang="en-US" dirty="0" smtClean="0"/>
            </a:br>
            <a:r>
              <a:rPr lang="en-US" dirty="0" smtClean="0"/>
              <a:t>a. Netflix movie recommendations.</a:t>
            </a:r>
            <a:br>
              <a:rPr lang="en-US" dirty="0" smtClean="0"/>
            </a:br>
            <a:r>
              <a:rPr lang="en-US" dirty="0" smtClean="0"/>
              <a:t>b. Amazon product recommendations.</a:t>
            </a:r>
            <a:br>
              <a:rPr lang="en-US" dirty="0" smtClean="0"/>
            </a:br>
            <a:r>
              <a:rPr lang="en-US" dirty="0" smtClean="0"/>
              <a:t>c. YouTube video recommendations.</a:t>
            </a:r>
          </a:p>
          <a:p>
            <a:pPr>
              <a:buNone/>
            </a:pPr>
            <a:r>
              <a:rPr lang="en-US" b="1" dirty="0" smtClean="0"/>
              <a:t>5. Fraud Detection:</a:t>
            </a:r>
            <a:endParaRPr lang="en-US" dirty="0" smtClean="0"/>
          </a:p>
          <a:p>
            <a:pPr>
              <a:buNone/>
            </a:pPr>
            <a:r>
              <a:rPr lang="en-US" dirty="0" smtClean="0"/>
              <a:t>AI systems can identify fraudulent activities, such as credit card fraud, insurance fraud, or online fraud.</a:t>
            </a:r>
            <a:br>
              <a:rPr lang="en-US" dirty="0" smtClean="0"/>
            </a:br>
            <a:r>
              <a:rPr lang="en-US" b="1" dirty="0" smtClean="0"/>
              <a:t>Examples:</a:t>
            </a:r>
            <a:r>
              <a:rPr lang="en-US" dirty="0" smtClean="0"/>
              <a:t/>
            </a:r>
            <a:br>
              <a:rPr lang="en-US" dirty="0" smtClean="0"/>
            </a:br>
            <a:r>
              <a:rPr lang="en-US" dirty="0" smtClean="0"/>
              <a:t>a. Credit card fraud detection systems.</a:t>
            </a:r>
            <a:br>
              <a:rPr lang="en-US" dirty="0" smtClean="0"/>
            </a:br>
            <a:r>
              <a:rPr lang="en-US" dirty="0" smtClean="0"/>
              <a:t>b. Anti-money laundering systems for banks.</a:t>
            </a:r>
            <a:br>
              <a:rPr lang="en-US" dirty="0" smtClean="0"/>
            </a:br>
            <a:r>
              <a:rPr lang="en-US" dirty="0" smtClean="0"/>
              <a:t>c. Fraud detection in insurance claims.</a:t>
            </a:r>
          </a:p>
          <a:p>
            <a:pPr>
              <a:buNone/>
            </a:pPr>
            <a:r>
              <a:rPr lang="en-US" b="1" dirty="0" smtClean="0"/>
              <a:t>6. Healthcare:</a:t>
            </a:r>
            <a:endParaRPr lang="en-US" dirty="0" smtClean="0"/>
          </a:p>
          <a:p>
            <a:pPr>
              <a:buNone/>
            </a:pPr>
            <a:r>
              <a:rPr lang="en-US" dirty="0" smtClean="0"/>
              <a:t>AI systems that can support medical diagnosis, treatment planning, drug discovery, and personalized medicine.</a:t>
            </a:r>
            <a:br>
              <a:rPr lang="en-US" dirty="0" smtClean="0"/>
            </a:br>
            <a:r>
              <a:rPr lang="en-US" b="1" dirty="0" smtClean="0"/>
              <a:t>Examples:</a:t>
            </a:r>
            <a:r>
              <a:rPr lang="en-US" dirty="0" smtClean="0"/>
              <a:t/>
            </a:r>
            <a:br>
              <a:rPr lang="en-US" dirty="0" smtClean="0"/>
            </a:br>
            <a:r>
              <a:rPr lang="en-US" dirty="0" smtClean="0"/>
              <a:t>a. AI systems for medical diagnosis and treatment planning.</a:t>
            </a:r>
            <a:br>
              <a:rPr lang="en-US" dirty="0" smtClean="0"/>
            </a:br>
            <a:r>
              <a:rPr lang="en-US" dirty="0" smtClean="0"/>
              <a:t>b. AI-powered systems for drug discovery and development.</a:t>
            </a:r>
            <a:br>
              <a:rPr lang="en-US" dirty="0" smtClean="0"/>
            </a:br>
            <a:r>
              <a:rPr lang="en-US" dirty="0" smtClean="0"/>
              <a:t>c. AI-powered systems for personalized medicine.</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629400"/>
          </a:xfrm>
        </p:spPr>
        <p:txBody>
          <a:bodyPr>
            <a:noAutofit/>
          </a:bodyPr>
          <a:lstStyle/>
          <a:p>
            <a:pPr>
              <a:buNone/>
            </a:pPr>
            <a:r>
              <a:rPr lang="en-US" sz="2000" b="1" dirty="0" smtClean="0">
                <a:latin typeface="Times New Roman" pitchFamily="18" charset="0"/>
                <a:cs typeface="Times New Roman" pitchFamily="18" charset="0"/>
              </a:rPr>
              <a:t>7. </a:t>
            </a:r>
            <a:r>
              <a:rPr lang="en-US" sz="2400" b="1" dirty="0" smtClean="0">
                <a:latin typeface="Times New Roman" pitchFamily="18" charset="0"/>
                <a:cs typeface="Times New Roman" pitchFamily="18" charset="0"/>
              </a:rPr>
              <a:t>Customer Service:</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AI systems that can provide support and assistance to customers through </a:t>
            </a:r>
            <a:r>
              <a:rPr lang="en-US" sz="2400" dirty="0" err="1" smtClean="0">
                <a:latin typeface="Times New Roman" pitchFamily="18" charset="0"/>
                <a:cs typeface="Times New Roman" pitchFamily="18" charset="0"/>
              </a:rPr>
              <a:t>chatbots</a:t>
            </a:r>
            <a:r>
              <a:rPr lang="en-US" sz="2400" dirty="0" smtClean="0">
                <a:latin typeface="Times New Roman" pitchFamily="18" charset="0"/>
                <a:cs typeface="Times New Roman" pitchFamily="18" charset="0"/>
              </a:rPr>
              <a:t>, virtual assistants, and other conversational AI systems.</a:t>
            </a:r>
            <a:br>
              <a:rPr lang="en-US" sz="2400" dirty="0" smtClean="0">
                <a:latin typeface="Times New Roman" pitchFamily="18" charset="0"/>
                <a:cs typeface="Times New Roman" pitchFamily="18" charset="0"/>
              </a:rPr>
            </a:br>
            <a:r>
              <a:rPr lang="en-US" sz="2400" b="1" dirty="0" smtClean="0">
                <a:latin typeface="Times New Roman" pitchFamily="18" charset="0"/>
                <a:cs typeface="Times New Roman" pitchFamily="18" charset="0"/>
              </a:rPr>
              <a:t>Examples:</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a. </a:t>
            </a:r>
            <a:r>
              <a:rPr lang="en-US" sz="2400" dirty="0" err="1" smtClean="0">
                <a:latin typeface="Times New Roman" pitchFamily="18" charset="0"/>
                <a:cs typeface="Times New Roman" pitchFamily="18" charset="0"/>
              </a:rPr>
              <a:t>Chatbots</a:t>
            </a:r>
            <a:r>
              <a:rPr lang="en-US" sz="2400" dirty="0" smtClean="0">
                <a:latin typeface="Times New Roman" pitchFamily="18" charset="0"/>
                <a:cs typeface="Times New Roman" pitchFamily="18" charset="0"/>
              </a:rPr>
              <a:t> for customer support.</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b. Virtual assistants for customer service inquiries.</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c. AI-powered systems for customer service triage and routing.</a:t>
            </a:r>
          </a:p>
          <a:p>
            <a:pPr>
              <a:buNone/>
            </a:pPr>
            <a:r>
              <a:rPr lang="en-US" sz="2400" b="1" dirty="0" smtClean="0">
                <a:latin typeface="Times New Roman" pitchFamily="18" charset="0"/>
                <a:cs typeface="Times New Roman" pitchFamily="18" charset="0"/>
              </a:rPr>
              <a:t>8. Financial Services:</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AI systems that can support financial decision-making, risk management, and investment analysis.</a:t>
            </a:r>
            <a:br>
              <a:rPr lang="en-US" sz="2400" dirty="0" smtClean="0">
                <a:latin typeface="Times New Roman" pitchFamily="18" charset="0"/>
                <a:cs typeface="Times New Roman" pitchFamily="18" charset="0"/>
              </a:rPr>
            </a:br>
            <a:r>
              <a:rPr lang="en-US" sz="2400" b="1" dirty="0" smtClean="0">
                <a:latin typeface="Times New Roman" pitchFamily="18" charset="0"/>
                <a:cs typeface="Times New Roman" pitchFamily="18" charset="0"/>
              </a:rPr>
              <a:t>Examples:</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a. AI systems for investment management and analysis.</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b. AI systems for credit scoring and risk management.</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c. AI systems for fraud detection in financial transactions.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fontScale="77500" lnSpcReduction="20000"/>
          </a:bodyPr>
          <a:lstStyle/>
          <a:p>
            <a:pPr>
              <a:buNone/>
            </a:pPr>
            <a:r>
              <a:rPr lang="en-US" b="1" dirty="0" smtClean="0">
                <a:latin typeface="Times New Roman" pitchFamily="18" charset="0"/>
                <a:cs typeface="Times New Roman" pitchFamily="18" charset="0"/>
              </a:rPr>
              <a:t>9. Gaming:</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AI systems that can play games, such as chess, Go, or poker, and compete against human players.</a:t>
            </a:r>
            <a:br>
              <a:rPr lang="en-US"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Examples: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a. AI systems for playing chess, Go, and poker.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b. AI systems for controlling game characters in video games.</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c. AI systems for game strategy and decision-making.</a:t>
            </a:r>
          </a:p>
          <a:p>
            <a:pPr>
              <a:buNone/>
            </a:pPr>
            <a:r>
              <a:rPr lang="en-US" b="1" dirty="0" smtClean="0">
                <a:latin typeface="Times New Roman" pitchFamily="18" charset="0"/>
                <a:cs typeface="Times New Roman" pitchFamily="18" charset="0"/>
              </a:rPr>
              <a:t>10. Predictive Maintenance:</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AI systems that can predict when equipment will fail and schedule maintenance, reducing downtime and increasing efficiency in manufacturing and industrial settings.</a:t>
            </a:r>
            <a:br>
              <a:rPr lang="en-US"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Examples: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a. AI systems for predicting equipment failures in industrial settings.</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b. AI systems for scheduling maintenance for equipment in factories.</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c. AI systems for predicting maintenance needs in power plants and other critical infrastructure.</a:t>
            </a:r>
          </a:p>
          <a:p>
            <a:endParaRPr lang="en-US" dirty="0" smtClean="0">
              <a:latin typeface="Times New Roman" pitchFamily="18" charset="0"/>
              <a:cs typeface="Times New Roman" pitchFamily="18" charset="0"/>
            </a:endParaRP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09600"/>
          </a:xfrm>
        </p:spPr>
        <p:txBody>
          <a:bodyPr>
            <a:normAutofit fontScale="90000"/>
          </a:bodyPr>
          <a:lstStyle/>
          <a:p>
            <a:r>
              <a:rPr lang="en-US" b="1" dirty="0" smtClean="0"/>
              <a:t>Current Trends in AI</a:t>
            </a:r>
            <a:br>
              <a:rPr lang="en-US" b="1" dirty="0" smtClean="0"/>
            </a:br>
            <a:endParaRPr lang="en-US" dirty="0"/>
          </a:p>
        </p:txBody>
      </p:sp>
      <p:sp>
        <p:nvSpPr>
          <p:cNvPr id="3" name="Content Placeholder 2"/>
          <p:cNvSpPr>
            <a:spLocks noGrp="1"/>
          </p:cNvSpPr>
          <p:nvPr>
            <p:ph idx="1"/>
          </p:nvPr>
        </p:nvSpPr>
        <p:spPr>
          <a:xfrm>
            <a:off x="304800" y="762000"/>
            <a:ext cx="8382000" cy="5638800"/>
          </a:xfrm>
        </p:spPr>
        <p:txBody>
          <a:bodyPr>
            <a:noAutofit/>
          </a:bodyPr>
          <a:lstStyle/>
          <a:p>
            <a:pPr>
              <a:buNone/>
            </a:pPr>
            <a:r>
              <a:rPr lang="en-US" sz="2000" b="1" dirty="0" smtClean="0">
                <a:latin typeface="Times New Roman" pitchFamily="18" charset="0"/>
                <a:cs typeface="Times New Roman" pitchFamily="18" charset="0"/>
              </a:rPr>
              <a:t>1.Edge AI:</a:t>
            </a: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The deployment of AI algorithms and models at the edge of networks, such as on devices and sensors, enables real-time decision-making without relying on a cloud or central server.</a:t>
            </a:r>
            <a:br>
              <a:rPr lang="en-US" sz="2000"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Examples:</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a. Face recognition systems on </a:t>
            </a:r>
            <a:r>
              <a:rPr lang="en-US" sz="2000" dirty="0" err="1" smtClean="0">
                <a:latin typeface="Times New Roman" pitchFamily="18" charset="0"/>
                <a:cs typeface="Times New Roman" pitchFamily="18" charset="0"/>
              </a:rPr>
              <a:t>smartphones</a:t>
            </a:r>
            <a:r>
              <a:rPr lang="en-US" sz="2000" dirty="0" smtClean="0">
                <a:latin typeface="Times New Roman" pitchFamily="18" charset="0"/>
                <a:cs typeface="Times New Roman" pitchFamily="18" charset="0"/>
              </a:rPr>
              <a:t>.</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b. Voice-controlled smart speakers.</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c. Autonomous robots in warehouses.</a:t>
            </a:r>
          </a:p>
          <a:p>
            <a:pPr>
              <a:buNone/>
            </a:pPr>
            <a:r>
              <a:rPr lang="en-US" sz="2000" b="1" dirty="0" smtClean="0">
                <a:latin typeface="Times New Roman" pitchFamily="18" charset="0"/>
                <a:cs typeface="Times New Roman" pitchFamily="18" charset="0"/>
              </a:rPr>
              <a:t>2. Explainable AI (XAI):</a:t>
            </a: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The development of AI systems that can provide understandable, transparent, and interpretable explanations of their decisions and actions.</a:t>
            </a:r>
            <a:br>
              <a:rPr lang="en-US" sz="2000"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Examples:</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a. AI systems that provide an explanation of their medical diagnosis.</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b. AI systems that provide a justification for their loan or insurance decision.</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c. AI systems that provide a clear explanation of their trading or investment decisions.</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fontScale="85000" lnSpcReduction="10000"/>
          </a:bodyPr>
          <a:lstStyle/>
          <a:p>
            <a:pPr>
              <a:buNone/>
            </a:pPr>
            <a:r>
              <a:rPr lang="en-US" sz="2000" b="1" dirty="0" smtClean="0">
                <a:latin typeface="Times New Roman" pitchFamily="18" charset="0"/>
                <a:cs typeface="Times New Roman" pitchFamily="18" charset="0"/>
              </a:rPr>
              <a:t>3. Generative Adversarial Networks (GANs):</a:t>
            </a: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The use of AI systems that consist of two neural networks that compete with each other, generates new data that can be used for various tasks, such as creating realistic images, videos, or sounds.</a:t>
            </a:r>
            <a:br>
              <a:rPr lang="en-US" sz="2000"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Examples:</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a. AI-generated realistic images of people, animals, or landscapes.</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b. AI-generated realistic videos of people or animals.</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c. AI-generated realistic sounds or music.</a:t>
            </a:r>
          </a:p>
          <a:p>
            <a:pPr>
              <a:buNone/>
            </a:pPr>
            <a:r>
              <a:rPr lang="en-US" sz="2000" b="1" dirty="0" smtClean="0"/>
              <a:t>4. Reinforcement Learning:</a:t>
            </a:r>
            <a:endParaRPr lang="en-US" sz="2000" dirty="0" smtClean="0"/>
          </a:p>
          <a:p>
            <a:pPr>
              <a:buNone/>
            </a:pPr>
            <a:r>
              <a:rPr lang="en-US" sz="2000" dirty="0" smtClean="0"/>
              <a:t>The use of AI systems that learn by interacting with an environment and receiving feedback in the form of rewards or penalties, and can be used for various applications, such as gaming, robotics, and decision-making.</a:t>
            </a:r>
            <a:br>
              <a:rPr lang="en-US" sz="2000" dirty="0" smtClean="0"/>
            </a:br>
            <a:r>
              <a:rPr lang="en-US" sz="2000" b="1" dirty="0" smtClean="0"/>
              <a:t>Examples:</a:t>
            </a:r>
            <a:r>
              <a:rPr lang="en-US" sz="2000" dirty="0" smtClean="0"/>
              <a:t/>
            </a:r>
            <a:br>
              <a:rPr lang="en-US" sz="2000" dirty="0" smtClean="0"/>
            </a:br>
            <a:r>
              <a:rPr lang="en-US" sz="2000" dirty="0" smtClean="0"/>
              <a:t>a. AI systems that play and master video games.</a:t>
            </a:r>
            <a:br>
              <a:rPr lang="en-US" sz="2000" dirty="0" smtClean="0"/>
            </a:br>
            <a:r>
              <a:rPr lang="en-US" sz="2000" dirty="0" smtClean="0"/>
              <a:t>b. AI systems that control autonomous vehicles.</a:t>
            </a:r>
            <a:br>
              <a:rPr lang="en-US" sz="2000" dirty="0" smtClean="0"/>
            </a:br>
            <a:r>
              <a:rPr lang="en-US" sz="2000" dirty="0" smtClean="0"/>
              <a:t>c. AI systems that control robots in manufacturing plants.</a:t>
            </a:r>
          </a:p>
          <a:p>
            <a:pPr>
              <a:buNone/>
            </a:pPr>
            <a:r>
              <a:rPr lang="en-US" sz="2000" b="1" dirty="0" smtClean="0"/>
              <a:t>5. Transfer Learning:</a:t>
            </a:r>
            <a:endParaRPr lang="en-US" sz="2000" dirty="0" smtClean="0"/>
          </a:p>
          <a:p>
            <a:pPr>
              <a:buNone/>
            </a:pPr>
            <a:r>
              <a:rPr lang="en-US" sz="2000" dirty="0" smtClean="0"/>
              <a:t>The use of pre-trained AI models that can be fine-tuned for new tasks with limited additional training data, enabling faster and more efficient training of new models.</a:t>
            </a:r>
            <a:br>
              <a:rPr lang="en-US" sz="2000" dirty="0" smtClean="0"/>
            </a:br>
            <a:r>
              <a:rPr lang="en-US" sz="2000" b="1" dirty="0" smtClean="0"/>
              <a:t>Examples:</a:t>
            </a:r>
            <a:r>
              <a:rPr lang="en-US" sz="2000" dirty="0" smtClean="0"/>
              <a:t/>
            </a:r>
            <a:br>
              <a:rPr lang="en-US" sz="2000" dirty="0" smtClean="0"/>
            </a:br>
            <a:r>
              <a:rPr lang="en-US" sz="2000" dirty="0" smtClean="0"/>
              <a:t>a. Using pre-trained image recognition models to classify new categories of images.</a:t>
            </a:r>
            <a:br>
              <a:rPr lang="en-US" sz="2000" dirty="0" smtClean="0"/>
            </a:br>
            <a:r>
              <a:rPr lang="en-US" sz="2000" dirty="0" smtClean="0"/>
              <a:t>b. Using pre-trained language models to generate new text in a new language.</a:t>
            </a:r>
            <a:br>
              <a:rPr lang="en-US" sz="2000" dirty="0" smtClean="0"/>
            </a:br>
            <a:r>
              <a:rPr lang="en-US" sz="2000" dirty="0" smtClean="0"/>
              <a:t>c. Using pre-trained speech recognition models to recognize new accents or languages.</a:t>
            </a:r>
          </a:p>
          <a:p>
            <a:pPr>
              <a:buNone/>
            </a:pPr>
            <a:endParaRPr lang="en-US" sz="2000" dirty="0" smtClean="0">
              <a:latin typeface="Times New Roman" pitchFamily="18" charset="0"/>
              <a:cs typeface="Times New Roman" pitchFamily="18" charset="0"/>
            </a:endParaRPr>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77000"/>
          </a:xfrm>
        </p:spPr>
        <p:txBody>
          <a:bodyPr>
            <a:normAutofit fontScale="47500" lnSpcReduction="20000"/>
          </a:bodyPr>
          <a:lstStyle/>
          <a:p>
            <a:pPr>
              <a:buNone/>
            </a:pPr>
            <a:r>
              <a:rPr lang="en-US" b="1" dirty="0" smtClean="0"/>
              <a:t>6. </a:t>
            </a:r>
            <a:r>
              <a:rPr lang="en-US" sz="3800" b="1" dirty="0" smtClean="0"/>
              <a:t>Multi-Modal AI:</a:t>
            </a:r>
            <a:endParaRPr lang="en-US" sz="3800" dirty="0" smtClean="0"/>
          </a:p>
          <a:p>
            <a:pPr>
              <a:buNone/>
            </a:pPr>
            <a:r>
              <a:rPr lang="en-US" sz="3800" dirty="0" smtClean="0"/>
              <a:t>The integration of multiple types of data, such as text, images, videos, and speech, improves the performance and accuracy of AI systems.</a:t>
            </a:r>
            <a:br>
              <a:rPr lang="en-US" sz="3800" dirty="0" smtClean="0"/>
            </a:br>
            <a:r>
              <a:rPr lang="en-US" sz="3800" b="1" dirty="0" smtClean="0"/>
              <a:t>Examples:</a:t>
            </a:r>
            <a:r>
              <a:rPr lang="en-US" sz="3800" dirty="0" smtClean="0"/>
              <a:t/>
            </a:r>
            <a:br>
              <a:rPr lang="en-US" sz="3800" dirty="0" smtClean="0"/>
            </a:br>
            <a:r>
              <a:rPr lang="en-US" sz="3800" dirty="0" smtClean="0"/>
              <a:t>a. AI systems that process both text and images to improve image captioning.</a:t>
            </a:r>
            <a:br>
              <a:rPr lang="en-US" sz="3800" dirty="0" smtClean="0"/>
            </a:br>
            <a:r>
              <a:rPr lang="en-US" sz="3800" dirty="0" smtClean="0"/>
              <a:t>b. AI systems that process both audio and video to improve speech recognition.</a:t>
            </a:r>
            <a:br>
              <a:rPr lang="en-US" sz="3800" dirty="0" smtClean="0"/>
            </a:br>
            <a:r>
              <a:rPr lang="en-US" sz="3800" dirty="0" smtClean="0"/>
              <a:t>c. AI systems that process both speech and gesture to improve human-robot interaction.</a:t>
            </a:r>
          </a:p>
          <a:p>
            <a:pPr>
              <a:buNone/>
            </a:pPr>
            <a:r>
              <a:rPr lang="en-US" sz="3800" b="1" dirty="0" smtClean="0"/>
              <a:t>7. Automated Machine Learning (</a:t>
            </a:r>
            <a:r>
              <a:rPr lang="en-US" sz="3800" b="1" dirty="0" err="1" smtClean="0"/>
              <a:t>AutoML</a:t>
            </a:r>
            <a:r>
              <a:rPr lang="en-US" sz="3800" b="1" dirty="0" smtClean="0"/>
              <a:t>):</a:t>
            </a:r>
            <a:endParaRPr lang="en-US" sz="3800" dirty="0" smtClean="0"/>
          </a:p>
          <a:p>
            <a:pPr>
              <a:buNone/>
            </a:pPr>
            <a:r>
              <a:rPr lang="en-US" sz="3800" dirty="0" smtClean="0"/>
              <a:t>The use of AI algorithms can automate the entire process of building and deploying machine learning models, including data preparation, feature engineering, model selection, and deployment.</a:t>
            </a:r>
            <a:br>
              <a:rPr lang="en-US" sz="3800" dirty="0" smtClean="0"/>
            </a:br>
            <a:r>
              <a:rPr lang="en-US" sz="3800" b="1" dirty="0" smtClean="0"/>
              <a:t>Examples:</a:t>
            </a:r>
            <a:r>
              <a:rPr lang="en-US" sz="3800" dirty="0" smtClean="0"/>
              <a:t/>
            </a:r>
            <a:br>
              <a:rPr lang="en-US" sz="3800" dirty="0" smtClean="0"/>
            </a:br>
            <a:r>
              <a:rPr lang="en-US" sz="3800" dirty="0" smtClean="0"/>
              <a:t>a. AI systems that automate the process of building predictive models for sales forecasting.</a:t>
            </a:r>
            <a:br>
              <a:rPr lang="en-US" sz="3800" dirty="0" smtClean="0"/>
            </a:br>
            <a:r>
              <a:rPr lang="en-US" sz="3800" dirty="0" smtClean="0"/>
              <a:t>b. AI systems that automate the process of building recommendation systems for e-commerce.</a:t>
            </a:r>
            <a:br>
              <a:rPr lang="en-US" sz="3800" dirty="0" smtClean="0"/>
            </a:br>
            <a:r>
              <a:rPr lang="en-US" sz="3800" dirty="0" smtClean="0"/>
              <a:t>c. AI systems that automate the process of building image recognition systems for medical diagnosis.</a:t>
            </a:r>
          </a:p>
          <a:p>
            <a:pPr>
              <a:buNone/>
            </a:pPr>
            <a:r>
              <a:rPr lang="en-US" sz="3800" b="1" dirty="0" smtClean="0"/>
              <a:t>8. Deep Learning:</a:t>
            </a:r>
            <a:endParaRPr lang="en-US" sz="3800" dirty="0" smtClean="0"/>
          </a:p>
          <a:p>
            <a:pPr>
              <a:buNone/>
            </a:pPr>
            <a:r>
              <a:rPr lang="en-US" sz="3800" dirty="0" smtClean="0"/>
              <a:t>The use of deep neural networks for various AI applications, including image and speech recognition, natural language processing, and robotics.</a:t>
            </a:r>
            <a:br>
              <a:rPr lang="en-US" sz="3800" dirty="0" smtClean="0"/>
            </a:br>
            <a:r>
              <a:rPr lang="en-US" sz="3800" b="1" dirty="0" smtClean="0"/>
              <a:t>Examples:</a:t>
            </a:r>
            <a:r>
              <a:rPr lang="en-US" sz="3800" dirty="0" smtClean="0"/>
              <a:t/>
            </a:r>
            <a:br>
              <a:rPr lang="en-US" sz="3800" dirty="0" smtClean="0"/>
            </a:br>
            <a:r>
              <a:rPr lang="en-US" sz="3800" dirty="0" smtClean="0"/>
              <a:t>a. AI systems that perform image recognition and segmentation.</a:t>
            </a:r>
            <a:br>
              <a:rPr lang="en-US" sz="3800" dirty="0" smtClean="0"/>
            </a:br>
            <a:r>
              <a:rPr lang="en-US" sz="3800" dirty="0" smtClean="0"/>
              <a:t>b. AI systems that perform speech recognition and synthesis.</a:t>
            </a:r>
            <a:br>
              <a:rPr lang="en-US" sz="3800" dirty="0" smtClean="0"/>
            </a:br>
            <a:r>
              <a:rPr lang="en-US" sz="3800" dirty="0" smtClean="0"/>
              <a:t>c. AI systems that perform natural language processing and generation.</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55000" lnSpcReduction="20000"/>
          </a:bodyPr>
          <a:lstStyle/>
          <a:p>
            <a:pPr>
              <a:buNone/>
            </a:pPr>
            <a:r>
              <a:rPr lang="en-US" b="1" dirty="0" smtClean="0"/>
              <a:t>9. Federated Learning:</a:t>
            </a:r>
            <a:endParaRPr lang="en-US" dirty="0" smtClean="0"/>
          </a:p>
          <a:p>
            <a:pPr>
              <a:buNone/>
            </a:pPr>
            <a:r>
              <a:rPr lang="en-US" dirty="0" smtClean="0"/>
              <a:t>The sharing of machine learning models across multiple devices or organizations while keeping data privacy and security intact, enabling the creation of large-scale AI systems without centralizing data.</a:t>
            </a:r>
            <a:br>
              <a:rPr lang="en-US" dirty="0" smtClean="0"/>
            </a:br>
            <a:r>
              <a:rPr lang="en-US" b="1" dirty="0" smtClean="0"/>
              <a:t>Examples:</a:t>
            </a:r>
            <a:r>
              <a:rPr lang="en-US" dirty="0" smtClean="0"/>
              <a:t/>
            </a:r>
            <a:br>
              <a:rPr lang="en-US" dirty="0" smtClean="0"/>
            </a:br>
            <a:r>
              <a:rPr lang="en-US" dirty="0" smtClean="0"/>
              <a:t>a. AI systems that combine data from multiple healthcare organizations to improve medical diagnosis.</a:t>
            </a:r>
            <a:br>
              <a:rPr lang="en-US" dirty="0" smtClean="0"/>
            </a:br>
            <a:r>
              <a:rPr lang="en-US" dirty="0" smtClean="0"/>
              <a:t>b. AI systems that combine data from multiple retail organizations to improve customer recommendations.</a:t>
            </a:r>
            <a:br>
              <a:rPr lang="en-US" dirty="0" smtClean="0"/>
            </a:br>
            <a:r>
              <a:rPr lang="en-US" dirty="0" smtClean="0"/>
              <a:t>c. AI systems that combine data from multiple financial organizations to improve fraud detection.</a:t>
            </a:r>
          </a:p>
          <a:p>
            <a:pPr>
              <a:buNone/>
            </a:pPr>
            <a:endParaRPr lang="en-US" b="1" dirty="0" smtClean="0"/>
          </a:p>
          <a:p>
            <a:pPr>
              <a:buNone/>
            </a:pPr>
            <a:endParaRPr lang="en-US" b="1" dirty="0" smtClean="0"/>
          </a:p>
          <a:p>
            <a:pPr>
              <a:buNone/>
            </a:pPr>
            <a:r>
              <a:rPr lang="en-US" b="1" dirty="0" smtClean="0"/>
              <a:t>10. Quantum AI:</a:t>
            </a:r>
            <a:endParaRPr lang="en-US" dirty="0" smtClean="0"/>
          </a:p>
          <a:p>
            <a:pPr>
              <a:buNone/>
            </a:pPr>
            <a:r>
              <a:rPr lang="en-US" dirty="0" smtClean="0"/>
              <a:t>The development of AI algorithms and systems that can take advantage of quantum computing for improved performance and scalability, particularly for complex optimization and sampling problems.</a:t>
            </a:r>
            <a:br>
              <a:rPr lang="en-US" dirty="0" smtClean="0"/>
            </a:br>
            <a:r>
              <a:rPr lang="en-US" b="1" dirty="0" smtClean="0"/>
              <a:t>Examples:</a:t>
            </a:r>
            <a:r>
              <a:rPr lang="en-US" dirty="0" smtClean="0"/>
              <a:t/>
            </a:r>
            <a:br>
              <a:rPr lang="en-US" dirty="0" smtClean="0"/>
            </a:br>
            <a:r>
              <a:rPr lang="en-US" dirty="0" smtClean="0"/>
              <a:t>a. AI systems that use quantum algorithms for improved optimization and sampling.</a:t>
            </a:r>
            <a:br>
              <a:rPr lang="en-US" dirty="0" smtClean="0"/>
            </a:br>
            <a:r>
              <a:rPr lang="en-US" dirty="0" smtClean="0"/>
              <a:t>b. AI systems that use quantum computers for improved simulation and modeling.</a:t>
            </a:r>
            <a:br>
              <a:rPr lang="en-US" dirty="0" smtClean="0"/>
            </a:br>
            <a:r>
              <a:rPr lang="en-US" dirty="0" smtClean="0"/>
              <a:t>c. AI systems that use quantum-inspired algorithms for improved machine learning.</a:t>
            </a:r>
          </a:p>
          <a:p>
            <a:pPr>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solidFill>
                  <a:srgbClr val="FF0000"/>
                </a:solidFill>
              </a:rPr>
              <a:t>History of AI</a:t>
            </a:r>
            <a:endParaRPr lang="en-US" dirty="0"/>
          </a:p>
        </p:txBody>
      </p:sp>
      <p:sp>
        <p:nvSpPr>
          <p:cNvPr id="3" name="Content Placeholder 2"/>
          <p:cNvSpPr>
            <a:spLocks noGrp="1"/>
          </p:cNvSpPr>
          <p:nvPr>
            <p:ph idx="1"/>
          </p:nvPr>
        </p:nvSpPr>
        <p:spPr>
          <a:xfrm>
            <a:off x="474345" y="1066800"/>
            <a:ext cx="8669655" cy="762000"/>
          </a:xfrm>
        </p:spPr>
        <p:txBody>
          <a:bodyPr>
            <a:normAutofit fontScale="85000" lnSpcReduction="10000"/>
          </a:bodyPr>
          <a:lstStyle/>
          <a:p>
            <a:r>
              <a:rPr lang="en-US" dirty="0" smtClean="0"/>
              <a:t>journey from the AI generation to till date development.</a:t>
            </a:r>
            <a:endParaRPr lang="en-US" dirty="0"/>
          </a:p>
        </p:txBody>
      </p:sp>
      <p:pic>
        <p:nvPicPr>
          <p:cNvPr id="4" name="Picture 3" descr="History of Artificial Intelligence"/>
          <p:cNvPicPr/>
          <p:nvPr/>
        </p:nvPicPr>
        <p:blipFill>
          <a:blip r:embed="rId2">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val="0"/>
              </a:ext>
            </a:extLst>
          </a:blip>
          <a:srcRect/>
          <a:stretch>
            <a:fillRect/>
          </a:stretch>
        </p:blipFill>
        <p:spPr bwMode="auto">
          <a:xfrm>
            <a:off x="228600" y="1676400"/>
            <a:ext cx="8763000" cy="5181600"/>
          </a:xfrm>
          <a:prstGeom prst="rect">
            <a:avLst/>
          </a:prstGeom>
          <a:noFill/>
          <a:ln>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Birth of AI: 1950-1956</a:t>
            </a:r>
            <a:br>
              <a:rPr lang="en-US" dirty="0" smtClean="0"/>
            </a:br>
            <a:endParaRPr lang="en-US" dirty="0"/>
          </a:p>
        </p:txBody>
      </p:sp>
      <p:sp>
        <p:nvSpPr>
          <p:cNvPr id="3" name="Content Placeholder 2"/>
          <p:cNvSpPr>
            <a:spLocks noGrp="1"/>
          </p:cNvSpPr>
          <p:nvPr>
            <p:ph idx="1"/>
          </p:nvPr>
        </p:nvSpPr>
        <p:spPr>
          <a:xfrm>
            <a:off x="457200" y="609600"/>
            <a:ext cx="8229600" cy="5516563"/>
          </a:xfrm>
        </p:spPr>
        <p:txBody>
          <a:bodyPr>
            <a:normAutofit fontScale="92500" lnSpcReduction="10000"/>
          </a:bodyPr>
          <a:lstStyle/>
          <a:p>
            <a:r>
              <a:rPr lang="en-US" b="1" dirty="0" smtClean="0"/>
              <a:t>1950:</a:t>
            </a:r>
            <a:r>
              <a:rPr lang="en-US" dirty="0" smtClean="0"/>
              <a:t> Alan Turing published “</a:t>
            </a:r>
            <a:r>
              <a:rPr lang="en-US" dirty="0" smtClean="0">
                <a:hlinkClick r:id="rId2"/>
              </a:rPr>
              <a:t>Computer Machinery and Intelligence</a:t>
            </a:r>
            <a:r>
              <a:rPr lang="en-US" dirty="0" smtClean="0"/>
              <a:t>” which proposed a test of machine intelligence called The Imitation Game.</a:t>
            </a:r>
          </a:p>
          <a:p>
            <a:r>
              <a:rPr lang="en-US" b="1" dirty="0" smtClean="0"/>
              <a:t>1952:</a:t>
            </a:r>
            <a:r>
              <a:rPr lang="en-US" dirty="0" smtClean="0"/>
              <a:t> A computer scientist named </a:t>
            </a:r>
            <a:r>
              <a:rPr lang="en-US" dirty="0" smtClean="0">
                <a:hlinkClick r:id="rId3"/>
              </a:rPr>
              <a:t>Arthur Samuel</a:t>
            </a:r>
            <a:r>
              <a:rPr lang="en-US" dirty="0" smtClean="0"/>
              <a:t> developed a program to play checkers, which is the first to ever learn the game independently.</a:t>
            </a:r>
          </a:p>
          <a:p>
            <a:r>
              <a:rPr lang="en-US" b="1" dirty="0" smtClean="0"/>
              <a:t>1955: </a:t>
            </a:r>
            <a:r>
              <a:rPr lang="en-US" dirty="0" smtClean="0">
                <a:hlinkClick r:id="rId4"/>
              </a:rPr>
              <a:t>John McCarthy</a:t>
            </a:r>
            <a:r>
              <a:rPr lang="en-US" dirty="0" smtClean="0"/>
              <a:t> held a workshop at Dartmouth on “artificial intelligence” which is the first use of the word, and how it came into popular usage.</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AI maturation: 1957-1979 </a:t>
            </a:r>
            <a:br>
              <a:rPr lang="en-US" dirty="0" smtClean="0"/>
            </a:br>
            <a:endParaRPr lang="en-US" dirty="0"/>
          </a:p>
        </p:txBody>
      </p:sp>
      <p:sp>
        <p:nvSpPr>
          <p:cNvPr id="3" name="Content Placeholder 2"/>
          <p:cNvSpPr>
            <a:spLocks noGrp="1"/>
          </p:cNvSpPr>
          <p:nvPr>
            <p:ph idx="1"/>
          </p:nvPr>
        </p:nvSpPr>
        <p:spPr>
          <a:xfrm>
            <a:off x="457200" y="762000"/>
            <a:ext cx="8229600" cy="5867400"/>
          </a:xfrm>
        </p:spPr>
        <p:txBody>
          <a:bodyPr>
            <a:normAutofit fontScale="77500" lnSpcReduction="20000"/>
          </a:bodyPr>
          <a:lstStyle/>
          <a:p>
            <a:r>
              <a:rPr lang="en-US" sz="3600" b="1" dirty="0" smtClean="0">
                <a:latin typeface="Times New Roman" pitchFamily="18" charset="0"/>
                <a:cs typeface="Times New Roman" pitchFamily="18" charset="0"/>
              </a:rPr>
              <a:t>1958:</a:t>
            </a:r>
            <a:r>
              <a:rPr lang="en-US" sz="3600" dirty="0" smtClean="0">
                <a:latin typeface="Times New Roman" pitchFamily="18" charset="0"/>
                <a:cs typeface="Times New Roman" pitchFamily="18" charset="0"/>
              </a:rPr>
              <a:t> John McCarthy created </a:t>
            </a:r>
            <a:r>
              <a:rPr lang="en-US" sz="3600" dirty="0" smtClean="0">
                <a:latin typeface="Times New Roman" pitchFamily="18" charset="0"/>
                <a:cs typeface="Times New Roman" pitchFamily="18" charset="0"/>
                <a:hlinkClick r:id="rId2"/>
              </a:rPr>
              <a:t>LISP</a:t>
            </a:r>
            <a:r>
              <a:rPr lang="en-US" sz="3600" dirty="0" smtClean="0">
                <a:latin typeface="Times New Roman" pitchFamily="18" charset="0"/>
                <a:cs typeface="Times New Roman" pitchFamily="18" charset="0"/>
              </a:rPr>
              <a:t> (acronym for List Processing), the first programming language for AI research, which is still in popular use to this day.</a:t>
            </a:r>
          </a:p>
          <a:p>
            <a:r>
              <a:rPr lang="en-US" sz="3600" b="1" dirty="0" smtClean="0">
                <a:latin typeface="Times New Roman" pitchFamily="18" charset="0"/>
                <a:cs typeface="Times New Roman" pitchFamily="18" charset="0"/>
              </a:rPr>
              <a:t>1959:</a:t>
            </a:r>
            <a:r>
              <a:rPr lang="en-US" sz="3600" dirty="0" smtClean="0">
                <a:latin typeface="Times New Roman" pitchFamily="18" charset="0"/>
                <a:cs typeface="Times New Roman" pitchFamily="18" charset="0"/>
              </a:rPr>
              <a:t> </a:t>
            </a:r>
            <a:r>
              <a:rPr lang="en-US" sz="3600" dirty="0" smtClean="0">
                <a:latin typeface="Times New Roman" pitchFamily="18" charset="0"/>
                <a:cs typeface="Times New Roman" pitchFamily="18" charset="0"/>
                <a:hlinkClick r:id="rId3"/>
              </a:rPr>
              <a:t>Arthur Samuel created the term “machine learning”</a:t>
            </a:r>
            <a:r>
              <a:rPr lang="en-US" sz="3600" dirty="0" smtClean="0">
                <a:latin typeface="Times New Roman" pitchFamily="18" charset="0"/>
                <a:cs typeface="Times New Roman" pitchFamily="18" charset="0"/>
              </a:rPr>
              <a:t> when doing a speech about teaching machines to play chess better than the humans who programmed them.</a:t>
            </a:r>
          </a:p>
          <a:p>
            <a:r>
              <a:rPr lang="en-US" sz="3600" b="1" dirty="0" smtClean="0">
                <a:latin typeface="Times New Roman" pitchFamily="18" charset="0"/>
                <a:cs typeface="Times New Roman" pitchFamily="18" charset="0"/>
              </a:rPr>
              <a:t>1961:</a:t>
            </a:r>
            <a:r>
              <a:rPr lang="en-US" sz="3600" dirty="0" smtClean="0">
                <a:latin typeface="Times New Roman" pitchFamily="18" charset="0"/>
                <a:cs typeface="Times New Roman" pitchFamily="18" charset="0"/>
              </a:rPr>
              <a:t> The first industrial robot </a:t>
            </a:r>
            <a:r>
              <a:rPr lang="en-US" sz="3600" dirty="0" err="1" smtClean="0">
                <a:latin typeface="Times New Roman" pitchFamily="18" charset="0"/>
                <a:cs typeface="Times New Roman" pitchFamily="18" charset="0"/>
                <a:hlinkClick r:id="rId4"/>
              </a:rPr>
              <a:t>Unimate</a:t>
            </a:r>
            <a:r>
              <a:rPr lang="en-US" sz="3600" dirty="0" smtClean="0">
                <a:latin typeface="Times New Roman" pitchFamily="18" charset="0"/>
                <a:cs typeface="Times New Roman" pitchFamily="18" charset="0"/>
              </a:rPr>
              <a:t> started working on an assembly line at General Motors in New Jersey, tasked with transporting die casings and welding parts on cars (which was deemed too dangerous for humans).</a:t>
            </a:r>
          </a:p>
          <a:p>
            <a:r>
              <a:rPr lang="en-US" sz="3600" b="1" dirty="0" smtClean="0">
                <a:latin typeface="Times New Roman" pitchFamily="18" charset="0"/>
                <a:cs typeface="Times New Roman" pitchFamily="18" charset="0"/>
              </a:rPr>
              <a:t>1965:</a:t>
            </a:r>
            <a:r>
              <a:rPr lang="en-US" sz="3600" dirty="0" smtClean="0">
                <a:latin typeface="Times New Roman" pitchFamily="18" charset="0"/>
                <a:cs typeface="Times New Roman" pitchFamily="18" charset="0"/>
              </a:rPr>
              <a:t> Edward </a:t>
            </a:r>
            <a:r>
              <a:rPr lang="en-US" sz="3600" dirty="0" err="1" smtClean="0">
                <a:latin typeface="Times New Roman" pitchFamily="18" charset="0"/>
                <a:cs typeface="Times New Roman" pitchFamily="18" charset="0"/>
              </a:rPr>
              <a:t>Feigenbaum</a:t>
            </a:r>
            <a:r>
              <a:rPr lang="en-US" sz="3600" dirty="0" smtClean="0">
                <a:latin typeface="Times New Roman" pitchFamily="18" charset="0"/>
                <a:cs typeface="Times New Roman" pitchFamily="18" charset="0"/>
              </a:rPr>
              <a:t> and Joshua Lederberg created </a:t>
            </a:r>
            <a:r>
              <a:rPr lang="en-US" sz="3600" dirty="0" smtClean="0">
                <a:latin typeface="Times New Roman" pitchFamily="18" charset="0"/>
                <a:cs typeface="Times New Roman" pitchFamily="18" charset="0"/>
                <a:hlinkClick r:id="rId5"/>
              </a:rPr>
              <a:t>the first “expert system”</a:t>
            </a:r>
            <a:r>
              <a:rPr lang="en-US" sz="3600" dirty="0" smtClean="0">
                <a:latin typeface="Times New Roman" pitchFamily="18" charset="0"/>
                <a:cs typeface="Times New Roman" pitchFamily="18" charset="0"/>
              </a:rPr>
              <a:t> which was a form of AI programmed to replicate the thinking and decision-making abilities of human experts.</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AI winter: 1987-1993</a:t>
            </a:r>
            <a:br>
              <a:rPr lang="en-US" dirty="0" smtClean="0"/>
            </a:br>
            <a:endParaRPr lang="en-US" dirty="0"/>
          </a:p>
        </p:txBody>
      </p:sp>
      <p:sp>
        <p:nvSpPr>
          <p:cNvPr id="3" name="Content Placeholder 2"/>
          <p:cNvSpPr>
            <a:spLocks noGrp="1"/>
          </p:cNvSpPr>
          <p:nvPr>
            <p:ph idx="1"/>
          </p:nvPr>
        </p:nvSpPr>
        <p:spPr>
          <a:xfrm>
            <a:off x="533400" y="990600"/>
            <a:ext cx="8229600" cy="4983163"/>
          </a:xfrm>
        </p:spPr>
        <p:txBody>
          <a:bodyPr>
            <a:normAutofit fontScale="85000" lnSpcReduction="20000"/>
          </a:bodyPr>
          <a:lstStyle/>
          <a:p>
            <a:r>
              <a:rPr lang="en-US" dirty="0" smtClean="0"/>
              <a:t>The term describes a period of low consumer, public, and private interest in AI which leads to decreased research funding,</a:t>
            </a:r>
          </a:p>
          <a:p>
            <a:r>
              <a:rPr lang="en-US" b="1" dirty="0" smtClean="0"/>
              <a:t>1987:</a:t>
            </a:r>
            <a:r>
              <a:rPr lang="en-US" dirty="0" smtClean="0"/>
              <a:t> The </a:t>
            </a:r>
            <a:r>
              <a:rPr lang="en-US" dirty="0" smtClean="0">
                <a:hlinkClick r:id="rId2"/>
              </a:rPr>
              <a:t>market for specialized LISP-based hardware collapsed</a:t>
            </a:r>
            <a:r>
              <a:rPr lang="en-US" dirty="0" smtClean="0"/>
              <a:t> due to cheaper and more accessible competitors that could run LISP software, including those offered by IBM and Apple. This caused many specialized LISP companies to fail as the technology was now easily accessible.</a:t>
            </a:r>
          </a:p>
          <a:p>
            <a:r>
              <a:rPr lang="en-US" b="1" dirty="0" smtClean="0"/>
              <a:t>1988: </a:t>
            </a:r>
            <a:r>
              <a:rPr lang="en-US" dirty="0" smtClean="0"/>
              <a:t>A computer programmer named </a:t>
            </a:r>
            <a:r>
              <a:rPr lang="en-US" dirty="0" smtClean="0">
                <a:hlinkClick r:id="rId3"/>
              </a:rPr>
              <a:t>Rollo Carpenter invented the </a:t>
            </a:r>
            <a:r>
              <a:rPr lang="en-US" dirty="0" err="1" smtClean="0">
                <a:hlinkClick r:id="rId3"/>
              </a:rPr>
              <a:t>chatbot</a:t>
            </a:r>
            <a:r>
              <a:rPr lang="en-US" dirty="0" smtClean="0">
                <a:hlinkClick r:id="rId3"/>
              </a:rPr>
              <a:t> </a:t>
            </a:r>
            <a:r>
              <a:rPr lang="en-US" dirty="0" err="1" smtClean="0">
                <a:hlinkClick r:id="rId3"/>
              </a:rPr>
              <a:t>Jabberwacky</a:t>
            </a:r>
            <a:r>
              <a:rPr lang="en-US" dirty="0" smtClean="0"/>
              <a:t>, which he programmed to provide interesting and entertaining conversation to humans.</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AI agents: 1993-2011</a:t>
            </a:r>
            <a:br>
              <a:rPr lang="en-US" dirty="0" smtClean="0"/>
            </a:br>
            <a:endParaRPr lang="en-US" dirty="0"/>
          </a:p>
        </p:txBody>
      </p:sp>
      <p:sp>
        <p:nvSpPr>
          <p:cNvPr id="3" name="Content Placeholder 2"/>
          <p:cNvSpPr>
            <a:spLocks noGrp="1"/>
          </p:cNvSpPr>
          <p:nvPr>
            <p:ph idx="1"/>
          </p:nvPr>
        </p:nvSpPr>
        <p:spPr>
          <a:xfrm>
            <a:off x="457200" y="838200"/>
            <a:ext cx="8534400" cy="5715000"/>
          </a:xfrm>
        </p:spPr>
        <p:txBody>
          <a:bodyPr>
            <a:normAutofit lnSpcReduction="10000"/>
          </a:bodyPr>
          <a:lstStyle/>
          <a:p>
            <a:r>
              <a:rPr lang="en-US" b="1" dirty="0" smtClean="0"/>
              <a:t>1997:</a:t>
            </a:r>
            <a:r>
              <a:rPr lang="en-US" dirty="0" smtClean="0"/>
              <a:t> </a:t>
            </a:r>
            <a:r>
              <a:rPr lang="en-US" dirty="0" smtClean="0">
                <a:hlinkClick r:id="rId2"/>
              </a:rPr>
              <a:t>Deep Blue</a:t>
            </a:r>
            <a:r>
              <a:rPr lang="en-US" dirty="0" smtClean="0"/>
              <a:t> (developed by IBM) beat the world chess champion, Gary Kasparov, in a highly-publicized match, becoming the first program to beat a human chess champion.</a:t>
            </a:r>
          </a:p>
          <a:p>
            <a:r>
              <a:rPr lang="en-US" b="1" dirty="0" smtClean="0"/>
              <a:t>1997: </a:t>
            </a:r>
            <a:r>
              <a:rPr lang="en-US" dirty="0" smtClean="0"/>
              <a:t>Windows released a speech recognition software (developed by Dragon Systems). </a:t>
            </a:r>
          </a:p>
          <a:p>
            <a:r>
              <a:rPr lang="en-US" b="1" dirty="0" smtClean="0"/>
              <a:t>2000:</a:t>
            </a:r>
            <a:r>
              <a:rPr lang="en-US" dirty="0" smtClean="0"/>
              <a:t> Professor Cynthia </a:t>
            </a:r>
            <a:r>
              <a:rPr lang="en-US" dirty="0" err="1" smtClean="0"/>
              <a:t>Breazeal</a:t>
            </a:r>
            <a:r>
              <a:rPr lang="en-US" dirty="0" smtClean="0"/>
              <a:t> developed the first robot that could simulate human emotions with its face, which included eyes, eyebrows, ears, and a mouth. It was called Kismet.</a:t>
            </a:r>
          </a:p>
          <a:p>
            <a:r>
              <a:rPr lang="en-US" b="1" dirty="0" smtClean="0"/>
              <a:t>2002:</a:t>
            </a:r>
            <a:r>
              <a:rPr lang="en-US" dirty="0" smtClean="0"/>
              <a:t> The first </a:t>
            </a:r>
            <a:r>
              <a:rPr lang="en-US" dirty="0" err="1" smtClean="0"/>
              <a:t>Roomba</a:t>
            </a:r>
            <a:r>
              <a:rPr lang="en-US" dirty="0" smtClean="0"/>
              <a:t> was released.</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20000"/>
          </a:bodyPr>
          <a:lstStyle/>
          <a:p>
            <a:r>
              <a:rPr lang="en-US" b="1" dirty="0" smtClean="0"/>
              <a:t>2003:</a:t>
            </a:r>
            <a:r>
              <a:rPr lang="en-US" dirty="0" smtClean="0"/>
              <a:t> </a:t>
            </a:r>
            <a:r>
              <a:rPr lang="en-US" dirty="0" err="1" smtClean="0">
                <a:hlinkClick r:id="rId2"/>
              </a:rPr>
              <a:t>Nasa</a:t>
            </a:r>
            <a:r>
              <a:rPr lang="en-US" dirty="0" smtClean="0">
                <a:hlinkClick r:id="rId2"/>
              </a:rPr>
              <a:t> landed two rovers onto Mars</a:t>
            </a:r>
            <a:r>
              <a:rPr lang="en-US" dirty="0" smtClean="0"/>
              <a:t> (Spirit and Opportunity) and they navigated the surface of the planet without human intervention.</a:t>
            </a:r>
          </a:p>
          <a:p>
            <a:r>
              <a:rPr lang="en-US" b="1" dirty="0" smtClean="0"/>
              <a:t>2006:</a:t>
            </a:r>
            <a:r>
              <a:rPr lang="en-US" dirty="0" smtClean="0"/>
              <a:t> Companies such as Twitter, </a:t>
            </a:r>
            <a:r>
              <a:rPr lang="en-US" dirty="0" err="1" smtClean="0"/>
              <a:t>Facebook</a:t>
            </a:r>
            <a:r>
              <a:rPr lang="en-US" dirty="0" smtClean="0"/>
              <a:t>, and Netflix started utilizing AI as a part of their advertising and user experience (UX) algorithms.</a:t>
            </a:r>
          </a:p>
          <a:p>
            <a:r>
              <a:rPr lang="en-US" b="1" dirty="0" smtClean="0"/>
              <a:t>2010:</a:t>
            </a:r>
            <a:r>
              <a:rPr lang="en-US" dirty="0" smtClean="0"/>
              <a:t> Microsoft launched the Xbox 360 </a:t>
            </a:r>
            <a:r>
              <a:rPr lang="en-US" dirty="0" err="1" smtClean="0"/>
              <a:t>Kinect</a:t>
            </a:r>
            <a:r>
              <a:rPr lang="en-US" dirty="0" smtClean="0"/>
              <a:t>, the first gaming hardware designed to track body movement and translate it into gaming directions.</a:t>
            </a:r>
          </a:p>
          <a:p>
            <a:r>
              <a:rPr lang="en-US" b="1" dirty="0" smtClean="0"/>
              <a:t>2011:</a:t>
            </a:r>
            <a:r>
              <a:rPr lang="en-US" dirty="0" smtClean="0"/>
              <a:t> An NLP computer programmed to answer questions named </a:t>
            </a:r>
            <a:r>
              <a:rPr lang="en-US" dirty="0" smtClean="0">
                <a:hlinkClick r:id="rId3"/>
              </a:rPr>
              <a:t>Watson</a:t>
            </a:r>
            <a:r>
              <a:rPr lang="en-US" dirty="0" smtClean="0"/>
              <a:t> (created by IBM) won Jeopardy against two former champions in a televised game.</a:t>
            </a:r>
          </a:p>
          <a:p>
            <a:r>
              <a:rPr lang="en-US" b="1" dirty="0" smtClean="0"/>
              <a:t>2011:</a:t>
            </a:r>
            <a:r>
              <a:rPr lang="en-US" dirty="0" smtClean="0"/>
              <a:t> Apple released </a:t>
            </a:r>
            <a:r>
              <a:rPr lang="en-US" dirty="0" err="1" smtClean="0"/>
              <a:t>Siri</a:t>
            </a:r>
            <a:r>
              <a:rPr lang="en-US" dirty="0" smtClean="0"/>
              <a:t>, the first popular virtual assistant. </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2012-present</a:t>
            </a:r>
            <a:br>
              <a:rPr lang="en-US" dirty="0" smtClean="0"/>
            </a:br>
            <a:endParaRPr lang="en-US" dirty="0"/>
          </a:p>
        </p:txBody>
      </p:sp>
      <p:sp>
        <p:nvSpPr>
          <p:cNvPr id="3" name="Content Placeholder 2"/>
          <p:cNvSpPr>
            <a:spLocks noGrp="1"/>
          </p:cNvSpPr>
          <p:nvPr>
            <p:ph idx="1"/>
          </p:nvPr>
        </p:nvSpPr>
        <p:spPr>
          <a:xfrm>
            <a:off x="457200" y="685800"/>
            <a:ext cx="8229600" cy="5440363"/>
          </a:xfrm>
        </p:spPr>
        <p:txBody>
          <a:bodyPr>
            <a:normAutofit fontScale="77500" lnSpcReduction="20000"/>
          </a:bodyPr>
          <a:lstStyle/>
          <a:p>
            <a:r>
              <a:rPr lang="en-US" b="1" dirty="0" smtClean="0"/>
              <a:t>2012: </a:t>
            </a:r>
            <a:r>
              <a:rPr lang="en-US" dirty="0" smtClean="0"/>
              <a:t>Two researchers from Google (Jeff Dean and Andrew Ng) trained a neural network to recognize cats by showing it unlabeled images and no background information.</a:t>
            </a:r>
          </a:p>
          <a:p>
            <a:r>
              <a:rPr lang="en-US" b="1" dirty="0" smtClean="0"/>
              <a:t>2015:</a:t>
            </a:r>
            <a:r>
              <a:rPr lang="en-US" dirty="0" smtClean="0"/>
              <a:t> </a:t>
            </a:r>
            <a:r>
              <a:rPr lang="en-US" dirty="0" err="1" smtClean="0"/>
              <a:t>Elon</a:t>
            </a:r>
            <a:r>
              <a:rPr lang="en-US" dirty="0" smtClean="0"/>
              <a:t> Musk, Stephen Hawking, and Steve Wozniak (and over 3,000 others) signed an open letter to the worlds’ government systems banning the development of (and later, use of) autonomous weapons for purposes of war.</a:t>
            </a:r>
          </a:p>
          <a:p>
            <a:r>
              <a:rPr lang="en-US" b="1" dirty="0" smtClean="0"/>
              <a:t>2016:</a:t>
            </a:r>
            <a:r>
              <a:rPr lang="en-US" dirty="0" smtClean="0"/>
              <a:t> Hanson Robotics created a humanoid robot named Sophia, who became known as the first “robot citizen” and was the first robot created with a realistic human appearance and the ability to see and replicate emotions, as well as to communicate.</a:t>
            </a:r>
          </a:p>
          <a:p>
            <a:r>
              <a:rPr lang="en-US" b="1" dirty="0" smtClean="0"/>
              <a:t>2017:</a:t>
            </a:r>
            <a:r>
              <a:rPr lang="en-US" dirty="0" smtClean="0"/>
              <a:t> </a:t>
            </a:r>
            <a:r>
              <a:rPr lang="en-US" dirty="0" err="1" smtClean="0"/>
              <a:t>Facebook</a:t>
            </a:r>
            <a:r>
              <a:rPr lang="en-US" dirty="0" smtClean="0"/>
              <a:t> programmed two AI </a:t>
            </a:r>
            <a:r>
              <a:rPr lang="en-US" dirty="0" err="1" smtClean="0"/>
              <a:t>chatbots</a:t>
            </a:r>
            <a:r>
              <a:rPr lang="en-US" dirty="0" smtClean="0"/>
              <a:t> to converse and learn how to negotiate, but as they went back and forth they ended up forgoing English and developing their own language, completely autonomously. </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20000"/>
          </a:bodyPr>
          <a:lstStyle/>
          <a:p>
            <a:endParaRPr lang="en-US" b="1" dirty="0" smtClean="0"/>
          </a:p>
          <a:p>
            <a:r>
              <a:rPr lang="en-US" b="1" dirty="0" smtClean="0"/>
              <a:t>2019: </a:t>
            </a:r>
            <a:r>
              <a:rPr lang="en-US" dirty="0" smtClean="0"/>
              <a:t>Google’s </a:t>
            </a:r>
            <a:r>
              <a:rPr lang="en-US" dirty="0" err="1" smtClean="0"/>
              <a:t>AlphaStar</a:t>
            </a:r>
            <a:r>
              <a:rPr lang="en-US" dirty="0" smtClean="0"/>
              <a:t> reached Grandmaster on the video game </a:t>
            </a:r>
            <a:r>
              <a:rPr lang="en-US" dirty="0" err="1" smtClean="0"/>
              <a:t>StarCraft</a:t>
            </a:r>
            <a:r>
              <a:rPr lang="en-US" dirty="0" smtClean="0"/>
              <a:t> 2, outperforming all but .2% of human players.</a:t>
            </a:r>
          </a:p>
          <a:p>
            <a:r>
              <a:rPr lang="en-US" b="1" dirty="0" smtClean="0"/>
              <a:t>2020: </a:t>
            </a:r>
            <a:r>
              <a:rPr lang="en-US" dirty="0" err="1" smtClean="0"/>
              <a:t>OpenAI</a:t>
            </a:r>
            <a:r>
              <a:rPr lang="en-US" dirty="0" smtClean="0"/>
              <a:t> started beta testing GPT-3, a model that uses Deep Learning to create code, poetry, and other such language and writing tasks. While not the first of its kind, it is the first that creates content almost indistinguishable from those created by humans.</a:t>
            </a:r>
          </a:p>
          <a:p>
            <a:r>
              <a:rPr lang="en-US" b="1" dirty="0" smtClean="0"/>
              <a:t>2021:</a:t>
            </a:r>
            <a:r>
              <a:rPr lang="en-US" dirty="0" smtClean="0"/>
              <a:t> </a:t>
            </a:r>
            <a:r>
              <a:rPr lang="en-US" dirty="0" err="1" smtClean="0"/>
              <a:t>OpenAI</a:t>
            </a:r>
            <a:r>
              <a:rPr lang="en-US" dirty="0" smtClean="0"/>
              <a:t> developed DALL-E, which can process and understand images enough to produce accurate captions, moving AI one step closer to understanding the visual world.</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20000"/>
          </a:bodyPr>
          <a:lstStyle/>
          <a:p>
            <a:r>
              <a:rPr lang="en-US" b="1" dirty="0" smtClean="0"/>
              <a:t>Generative AI: </a:t>
            </a:r>
            <a:r>
              <a:rPr lang="en-US" dirty="0" smtClean="0"/>
              <a:t>This is where we are in the current AI timeline. Generative AI is a subfield of artificial intelligence (AI) that involves creating AI systems capable of generating new data or content that is similar to data it was trained on. This can include generating images, text, music, and even videos.</a:t>
            </a:r>
          </a:p>
          <a:p>
            <a:r>
              <a:rPr lang="en-US" dirty="0" smtClean="0"/>
              <a:t>Transformers, a type of neural network architecture, have </a:t>
            </a:r>
            <a:r>
              <a:rPr lang="en-US" dirty="0" err="1" smtClean="0"/>
              <a:t>revolutionised</a:t>
            </a:r>
            <a:r>
              <a:rPr lang="en-US" dirty="0" smtClean="0"/>
              <a:t> generative AI. </a:t>
            </a:r>
          </a:p>
          <a:p>
            <a:r>
              <a:rPr lang="en-US" dirty="0" smtClean="0"/>
              <a:t>Transformers use self-attention mechanisms to </a:t>
            </a:r>
            <a:r>
              <a:rPr lang="en-US" dirty="0" err="1" smtClean="0"/>
              <a:t>analyse</a:t>
            </a:r>
            <a:r>
              <a:rPr lang="en-US" dirty="0" smtClean="0"/>
              <a:t> the relationships between different elements in a sequence, allowing them to generate more coherent and nuanced output. </a:t>
            </a:r>
          </a:p>
          <a:p>
            <a:r>
              <a:rPr lang="en-US" dirty="0" smtClean="0"/>
              <a:t>This has led to the development of </a:t>
            </a:r>
            <a:r>
              <a:rPr lang="en-US" u="sng" dirty="0" smtClean="0">
                <a:hlinkClick r:id="rId2"/>
              </a:rPr>
              <a:t>large language models such as GPT-4 (</a:t>
            </a:r>
            <a:r>
              <a:rPr lang="en-US" u="sng" dirty="0" err="1" smtClean="0">
                <a:hlinkClick r:id="rId2"/>
              </a:rPr>
              <a:t>ChatGPT</a:t>
            </a:r>
            <a:r>
              <a:rPr lang="en-US" u="sng" dirty="0" smtClean="0">
                <a:hlinkClick r:id="rId2"/>
              </a:rPr>
              <a:t>)</a:t>
            </a:r>
            <a:r>
              <a:rPr lang="en-US" dirty="0" smtClean="0"/>
              <a:t>, which can generate human-like text on a wide range of topics</a:t>
            </a:r>
            <a:endParaRPr lang="en-US" b="1" dirty="0" smtClean="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Types of Artificial Intelligence</a:t>
            </a:r>
            <a:endParaRPr lang="en-US" dirty="0"/>
          </a:p>
        </p:txBody>
      </p:sp>
      <p:pic>
        <p:nvPicPr>
          <p:cNvPr id="4" name="Content Placeholder 3" descr="Types of Artificial Intelligence"/>
          <p:cNvPicPr>
            <a:picLocks noGrp="1"/>
          </p:cNvPicPr>
          <p:nvPr>
            <p:ph idx="1"/>
          </p:nvPr>
        </p:nvPicPr>
        <p:blipFill>
          <a:blip r:embed="rId2">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val="0"/>
              </a:ext>
            </a:extLst>
          </a:blip>
          <a:srcRect/>
          <a:stretch>
            <a:fillRect/>
          </a:stretch>
        </p:blipFill>
        <p:spPr bwMode="auto">
          <a:xfrm>
            <a:off x="381000" y="1447800"/>
            <a:ext cx="8229600" cy="5410199"/>
          </a:xfrm>
          <a:prstGeom prst="rect">
            <a:avLst/>
          </a:prstGeom>
          <a:noFill/>
          <a:ln>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smtClean="0">
                <a:solidFill>
                  <a:srgbClr val="0070C0"/>
                </a:solidFill>
              </a:rPr>
              <a:t>Weak AI or Narrow AI:</a:t>
            </a:r>
            <a:endParaRPr lang="en-US" b="1" dirty="0">
              <a:solidFill>
                <a:srgbClr val="0070C0"/>
              </a:solidFill>
            </a:endParaRPr>
          </a:p>
        </p:txBody>
      </p:sp>
      <p:sp>
        <p:nvSpPr>
          <p:cNvPr id="3" name="Content Placeholder 2"/>
          <p:cNvSpPr>
            <a:spLocks noGrp="1"/>
          </p:cNvSpPr>
          <p:nvPr>
            <p:ph idx="1"/>
          </p:nvPr>
        </p:nvSpPr>
        <p:spPr>
          <a:xfrm>
            <a:off x="0" y="838200"/>
            <a:ext cx="9144000" cy="6019800"/>
          </a:xfrm>
        </p:spPr>
        <p:txBody>
          <a:bodyPr>
            <a:normAutofit fontScale="92500" lnSpcReduction="10000"/>
          </a:bodyPr>
          <a:lstStyle/>
          <a:p>
            <a:pPr lvl="0"/>
            <a:r>
              <a:rPr lang="en-US" dirty="0" smtClean="0"/>
              <a:t>Narrow AI perform a dedicated task with intelligence. Currently available AI is Narrow AI.</a:t>
            </a:r>
          </a:p>
          <a:p>
            <a:pPr lvl="0"/>
            <a:r>
              <a:rPr lang="en-US" dirty="0" smtClean="0"/>
              <a:t>Narrow AI cannot perform beyond its field or limitations, as it is only trained for one specific task. Hence it is also termed as weak AI. </a:t>
            </a:r>
          </a:p>
          <a:p>
            <a:pPr lvl="0"/>
            <a:r>
              <a:rPr lang="en-US" dirty="0" smtClean="0"/>
              <a:t>Apple </a:t>
            </a:r>
            <a:r>
              <a:rPr lang="en-US" dirty="0" err="1" smtClean="0"/>
              <a:t>Siri</a:t>
            </a:r>
            <a:r>
              <a:rPr lang="en-US" dirty="0" smtClean="0"/>
              <a:t> is a good example of Narrow AI.</a:t>
            </a:r>
          </a:p>
          <a:p>
            <a:pPr lvl="0"/>
            <a:r>
              <a:rPr lang="en-US" dirty="0" smtClean="0"/>
              <a:t>IBM's Watson supercomputer also comes under Narrow AI, as it uses an Expert system approach combined with Machine learning and natural language processing.</a:t>
            </a:r>
          </a:p>
          <a:p>
            <a:pPr lvl="0"/>
            <a:r>
              <a:rPr lang="en-US" dirty="0" smtClean="0"/>
              <a:t>Some Examples of Narrow AI are playing chess, purchasing suggestions on e-commerce site, self-driving cars, speech recognition, and image recognition.</a:t>
            </a:r>
          </a:p>
          <a:p>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solidFill>
                  <a:srgbClr val="0070C0"/>
                </a:solidFill>
              </a:rPr>
              <a:t/>
            </a:r>
            <a:br>
              <a:rPr lang="en-US" b="1" dirty="0" smtClean="0">
                <a:solidFill>
                  <a:srgbClr val="0070C0"/>
                </a:solidFill>
              </a:rPr>
            </a:br>
            <a:r>
              <a:rPr lang="en-US" b="1" dirty="0" smtClean="0">
                <a:solidFill>
                  <a:srgbClr val="0070C0"/>
                </a:solidFill>
              </a:rPr>
              <a:t>General AI:</a:t>
            </a:r>
            <a:br>
              <a:rPr lang="en-US" b="1" dirty="0" smtClean="0">
                <a:solidFill>
                  <a:srgbClr val="0070C0"/>
                </a:solidFill>
              </a:rPr>
            </a:br>
            <a:endParaRPr lang="en-US" b="1" dirty="0">
              <a:solidFill>
                <a:srgbClr val="0070C0"/>
              </a:solidFill>
            </a:endParaRPr>
          </a:p>
        </p:txBody>
      </p:sp>
      <p:sp>
        <p:nvSpPr>
          <p:cNvPr id="3" name="Content Placeholder 2"/>
          <p:cNvSpPr>
            <a:spLocks noGrp="1"/>
          </p:cNvSpPr>
          <p:nvPr>
            <p:ph idx="1"/>
          </p:nvPr>
        </p:nvSpPr>
        <p:spPr>
          <a:xfrm>
            <a:off x="457200" y="838200"/>
            <a:ext cx="8382000" cy="5791200"/>
          </a:xfrm>
        </p:spPr>
        <p:txBody>
          <a:bodyPr>
            <a:normAutofit/>
          </a:bodyPr>
          <a:lstStyle/>
          <a:p>
            <a:pPr lvl="0"/>
            <a:r>
              <a:rPr lang="en-US" dirty="0" smtClean="0"/>
              <a:t>General AI is a type of intelligence which could perform any intellectual task with efficiency like a human.</a:t>
            </a:r>
          </a:p>
          <a:p>
            <a:pPr lvl="0"/>
            <a:r>
              <a:rPr lang="en-US" dirty="0" smtClean="0"/>
              <a:t>The idea behind the general AI to make such a system which could be smarter and think like a human by its own.</a:t>
            </a:r>
          </a:p>
          <a:p>
            <a:pPr lvl="0"/>
            <a:r>
              <a:rPr lang="en-US" dirty="0" smtClean="0"/>
              <a:t>Currently, there is no such system exist which could come under general AI and can perform any task as perfect as a human.</a:t>
            </a:r>
          </a:p>
          <a:p>
            <a:pPr>
              <a:buNone/>
            </a:pP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smtClean="0">
                <a:solidFill>
                  <a:srgbClr val="0070C0"/>
                </a:solidFill>
              </a:rPr>
              <a:t>Super AI:</a:t>
            </a:r>
            <a:br>
              <a:rPr lang="en-US" b="1" dirty="0" smtClean="0">
                <a:solidFill>
                  <a:srgbClr val="0070C0"/>
                </a:solidFill>
              </a:rPr>
            </a:br>
            <a:endParaRPr lang="en-US" b="1" dirty="0">
              <a:solidFill>
                <a:srgbClr val="0070C0"/>
              </a:solidFill>
            </a:endParaRPr>
          </a:p>
        </p:txBody>
      </p:sp>
      <p:sp>
        <p:nvSpPr>
          <p:cNvPr id="3" name="Content Placeholder 2"/>
          <p:cNvSpPr>
            <a:spLocks noGrp="1"/>
          </p:cNvSpPr>
          <p:nvPr>
            <p:ph idx="1"/>
          </p:nvPr>
        </p:nvSpPr>
        <p:spPr>
          <a:xfrm>
            <a:off x="152400" y="762000"/>
            <a:ext cx="8991600" cy="5867400"/>
          </a:xfrm>
        </p:spPr>
        <p:txBody>
          <a:bodyPr>
            <a:normAutofit/>
          </a:bodyPr>
          <a:lstStyle/>
          <a:p>
            <a:pPr lvl="0" algn="just"/>
            <a:r>
              <a:rPr lang="en-US" dirty="0" smtClean="0"/>
              <a:t>Super AI :machines could surpass human intelligence, and can perform any task better than human with cognitive properties. </a:t>
            </a:r>
          </a:p>
          <a:p>
            <a:pPr lvl="0" algn="just"/>
            <a:r>
              <a:rPr lang="en-US" dirty="0" smtClean="0"/>
              <a:t>Machine can have  ability to think, to reason , solve the puzzle, make judgments, plan, learn, and communicate by its own.</a:t>
            </a:r>
          </a:p>
          <a:p>
            <a:pPr lvl="0" algn="just"/>
            <a:r>
              <a:rPr lang="en-US" dirty="0" smtClean="0"/>
              <a:t>Super AI is still a hypothetical concept of Artificial Intelligence. </a:t>
            </a:r>
          </a:p>
          <a:p>
            <a:pPr lvl="0" algn="just"/>
            <a:r>
              <a:rPr lang="en-US" dirty="0" smtClean="0"/>
              <a:t>Development of such systems in real is still world changing task.</a:t>
            </a:r>
          </a:p>
          <a:p>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dirty="0" smtClean="0"/>
              <a:t>Problems of AI</a:t>
            </a:r>
            <a:endParaRPr lang="en-US" dirty="0"/>
          </a:p>
        </p:txBody>
      </p:sp>
      <p:sp>
        <p:nvSpPr>
          <p:cNvPr id="3" name="Content Placeholder 2"/>
          <p:cNvSpPr>
            <a:spLocks noGrp="1"/>
          </p:cNvSpPr>
          <p:nvPr>
            <p:ph idx="1"/>
          </p:nvPr>
        </p:nvSpPr>
        <p:spPr>
          <a:xfrm>
            <a:off x="228600" y="762000"/>
            <a:ext cx="8458200" cy="5867400"/>
          </a:xfrm>
        </p:spPr>
        <p:txBody>
          <a:bodyPr>
            <a:normAutofit fontScale="70000" lnSpcReduction="20000"/>
          </a:bodyPr>
          <a:lstStyle/>
          <a:p>
            <a:r>
              <a:rPr lang="en-US" dirty="0" smtClean="0"/>
              <a:t>Intelligence does not imply perfect understanding; every intelligent being has limited perception, memory and computation. </a:t>
            </a:r>
          </a:p>
          <a:p>
            <a:r>
              <a:rPr lang="en-US" dirty="0" smtClean="0"/>
              <a:t>Many points on the spectrum of intelligence versus cost are viable, from insects to humans.</a:t>
            </a:r>
          </a:p>
          <a:p>
            <a:r>
              <a:rPr lang="en-US" dirty="0" smtClean="0"/>
              <a:t> AI seeks to understand the computations required from intelligent </a:t>
            </a:r>
            <a:r>
              <a:rPr lang="en-US" dirty="0" err="1" smtClean="0"/>
              <a:t>behaviour</a:t>
            </a:r>
            <a:r>
              <a:rPr lang="en-US" dirty="0" smtClean="0"/>
              <a:t> and to produce computer systems that exhibit intelligence. Aspects of intelligence studied by AI include perception, communicational using human languages, reasoning, planning, learning and memory. </a:t>
            </a:r>
          </a:p>
          <a:p>
            <a:pPr>
              <a:buNone/>
            </a:pPr>
            <a:endParaRPr lang="en-US" b="1" dirty="0" smtClean="0"/>
          </a:p>
          <a:p>
            <a:pPr>
              <a:buNone/>
            </a:pPr>
            <a:r>
              <a:rPr lang="en-US" b="1" dirty="0" smtClean="0"/>
              <a:t>The following questions are to be considered before we can step forward: </a:t>
            </a:r>
          </a:p>
          <a:p>
            <a:r>
              <a:rPr lang="en-US" dirty="0" smtClean="0"/>
              <a:t>1. What are the underlying assumptions about intelligence? </a:t>
            </a:r>
          </a:p>
          <a:p>
            <a:r>
              <a:rPr lang="en-US" dirty="0" smtClean="0"/>
              <a:t>2. What kinds of techniques will be useful for solving AI problems? 3. At what level human intelligence can be </a:t>
            </a:r>
            <a:r>
              <a:rPr lang="en-US" dirty="0" err="1" smtClean="0"/>
              <a:t>modelled</a:t>
            </a:r>
            <a:r>
              <a:rPr lang="en-US" dirty="0" smtClean="0"/>
              <a:t>? </a:t>
            </a:r>
          </a:p>
          <a:p>
            <a:r>
              <a:rPr lang="en-US" dirty="0" smtClean="0"/>
              <a:t>4. When will it be realized when an intelligent program has been built?</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AI Technique:</a:t>
            </a:r>
            <a:endParaRPr lang="en-US" dirty="0"/>
          </a:p>
        </p:txBody>
      </p:sp>
      <p:sp>
        <p:nvSpPr>
          <p:cNvPr id="3" name="Content Placeholder 2"/>
          <p:cNvSpPr>
            <a:spLocks noGrp="1"/>
          </p:cNvSpPr>
          <p:nvPr>
            <p:ph idx="1"/>
          </p:nvPr>
        </p:nvSpPr>
        <p:spPr>
          <a:xfrm>
            <a:off x="457200" y="914400"/>
            <a:ext cx="8229600" cy="5638800"/>
          </a:xfrm>
        </p:spPr>
        <p:txBody>
          <a:bodyPr>
            <a:normAutofit fontScale="77500" lnSpcReduction="20000"/>
          </a:bodyPr>
          <a:lstStyle/>
          <a:p>
            <a:r>
              <a:rPr lang="en-US" dirty="0" smtClean="0"/>
              <a:t>An AI technique is a method that exploits knowledge that is represented so that:</a:t>
            </a:r>
          </a:p>
          <a:p>
            <a:r>
              <a:rPr lang="en-US" dirty="0" smtClean="0"/>
              <a:t> The knowledge captures generalizations that share properties, are grouped together, rather than being allowed separate representation. </a:t>
            </a:r>
          </a:p>
          <a:p>
            <a:r>
              <a:rPr lang="en-US" dirty="0" smtClean="0"/>
              <a:t> It can be understood by people who must provide it—even though for many programs bulk of the data comes automatically from readings. </a:t>
            </a:r>
          </a:p>
          <a:p>
            <a:r>
              <a:rPr lang="en-US" dirty="0" smtClean="0"/>
              <a:t> In many AI domains, how the people understand the same people must supply the knowledge to a program.</a:t>
            </a:r>
          </a:p>
          <a:p>
            <a:r>
              <a:rPr lang="en-US" dirty="0" smtClean="0"/>
              <a:t> It can be easily modified to correct errors and reflect changes in real conditions.</a:t>
            </a:r>
          </a:p>
          <a:p>
            <a:r>
              <a:rPr lang="en-US" dirty="0" smtClean="0"/>
              <a:t>It can be widely used even if it is incomplete or inaccurate. </a:t>
            </a:r>
          </a:p>
          <a:p>
            <a:r>
              <a:rPr lang="en-US" dirty="0" smtClean="0"/>
              <a:t>It can be used to help overcome its own sheer bulk by helping to narrow the range of possibilities that must be usually considered.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381000" y="152400"/>
            <a:ext cx="8305800" cy="647700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97562"/>
          </a:xfrm>
        </p:spPr>
        <p:txBody>
          <a:bodyPr>
            <a:normAutofit/>
          </a:bodyPr>
          <a:lstStyle/>
          <a:p>
            <a:r>
              <a:rPr lang="en-US" sz="6600" dirty="0" smtClean="0">
                <a:solidFill>
                  <a:schemeClr val="accent2">
                    <a:lumMod val="75000"/>
                  </a:schemeClr>
                </a:solidFill>
              </a:rPr>
              <a:t>Intelligent Agents</a:t>
            </a:r>
            <a:br>
              <a:rPr lang="en-US" sz="6600" dirty="0" smtClean="0">
                <a:solidFill>
                  <a:schemeClr val="accent2">
                    <a:lumMod val="75000"/>
                  </a:schemeClr>
                </a:solidFill>
              </a:rPr>
            </a:br>
            <a:endParaRPr lang="en-US" sz="6600" dirty="0">
              <a:solidFill>
                <a:schemeClr val="accent2">
                  <a:lumMod val="75000"/>
                </a:schemeClr>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
            </a:r>
            <a:br>
              <a:rPr lang="en-US" dirty="0" smtClean="0"/>
            </a:br>
            <a:r>
              <a:rPr lang="en-US" dirty="0" smtClean="0">
                <a:solidFill>
                  <a:schemeClr val="tx2">
                    <a:lumMod val="60000"/>
                    <a:lumOff val="40000"/>
                  </a:schemeClr>
                </a:solidFill>
              </a:rPr>
              <a:t>What are Agent and Environment?</a:t>
            </a:r>
            <a:br>
              <a:rPr lang="en-US" dirty="0" smtClean="0">
                <a:solidFill>
                  <a:schemeClr val="tx2">
                    <a:lumMod val="60000"/>
                    <a:lumOff val="40000"/>
                  </a:schemeClr>
                </a:solidFill>
              </a:rPr>
            </a:br>
            <a:endParaRPr lang="en-US" dirty="0">
              <a:solidFill>
                <a:schemeClr val="tx2">
                  <a:lumMod val="60000"/>
                  <a:lumOff val="40000"/>
                </a:schemeClr>
              </a:solidFill>
            </a:endParaRPr>
          </a:p>
        </p:txBody>
      </p:sp>
      <p:sp>
        <p:nvSpPr>
          <p:cNvPr id="3" name="Content Placeholder 2"/>
          <p:cNvSpPr>
            <a:spLocks noGrp="1"/>
          </p:cNvSpPr>
          <p:nvPr>
            <p:ph idx="1"/>
          </p:nvPr>
        </p:nvSpPr>
        <p:spPr>
          <a:xfrm>
            <a:off x="457200" y="1066800"/>
            <a:ext cx="8534400" cy="5791200"/>
          </a:xfrm>
        </p:spPr>
        <p:txBody>
          <a:bodyPr>
            <a:normAutofit fontScale="92500" lnSpcReduction="20000"/>
          </a:bodyPr>
          <a:lstStyle/>
          <a:p>
            <a:r>
              <a:rPr lang="en-US" dirty="0" smtClean="0"/>
              <a:t>An AI system is composed of an agent and its environment. The agents act in their environment. </a:t>
            </a:r>
          </a:p>
          <a:p>
            <a:r>
              <a:rPr lang="en-US" dirty="0" smtClean="0"/>
              <a:t>An </a:t>
            </a:r>
            <a:r>
              <a:rPr lang="en-US" b="1" dirty="0" smtClean="0">
                <a:solidFill>
                  <a:schemeClr val="tx2">
                    <a:lumMod val="60000"/>
                    <a:lumOff val="40000"/>
                  </a:schemeClr>
                </a:solidFill>
              </a:rPr>
              <a:t>agen</a:t>
            </a:r>
            <a:r>
              <a:rPr lang="en-US" b="1" dirty="0" smtClean="0"/>
              <a:t>t</a:t>
            </a:r>
            <a:r>
              <a:rPr lang="en-US" dirty="0" smtClean="0"/>
              <a:t> is anything that can perceive its environment through </a:t>
            </a:r>
            <a:r>
              <a:rPr lang="en-US" b="1" dirty="0" smtClean="0"/>
              <a:t>sensors</a:t>
            </a:r>
            <a:r>
              <a:rPr lang="en-US" dirty="0" smtClean="0"/>
              <a:t> and acts upon that environment through </a:t>
            </a:r>
            <a:r>
              <a:rPr lang="en-US" b="1" dirty="0" smtClean="0"/>
              <a:t>effectors or actuators.</a:t>
            </a:r>
          </a:p>
          <a:p>
            <a:r>
              <a:rPr lang="en-US" dirty="0" smtClean="0"/>
              <a:t>A </a:t>
            </a:r>
            <a:r>
              <a:rPr lang="en-US" b="1" dirty="0" smtClean="0">
                <a:solidFill>
                  <a:schemeClr val="tx2">
                    <a:lumMod val="60000"/>
                    <a:lumOff val="40000"/>
                  </a:schemeClr>
                </a:solidFill>
              </a:rPr>
              <a:t>human agent</a:t>
            </a:r>
            <a:r>
              <a:rPr lang="en-US" dirty="0" smtClean="0"/>
              <a:t> has sensory organs such as eyes, ears, nose, tongue and skin parallel to the sensors, and other organs such as hands, legs, mouth, for effectors.</a:t>
            </a:r>
          </a:p>
          <a:p>
            <a:r>
              <a:rPr lang="en-US" dirty="0" smtClean="0"/>
              <a:t>A </a:t>
            </a:r>
            <a:r>
              <a:rPr lang="en-US" b="1" dirty="0" smtClean="0">
                <a:solidFill>
                  <a:schemeClr val="tx2">
                    <a:lumMod val="60000"/>
                    <a:lumOff val="40000"/>
                  </a:schemeClr>
                </a:solidFill>
              </a:rPr>
              <a:t>robotic agent</a:t>
            </a:r>
            <a:r>
              <a:rPr lang="en-US" dirty="0" smtClean="0"/>
              <a:t> replaces cameras and infrared range finders for the sensors, and various motors and actuators for effectors.</a:t>
            </a:r>
          </a:p>
          <a:p>
            <a:r>
              <a:rPr lang="en-US" dirty="0" smtClean="0"/>
              <a:t>A</a:t>
            </a:r>
            <a:r>
              <a:rPr lang="en-US" dirty="0" smtClean="0">
                <a:solidFill>
                  <a:schemeClr val="tx2">
                    <a:lumMod val="60000"/>
                    <a:lumOff val="40000"/>
                  </a:schemeClr>
                </a:solidFill>
              </a:rPr>
              <a:t> </a:t>
            </a:r>
            <a:r>
              <a:rPr lang="en-US" b="1" dirty="0" smtClean="0">
                <a:solidFill>
                  <a:schemeClr val="tx2">
                    <a:lumMod val="60000"/>
                    <a:lumOff val="40000"/>
                  </a:schemeClr>
                </a:solidFill>
              </a:rPr>
              <a:t>software agent</a:t>
            </a:r>
            <a:r>
              <a:rPr lang="en-US" dirty="0" smtClean="0"/>
              <a:t> has encoded bit strings as its programs and actions.</a:t>
            </a:r>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What are Agent and Environment</a:t>
            </a:r>
            <a:endParaRPr lang="en-US" dirty="0">
              <a:solidFill>
                <a:srgbClr val="0070C0"/>
              </a:solidFill>
            </a:endParaRPr>
          </a:p>
        </p:txBody>
      </p:sp>
      <p:pic>
        <p:nvPicPr>
          <p:cNvPr id="1026" name="Picture 2"/>
          <p:cNvPicPr>
            <a:picLocks noGrp="1" noChangeAspect="1" noChangeArrowheads="1"/>
          </p:cNvPicPr>
          <p:nvPr>
            <p:ph idx="1"/>
          </p:nvPr>
        </p:nvPicPr>
        <p:blipFill>
          <a:blip r:embed="rId2"/>
          <a:srcRect/>
          <a:stretch>
            <a:fillRect/>
          </a:stretch>
        </p:blipFill>
        <p:spPr bwMode="auto">
          <a:xfrm>
            <a:off x="762000" y="1524000"/>
            <a:ext cx="7772400" cy="4876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Sensors, Actuators, effectors</a:t>
            </a:r>
            <a:endParaRPr lang="en-US" dirty="0"/>
          </a:p>
        </p:txBody>
      </p:sp>
      <p:sp>
        <p:nvSpPr>
          <p:cNvPr id="3" name="Content Placeholder 2"/>
          <p:cNvSpPr>
            <a:spLocks noGrp="1"/>
          </p:cNvSpPr>
          <p:nvPr>
            <p:ph idx="1"/>
          </p:nvPr>
        </p:nvSpPr>
        <p:spPr>
          <a:xfrm>
            <a:off x="0" y="1219200"/>
            <a:ext cx="9144000" cy="5638800"/>
          </a:xfrm>
        </p:spPr>
        <p:txBody>
          <a:bodyPr>
            <a:normAutofit lnSpcReduction="10000"/>
          </a:bodyPr>
          <a:lstStyle/>
          <a:p>
            <a:r>
              <a:rPr lang="en-US" dirty="0" smtClean="0"/>
              <a:t>Sensor: Sensor is a device which detects the change in the environment and sends the information to other electronic devices. An agent observes its environment through sensors.</a:t>
            </a:r>
          </a:p>
          <a:p>
            <a:r>
              <a:rPr lang="en-US" dirty="0" smtClean="0"/>
              <a:t>Actuators: Actuators are the component of machines that converts energy into motion. The actuators are only responsible for moving and controlling a system. An actuator can be an electric motor, gears, rails, etc.</a:t>
            </a:r>
          </a:p>
          <a:p>
            <a:r>
              <a:rPr lang="en-US" dirty="0" smtClean="0"/>
              <a:t>Effectors: Effectors are the devices which affect the environment. Effectors can be legs, wheels, arms, fingers, wings, fins, and display screen.</a:t>
            </a:r>
          </a:p>
          <a:p>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Intelligent Agents:</a:t>
            </a:r>
            <a:br>
              <a:rPr lang="en-US" dirty="0" smtClean="0"/>
            </a:br>
            <a:endParaRPr lang="en-US" dirty="0"/>
          </a:p>
        </p:txBody>
      </p:sp>
      <p:sp>
        <p:nvSpPr>
          <p:cNvPr id="3" name="Content Placeholder 2"/>
          <p:cNvSpPr>
            <a:spLocks noGrp="1"/>
          </p:cNvSpPr>
          <p:nvPr>
            <p:ph idx="1"/>
          </p:nvPr>
        </p:nvSpPr>
        <p:spPr>
          <a:xfrm>
            <a:off x="457200" y="685800"/>
            <a:ext cx="8229600" cy="6019800"/>
          </a:xfrm>
        </p:spPr>
        <p:txBody>
          <a:bodyPr>
            <a:normAutofit lnSpcReduction="10000"/>
          </a:bodyPr>
          <a:lstStyle/>
          <a:p>
            <a:r>
              <a:rPr lang="en-US" dirty="0" smtClean="0"/>
              <a:t>An intelligent agent is an autonomous entity which acts upon an environment using sensors and actuators for achieving goals. </a:t>
            </a:r>
          </a:p>
          <a:p>
            <a:pPr>
              <a:buNone/>
            </a:pPr>
            <a:r>
              <a:rPr lang="en-US" dirty="0" smtClean="0"/>
              <a:t>Following are the main four rules for an AI agent:</a:t>
            </a:r>
          </a:p>
          <a:p>
            <a:r>
              <a:rPr lang="en-US" b="1" dirty="0" smtClean="0"/>
              <a:t>Rule 1:</a:t>
            </a:r>
            <a:r>
              <a:rPr lang="en-US" dirty="0" smtClean="0"/>
              <a:t> An AI agent must have the ability to perceive the environment.</a:t>
            </a:r>
          </a:p>
          <a:p>
            <a:r>
              <a:rPr lang="en-US" b="1" dirty="0" smtClean="0"/>
              <a:t>Rule 2:</a:t>
            </a:r>
            <a:r>
              <a:rPr lang="en-US" dirty="0" smtClean="0"/>
              <a:t> The observation must be used to make decisions.</a:t>
            </a:r>
          </a:p>
          <a:p>
            <a:r>
              <a:rPr lang="en-US" b="1" dirty="0" smtClean="0"/>
              <a:t>Rule 3:</a:t>
            </a:r>
            <a:r>
              <a:rPr lang="en-US" dirty="0" smtClean="0"/>
              <a:t> Decision should result in an action.</a:t>
            </a:r>
          </a:p>
          <a:p>
            <a:r>
              <a:rPr lang="en-US" b="1" dirty="0" smtClean="0"/>
              <a:t>Rule 4:</a:t>
            </a:r>
            <a:r>
              <a:rPr lang="en-US" dirty="0" smtClean="0"/>
              <a:t> The action taken by an AI agent must be a rational action.</a:t>
            </a:r>
          </a:p>
          <a:p>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smtClean="0"/>
              <a:t>Rational Agent:</a:t>
            </a:r>
            <a:r>
              <a:rPr lang="en-US" dirty="0" smtClean="0"/>
              <a:t/>
            </a:r>
            <a:br>
              <a:rPr lang="en-US" dirty="0" smtClean="0"/>
            </a:br>
            <a:endParaRPr lang="en-US" dirty="0"/>
          </a:p>
        </p:txBody>
      </p:sp>
      <p:sp>
        <p:nvSpPr>
          <p:cNvPr id="3" name="Content Placeholder 2"/>
          <p:cNvSpPr>
            <a:spLocks noGrp="1"/>
          </p:cNvSpPr>
          <p:nvPr>
            <p:ph idx="1"/>
          </p:nvPr>
        </p:nvSpPr>
        <p:spPr>
          <a:xfrm>
            <a:off x="304800" y="685800"/>
            <a:ext cx="8382000" cy="5943600"/>
          </a:xfrm>
        </p:spPr>
        <p:txBody>
          <a:bodyPr>
            <a:normAutofit fontScale="92500" lnSpcReduction="10000"/>
          </a:bodyPr>
          <a:lstStyle/>
          <a:p>
            <a:r>
              <a:rPr lang="en-US" dirty="0" smtClean="0"/>
              <a:t>A rational agent is an agent which has clear preference, models uncertainty, and acts in a way to maximize its performance measure with all possible actions.</a:t>
            </a:r>
          </a:p>
          <a:p>
            <a:r>
              <a:rPr lang="en-US" dirty="0" smtClean="0"/>
              <a:t>A rational agent is said to perform the right things.</a:t>
            </a:r>
          </a:p>
          <a:p>
            <a:r>
              <a:rPr lang="en-US" dirty="0" smtClean="0"/>
              <a:t> AI is about creating rational agents to use for game theory and decision theory for various real-world scenarios.</a:t>
            </a:r>
          </a:p>
          <a:p>
            <a:r>
              <a:rPr lang="en-US" dirty="0" smtClean="0"/>
              <a:t>For an AI agent, the rational action is most important because in AI reinforcement learning algorithm, for each best possible action, agent gets the positive reward and for each wrong action, an agent gets a negative reward.</a:t>
            </a:r>
          </a:p>
          <a:p>
            <a:pPr>
              <a:buNone/>
            </a:pP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Agent and Environment</a:t>
            </a:r>
            <a:endParaRPr lang="en-US" dirty="0">
              <a:solidFill>
                <a:srgbClr val="0070C0"/>
              </a:solidFill>
            </a:endParaRPr>
          </a:p>
        </p:txBody>
      </p:sp>
      <p:sp>
        <p:nvSpPr>
          <p:cNvPr id="3" name="Content Placeholder 2"/>
          <p:cNvSpPr>
            <a:spLocks noGrp="1"/>
          </p:cNvSpPr>
          <p:nvPr>
            <p:ph idx="1"/>
          </p:nvPr>
        </p:nvSpPr>
        <p:spPr>
          <a:xfrm>
            <a:off x="457200" y="1219200"/>
            <a:ext cx="8229600" cy="4906963"/>
          </a:xfrm>
        </p:spPr>
        <p:txBody>
          <a:bodyPr/>
          <a:lstStyle/>
          <a:p>
            <a:r>
              <a:rPr lang="en-US" dirty="0" smtClean="0"/>
              <a:t>Operate in an environment</a:t>
            </a:r>
          </a:p>
          <a:p>
            <a:r>
              <a:rPr lang="en-US" dirty="0" smtClean="0"/>
              <a:t>Perceive its environment through sensors</a:t>
            </a:r>
          </a:p>
          <a:p>
            <a:r>
              <a:rPr lang="en-US" dirty="0" smtClean="0"/>
              <a:t>Acts upon its environment through actuators /effectors</a:t>
            </a:r>
          </a:p>
          <a:p>
            <a:r>
              <a:rPr lang="en-US" dirty="0" smtClean="0"/>
              <a:t>Have Goals</a:t>
            </a:r>
            <a:endParaRPr lang="en-US" dirty="0"/>
          </a:p>
        </p:txBody>
      </p:sp>
      <p:pic>
        <p:nvPicPr>
          <p:cNvPr id="4" name="Picture 2"/>
          <p:cNvPicPr>
            <a:picLocks noChangeAspect="1" noChangeArrowheads="1"/>
          </p:cNvPicPr>
          <p:nvPr/>
        </p:nvPicPr>
        <p:blipFill>
          <a:blip r:embed="rId2"/>
          <a:srcRect/>
          <a:stretch>
            <a:fillRect/>
          </a:stretch>
        </p:blipFill>
        <p:spPr bwMode="auto">
          <a:xfrm>
            <a:off x="3124200" y="3581400"/>
            <a:ext cx="5638800" cy="3028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Agent and Environment</a:t>
            </a:r>
            <a:endParaRPr lang="en-US" dirty="0"/>
          </a:p>
        </p:txBody>
      </p:sp>
      <p:pic>
        <p:nvPicPr>
          <p:cNvPr id="2050" name="Picture 2"/>
          <p:cNvPicPr>
            <a:picLocks noGrp="1" noChangeAspect="1" noChangeArrowheads="1"/>
          </p:cNvPicPr>
          <p:nvPr>
            <p:ph idx="1"/>
          </p:nvPr>
        </p:nvPicPr>
        <p:blipFill>
          <a:blip r:embed="rId2">
            <a:lum bright="13000" contrast="59000"/>
          </a:blip>
          <a:stretch>
            <a:fillRect/>
          </a:stretch>
        </p:blipFill>
        <p:spPr bwMode="auto">
          <a:xfrm>
            <a:off x="0" y="1066800"/>
            <a:ext cx="9144000" cy="579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 and Environment</a:t>
            </a:r>
            <a:endParaRPr lang="en-US" dirty="0"/>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lum bright="13000" contrast="55000"/>
          </a:blip>
          <a:srcRect/>
          <a:stretch>
            <a:fillRect/>
          </a:stretch>
        </p:blipFill>
        <p:spPr bwMode="auto">
          <a:xfrm>
            <a:off x="0" y="1371600"/>
            <a:ext cx="9144000" cy="5486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a:t>
            </a:r>
            <a:endParaRPr lang="en-US" dirty="0"/>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lum bright="11000" contrast="57000"/>
          </a:blip>
          <a:srcRect/>
          <a:stretch>
            <a:fillRect/>
          </a:stretch>
        </p:blipFill>
        <p:spPr bwMode="auto">
          <a:xfrm>
            <a:off x="0" y="1447800"/>
            <a:ext cx="9144000" cy="5410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Rationality/performance </a:t>
            </a:r>
            <a:r>
              <a:rPr lang="en-US" b="1" dirty="0" smtClean="0">
                <a:sym typeface="Wingdings" pitchFamily="2" charset="2"/>
              </a:rPr>
              <a:t>(PEAS)</a:t>
            </a:r>
            <a:r>
              <a:rPr lang="en-US" dirty="0" smtClean="0"/>
              <a:t/>
            </a:r>
            <a:br>
              <a:rPr lang="en-US" dirty="0" smtClean="0"/>
            </a:br>
            <a:endParaRPr lang="en-US" dirty="0"/>
          </a:p>
        </p:txBody>
      </p:sp>
      <p:sp>
        <p:nvSpPr>
          <p:cNvPr id="3" name="Content Placeholder 2"/>
          <p:cNvSpPr>
            <a:spLocks noGrp="1"/>
          </p:cNvSpPr>
          <p:nvPr>
            <p:ph idx="1"/>
          </p:nvPr>
        </p:nvSpPr>
        <p:spPr>
          <a:xfrm>
            <a:off x="152400" y="990600"/>
            <a:ext cx="8534400" cy="5867400"/>
          </a:xfrm>
        </p:spPr>
        <p:txBody>
          <a:bodyPr>
            <a:normAutofit lnSpcReduction="10000"/>
          </a:bodyPr>
          <a:lstStyle/>
          <a:p>
            <a:r>
              <a:rPr lang="en-US" dirty="0" smtClean="0"/>
              <a:t>The rationality of an agent is measured by its performance measure.</a:t>
            </a:r>
          </a:p>
          <a:p>
            <a:pPr>
              <a:buNone/>
            </a:pPr>
            <a:r>
              <a:rPr lang="en-US" dirty="0" smtClean="0"/>
              <a:t> </a:t>
            </a:r>
            <a:r>
              <a:rPr lang="en-US" dirty="0" smtClean="0">
                <a:solidFill>
                  <a:srgbClr val="FF0000"/>
                </a:solidFill>
              </a:rPr>
              <a:t>Rationality can be judged on the basis of following points:</a:t>
            </a:r>
          </a:p>
          <a:p>
            <a:pPr lvl="0"/>
            <a:r>
              <a:rPr lang="en-US" dirty="0" smtClean="0"/>
              <a:t>Performance measure which defines the success criterion.</a:t>
            </a:r>
          </a:p>
          <a:p>
            <a:pPr lvl="0"/>
            <a:r>
              <a:rPr lang="en-US" dirty="0" smtClean="0"/>
              <a:t>Environment knowledge.</a:t>
            </a:r>
          </a:p>
          <a:p>
            <a:pPr lvl="0"/>
            <a:r>
              <a:rPr lang="en-US" dirty="0" smtClean="0"/>
              <a:t>Actions(Best possible) that an agent can perform.</a:t>
            </a:r>
          </a:p>
          <a:p>
            <a:pPr lvl="0"/>
            <a:r>
              <a:rPr lang="en-US" dirty="0" smtClean="0"/>
              <a:t>The sequence of percepts/sensors.</a:t>
            </a:r>
          </a:p>
          <a:p>
            <a:pPr>
              <a:buNone/>
            </a:pPr>
            <a:r>
              <a:rPr lang="en-US" dirty="0" smtClean="0"/>
              <a:t> </a:t>
            </a:r>
          </a:p>
          <a:p>
            <a:pPr>
              <a:buNone/>
            </a:pPr>
            <a:endParaRPr lang="en-US" dirty="0" smtClean="0"/>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Structure of an AI Agent</a:t>
            </a:r>
            <a:r>
              <a:rPr lang="en-US" dirty="0" smtClean="0"/>
              <a:t/>
            </a:r>
            <a:br>
              <a:rPr lang="en-US" dirty="0" smtClean="0"/>
            </a:br>
            <a:endParaRPr lang="en-US" dirty="0"/>
          </a:p>
        </p:txBody>
      </p:sp>
      <p:sp>
        <p:nvSpPr>
          <p:cNvPr id="3" name="Content Placeholder 2"/>
          <p:cNvSpPr>
            <a:spLocks noGrp="1"/>
          </p:cNvSpPr>
          <p:nvPr>
            <p:ph idx="1"/>
          </p:nvPr>
        </p:nvSpPr>
        <p:spPr>
          <a:xfrm>
            <a:off x="457200" y="838200"/>
            <a:ext cx="8229600" cy="5287963"/>
          </a:xfrm>
        </p:spPr>
        <p:txBody>
          <a:bodyPr>
            <a:normAutofit fontScale="85000" lnSpcReduction="20000"/>
          </a:bodyPr>
          <a:lstStyle/>
          <a:p>
            <a:r>
              <a:rPr lang="en-US" dirty="0" smtClean="0"/>
              <a:t>The task of AI is to design an agent program which implements the agent function</a:t>
            </a:r>
          </a:p>
          <a:p>
            <a:r>
              <a:rPr lang="en-US" dirty="0" smtClean="0"/>
              <a:t>Agent is a combination of architecture and agent program</a:t>
            </a:r>
          </a:p>
          <a:p>
            <a:pPr>
              <a:buNone/>
            </a:pPr>
            <a:r>
              <a:rPr lang="en-US" dirty="0" smtClean="0">
                <a:solidFill>
                  <a:srgbClr val="FF0000"/>
                </a:solidFill>
              </a:rPr>
              <a:t>Agent = Architecture + Agent program  </a:t>
            </a:r>
          </a:p>
          <a:p>
            <a:r>
              <a:rPr lang="en-US" b="1" dirty="0" smtClean="0"/>
              <a:t>Architecture:</a:t>
            </a:r>
            <a:r>
              <a:rPr lang="en-US" dirty="0" smtClean="0"/>
              <a:t> Architecture is machinery that an AI agent executes on.</a:t>
            </a:r>
          </a:p>
          <a:p>
            <a:r>
              <a:rPr lang="en-US" b="1" dirty="0" smtClean="0"/>
              <a:t>Agent Function:</a:t>
            </a:r>
            <a:r>
              <a:rPr lang="en-US" dirty="0" smtClean="0"/>
              <a:t> Agent function is used to map a percept to an action.</a:t>
            </a:r>
          </a:p>
          <a:p>
            <a:r>
              <a:rPr lang="en-US" dirty="0" smtClean="0"/>
              <a:t>f:P* → A</a:t>
            </a:r>
          </a:p>
          <a:p>
            <a:r>
              <a:rPr lang="en-US" b="1" dirty="0" smtClean="0"/>
              <a:t>Agent program:</a:t>
            </a:r>
            <a:r>
              <a:rPr lang="en-US" dirty="0" smtClean="0"/>
              <a:t> Agent program is an implementation of agent function. An agent program executes on the physical architecture to produce function f.</a:t>
            </a:r>
          </a:p>
          <a:p>
            <a:endParaRPr lang="en-US" dirty="0" smtClean="0"/>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PEAS Representation</a:t>
            </a:r>
            <a:r>
              <a:rPr lang="en-US" dirty="0" smtClean="0"/>
              <a:t/>
            </a:r>
            <a:br>
              <a:rPr lang="en-US" dirty="0" smtClean="0"/>
            </a:br>
            <a:endParaRPr lang="en-US" dirty="0"/>
          </a:p>
        </p:txBody>
      </p:sp>
      <p:sp>
        <p:nvSpPr>
          <p:cNvPr id="3" name="Content Placeholder 2"/>
          <p:cNvSpPr>
            <a:spLocks noGrp="1"/>
          </p:cNvSpPr>
          <p:nvPr>
            <p:ph idx="1"/>
          </p:nvPr>
        </p:nvSpPr>
        <p:spPr>
          <a:xfrm>
            <a:off x="457200" y="990600"/>
            <a:ext cx="8229600" cy="5638800"/>
          </a:xfrm>
        </p:spPr>
        <p:txBody>
          <a:bodyPr>
            <a:normAutofit fontScale="85000" lnSpcReduction="20000"/>
          </a:bodyPr>
          <a:lstStyle/>
          <a:p>
            <a:r>
              <a:rPr lang="en-US" dirty="0" smtClean="0"/>
              <a:t>PEAS is a type of model on which an AI agent works upon. It is made up of four words:</a:t>
            </a:r>
          </a:p>
          <a:p>
            <a:pPr lvl="0"/>
            <a:r>
              <a:rPr lang="en-US" dirty="0" smtClean="0"/>
              <a:t>P: Performance measure</a:t>
            </a:r>
          </a:p>
          <a:p>
            <a:pPr lvl="0"/>
            <a:r>
              <a:rPr lang="en-US" dirty="0" smtClean="0"/>
              <a:t>E: Environment</a:t>
            </a:r>
          </a:p>
          <a:p>
            <a:pPr lvl="0"/>
            <a:r>
              <a:rPr lang="en-US" dirty="0" smtClean="0"/>
              <a:t>A: Actuators</a:t>
            </a:r>
          </a:p>
          <a:p>
            <a:pPr lvl="0"/>
            <a:r>
              <a:rPr lang="en-US" dirty="0" smtClean="0"/>
              <a:t>S: Sensors</a:t>
            </a:r>
          </a:p>
          <a:p>
            <a:pPr>
              <a:buNone/>
            </a:pPr>
            <a:r>
              <a:rPr lang="en-US" dirty="0" smtClean="0"/>
              <a:t>Ex. self-driving car then PEAS representation will be:</a:t>
            </a:r>
          </a:p>
          <a:p>
            <a:pPr lvl="0"/>
            <a:r>
              <a:rPr lang="en-US" b="1" dirty="0" smtClean="0"/>
              <a:t>Performance:</a:t>
            </a:r>
            <a:r>
              <a:rPr lang="en-US" dirty="0" smtClean="0"/>
              <a:t> Safety, time, legal drive, comfort</a:t>
            </a:r>
          </a:p>
          <a:p>
            <a:pPr lvl="0"/>
            <a:r>
              <a:rPr lang="en-US" b="1" dirty="0" smtClean="0"/>
              <a:t>Environment:</a:t>
            </a:r>
            <a:r>
              <a:rPr lang="en-US" dirty="0" smtClean="0"/>
              <a:t> Roads, other vehicles, road signs, pedestrian</a:t>
            </a:r>
          </a:p>
          <a:p>
            <a:pPr lvl="0"/>
            <a:r>
              <a:rPr lang="en-US" b="1" dirty="0" smtClean="0"/>
              <a:t>Actuators:</a:t>
            </a:r>
            <a:r>
              <a:rPr lang="en-US" dirty="0" smtClean="0"/>
              <a:t> Steering, accelerator, brake, signal, horn</a:t>
            </a:r>
          </a:p>
          <a:p>
            <a:pPr lvl="0"/>
            <a:r>
              <a:rPr lang="en-US" b="1" dirty="0" smtClean="0"/>
              <a:t>Sensors:</a:t>
            </a:r>
            <a:r>
              <a:rPr lang="en-US" dirty="0" smtClean="0"/>
              <a:t> Camera, GPS, speedometer, odometer, accelerometer, sonar.</a:t>
            </a:r>
          </a:p>
          <a:p>
            <a:pPr lvl="0"/>
            <a:endParaRPr lang="en-US" dirty="0" smtClean="0"/>
          </a:p>
          <a:p>
            <a:pPr lvl="0"/>
            <a:endParaRPr lang="en-US" dirty="0" smtClean="0"/>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smtClean="0"/>
              <a:t>PEAS Representation</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228600" y="990600"/>
            <a:ext cx="8915400" cy="5638800"/>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dirty="0" smtClean="0"/>
              <a:t>Agent Terminology</a:t>
            </a:r>
            <a:br>
              <a:rPr lang="en-US" dirty="0" smtClean="0"/>
            </a:br>
            <a:endParaRPr lang="en-US" dirty="0"/>
          </a:p>
        </p:txBody>
      </p:sp>
      <p:sp>
        <p:nvSpPr>
          <p:cNvPr id="3" name="Content Placeholder 2"/>
          <p:cNvSpPr>
            <a:spLocks noGrp="1"/>
          </p:cNvSpPr>
          <p:nvPr>
            <p:ph idx="1"/>
          </p:nvPr>
        </p:nvSpPr>
        <p:spPr>
          <a:xfrm>
            <a:off x="457200" y="990600"/>
            <a:ext cx="8229600" cy="5638800"/>
          </a:xfrm>
        </p:spPr>
        <p:txBody>
          <a:bodyPr>
            <a:normAutofit fontScale="92500"/>
          </a:bodyPr>
          <a:lstStyle/>
          <a:p>
            <a:r>
              <a:rPr lang="en-US" b="1" dirty="0" smtClean="0"/>
              <a:t>Performance Measure of Agent</a:t>
            </a:r>
            <a:r>
              <a:rPr lang="en-US" dirty="0" smtClean="0"/>
              <a:t> − It is the criteria, which determines how successful an agent is.</a:t>
            </a:r>
          </a:p>
          <a:p>
            <a:r>
              <a:rPr lang="en-US" b="1" dirty="0" smtClean="0"/>
              <a:t>Behavior of Agent</a:t>
            </a:r>
            <a:r>
              <a:rPr lang="en-US" dirty="0" smtClean="0"/>
              <a:t> − It is the action that agent performs after any given sequence of percepts.</a:t>
            </a:r>
          </a:p>
          <a:p>
            <a:r>
              <a:rPr lang="en-US" b="1" dirty="0" smtClean="0"/>
              <a:t>Percept</a:t>
            </a:r>
            <a:r>
              <a:rPr lang="en-US" dirty="0" smtClean="0"/>
              <a:t> − It is agent’s perceptual inputs at a given instance.</a:t>
            </a:r>
          </a:p>
          <a:p>
            <a:r>
              <a:rPr lang="en-US" b="1" dirty="0" smtClean="0"/>
              <a:t>Percept Sequence</a:t>
            </a:r>
            <a:r>
              <a:rPr lang="en-US" dirty="0" smtClean="0"/>
              <a:t> − It is the history of all that an agent has perceived till date.</a:t>
            </a:r>
          </a:p>
          <a:p>
            <a:r>
              <a:rPr lang="en-US" b="1" dirty="0" smtClean="0"/>
              <a:t>Agent Function</a:t>
            </a:r>
            <a:r>
              <a:rPr lang="en-US" dirty="0" smtClean="0"/>
              <a:t> − It is a map from the precept sequence to an action.</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Agent Environment in AI</a:t>
            </a:r>
            <a:br>
              <a:rPr lang="en-US" dirty="0" smtClean="0"/>
            </a:br>
            <a:endParaRPr lang="en-US" dirty="0"/>
          </a:p>
        </p:txBody>
      </p:sp>
      <p:sp>
        <p:nvSpPr>
          <p:cNvPr id="3" name="Content Placeholder 2"/>
          <p:cNvSpPr>
            <a:spLocks noGrp="1"/>
          </p:cNvSpPr>
          <p:nvPr>
            <p:ph idx="1"/>
          </p:nvPr>
        </p:nvSpPr>
        <p:spPr>
          <a:xfrm>
            <a:off x="228600" y="914400"/>
            <a:ext cx="8458200" cy="5791200"/>
          </a:xfrm>
        </p:spPr>
        <p:txBody>
          <a:bodyPr>
            <a:normAutofit fontScale="85000" lnSpcReduction="20000"/>
          </a:bodyPr>
          <a:lstStyle/>
          <a:p>
            <a:r>
              <a:rPr lang="en-US" dirty="0" smtClean="0"/>
              <a:t>The environment is where agent lives, operate and provide the agent with something to sense and act upon it.</a:t>
            </a:r>
          </a:p>
          <a:p>
            <a:r>
              <a:rPr lang="en-US" dirty="0" smtClean="0"/>
              <a:t>It can be a physical space, like a factory floor, or a digital space, like a website.</a:t>
            </a:r>
          </a:p>
          <a:p>
            <a:pPr>
              <a:buNone/>
            </a:pPr>
            <a:r>
              <a:rPr lang="en-US" dirty="0" smtClean="0"/>
              <a:t>Features of Environment</a:t>
            </a:r>
          </a:p>
          <a:p>
            <a:pPr lvl="0"/>
            <a:r>
              <a:rPr lang="en-US" dirty="0" smtClean="0"/>
              <a:t>Fully observable </a:t>
            </a:r>
            <a:r>
              <a:rPr lang="en-US" dirty="0" err="1" smtClean="0"/>
              <a:t>vs</a:t>
            </a:r>
            <a:r>
              <a:rPr lang="en-US" dirty="0" smtClean="0"/>
              <a:t> Partially Observable</a:t>
            </a:r>
          </a:p>
          <a:p>
            <a:pPr lvl="0"/>
            <a:r>
              <a:rPr lang="en-US" dirty="0" smtClean="0"/>
              <a:t>Static </a:t>
            </a:r>
            <a:r>
              <a:rPr lang="en-US" dirty="0" err="1" smtClean="0"/>
              <a:t>vs</a:t>
            </a:r>
            <a:r>
              <a:rPr lang="en-US" dirty="0" smtClean="0"/>
              <a:t> Dynamic</a:t>
            </a:r>
          </a:p>
          <a:p>
            <a:pPr lvl="0"/>
            <a:r>
              <a:rPr lang="en-US" dirty="0" smtClean="0"/>
              <a:t>Discrete </a:t>
            </a:r>
            <a:r>
              <a:rPr lang="en-US" dirty="0" err="1" smtClean="0"/>
              <a:t>vs</a:t>
            </a:r>
            <a:r>
              <a:rPr lang="en-US" dirty="0" smtClean="0"/>
              <a:t> Continuous</a:t>
            </a:r>
          </a:p>
          <a:p>
            <a:pPr lvl="0"/>
            <a:r>
              <a:rPr lang="en-US" dirty="0" smtClean="0"/>
              <a:t>Deterministic </a:t>
            </a:r>
            <a:r>
              <a:rPr lang="en-US" dirty="0" err="1" smtClean="0"/>
              <a:t>vs</a:t>
            </a:r>
            <a:r>
              <a:rPr lang="en-US" dirty="0" smtClean="0"/>
              <a:t> Stochastic</a:t>
            </a:r>
          </a:p>
          <a:p>
            <a:pPr lvl="0"/>
            <a:r>
              <a:rPr lang="en-US" dirty="0" smtClean="0"/>
              <a:t>Single-agent </a:t>
            </a:r>
            <a:r>
              <a:rPr lang="en-US" dirty="0" err="1" smtClean="0"/>
              <a:t>vs</a:t>
            </a:r>
            <a:r>
              <a:rPr lang="en-US" dirty="0" smtClean="0"/>
              <a:t> Multi-agent</a:t>
            </a:r>
          </a:p>
          <a:p>
            <a:pPr lvl="0"/>
            <a:r>
              <a:rPr lang="en-US" dirty="0" smtClean="0"/>
              <a:t>Episodic </a:t>
            </a:r>
            <a:r>
              <a:rPr lang="en-US" dirty="0" err="1" smtClean="0"/>
              <a:t>vs</a:t>
            </a:r>
            <a:r>
              <a:rPr lang="en-US" dirty="0" smtClean="0"/>
              <a:t> sequential</a:t>
            </a:r>
          </a:p>
          <a:p>
            <a:pPr lvl="0"/>
            <a:r>
              <a:rPr lang="en-US" dirty="0" smtClean="0"/>
              <a:t>Known </a:t>
            </a:r>
            <a:r>
              <a:rPr lang="en-US" dirty="0" err="1" smtClean="0"/>
              <a:t>vs</a:t>
            </a:r>
            <a:r>
              <a:rPr lang="en-US" dirty="0" smtClean="0"/>
              <a:t> Unknown</a:t>
            </a:r>
          </a:p>
          <a:p>
            <a:pPr lvl="0"/>
            <a:r>
              <a:rPr lang="en-US" dirty="0" smtClean="0"/>
              <a:t>Accessible </a:t>
            </a:r>
            <a:r>
              <a:rPr lang="en-US" dirty="0" err="1" smtClean="0"/>
              <a:t>vs</a:t>
            </a:r>
            <a:r>
              <a:rPr lang="en-US" dirty="0" smtClean="0"/>
              <a:t> Inaccessible</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1143000"/>
          </a:xfrm>
        </p:spPr>
        <p:txBody>
          <a:bodyPr>
            <a:normAutofit fontScale="90000"/>
          </a:bodyPr>
          <a:lstStyle/>
          <a:p>
            <a:pPr lvl="0"/>
            <a:r>
              <a:rPr lang="en-US" dirty="0" smtClean="0"/>
              <a:t>Fully observable </a:t>
            </a:r>
            <a:r>
              <a:rPr lang="en-US" dirty="0" err="1" smtClean="0"/>
              <a:t>vs</a:t>
            </a:r>
            <a:r>
              <a:rPr lang="en-US" dirty="0" smtClean="0"/>
              <a:t> Partially Observable</a:t>
            </a:r>
            <a:br>
              <a:rPr lang="en-US" dirty="0" smtClean="0"/>
            </a:br>
            <a:endParaRPr lang="en-US" dirty="0"/>
          </a:p>
        </p:txBody>
      </p:sp>
      <p:sp>
        <p:nvSpPr>
          <p:cNvPr id="3" name="Content Placeholder 2"/>
          <p:cNvSpPr>
            <a:spLocks noGrp="1"/>
          </p:cNvSpPr>
          <p:nvPr>
            <p:ph idx="1"/>
          </p:nvPr>
        </p:nvSpPr>
        <p:spPr>
          <a:xfrm>
            <a:off x="228600" y="1066800"/>
            <a:ext cx="8915400" cy="5059363"/>
          </a:xfrm>
        </p:spPr>
        <p:txBody>
          <a:bodyPr>
            <a:normAutofit fontScale="92500" lnSpcReduction="10000"/>
          </a:bodyPr>
          <a:lstStyle/>
          <a:p>
            <a:r>
              <a:rPr lang="en-US" dirty="0" smtClean="0"/>
              <a:t>If an agent sensor can sense or access the complete state of an environment at each point in time then it is a fully observable environment.</a:t>
            </a:r>
          </a:p>
          <a:p>
            <a:r>
              <a:rPr lang="en-US" dirty="0" smtClean="0"/>
              <a:t>Imagine a chess-playing agent, agent can fully observe the state of the chessboard at all times. Its sensors provide complete information about the current position of all pieces. </a:t>
            </a:r>
          </a:p>
          <a:p>
            <a:r>
              <a:rPr lang="en-US" dirty="0" smtClean="0"/>
              <a:t>This is a fully observable environment because the agent has perfect information about the state of the world.</a:t>
            </a:r>
          </a:p>
          <a:p>
            <a:r>
              <a:rPr lang="en-US" dirty="0" smtClean="0"/>
              <a:t>Otherwise it is Partially observable. ex. poker</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1143000"/>
          </a:xfrm>
        </p:spPr>
        <p:txBody>
          <a:bodyPr>
            <a:normAutofit fontScale="90000"/>
          </a:bodyPr>
          <a:lstStyle/>
          <a:p>
            <a:r>
              <a:rPr lang="en-US" dirty="0" smtClean="0"/>
              <a:t>Fully observable </a:t>
            </a:r>
            <a:r>
              <a:rPr lang="en-US" dirty="0" err="1" smtClean="0"/>
              <a:t>vs</a:t>
            </a:r>
            <a:r>
              <a:rPr lang="en-US" dirty="0" smtClean="0"/>
              <a:t> Partially Observable</a:t>
            </a:r>
            <a:endParaRPr lang="en-US" dirty="0"/>
          </a:p>
        </p:txBody>
      </p:sp>
      <p:sp>
        <p:nvSpPr>
          <p:cNvPr id="3" name="Content Placeholder 2"/>
          <p:cNvSpPr>
            <a:spLocks noGrp="1"/>
          </p:cNvSpPr>
          <p:nvPr>
            <p:ph idx="1"/>
          </p:nvPr>
        </p:nvSpPr>
        <p:spPr>
          <a:xfrm>
            <a:off x="228600" y="1219200"/>
            <a:ext cx="8610600" cy="4906963"/>
          </a:xfrm>
        </p:spPr>
        <p:txBody>
          <a:bodyPr>
            <a:normAutofit/>
          </a:bodyPr>
          <a:lstStyle/>
          <a:p>
            <a:r>
              <a:rPr lang="en-US" dirty="0" smtClean="0"/>
              <a:t>An agent with no sensors in all environments then such an environment is called unobservable. </a:t>
            </a:r>
          </a:p>
          <a:p>
            <a:r>
              <a:rPr lang="en-US" dirty="0" smtClean="0"/>
              <a:t>An agent designed to predict earthquakes but placed in a sealed, windowless room with no sensors or access to external data.</a:t>
            </a:r>
          </a:p>
          <a:p>
            <a:r>
              <a:rPr lang="en-US" dirty="0" smtClean="0"/>
              <a:t> In this situation, the environment is unobservable</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Deterministic </a:t>
            </a:r>
            <a:r>
              <a:rPr lang="en-US" dirty="0" err="1" smtClean="0"/>
              <a:t>vs</a:t>
            </a:r>
            <a:r>
              <a:rPr lang="en-US" dirty="0" smtClean="0"/>
              <a:t> Stochastic:</a:t>
            </a:r>
            <a:br>
              <a:rPr lang="en-US" dirty="0" smtClean="0"/>
            </a:br>
            <a:endParaRPr lang="en-US" dirty="0"/>
          </a:p>
        </p:txBody>
      </p:sp>
      <p:sp>
        <p:nvSpPr>
          <p:cNvPr id="3" name="Content Placeholder 2"/>
          <p:cNvSpPr>
            <a:spLocks noGrp="1"/>
          </p:cNvSpPr>
          <p:nvPr>
            <p:ph idx="1"/>
          </p:nvPr>
        </p:nvSpPr>
        <p:spPr>
          <a:xfrm>
            <a:off x="152400" y="685800"/>
            <a:ext cx="8686800" cy="6172200"/>
          </a:xfrm>
        </p:spPr>
        <p:txBody>
          <a:bodyPr>
            <a:normAutofit fontScale="85000" lnSpcReduction="20000"/>
          </a:bodyPr>
          <a:lstStyle/>
          <a:p>
            <a:r>
              <a:rPr lang="en-US" dirty="0" smtClean="0"/>
              <a:t>If an agent's current state and selected action can completely determine the next state of the environment, then such an environment is called a deterministic environment. </a:t>
            </a:r>
          </a:p>
          <a:p>
            <a:r>
              <a:rPr lang="en-US" dirty="0" smtClean="0"/>
              <a:t>Chess is a classic example of a deterministic environment. In chess, the rules are well-defined, and each move made by a player has a clear and predictable outcome based on those rules.</a:t>
            </a:r>
          </a:p>
          <a:p>
            <a:r>
              <a:rPr lang="en-US" dirty="0" smtClean="0"/>
              <a:t> If you move a pawn from one square to another, the resulting state of the chessboard is entirely determined by that action, as is your opponent's response. </a:t>
            </a:r>
          </a:p>
          <a:p>
            <a:r>
              <a:rPr lang="en-US" dirty="0" smtClean="0"/>
              <a:t>There's no randomness or uncertainty in the outcomes of chess moves because they follow strict rules.</a:t>
            </a:r>
          </a:p>
          <a:p>
            <a:r>
              <a:rPr lang="en-US" dirty="0" smtClean="0"/>
              <a:t> In a deterministic environment like chess, knowing the current state and the actions taken allows you to completely determine the next state.</a:t>
            </a:r>
          </a:p>
          <a:p>
            <a:endParaRPr lang="en-US" dirty="0" smtClean="0"/>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smtClean="0"/>
              <a:t>Deterministic </a:t>
            </a:r>
            <a:r>
              <a:rPr lang="en-US" dirty="0" err="1" smtClean="0"/>
              <a:t>vs</a:t>
            </a:r>
            <a:r>
              <a:rPr lang="en-US" dirty="0" smtClean="0"/>
              <a:t> Stochastic</a:t>
            </a:r>
            <a:endParaRPr lang="en-US" dirty="0"/>
          </a:p>
        </p:txBody>
      </p:sp>
      <p:sp>
        <p:nvSpPr>
          <p:cNvPr id="3" name="Content Placeholder 2"/>
          <p:cNvSpPr>
            <a:spLocks noGrp="1"/>
          </p:cNvSpPr>
          <p:nvPr>
            <p:ph idx="1"/>
          </p:nvPr>
        </p:nvSpPr>
        <p:spPr>
          <a:xfrm>
            <a:off x="304800" y="914400"/>
            <a:ext cx="8382000" cy="5943600"/>
          </a:xfrm>
        </p:spPr>
        <p:txBody>
          <a:bodyPr>
            <a:normAutofit fontScale="62500" lnSpcReduction="20000"/>
          </a:bodyPr>
          <a:lstStyle/>
          <a:p>
            <a:r>
              <a:rPr lang="en-US" sz="3900" b="1" dirty="0" smtClean="0"/>
              <a:t>A stochastic environment </a:t>
            </a:r>
            <a:r>
              <a:rPr lang="en-US" sz="3900" dirty="0" smtClean="0"/>
              <a:t>is random and cannot be determined completely by an agent. </a:t>
            </a:r>
          </a:p>
          <a:p>
            <a:r>
              <a:rPr lang="en-US" sz="3900" dirty="0" smtClean="0"/>
              <a:t>The stock market is an example of a stochastic environment.</a:t>
            </a:r>
          </a:p>
          <a:p>
            <a:pPr>
              <a:buNone/>
            </a:pPr>
            <a:endParaRPr lang="en-US" sz="3900" dirty="0" smtClean="0"/>
          </a:p>
          <a:p>
            <a:r>
              <a:rPr lang="en-US" sz="3900" dirty="0" smtClean="0"/>
              <a:t> It's highly influenced by a multitude of unpredictable factors, including economic events, investor sentiment, and news. </a:t>
            </a:r>
          </a:p>
          <a:p>
            <a:r>
              <a:rPr lang="en-US" sz="3900" dirty="0" smtClean="0"/>
              <a:t>While there are patterns and trends, the exact behavior of stock prices is inherently random and cannot be completely determined by any individual or agent.</a:t>
            </a:r>
          </a:p>
          <a:p>
            <a:r>
              <a:rPr lang="en-US" sz="3900" dirty="0" smtClean="0"/>
              <a:t> Even with access to extensive data and analysis tools, stock market movements can exhibit a high degree of unpredictability.</a:t>
            </a:r>
          </a:p>
          <a:p>
            <a:r>
              <a:rPr lang="en-US" sz="3900" dirty="0" smtClean="0"/>
              <a:t> Random events and market sentiment play significant roles, introducing uncertainty.</a:t>
            </a:r>
          </a:p>
          <a:p>
            <a:r>
              <a:rPr lang="en-US" sz="3900" dirty="0" smtClean="0"/>
              <a:t>In a deterministic, fully observable environment, an agent does not need to worry about uncertainty.</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Environment</a:t>
            </a:r>
            <a:endParaRPr lang="en-US" dirty="0"/>
          </a:p>
        </p:txBody>
      </p:sp>
      <p:sp>
        <p:nvSpPr>
          <p:cNvPr id="3" name="Content Placeholder 2"/>
          <p:cNvSpPr>
            <a:spLocks noGrp="1"/>
          </p:cNvSpPr>
          <p:nvPr>
            <p:ph idx="1"/>
          </p:nvPr>
        </p:nvSpPr>
        <p:spPr/>
        <p:txBody>
          <a:bodyPr/>
          <a:lstStyle/>
          <a:p>
            <a:endParaRPr lang="en-US"/>
          </a:p>
        </p:txBody>
      </p:sp>
      <p:pic>
        <p:nvPicPr>
          <p:cNvPr id="12290" name="Picture 2"/>
          <p:cNvPicPr>
            <a:picLocks noChangeAspect="1" noChangeArrowheads="1"/>
          </p:cNvPicPr>
          <p:nvPr/>
        </p:nvPicPr>
        <p:blipFill>
          <a:blip r:embed="rId2">
            <a:lum bright="13000" contrast="60000"/>
          </a:blip>
          <a:srcRect/>
          <a:stretch>
            <a:fillRect/>
          </a:stretch>
        </p:blipFill>
        <p:spPr bwMode="auto">
          <a:xfrm>
            <a:off x="0" y="1371600"/>
            <a:ext cx="9144000" cy="5486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Episodic </a:t>
            </a:r>
            <a:r>
              <a:rPr lang="en-US" dirty="0" err="1" smtClean="0"/>
              <a:t>vs</a:t>
            </a:r>
            <a:r>
              <a:rPr lang="en-US" dirty="0" smtClean="0"/>
              <a:t> Sequential:</a:t>
            </a:r>
            <a:br>
              <a:rPr lang="en-US" dirty="0" smtClean="0"/>
            </a:br>
            <a:endParaRPr lang="en-US" dirty="0"/>
          </a:p>
        </p:txBody>
      </p:sp>
      <p:sp>
        <p:nvSpPr>
          <p:cNvPr id="3" name="Content Placeholder 2"/>
          <p:cNvSpPr>
            <a:spLocks noGrp="1"/>
          </p:cNvSpPr>
          <p:nvPr>
            <p:ph idx="1"/>
          </p:nvPr>
        </p:nvSpPr>
        <p:spPr>
          <a:xfrm>
            <a:off x="304800" y="685800"/>
            <a:ext cx="8382000" cy="6019800"/>
          </a:xfrm>
        </p:spPr>
        <p:txBody>
          <a:bodyPr>
            <a:normAutofit fontScale="92500" lnSpcReduction="20000"/>
          </a:bodyPr>
          <a:lstStyle/>
          <a:p>
            <a:r>
              <a:rPr lang="en-US" dirty="0" smtClean="0"/>
              <a:t>In an episodic environment, there is a series of one-shot actions, and only the current percept is required for the action. </a:t>
            </a:r>
          </a:p>
          <a:p>
            <a:r>
              <a:rPr lang="en-US" dirty="0" smtClean="0"/>
              <a:t>Tic-</a:t>
            </a:r>
            <a:r>
              <a:rPr lang="en-US" dirty="0" err="1" smtClean="0"/>
              <a:t>Tac</a:t>
            </a:r>
            <a:r>
              <a:rPr lang="en-US" dirty="0" smtClean="0"/>
              <a:t>-Toe is a classic example of an episodic environment. </a:t>
            </a:r>
          </a:p>
          <a:p>
            <a:r>
              <a:rPr lang="en-US" dirty="0" smtClean="0"/>
              <a:t>Each move by a player is independent of previous moves, and the goal is to form a line of three symbols horizontally, vertically, or diagonally. </a:t>
            </a:r>
          </a:p>
          <a:p>
            <a:r>
              <a:rPr lang="en-US" dirty="0" smtClean="0"/>
              <a:t>The game consists of a series of one-shot actions where the current state of the board is the only thing that matters for the next move. </a:t>
            </a:r>
          </a:p>
          <a:p>
            <a:r>
              <a:rPr lang="en-US" dirty="0" smtClean="0"/>
              <a:t>There's no need for the players to remember past moves because they don't affect the current move. The game is self-contained and episodic.</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Episodic </a:t>
            </a:r>
            <a:r>
              <a:rPr lang="en-US" dirty="0" err="1" smtClean="0"/>
              <a:t>vs</a:t>
            </a:r>
            <a:r>
              <a:rPr lang="en-US" dirty="0" smtClean="0"/>
              <a:t> Sequential</a:t>
            </a:r>
            <a:endParaRPr lang="en-US" dirty="0"/>
          </a:p>
        </p:txBody>
      </p:sp>
      <p:sp>
        <p:nvSpPr>
          <p:cNvPr id="3" name="Content Placeholder 2"/>
          <p:cNvSpPr>
            <a:spLocks noGrp="1"/>
          </p:cNvSpPr>
          <p:nvPr>
            <p:ph idx="1"/>
          </p:nvPr>
        </p:nvSpPr>
        <p:spPr>
          <a:xfrm>
            <a:off x="304800" y="990600"/>
            <a:ext cx="8382000" cy="5715000"/>
          </a:xfrm>
        </p:spPr>
        <p:txBody>
          <a:bodyPr>
            <a:normAutofit fontScale="70000" lnSpcReduction="20000"/>
          </a:bodyPr>
          <a:lstStyle/>
          <a:p>
            <a:r>
              <a:rPr lang="en-US" sz="3500" dirty="0" smtClean="0"/>
              <a:t>In a Sequential environment, an agent requires memory of past actions to determine the next best actions. For example, Chess is an example of a sequential environment. </a:t>
            </a:r>
          </a:p>
          <a:p>
            <a:r>
              <a:rPr lang="en-US" sz="3500" dirty="0" smtClean="0"/>
              <a:t>Unlike Tic-</a:t>
            </a:r>
            <a:r>
              <a:rPr lang="en-US" sz="3500" dirty="0" err="1" smtClean="0"/>
              <a:t>Tac</a:t>
            </a:r>
            <a:r>
              <a:rPr lang="en-US" sz="3500" dirty="0" smtClean="0"/>
              <a:t>-Toe, chess is a complex game where the outcome of each move depends on a sequence of previous moves.</a:t>
            </a:r>
          </a:p>
          <a:p>
            <a:r>
              <a:rPr lang="en-US" sz="3500" dirty="0" smtClean="0"/>
              <a:t> In chess, players must consider the history of the game, as the current position of pieces, previous moves, and potential future moves all influence the best course of action. </a:t>
            </a:r>
          </a:p>
          <a:p>
            <a:r>
              <a:rPr lang="en-US" sz="3500" dirty="0" smtClean="0"/>
              <a:t>To play chess effectively, players need to maintain a memory of past actions, anticipate future moves, and plan their strategies accordingly. </a:t>
            </a:r>
          </a:p>
          <a:p>
            <a:r>
              <a:rPr lang="en-US" sz="3500" dirty="0" smtClean="0"/>
              <a:t>It's a sequential environment because the sequence of actions and the history of the game significantly impact decision-making.</a:t>
            </a:r>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Static </a:t>
            </a:r>
            <a:r>
              <a:rPr lang="en-US" dirty="0" err="1" smtClean="0"/>
              <a:t>vs</a:t>
            </a:r>
            <a:r>
              <a:rPr lang="en-US" dirty="0" smtClean="0"/>
              <a:t> Dynamic:</a:t>
            </a:r>
            <a:br>
              <a:rPr lang="en-US" dirty="0" smtClean="0"/>
            </a:br>
            <a:endParaRPr lang="en-US" dirty="0"/>
          </a:p>
        </p:txBody>
      </p:sp>
      <p:sp>
        <p:nvSpPr>
          <p:cNvPr id="3" name="Content Placeholder 2"/>
          <p:cNvSpPr>
            <a:spLocks noGrp="1"/>
          </p:cNvSpPr>
          <p:nvPr>
            <p:ph idx="1"/>
          </p:nvPr>
        </p:nvSpPr>
        <p:spPr>
          <a:xfrm>
            <a:off x="0" y="990600"/>
            <a:ext cx="8686800" cy="5562600"/>
          </a:xfrm>
        </p:spPr>
        <p:txBody>
          <a:bodyPr>
            <a:normAutofit fontScale="92500"/>
          </a:bodyPr>
          <a:lstStyle/>
          <a:p>
            <a:r>
              <a:rPr lang="en-US" dirty="0" smtClean="0"/>
              <a:t>If the environment can change itself while an agent is deliberating then such an environment is called a dynamic environment </a:t>
            </a:r>
          </a:p>
          <a:p>
            <a:r>
              <a:rPr lang="en-US" dirty="0" smtClean="0"/>
              <a:t>otherwise it is called a static environment.</a:t>
            </a:r>
          </a:p>
          <a:p>
            <a:r>
              <a:rPr lang="en-US" dirty="0" smtClean="0"/>
              <a:t>In dynamic environment, agents need to keep looking at the world at each action. Taxi driving is an example of a dynamic environment. </a:t>
            </a:r>
          </a:p>
          <a:p>
            <a:r>
              <a:rPr lang="en-US" dirty="0" smtClean="0"/>
              <a:t>Static environments are easy to deal with because an agent does not need to continue looking at the world while deciding on an action. A crossword puzzle is an example of a static environment. </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Discrete </a:t>
            </a:r>
            <a:r>
              <a:rPr lang="en-US" dirty="0" err="1" smtClean="0"/>
              <a:t>vs</a:t>
            </a:r>
            <a:r>
              <a:rPr lang="en-US" dirty="0" smtClean="0"/>
              <a:t> Continuous:</a:t>
            </a:r>
            <a:br>
              <a:rPr lang="en-US" dirty="0" smtClean="0"/>
            </a:br>
            <a:endParaRPr lang="en-US" dirty="0"/>
          </a:p>
        </p:txBody>
      </p:sp>
      <p:sp>
        <p:nvSpPr>
          <p:cNvPr id="3" name="Content Placeholder 2"/>
          <p:cNvSpPr>
            <a:spLocks noGrp="1"/>
          </p:cNvSpPr>
          <p:nvPr>
            <p:ph idx="1"/>
          </p:nvPr>
        </p:nvSpPr>
        <p:spPr>
          <a:xfrm>
            <a:off x="457200" y="609600"/>
            <a:ext cx="8229600" cy="5516563"/>
          </a:xfrm>
        </p:spPr>
        <p:txBody>
          <a:bodyPr>
            <a:normAutofit fontScale="77500" lnSpcReduction="20000"/>
          </a:bodyPr>
          <a:lstStyle/>
          <a:p>
            <a:r>
              <a:rPr lang="en-US" dirty="0" smtClean="0"/>
              <a:t>If in an environment, there are a finite number of percepts and actions that can be performed within it, then such an environment is called a discrete environment</a:t>
            </a:r>
          </a:p>
          <a:p>
            <a:r>
              <a:rPr lang="en-US" dirty="0" smtClean="0"/>
              <a:t>Otherwise  it is called a continuous environment.</a:t>
            </a:r>
          </a:p>
          <a:p>
            <a:r>
              <a:rPr lang="en-US" dirty="0" smtClean="0"/>
              <a:t>Chess is an example of a discrete environment. In chess, there are a finite number of distinct chess pieces (e.g., pawns, rooks, knights) and a finite number of squares on the chessboard. </a:t>
            </a:r>
          </a:p>
          <a:p>
            <a:r>
              <a:rPr lang="en-US" dirty="0" smtClean="0"/>
              <a:t>The state of the chessboard is discrete and can be described by the positions of the pieces on the board.</a:t>
            </a:r>
          </a:p>
          <a:p>
            <a:r>
              <a:rPr lang="en-US" dirty="0" smtClean="0"/>
              <a:t>Controlling a robotic arm to perform precise movements in a factory setting is an example of a continuous environment. </a:t>
            </a:r>
          </a:p>
          <a:p>
            <a:r>
              <a:rPr lang="en-US" dirty="0" smtClean="0"/>
              <a:t>Agents in this environment must operate within a continuous state and action space, and they need to make precise, continuous adjustments to achieve their goals.</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Known </a:t>
            </a:r>
            <a:r>
              <a:rPr lang="en-US" dirty="0" err="1" smtClean="0"/>
              <a:t>vs</a:t>
            </a:r>
            <a:r>
              <a:rPr lang="en-US" dirty="0" smtClean="0"/>
              <a:t> Unknown</a:t>
            </a:r>
            <a:br>
              <a:rPr lang="en-US" dirty="0" smtClean="0"/>
            </a:br>
            <a:endParaRPr lang="en-US" dirty="0"/>
          </a:p>
        </p:txBody>
      </p:sp>
      <p:sp>
        <p:nvSpPr>
          <p:cNvPr id="3" name="Content Placeholder 2"/>
          <p:cNvSpPr>
            <a:spLocks noGrp="1"/>
          </p:cNvSpPr>
          <p:nvPr>
            <p:ph idx="1"/>
          </p:nvPr>
        </p:nvSpPr>
        <p:spPr>
          <a:xfrm>
            <a:off x="457200" y="914400"/>
            <a:ext cx="8229600" cy="5943600"/>
          </a:xfrm>
        </p:spPr>
        <p:txBody>
          <a:bodyPr>
            <a:normAutofit fontScale="70000" lnSpcReduction="20000"/>
          </a:bodyPr>
          <a:lstStyle/>
          <a:p>
            <a:r>
              <a:rPr lang="en-US" dirty="0" smtClean="0"/>
              <a:t>Known and unknown are not actually a feature of an environment, but it is an agent's state of knowledge to perform an action.</a:t>
            </a:r>
          </a:p>
          <a:p>
            <a:r>
              <a:rPr lang="en-US" dirty="0" smtClean="0"/>
              <a:t>In a known environment, the results of all actions are known to the agent. While in an unknown environment, an agent needs to learn how it works in order to perform an action.</a:t>
            </a:r>
          </a:p>
          <a:p>
            <a:r>
              <a:rPr lang="en-US" dirty="0" smtClean="0"/>
              <a:t>It is quite possible for a known environment to be partially observable and an Unknown environment to be fully observable.</a:t>
            </a:r>
          </a:p>
          <a:p>
            <a:r>
              <a:rPr lang="en-US" dirty="0" smtClean="0"/>
              <a:t>chess can be considered as a known environment for experienced chess players. </a:t>
            </a:r>
          </a:p>
          <a:p>
            <a:r>
              <a:rPr lang="en-US" dirty="0" smtClean="0"/>
              <a:t>Imagine a scenario where a rover or drone is sent to explore an alien planet with no prior knowledge or maps of the terrain. </a:t>
            </a:r>
          </a:p>
          <a:p>
            <a:r>
              <a:rPr lang="en-US" dirty="0" smtClean="0"/>
              <a:t>In this unknown environment, the agent (rover or drone) has to explore and learn about the terrain as it goes along. </a:t>
            </a:r>
          </a:p>
          <a:p>
            <a:r>
              <a:rPr lang="en-US" dirty="0" smtClean="0"/>
              <a:t>It doesn't have prior knowledge of the landscape, potential hazards, or valuable resources. </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Accessible </a:t>
            </a:r>
            <a:r>
              <a:rPr lang="en-US" dirty="0" err="1" smtClean="0"/>
              <a:t>vs</a:t>
            </a:r>
            <a:r>
              <a:rPr lang="en-US" dirty="0" smtClean="0"/>
              <a:t> Inaccessible</a:t>
            </a:r>
            <a:br>
              <a:rPr lang="en-US" dirty="0" smtClean="0"/>
            </a:br>
            <a:endParaRPr lang="en-US" dirty="0"/>
          </a:p>
        </p:txBody>
      </p:sp>
      <p:sp>
        <p:nvSpPr>
          <p:cNvPr id="3" name="Content Placeholder 2"/>
          <p:cNvSpPr>
            <a:spLocks noGrp="1"/>
          </p:cNvSpPr>
          <p:nvPr>
            <p:ph idx="1"/>
          </p:nvPr>
        </p:nvSpPr>
        <p:spPr>
          <a:xfrm>
            <a:off x="152400" y="838200"/>
            <a:ext cx="8534400" cy="6019800"/>
          </a:xfrm>
        </p:spPr>
        <p:txBody>
          <a:bodyPr>
            <a:normAutofit fontScale="55000" lnSpcReduction="20000"/>
          </a:bodyPr>
          <a:lstStyle/>
          <a:p>
            <a:r>
              <a:rPr lang="en-US" dirty="0" smtClean="0"/>
              <a:t>If an agent can obtain complete and accurate information about the state's environment, then such an environment is called an Accessible environment else it is called inaccessible.</a:t>
            </a:r>
          </a:p>
          <a:p>
            <a:r>
              <a:rPr lang="en-US" dirty="0" smtClean="0"/>
              <a:t>For example, Imagine an empty room equipped with highly accurate temperature sensors. These sensors can provide real-time temperature measurements at any point within the room. An agent placed in this room can obtain complete and accurate information about the temperature at different locations. It can access this information at any time, allowing it to make decisions based on the precise temperature data. This environment is accessible because the agent can acquire complete and accurate information about the state of the room, specifically its temperature.</a:t>
            </a:r>
          </a:p>
          <a:p>
            <a:r>
              <a:rPr lang="en-US" dirty="0" smtClean="0"/>
              <a:t>For example, Consider a scenario where a satellite in space is tasked with monitoring a specific event taking place on Earth, such as a natural disaster or a remote area's condition. While the satellite can capture images and data from space, it cannot access fine-grained information about the event's details. For example, it may see a forest fire occurring but cannot determine the exact temperature at specific locations within the fire or identify individual objects on the ground. The satellite's observations provide valuable data, but the environment it is monitoring (Earth) is vast and complex, making it impossible to access complete and detailed information about all aspects of the event. In this case, the Earth's surface is an inaccessible environment for obtaining fine-grained information about specific events.</a:t>
            </a:r>
          </a:p>
          <a:p>
            <a:r>
              <a:rPr lang="en-US" dirty="0" smtClean="0"/>
              <a:t/>
            </a:r>
            <a:br>
              <a:rPr lang="en-US" dirty="0" smtClean="0"/>
            </a:b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Single-agent </a:t>
            </a:r>
            <a:r>
              <a:rPr lang="en-US" dirty="0" err="1" smtClean="0"/>
              <a:t>vs</a:t>
            </a:r>
            <a:r>
              <a:rPr lang="en-US" dirty="0" smtClean="0"/>
              <a:t> Multi-agent</a:t>
            </a:r>
            <a:br>
              <a:rPr lang="en-US" dirty="0" smtClean="0"/>
            </a:br>
            <a:endParaRPr lang="en-US" dirty="0"/>
          </a:p>
        </p:txBody>
      </p:sp>
      <p:sp>
        <p:nvSpPr>
          <p:cNvPr id="3" name="Content Placeholder 2"/>
          <p:cNvSpPr>
            <a:spLocks noGrp="1"/>
          </p:cNvSpPr>
          <p:nvPr>
            <p:ph idx="1"/>
          </p:nvPr>
        </p:nvSpPr>
        <p:spPr>
          <a:xfrm>
            <a:off x="304800" y="914400"/>
            <a:ext cx="8382000" cy="5943600"/>
          </a:xfrm>
        </p:spPr>
        <p:txBody>
          <a:bodyPr>
            <a:normAutofit fontScale="62500" lnSpcReduction="20000"/>
          </a:bodyPr>
          <a:lstStyle/>
          <a:p>
            <a:r>
              <a:rPr lang="en-US" dirty="0" smtClean="0"/>
              <a:t>If only one agent is involved in an environment, and operating by itself then such an environment is called a single-agent environment. For example, Solitaire is a classic example of a single-agent environment. When you play Solitaire, you're the only agent involved. You make all the decisions and actions to achieve a goal, which is to arrange a deck of cards in a specific way. There are no other agents or players interacting with you. It's a solitary game where the outcome depends solely on your decisions and moves. In this single-agent environment, the agent doesn't need to consider the actions or decisions of other entities.</a:t>
            </a:r>
          </a:p>
          <a:p>
            <a:r>
              <a:rPr lang="en-US" dirty="0" smtClean="0"/>
              <a:t>However, if multiple agents are operating in an environment, then such an environment is called a multi-agent environment. For reference, A soccer match is an example of a multi-agent environment. In a soccer game, there are two teams, each consisting of multiple players (agents). These players work together to achieve common goals (scoring goals and preventing the opposing team from scoring). Each player has their own set of actions and decisions, and they interact with both their teammates and the opposing team. The outcome of the game depends on the coordinated actions and strategies of all the agents on the field. It's a multi-agent environment because there are multiple autonomous entities (players) interacting in a shared environment.</a:t>
            </a:r>
          </a:p>
          <a:p>
            <a:r>
              <a:rPr lang="en-US" dirty="0" smtClean="0"/>
              <a:t>The agent design problems in the multi-agent environment are different from single-agent environments.</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a:t>
            </a:r>
            <a:endParaRPr lang="en-US" dirty="0"/>
          </a:p>
        </p:txBody>
      </p:sp>
      <p:sp>
        <p:nvSpPr>
          <p:cNvPr id="3" name="Content Placeholder 2"/>
          <p:cNvSpPr>
            <a:spLocks noGrp="1"/>
          </p:cNvSpPr>
          <p:nvPr>
            <p:ph idx="1"/>
          </p:nvPr>
        </p:nvSpPr>
        <p:spPr/>
        <p:txBody>
          <a:bodyPr/>
          <a:lstStyle/>
          <a:p>
            <a:endParaRPr lang="en-US"/>
          </a:p>
        </p:txBody>
      </p:sp>
      <p:pic>
        <p:nvPicPr>
          <p:cNvPr id="13314" name="Picture 2"/>
          <p:cNvPicPr>
            <a:picLocks noChangeAspect="1" noChangeArrowheads="1"/>
          </p:cNvPicPr>
          <p:nvPr/>
        </p:nvPicPr>
        <p:blipFill>
          <a:blip r:embed="rId2">
            <a:lum bright="13000" contrast="63000"/>
          </a:blip>
          <a:srcRect/>
          <a:stretch>
            <a:fillRect/>
          </a:stretch>
        </p:blipFill>
        <p:spPr bwMode="auto">
          <a:xfrm>
            <a:off x="0" y="1295401"/>
            <a:ext cx="9143999" cy="556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a:t>
            </a:r>
            <a:endParaRPr lang="en-US" dirty="0"/>
          </a:p>
        </p:txBody>
      </p:sp>
      <p:sp>
        <p:nvSpPr>
          <p:cNvPr id="3" name="Content Placeholder 2"/>
          <p:cNvSpPr>
            <a:spLocks noGrp="1"/>
          </p:cNvSpPr>
          <p:nvPr>
            <p:ph idx="1"/>
          </p:nvPr>
        </p:nvSpPr>
        <p:spPr/>
        <p:txBody>
          <a:bodyPr/>
          <a:lstStyle/>
          <a:p>
            <a:endParaRPr lang="en-US" dirty="0"/>
          </a:p>
        </p:txBody>
      </p:sp>
      <p:pic>
        <p:nvPicPr>
          <p:cNvPr id="14338" name="Picture 2"/>
          <p:cNvPicPr>
            <a:picLocks noChangeAspect="1" noChangeArrowheads="1"/>
          </p:cNvPicPr>
          <p:nvPr/>
        </p:nvPicPr>
        <p:blipFill>
          <a:blip r:embed="rId2">
            <a:lum bright="14000" contrast="63000"/>
          </a:blip>
          <a:srcRect/>
          <a:stretch>
            <a:fillRect/>
          </a:stretch>
        </p:blipFill>
        <p:spPr bwMode="auto">
          <a:xfrm>
            <a:off x="152400" y="1752600"/>
            <a:ext cx="8991600" cy="43910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a:t>
            </a:r>
            <a:endParaRPr lang="en-US" dirty="0"/>
          </a:p>
        </p:txBody>
      </p:sp>
      <p:sp>
        <p:nvSpPr>
          <p:cNvPr id="3" name="Content Placeholder 2"/>
          <p:cNvSpPr>
            <a:spLocks noGrp="1"/>
          </p:cNvSpPr>
          <p:nvPr>
            <p:ph idx="1"/>
          </p:nvPr>
        </p:nvSpPr>
        <p:spPr/>
        <p:txBody>
          <a:bodyPr/>
          <a:lstStyle/>
          <a:p>
            <a:endParaRPr lang="en-US"/>
          </a:p>
        </p:txBody>
      </p:sp>
      <p:pic>
        <p:nvPicPr>
          <p:cNvPr id="15362" name="Picture 2"/>
          <p:cNvPicPr>
            <a:picLocks noChangeAspect="1" noChangeArrowheads="1"/>
          </p:cNvPicPr>
          <p:nvPr/>
        </p:nvPicPr>
        <p:blipFill>
          <a:blip r:embed="rId2">
            <a:lum bright="13000" contrast="63000"/>
          </a:blip>
          <a:srcRect/>
          <a:stretch>
            <a:fillRect/>
          </a:stretch>
        </p:blipFill>
        <p:spPr bwMode="auto">
          <a:xfrm>
            <a:off x="0" y="1290638"/>
            <a:ext cx="9143999" cy="55673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dirty="0" smtClean="0"/>
              <a:t>Environment</a:t>
            </a:r>
            <a:endParaRPr lang="en-US" dirty="0"/>
          </a:p>
        </p:txBody>
      </p:sp>
      <p:sp>
        <p:nvSpPr>
          <p:cNvPr id="3" name="Content Placeholder 2"/>
          <p:cNvSpPr>
            <a:spLocks noGrp="1"/>
          </p:cNvSpPr>
          <p:nvPr>
            <p:ph idx="1"/>
          </p:nvPr>
        </p:nvSpPr>
        <p:spPr/>
        <p:txBody>
          <a:bodyPr/>
          <a:lstStyle/>
          <a:p>
            <a:endParaRPr lang="en-US"/>
          </a:p>
        </p:txBody>
      </p:sp>
      <p:pic>
        <p:nvPicPr>
          <p:cNvPr id="16386" name="Picture 2"/>
          <p:cNvPicPr>
            <a:picLocks noChangeAspect="1" noChangeArrowheads="1"/>
          </p:cNvPicPr>
          <p:nvPr/>
        </p:nvPicPr>
        <p:blipFill>
          <a:blip r:embed="rId2">
            <a:lum bright="13000" contrast="60000"/>
          </a:blip>
          <a:srcRect/>
          <a:stretch>
            <a:fillRect/>
          </a:stretch>
        </p:blipFill>
        <p:spPr bwMode="auto">
          <a:xfrm>
            <a:off x="0" y="1066800"/>
            <a:ext cx="9144000" cy="579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0" y="1"/>
            <a:ext cx="9144000" cy="6858000"/>
          </a:xfrm>
          <a:prstGeom prst="rect">
            <a:avLst/>
          </a:prstGeom>
          <a:noFill/>
          <a:ln w="9525">
            <a:noFill/>
            <a:miter lim="800000"/>
            <a:headEnd/>
            <a:tailEnd/>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AI Agents</a:t>
            </a:r>
            <a:r>
              <a:rPr lang="en-US" b="1" dirty="0" smtClean="0"/>
              <a:t/>
            </a:r>
            <a:br>
              <a:rPr lang="en-US" b="1" dirty="0" smtClean="0"/>
            </a:br>
            <a:endParaRPr lang="en-US" dirty="0"/>
          </a:p>
        </p:txBody>
      </p:sp>
      <p:sp>
        <p:nvSpPr>
          <p:cNvPr id="3" name="Content Placeholder 2"/>
          <p:cNvSpPr>
            <a:spLocks noGrp="1"/>
          </p:cNvSpPr>
          <p:nvPr>
            <p:ph idx="1"/>
          </p:nvPr>
        </p:nvSpPr>
        <p:spPr>
          <a:xfrm>
            <a:off x="304800" y="990600"/>
            <a:ext cx="8839200" cy="5135563"/>
          </a:xfrm>
        </p:spPr>
        <p:txBody>
          <a:bodyPr/>
          <a:lstStyle/>
          <a:p>
            <a:r>
              <a:rPr lang="en-US" dirty="0" smtClean="0"/>
              <a:t>Agents can be grouped into five classes based on their degree of perceived intelligence and capability.</a:t>
            </a:r>
          </a:p>
          <a:p>
            <a:pPr lvl="0"/>
            <a:r>
              <a:rPr lang="en-US" dirty="0" smtClean="0"/>
              <a:t>Simple Reflex Agent</a:t>
            </a:r>
          </a:p>
          <a:p>
            <a:pPr lvl="0"/>
            <a:r>
              <a:rPr lang="en-US" dirty="0" smtClean="0"/>
              <a:t>Model-based reflex agent</a:t>
            </a:r>
          </a:p>
          <a:p>
            <a:pPr lvl="0"/>
            <a:r>
              <a:rPr lang="en-US" dirty="0" smtClean="0"/>
              <a:t>Goal-based agents</a:t>
            </a:r>
          </a:p>
          <a:p>
            <a:pPr lvl="0"/>
            <a:r>
              <a:rPr lang="en-US" dirty="0" smtClean="0"/>
              <a:t>Utility-based agent</a:t>
            </a:r>
          </a:p>
          <a:p>
            <a:pPr lvl="0"/>
            <a:r>
              <a:rPr lang="en-US" dirty="0" smtClean="0"/>
              <a:t>Learning agent</a:t>
            </a:r>
          </a:p>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1. Simple Reflex agent:</a:t>
            </a:r>
            <a:r>
              <a:rPr lang="en-US" b="1" dirty="0" smtClean="0"/>
              <a:t/>
            </a:r>
            <a:br>
              <a:rPr lang="en-US" b="1" dirty="0" smtClean="0"/>
            </a:br>
            <a:endParaRPr lang="en-US" dirty="0"/>
          </a:p>
        </p:txBody>
      </p:sp>
      <p:sp>
        <p:nvSpPr>
          <p:cNvPr id="3" name="Content Placeholder 2"/>
          <p:cNvSpPr>
            <a:spLocks noGrp="1"/>
          </p:cNvSpPr>
          <p:nvPr>
            <p:ph idx="1"/>
          </p:nvPr>
        </p:nvSpPr>
        <p:spPr>
          <a:xfrm>
            <a:off x="457200" y="838200"/>
            <a:ext cx="8229600" cy="5287963"/>
          </a:xfrm>
        </p:spPr>
        <p:txBody>
          <a:bodyPr>
            <a:normAutofit fontScale="92500" lnSpcReduction="10000"/>
          </a:bodyPr>
          <a:lstStyle/>
          <a:p>
            <a:pPr lvl="0"/>
            <a:r>
              <a:rPr lang="en-US" dirty="0" smtClean="0"/>
              <a:t>The Simple reflex agents are the simplest agents. </a:t>
            </a:r>
          </a:p>
          <a:p>
            <a:pPr lvl="0"/>
            <a:r>
              <a:rPr lang="en-US" dirty="0" smtClean="0"/>
              <a:t>These agents take decisions on the basis of the current percepts and ignore the rest of the percept history.</a:t>
            </a:r>
          </a:p>
          <a:p>
            <a:pPr lvl="0"/>
            <a:r>
              <a:rPr lang="en-US" dirty="0" smtClean="0"/>
              <a:t>These agents only succeed in the fully observable environment.</a:t>
            </a:r>
          </a:p>
          <a:p>
            <a:r>
              <a:rPr lang="en-US" dirty="0" smtClean="0"/>
              <a:t>The Simple reflex agent works on Condition-action rule, which means it maps the current state to action. </a:t>
            </a:r>
          </a:p>
          <a:p>
            <a:r>
              <a:rPr lang="en-US" dirty="0" smtClean="0"/>
              <a:t>Such as a Room Cleaner agent, it works only if there is dirt in the room.</a:t>
            </a:r>
          </a:p>
          <a:p>
            <a:pPr lvl="0"/>
            <a:endParaRPr lang="en-US" dirty="0" smtClean="0"/>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based agents</a:t>
            </a:r>
            <a:endParaRPr lang="en-US" dirty="0"/>
          </a:p>
        </p:txBody>
      </p:sp>
      <p:sp>
        <p:nvSpPr>
          <p:cNvPr id="5" name="Content Placeholder 4"/>
          <p:cNvSpPr>
            <a:spLocks noGrp="1"/>
          </p:cNvSpPr>
          <p:nvPr>
            <p:ph idx="1"/>
          </p:nvPr>
        </p:nvSpPr>
        <p:spPr/>
        <p:txBody>
          <a:bodyPr/>
          <a:lstStyle/>
          <a:p>
            <a:endParaRPr lang="en-US" dirty="0"/>
          </a:p>
        </p:txBody>
      </p:sp>
      <p:pic>
        <p:nvPicPr>
          <p:cNvPr id="17411" name="Picture 3"/>
          <p:cNvPicPr>
            <a:picLocks noChangeAspect="1" noChangeArrowheads="1"/>
          </p:cNvPicPr>
          <p:nvPr/>
        </p:nvPicPr>
        <p:blipFill>
          <a:blip r:embed="rId2">
            <a:lum bright="13000" contrast="60000"/>
          </a:blip>
          <a:srcRect/>
          <a:stretch>
            <a:fillRect/>
          </a:stretch>
        </p:blipFill>
        <p:spPr bwMode="auto">
          <a:xfrm>
            <a:off x="0" y="1371600"/>
            <a:ext cx="9144000" cy="5486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Table based agents</a:t>
            </a:r>
            <a:endParaRPr lang="en-US" dirty="0"/>
          </a:p>
        </p:txBody>
      </p:sp>
      <p:pic>
        <p:nvPicPr>
          <p:cNvPr id="18434" name="Picture 2"/>
          <p:cNvPicPr>
            <a:picLocks noGrp="1" noChangeAspect="1" noChangeArrowheads="1"/>
          </p:cNvPicPr>
          <p:nvPr>
            <p:ph idx="1"/>
          </p:nvPr>
        </p:nvPicPr>
        <p:blipFill>
          <a:blip r:embed="rId2">
            <a:lum bright="13000" contrast="60000"/>
          </a:blip>
          <a:srcRect/>
          <a:stretch>
            <a:fillRect/>
          </a:stretch>
        </p:blipFill>
        <p:spPr bwMode="auto">
          <a:xfrm>
            <a:off x="0" y="1143000"/>
            <a:ext cx="9144000" cy="571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Simple Reflex agent:</a:t>
            </a:r>
            <a:r>
              <a:rPr lang="en-US" b="1" dirty="0" smtClean="0"/>
              <a:t/>
            </a:r>
            <a:br>
              <a:rPr lang="en-US" b="1" dirty="0" smtClean="0"/>
            </a:br>
            <a:endParaRPr lang="en-US" dirty="0"/>
          </a:p>
        </p:txBody>
      </p:sp>
      <p:pic>
        <p:nvPicPr>
          <p:cNvPr id="4" name="Content Placeholder 3" descr="C:\Users\Ansar Sheikh\Desktop\simple-reflex-agent.png"/>
          <p:cNvPicPr>
            <a:picLocks noGrp="1"/>
          </p:cNvPicPr>
          <p:nvPr>
            <p:ph idx="1"/>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838200" y="990600"/>
            <a:ext cx="7620000" cy="54864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 Model-based reflex agent</a:t>
            </a:r>
            <a:r>
              <a:rPr lang="en-US" b="1" dirty="0" smtClean="0"/>
              <a:t/>
            </a:r>
            <a:br>
              <a:rPr lang="en-US" b="1" dirty="0" smtClean="0"/>
            </a:br>
            <a:endParaRPr lang="en-US" dirty="0"/>
          </a:p>
        </p:txBody>
      </p:sp>
      <p:sp>
        <p:nvSpPr>
          <p:cNvPr id="3" name="Content Placeholder 2"/>
          <p:cNvSpPr>
            <a:spLocks noGrp="1"/>
          </p:cNvSpPr>
          <p:nvPr>
            <p:ph idx="1"/>
          </p:nvPr>
        </p:nvSpPr>
        <p:spPr>
          <a:xfrm>
            <a:off x="457200" y="838200"/>
            <a:ext cx="8229600" cy="5791200"/>
          </a:xfrm>
        </p:spPr>
        <p:txBody>
          <a:bodyPr/>
          <a:lstStyle/>
          <a:p>
            <a:pPr lvl="0"/>
            <a:r>
              <a:rPr lang="en-US" dirty="0" smtClean="0"/>
              <a:t>The Model-based agent can work in a partially observable environment, and track the situation.</a:t>
            </a:r>
          </a:p>
          <a:p>
            <a:pPr lvl="0"/>
            <a:r>
              <a:rPr lang="en-US" dirty="0" smtClean="0"/>
              <a:t>A model-based agent has two important factors:</a:t>
            </a:r>
          </a:p>
          <a:p>
            <a:pPr lvl="1"/>
            <a:r>
              <a:rPr lang="en-US" b="1" dirty="0" smtClean="0"/>
              <a:t>Model:</a:t>
            </a:r>
            <a:r>
              <a:rPr lang="en-US" dirty="0" smtClean="0"/>
              <a:t> It is knowledge about "how things happen in the world," so it is called a Model-based agent.</a:t>
            </a:r>
          </a:p>
          <a:p>
            <a:pPr lvl="1"/>
            <a:r>
              <a:rPr lang="en-US" b="1" dirty="0" smtClean="0"/>
              <a:t>Internal State:</a:t>
            </a:r>
            <a:r>
              <a:rPr lang="en-US" dirty="0" smtClean="0"/>
              <a:t> It is a representation of the current state based on percept history.</a:t>
            </a:r>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Model-based reflex agent</a:t>
            </a:r>
            <a:endParaRPr lang="en-US" dirty="0"/>
          </a:p>
        </p:txBody>
      </p:sp>
      <p:sp>
        <p:nvSpPr>
          <p:cNvPr id="3" name="Content Placeholder 2"/>
          <p:cNvSpPr>
            <a:spLocks noGrp="1"/>
          </p:cNvSpPr>
          <p:nvPr>
            <p:ph idx="1"/>
          </p:nvPr>
        </p:nvSpPr>
        <p:spPr/>
        <p:txBody>
          <a:bodyPr/>
          <a:lstStyle/>
          <a:p>
            <a:endParaRPr lang="en-US"/>
          </a:p>
        </p:txBody>
      </p:sp>
      <p:pic>
        <p:nvPicPr>
          <p:cNvPr id="4" name="Picture 3" descr="C:\Users\Ansar Sheikh\Desktop\model-based-reflex-agent.png"/>
          <p:cNvPicPr/>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685800" y="1143000"/>
            <a:ext cx="8077200" cy="495300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 Goal-based agents</a:t>
            </a:r>
            <a:r>
              <a:rPr lang="en-US" b="1" dirty="0" smtClean="0"/>
              <a:t/>
            </a:r>
            <a:br>
              <a:rPr lang="en-US" b="1" dirty="0" smtClean="0"/>
            </a:br>
            <a:endParaRPr lang="en-US" dirty="0"/>
          </a:p>
        </p:txBody>
      </p:sp>
      <p:sp>
        <p:nvSpPr>
          <p:cNvPr id="3" name="Content Placeholder 2"/>
          <p:cNvSpPr>
            <a:spLocks noGrp="1"/>
          </p:cNvSpPr>
          <p:nvPr>
            <p:ph idx="1"/>
          </p:nvPr>
        </p:nvSpPr>
        <p:spPr>
          <a:xfrm>
            <a:off x="457200" y="990600"/>
            <a:ext cx="8686800" cy="5135563"/>
          </a:xfrm>
        </p:spPr>
        <p:txBody>
          <a:bodyPr>
            <a:normAutofit lnSpcReduction="10000"/>
          </a:bodyPr>
          <a:lstStyle/>
          <a:p>
            <a:pPr lvl="0"/>
            <a:r>
              <a:rPr lang="en-US" dirty="0" smtClean="0"/>
              <a:t>Goal-based agents expand the capabilities of the model-based agent by having the "goal" information.</a:t>
            </a:r>
          </a:p>
          <a:p>
            <a:pPr lvl="0"/>
            <a:r>
              <a:rPr lang="en-US" dirty="0" smtClean="0"/>
              <a:t>They choose an action, so that they can achieve the goal.</a:t>
            </a:r>
          </a:p>
          <a:p>
            <a:pPr lvl="0"/>
            <a:r>
              <a:rPr lang="en-US" dirty="0" smtClean="0"/>
              <a:t>These agents may have to consider a long sequence of possible actions before deciding whether the goal is achieved or not. Such considerations of different scenario are called searching and planning, which makes an agent proactive.</a:t>
            </a:r>
          </a:p>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 Based Agents</a:t>
            </a:r>
            <a:endParaRPr lang="en-US" dirty="0"/>
          </a:p>
        </p:txBody>
      </p:sp>
      <p:sp>
        <p:nvSpPr>
          <p:cNvPr id="3" name="Content Placeholder 2"/>
          <p:cNvSpPr>
            <a:spLocks noGrp="1"/>
          </p:cNvSpPr>
          <p:nvPr>
            <p:ph idx="1"/>
          </p:nvPr>
        </p:nvSpPr>
        <p:spPr/>
        <p:txBody>
          <a:bodyPr/>
          <a:lstStyle/>
          <a:p>
            <a:endParaRPr lang="en-US" dirty="0"/>
          </a:p>
        </p:txBody>
      </p:sp>
      <p:pic>
        <p:nvPicPr>
          <p:cNvPr id="19459" name="Picture 3"/>
          <p:cNvPicPr>
            <a:picLocks noChangeAspect="1" noChangeArrowheads="1"/>
          </p:cNvPicPr>
          <p:nvPr/>
        </p:nvPicPr>
        <p:blipFill>
          <a:blip r:embed="rId2">
            <a:lum bright="13000" contrast="60000"/>
          </a:blip>
          <a:srcRect/>
          <a:stretch>
            <a:fillRect/>
          </a:stretch>
        </p:blipFill>
        <p:spPr bwMode="auto">
          <a:xfrm>
            <a:off x="0" y="1395413"/>
            <a:ext cx="9144000" cy="54625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 Goal-based agents</a:t>
            </a:r>
            <a:r>
              <a:rPr lang="en-US" b="1" dirty="0" smtClean="0"/>
              <a:t/>
            </a:r>
            <a:br>
              <a:rPr lang="en-US" b="1" dirty="0" smtClean="0"/>
            </a:br>
            <a:endParaRPr lang="en-US" dirty="0"/>
          </a:p>
        </p:txBody>
      </p:sp>
      <p:pic>
        <p:nvPicPr>
          <p:cNvPr id="4" name="Content Placeholder 3" descr="C:\Users\Ansar Sheikh\Desktop\goal-based-agent.png"/>
          <p:cNvPicPr>
            <a:picLocks noGrp="1"/>
          </p:cNvPicPr>
          <p:nvPr>
            <p:ph idx="1"/>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685800" y="914400"/>
            <a:ext cx="7924800" cy="59436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4. Utility-based agents</a:t>
            </a:r>
            <a:r>
              <a:rPr lang="en-US" b="1" dirty="0" smtClean="0"/>
              <a:t/>
            </a:r>
            <a:br>
              <a:rPr lang="en-US" b="1" dirty="0" smtClean="0"/>
            </a:br>
            <a:endParaRPr lang="en-US" dirty="0"/>
          </a:p>
        </p:txBody>
      </p:sp>
      <p:sp>
        <p:nvSpPr>
          <p:cNvPr id="3" name="Content Placeholder 2"/>
          <p:cNvSpPr>
            <a:spLocks noGrp="1"/>
          </p:cNvSpPr>
          <p:nvPr>
            <p:ph idx="1"/>
          </p:nvPr>
        </p:nvSpPr>
        <p:spPr>
          <a:xfrm>
            <a:off x="457200" y="838200"/>
            <a:ext cx="8229600" cy="5287963"/>
          </a:xfrm>
        </p:spPr>
        <p:txBody>
          <a:bodyPr/>
          <a:lstStyle/>
          <a:p>
            <a:pPr lvl="0"/>
            <a:r>
              <a:rPr lang="en-US" dirty="0" smtClean="0"/>
              <a:t>Utility-based agent act based not only goals but also the best way to achieve the goal.</a:t>
            </a:r>
          </a:p>
          <a:p>
            <a:pPr lvl="0"/>
            <a:r>
              <a:rPr lang="en-US" dirty="0" smtClean="0"/>
              <a:t>The Utility-based agent is useful when there are multiple possible alternatives, and an agent has to choose in order to perform the best action.</a:t>
            </a:r>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Based Agents</a:t>
            </a:r>
            <a:endParaRPr lang="en-US" dirty="0"/>
          </a:p>
        </p:txBody>
      </p:sp>
      <p:pic>
        <p:nvPicPr>
          <p:cNvPr id="20482" name="Picture 2"/>
          <p:cNvPicPr>
            <a:picLocks noGrp="1" noChangeAspect="1" noChangeArrowheads="1"/>
          </p:cNvPicPr>
          <p:nvPr>
            <p:ph idx="1"/>
          </p:nvPr>
        </p:nvPicPr>
        <p:blipFill>
          <a:blip r:embed="rId2">
            <a:lum bright="13000" contrast="60000"/>
          </a:blip>
          <a:srcRect/>
          <a:stretch>
            <a:fillRect/>
          </a:stretch>
        </p:blipFill>
        <p:spPr bwMode="auto">
          <a:xfrm>
            <a:off x="0" y="1524000"/>
            <a:ext cx="9143999" cy="533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a:srcRect/>
          <a:stretch>
            <a:fillRect/>
          </a:stretch>
        </p:blipFill>
        <p:spPr bwMode="auto">
          <a:xfrm>
            <a:off x="381000" y="304801"/>
            <a:ext cx="8382000" cy="6324600"/>
          </a:xfrm>
          <a:prstGeom prst="rect">
            <a:avLst/>
          </a:prstGeom>
          <a:noFill/>
          <a:ln w="9525">
            <a:noFill/>
            <a:miter lim="800000"/>
            <a:headEnd/>
            <a:tailEnd/>
          </a:ln>
          <a:effec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5. Learning Agents</a:t>
            </a:r>
            <a:r>
              <a:rPr lang="en-US" b="1" dirty="0" smtClean="0"/>
              <a:t/>
            </a:r>
            <a:br>
              <a:rPr lang="en-US" b="1" dirty="0" smtClean="0"/>
            </a:br>
            <a:endParaRPr lang="en-US" dirty="0"/>
          </a:p>
        </p:txBody>
      </p:sp>
      <p:sp>
        <p:nvSpPr>
          <p:cNvPr id="3" name="Content Placeholder 2"/>
          <p:cNvSpPr>
            <a:spLocks noGrp="1"/>
          </p:cNvSpPr>
          <p:nvPr>
            <p:ph idx="1"/>
          </p:nvPr>
        </p:nvSpPr>
        <p:spPr>
          <a:xfrm>
            <a:off x="457200" y="914400"/>
            <a:ext cx="8229600" cy="5943600"/>
          </a:xfrm>
        </p:spPr>
        <p:txBody>
          <a:bodyPr>
            <a:normAutofit fontScale="77500" lnSpcReduction="20000"/>
          </a:bodyPr>
          <a:lstStyle/>
          <a:p>
            <a:pPr lvl="0"/>
            <a:r>
              <a:rPr lang="en-US" dirty="0" smtClean="0"/>
              <a:t>A learning agent in AI is the type of agent which can learn from its past experiences, or it has learning capabilities.</a:t>
            </a:r>
          </a:p>
          <a:p>
            <a:pPr lvl="0"/>
            <a:r>
              <a:rPr lang="en-US" dirty="0" smtClean="0"/>
              <a:t>A learning agent has mainly four conceptual components, which are:</a:t>
            </a:r>
          </a:p>
          <a:p>
            <a:pPr lvl="1"/>
            <a:r>
              <a:rPr lang="en-US" b="1" dirty="0" smtClean="0"/>
              <a:t>Learning element:</a:t>
            </a:r>
            <a:r>
              <a:rPr lang="en-US" dirty="0" smtClean="0"/>
              <a:t> It is responsible for making improvements by learning from environment</a:t>
            </a:r>
          </a:p>
          <a:p>
            <a:pPr lvl="1"/>
            <a:r>
              <a:rPr lang="en-US" b="1" dirty="0" smtClean="0"/>
              <a:t>Critic:</a:t>
            </a:r>
            <a:r>
              <a:rPr lang="en-US" dirty="0" smtClean="0"/>
              <a:t> Learning element takes feedback from critic which describes that how well the agent is doing with respect to a fixed performance standard.</a:t>
            </a:r>
          </a:p>
          <a:p>
            <a:pPr lvl="1"/>
            <a:r>
              <a:rPr lang="en-US" b="1" dirty="0" smtClean="0"/>
              <a:t>Performance element:</a:t>
            </a:r>
            <a:r>
              <a:rPr lang="en-US" dirty="0" smtClean="0"/>
              <a:t> It is responsible for selecting external action</a:t>
            </a:r>
          </a:p>
          <a:p>
            <a:pPr lvl="1"/>
            <a:r>
              <a:rPr lang="en-US" b="1" dirty="0" smtClean="0"/>
              <a:t>Problem generator:</a:t>
            </a:r>
            <a:r>
              <a:rPr lang="en-US" dirty="0" smtClean="0"/>
              <a:t> This component is responsible for suggesting actions that will lead to new and informative experiences.</a:t>
            </a:r>
          </a:p>
          <a:p>
            <a:pPr lvl="0"/>
            <a:r>
              <a:rPr lang="en-US" dirty="0" smtClean="0"/>
              <a:t>Hence, learning agents are able to learn, analyze performance, and look for new ways to improve the performance.</a:t>
            </a:r>
          </a:p>
          <a:p>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Solving</a:t>
            </a:r>
            <a:endParaRPr lang="en-US" dirty="0"/>
          </a:p>
        </p:txBody>
      </p:sp>
      <p:sp>
        <p:nvSpPr>
          <p:cNvPr id="3" name="Content Placeholder 2"/>
          <p:cNvSpPr>
            <a:spLocks noGrp="1"/>
          </p:cNvSpPr>
          <p:nvPr>
            <p:ph idx="1"/>
          </p:nvPr>
        </p:nvSpPr>
        <p:spPr>
          <a:xfrm>
            <a:off x="228600" y="1295400"/>
            <a:ext cx="8458200" cy="4830763"/>
          </a:xfrm>
        </p:spPr>
        <p:txBody>
          <a:bodyPr>
            <a:normAutofit fontScale="92500"/>
          </a:bodyPr>
          <a:lstStyle/>
          <a:p>
            <a:pPr algn="just"/>
            <a:r>
              <a:rPr lang="en-US" dirty="0" smtClean="0"/>
              <a:t>The </a:t>
            </a:r>
            <a:r>
              <a:rPr lang="en-US" b="1" dirty="0" smtClean="0"/>
              <a:t>Water Jug Problem</a:t>
            </a:r>
            <a:r>
              <a:rPr lang="en-US" dirty="0" smtClean="0"/>
              <a:t> is a classic puzzle in artificial intelligence (AI) that involves using two jugs with different capacities to measure a specific amount of water. It is a popular problem to teach problem-solving techniques in AI, particularly when introducing </a:t>
            </a:r>
            <a:r>
              <a:rPr lang="en-US" b="1" dirty="0" smtClean="0"/>
              <a:t>search algorithms</a:t>
            </a:r>
            <a:r>
              <a:rPr lang="en-US" dirty="0" smtClean="0"/>
              <a:t>. The Water Jug Problem highlights the application of AI to real-world puzzles by breaking down a complex problem into a series of states and transitions that a machine can solve using an intelligent algorithm.</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r>
              <a:rPr lang="en-US" dirty="0" smtClean="0"/>
              <a:t>we are provided with two jugs: one having the capacity to hold 3 gallons of water and the other has the capacity to hold 4 gallons of water. There is no other measuring equipment available and the jugs also do not have any kind of marking on them. So, the agent’s task here is to fill the 4-gallon jug with 2 gallons of water by using only these two jugs and no other material. Initially, both our jugs are empty.</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81000" y="0"/>
            <a:ext cx="7753350" cy="3200400"/>
          </a:xfrm>
          <a:prstGeom prst="rect">
            <a:avLst/>
          </a:prstGeom>
          <a:noFill/>
          <a:ln w="9525">
            <a:noFill/>
            <a:miter lim="800000"/>
            <a:headEnd/>
            <a:tailEnd/>
          </a:ln>
          <a:effectLst/>
        </p:spPr>
      </p:pic>
      <p:pic>
        <p:nvPicPr>
          <p:cNvPr id="1027" name="Picture 3"/>
          <p:cNvPicPr>
            <a:picLocks noGrp="1" noChangeAspect="1" noChangeArrowheads="1"/>
          </p:cNvPicPr>
          <p:nvPr>
            <p:ph idx="1"/>
          </p:nvPr>
        </p:nvPicPr>
        <p:blipFill>
          <a:blip r:embed="rId3"/>
          <a:srcRect/>
          <a:stretch>
            <a:fillRect/>
          </a:stretch>
        </p:blipFill>
        <p:spPr bwMode="auto">
          <a:xfrm>
            <a:off x="304800" y="3657600"/>
            <a:ext cx="7772400" cy="268605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1999</TotalTime>
  <Words>4448</Words>
  <Application>Microsoft Office PowerPoint</Application>
  <PresentationFormat>On-screen Show (4:3)</PresentationFormat>
  <Paragraphs>392</Paragraphs>
  <Slides>93</Slides>
  <Notes>1</Notes>
  <HiddenSlides>0</HiddenSlides>
  <MMClips>0</MMClip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Office Theme</vt:lpstr>
      <vt:lpstr>(22PC1CB304)  ARTIFICIAL INTELLIGENCE</vt:lpstr>
      <vt:lpstr>ARTIFICIAL INTELLIGENCE</vt:lpstr>
      <vt:lpstr>Introduction:ARTIFICIAL INTELLIGENCE</vt:lpstr>
      <vt:lpstr>Types of Intelligence:</vt:lpstr>
      <vt:lpstr>Types of Intelligence:</vt:lpstr>
      <vt:lpstr>ARTIFICIAL INTELLIGENCE</vt:lpstr>
      <vt:lpstr>Artificial Intelligence: </vt:lpstr>
      <vt:lpstr>Different Approaches of AI</vt:lpstr>
      <vt:lpstr>Approach 1: Thinking Humanly</vt:lpstr>
      <vt:lpstr>Approach 2: Acting Humanly</vt:lpstr>
      <vt:lpstr>Approach 2: Acting Humanly</vt:lpstr>
      <vt:lpstr>Slide 12</vt:lpstr>
      <vt:lpstr>Approach 3: Thinking Rationally</vt:lpstr>
      <vt:lpstr>Approach 3: Thinking Rationally</vt:lpstr>
      <vt:lpstr>Approach 4: Acting Rationally</vt:lpstr>
      <vt:lpstr>Approach 4: Acting Rationally</vt:lpstr>
      <vt:lpstr>Goals of Artificial Intelligence </vt:lpstr>
      <vt:lpstr>Foundation of AI</vt:lpstr>
      <vt:lpstr>Applications of AI  </vt:lpstr>
      <vt:lpstr>Slide 20</vt:lpstr>
      <vt:lpstr>Slide 21</vt:lpstr>
      <vt:lpstr>Slide 22</vt:lpstr>
      <vt:lpstr>Current Trends in AI </vt:lpstr>
      <vt:lpstr>Slide 24</vt:lpstr>
      <vt:lpstr>Slide 25</vt:lpstr>
      <vt:lpstr>Slide 26</vt:lpstr>
      <vt:lpstr>History of AI</vt:lpstr>
      <vt:lpstr>Birth of AI: 1950-1956 </vt:lpstr>
      <vt:lpstr>AI maturation: 1957-1979  </vt:lpstr>
      <vt:lpstr>AI winter: 1987-1993 </vt:lpstr>
      <vt:lpstr>AI agents: 1993-2011 </vt:lpstr>
      <vt:lpstr>Slide 32</vt:lpstr>
      <vt:lpstr>2012-present </vt:lpstr>
      <vt:lpstr>Slide 34</vt:lpstr>
      <vt:lpstr>Slide 35</vt:lpstr>
      <vt:lpstr>Types of Artificial Intelligence</vt:lpstr>
      <vt:lpstr>Weak AI or Narrow AI:</vt:lpstr>
      <vt:lpstr> General AI: </vt:lpstr>
      <vt:lpstr>Super AI: </vt:lpstr>
      <vt:lpstr>Problems of AI</vt:lpstr>
      <vt:lpstr>AI Technique:</vt:lpstr>
      <vt:lpstr>Slide 42</vt:lpstr>
      <vt:lpstr>Intelligent Agents </vt:lpstr>
      <vt:lpstr> What are Agent and Environment? </vt:lpstr>
      <vt:lpstr>What are Agent and Environment</vt:lpstr>
      <vt:lpstr>Sensors, Actuators, effectors</vt:lpstr>
      <vt:lpstr>Intelligent Agents: </vt:lpstr>
      <vt:lpstr>Rational Agent: </vt:lpstr>
      <vt:lpstr>Agent and Environment</vt:lpstr>
      <vt:lpstr>Agent and Environment</vt:lpstr>
      <vt:lpstr>Agent and Environment</vt:lpstr>
      <vt:lpstr>Performance</vt:lpstr>
      <vt:lpstr>Rationality/performance (PEAS) </vt:lpstr>
      <vt:lpstr>Structure of an AI Agent </vt:lpstr>
      <vt:lpstr>PEAS Representation </vt:lpstr>
      <vt:lpstr>PEAS Representation</vt:lpstr>
      <vt:lpstr>Agent Terminology </vt:lpstr>
      <vt:lpstr>Agent Environment in AI </vt:lpstr>
      <vt:lpstr>Fully observable vs Partially Observable </vt:lpstr>
      <vt:lpstr>Fully observable vs Partially Observable</vt:lpstr>
      <vt:lpstr>Deterministic vs Stochastic: </vt:lpstr>
      <vt:lpstr>Deterministic vs Stochastic</vt:lpstr>
      <vt:lpstr>Environment</vt:lpstr>
      <vt:lpstr>Episodic vs Sequential: </vt:lpstr>
      <vt:lpstr>Episodic vs Sequential</vt:lpstr>
      <vt:lpstr>Static vs Dynamic: </vt:lpstr>
      <vt:lpstr>Discrete vs Continuous: </vt:lpstr>
      <vt:lpstr>Known vs Unknown </vt:lpstr>
      <vt:lpstr>Accessible vs Inaccessible </vt:lpstr>
      <vt:lpstr>Single-agent vs Multi-agent </vt:lpstr>
      <vt:lpstr>Environment</vt:lpstr>
      <vt:lpstr>Environment</vt:lpstr>
      <vt:lpstr>Environment</vt:lpstr>
      <vt:lpstr>Environment</vt:lpstr>
      <vt:lpstr>Slide 75</vt:lpstr>
      <vt:lpstr>Types of AI Agents </vt:lpstr>
      <vt:lpstr>1. Simple Reflex agent: </vt:lpstr>
      <vt:lpstr>Table based agents</vt:lpstr>
      <vt:lpstr>Table based agents</vt:lpstr>
      <vt:lpstr>Simple Reflex agent: </vt:lpstr>
      <vt:lpstr>2. Model-based reflex agent </vt:lpstr>
      <vt:lpstr>2. Model-based reflex agent</vt:lpstr>
      <vt:lpstr>3. Goal-based agents </vt:lpstr>
      <vt:lpstr>Goal Based Agents</vt:lpstr>
      <vt:lpstr>3. Goal-based agents </vt:lpstr>
      <vt:lpstr>4. Utility-based agents </vt:lpstr>
      <vt:lpstr>Utility Based Agents</vt:lpstr>
      <vt:lpstr>Slide 88</vt:lpstr>
      <vt:lpstr>5. Learning Agents </vt:lpstr>
      <vt:lpstr>Slide 90</vt:lpstr>
      <vt:lpstr>Problem Solving</vt:lpstr>
      <vt:lpstr>Slide 92</vt:lpstr>
      <vt:lpstr>Slide 93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(19PC1CS09) ARTIFICIAL INTELLIGENCE</dc:title>
  <dc:creator>USER</dc:creator>
  <cp:lastModifiedBy>Windows User</cp:lastModifiedBy>
  <cp:revision>192</cp:revision>
  <dcterms:created xsi:type="dcterms:W3CDTF">2006-08-16T00:00:00Z</dcterms:created>
  <dcterms:modified xsi:type="dcterms:W3CDTF">2025-02-19T05:18:26Z</dcterms:modified>
</cp:coreProperties>
</file>