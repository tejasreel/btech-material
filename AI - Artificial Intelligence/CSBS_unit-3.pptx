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305" r:id="rId3"/>
    <p:sldId id="258" r:id="rId4"/>
    <p:sldId id="259" r:id="rId5"/>
    <p:sldId id="263" r:id="rId6"/>
    <p:sldId id="262" r:id="rId7"/>
    <p:sldId id="266" r:id="rId8"/>
    <p:sldId id="267" r:id="rId9"/>
    <p:sldId id="268" r:id="rId10"/>
    <p:sldId id="270" r:id="rId11"/>
    <p:sldId id="30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32D3BB-A09D-4DED-965C-BD62993EF11E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790C3-33A6-41CE-A5D8-4CE5613227A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AA290C-F13F-46C3-90D9-3DCDE60AB2A4}" type="slidenum">
              <a:rPr lang="en-US"/>
              <a:pPr/>
              <a:t>7</a:t>
            </a:fld>
            <a:endParaRPr lang="en-US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691C34-2811-418C-891F-E3F433CE6D8F}" type="slidenum">
              <a:rPr lang="en-US"/>
              <a:pPr/>
              <a:t>8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846939-1375-465B-87B1-B81F6640C6E1}" type="slidenum">
              <a:rPr lang="en-US"/>
              <a:pPr/>
              <a:t>9</a:t>
            </a:fld>
            <a:endParaRPr lang="en-US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ADF7C4-0D73-40AC-93E1-EF4CB66C478D}" type="slidenum">
              <a:rPr lang="en-US"/>
              <a:pPr/>
              <a:t>10</a:t>
            </a:fld>
            <a:endParaRPr lang="en-US"/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UNIT – III: Constraint Satisfaction problems- Backtracking search for CSP’s, Local search for CSP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Game </a:t>
            </a:r>
            <a:r>
              <a:rPr lang="en-US" dirty="0" smtClean="0"/>
              <a:t>Playing: Adversarial search, Games, </a:t>
            </a:r>
            <a:r>
              <a:rPr lang="en-US" dirty="0" err="1" smtClean="0"/>
              <a:t>Minimax</a:t>
            </a:r>
            <a:r>
              <a:rPr lang="en-US" dirty="0" smtClean="0"/>
              <a:t> algorithm, optimal decisions in multiplayer games, Alpha-Beta pruning, Evaluation functions, cutting of search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Constraint Satisfaction problems-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Constraint Satisfaction Problems (CSPs) are a class of computational problems where the goal is to find a solution that satisfies a set of constraints.</a:t>
            </a:r>
          </a:p>
          <a:p>
            <a:r>
              <a:rPr lang="en-US" i="1" dirty="0" smtClean="0">
                <a:solidFill>
                  <a:srgbClr val="FF0000"/>
                </a:solidFill>
              </a:rPr>
              <a:t>solving a problem under certain constraints or rules.</a:t>
            </a:r>
          </a:p>
          <a:p>
            <a:r>
              <a:rPr lang="en-US" dirty="0" smtClean="0"/>
              <a:t>They model a wide range of real-world problems where decision-making is subject to certain conditions and limitations.</a:t>
            </a:r>
          </a:p>
          <a:p>
            <a:r>
              <a:rPr lang="en-US" dirty="0" smtClean="0"/>
              <a:t>CSPs offer a structured and general framework for representing and solving problems, making them versatile in problem-solving applications.</a:t>
            </a:r>
          </a:p>
          <a:p>
            <a:r>
              <a:rPr lang="en-US" dirty="0" smtClean="0"/>
              <a:t>Many AI applications, such as scheduling, planning, and configuration, can be mapped to CSPs, allowing AI systems to find optimal solutions efficiently.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Constraint Satisfaction problems-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791200"/>
          </a:xfrm>
        </p:spPr>
        <p:txBody>
          <a:bodyPr>
            <a:normAutofit/>
          </a:bodyPr>
          <a:lstStyle/>
          <a:p>
            <a:pPr fontAlgn="base"/>
            <a:r>
              <a:rPr lang="en-US" dirty="0" smtClean="0"/>
              <a:t>Constraint satisfaction depends on three components, namely:</a:t>
            </a:r>
          </a:p>
          <a:p>
            <a:r>
              <a:rPr lang="en-US" b="1" dirty="0" smtClean="0"/>
              <a:t>X:</a:t>
            </a:r>
            <a:r>
              <a:rPr lang="en-US" dirty="0" smtClean="0"/>
              <a:t> It is a set of variables.</a:t>
            </a:r>
          </a:p>
          <a:p>
            <a:r>
              <a:rPr lang="en-US" b="1" dirty="0" smtClean="0"/>
              <a:t>D:</a:t>
            </a:r>
            <a:r>
              <a:rPr lang="en-US" dirty="0" smtClean="0"/>
              <a:t> It is a set of domains where the variables reside. There is a specific domain for each variable.</a:t>
            </a:r>
          </a:p>
          <a:p>
            <a:r>
              <a:rPr lang="en-US" b="1" dirty="0" smtClean="0"/>
              <a:t>C:</a:t>
            </a:r>
            <a:r>
              <a:rPr lang="en-US" dirty="0" smtClean="0"/>
              <a:t> It is a set of constraints which are followed by the set of variables.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Constraint Satisfaction problems-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105400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en-US" b="1" dirty="0" smtClean="0"/>
              <a:t>Constraint Types in CSP</a:t>
            </a:r>
            <a:endParaRPr lang="en-US" dirty="0" smtClean="0"/>
          </a:p>
          <a:p>
            <a:pPr fontAlgn="base"/>
            <a:r>
              <a:rPr lang="en-US" dirty="0" smtClean="0"/>
              <a:t>With respect to the variables, basically there are following types of constraints:</a:t>
            </a:r>
          </a:p>
          <a:p>
            <a:r>
              <a:rPr lang="en-US" b="1" dirty="0" smtClean="0"/>
              <a:t>Unary Constraints:</a:t>
            </a:r>
            <a:r>
              <a:rPr lang="en-US" dirty="0" smtClean="0"/>
              <a:t> It is the simplest type of constraints that restricts the value of a single variable.</a:t>
            </a:r>
          </a:p>
          <a:p>
            <a:r>
              <a:rPr lang="en-US" b="1" dirty="0" smtClean="0"/>
              <a:t>Binary Constraints:</a:t>
            </a:r>
            <a:r>
              <a:rPr lang="en-US" dirty="0" smtClean="0"/>
              <a:t> It is the constraint type which relates two variables. A value </a:t>
            </a:r>
            <a:r>
              <a:rPr lang="en-US" b="1" dirty="0" smtClean="0"/>
              <a:t>x</a:t>
            </a:r>
            <a:r>
              <a:rPr lang="en-US" b="1" baseline="-25000" dirty="0" smtClean="0"/>
              <a:t>2</a:t>
            </a:r>
            <a:r>
              <a:rPr lang="en-US" dirty="0" smtClean="0"/>
              <a:t> will contain a value which lies between </a:t>
            </a:r>
            <a:r>
              <a:rPr lang="en-US" b="1" dirty="0" smtClean="0"/>
              <a:t>x1</a:t>
            </a:r>
            <a:r>
              <a:rPr lang="en-US" dirty="0" smtClean="0"/>
              <a:t> and </a:t>
            </a:r>
            <a:r>
              <a:rPr lang="en-US" b="1" dirty="0" smtClean="0"/>
              <a:t>x3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Global Constraints:</a:t>
            </a:r>
            <a:r>
              <a:rPr lang="en-US" dirty="0" smtClean="0"/>
              <a:t> It is the constraint type which involves an arbitrary number of variables.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Constraint Satisfaction problems-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r>
              <a:rPr lang="en-US" b="1" dirty="0" smtClean="0"/>
              <a:t>Graph Coloring:</a:t>
            </a:r>
            <a:r>
              <a:rPr lang="en-US" dirty="0" smtClean="0"/>
              <a:t> The problem where the constraint is that no adjacent sides can have the same color.</a:t>
            </a:r>
          </a:p>
          <a:p>
            <a:r>
              <a:rPr lang="en-US" b="1" dirty="0" smtClean="0"/>
              <a:t>Sudoku Playing:</a:t>
            </a:r>
            <a:r>
              <a:rPr lang="en-US" dirty="0" smtClean="0"/>
              <a:t> The game play where the constraint is that number from 0-9 can not be repeated in the same row or column.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1" y="4495800"/>
            <a:ext cx="32766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86200" y="4191000"/>
            <a:ext cx="49530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Constraint Satisfaction problems-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n-queen problem:</a:t>
            </a:r>
            <a:r>
              <a:rPr lang="en-US" dirty="0" smtClean="0"/>
              <a:t> In n-queen problem, the constraint is that no queen should be placed either diagonally, in the same row or column.</a:t>
            </a:r>
          </a:p>
          <a:p>
            <a:r>
              <a:rPr lang="en-US" b="1" dirty="0" smtClean="0"/>
              <a:t>Crossword:</a:t>
            </a:r>
            <a:r>
              <a:rPr lang="en-US" dirty="0" smtClean="0"/>
              <a:t> In crossword problem, the constraint is that there should be the correct formation of the words, and it should be meaningful.</a:t>
            </a:r>
          </a:p>
          <a:p>
            <a:r>
              <a:rPr lang="en-US" b="1" dirty="0" smtClean="0"/>
              <a:t>Latin square Problem:</a:t>
            </a:r>
            <a:r>
              <a:rPr lang="en-US" dirty="0" smtClean="0"/>
              <a:t> In this game, the task is to search the pattern which is occurring several times in the game. They may be shuffled but will contain the same digits.</a:t>
            </a:r>
          </a:p>
          <a:p>
            <a:r>
              <a:rPr lang="en-US" b="1" dirty="0" err="1" smtClean="0"/>
              <a:t>Cryptarithmetic</a:t>
            </a:r>
            <a:r>
              <a:rPr lang="en-US" b="1" dirty="0" smtClean="0"/>
              <a:t> Problem: </a:t>
            </a:r>
            <a:r>
              <a:rPr lang="en-US" dirty="0" smtClean="0"/>
              <a:t>This problem has one most important constraint that is, we cannot assign a different digit to the same character. All digits should contain a unique alphabet.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D1891-00CA-400F-B475-BE6847423BDB}" type="slidenum">
              <a:rPr lang="en-US"/>
              <a:pPr/>
              <a:t>7</a:t>
            </a:fld>
            <a:endParaRPr 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Map-Coloring</a:t>
            </a:r>
          </a:p>
        </p:txBody>
      </p:sp>
      <p:pic>
        <p:nvPicPr>
          <p:cNvPr id="6149" name="Picture 5" descr="australi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67000" y="1295400"/>
            <a:ext cx="3781425" cy="3124200"/>
          </a:xfrm>
          <a:prstGeom prst="rect">
            <a:avLst/>
          </a:prstGeom>
          <a:noFill/>
        </p:spPr>
      </p:pic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4495800"/>
            <a:ext cx="8650288" cy="16002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Variables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WA, NT, Q, NSW, V, SA, 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lnSpc>
                <a:spcPct val="8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Domains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400" i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= {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red,green,blue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lnSpc>
                <a:spcPct val="8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Constraints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adjacent regions must have different colors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e.g., WA ≠ 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98776-3D45-4F20-8FD3-83EA7F0EA1B0}" type="slidenum">
              <a:rPr lang="en-US"/>
              <a:pPr/>
              <a:t>8</a:t>
            </a:fld>
            <a:endParaRPr lang="en-US"/>
          </a:p>
        </p:txBody>
      </p:sp>
      <p:pic>
        <p:nvPicPr>
          <p:cNvPr id="7172" name="Picture 4" descr="australia-solution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67000" y="1295400"/>
            <a:ext cx="3781425" cy="3124200"/>
          </a:xfrm>
          <a:prstGeom prst="rect">
            <a:avLst/>
          </a:prstGeom>
          <a:noFill/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Map-Coloring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4549775"/>
            <a:ext cx="8650288" cy="1582738"/>
          </a:xfrm>
        </p:spPr>
        <p:txBody>
          <a:bodyPr/>
          <a:lstStyle/>
          <a:p>
            <a:r>
              <a:rPr lang="en-US" sz="2800">
                <a:solidFill>
                  <a:schemeClr val="accent2"/>
                </a:solidFill>
              </a:rPr>
              <a:t>Solutions</a:t>
            </a:r>
            <a:r>
              <a:rPr lang="en-US" sz="2800"/>
              <a:t> are </a:t>
            </a:r>
            <a:r>
              <a:rPr lang="en-US" sz="2800">
                <a:solidFill>
                  <a:srgbClr val="FF0000"/>
                </a:solidFill>
              </a:rPr>
              <a:t>complete</a:t>
            </a:r>
            <a:r>
              <a:rPr lang="en-US" sz="2800"/>
              <a:t> and </a:t>
            </a:r>
            <a:r>
              <a:rPr lang="en-US" sz="2800">
                <a:solidFill>
                  <a:srgbClr val="FF0000"/>
                </a:solidFill>
              </a:rPr>
              <a:t>consistent</a:t>
            </a:r>
            <a:r>
              <a:rPr lang="en-US" sz="2800"/>
              <a:t> assignments, e.g., WA = red, NT = green,Q = red,NSW = green,V = red,SA = blue,T = green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78F85-E411-4529-B8D6-2362AC7F9A37}" type="slidenum">
              <a:rPr lang="en-US"/>
              <a:pPr/>
              <a:t>9</a:t>
            </a:fld>
            <a:endParaRPr 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Constraint graph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>
                <a:solidFill>
                  <a:srgbClr val="FF0000"/>
                </a:solidFill>
              </a:rPr>
              <a:t>Binary CSP:</a:t>
            </a:r>
            <a:r>
              <a:rPr lang="en-US" sz="2400"/>
              <a:t> each constraint relates two variables</a:t>
            </a:r>
          </a:p>
          <a:p>
            <a:r>
              <a:rPr lang="en-US" sz="2400">
                <a:solidFill>
                  <a:srgbClr val="FF0000"/>
                </a:solidFill>
              </a:rPr>
              <a:t>Constraint graph:</a:t>
            </a:r>
            <a:r>
              <a:rPr lang="en-US" sz="2400"/>
              <a:t> nodes are variables, arcs are constraints</a:t>
            </a:r>
          </a:p>
        </p:txBody>
      </p:sp>
      <p:pic>
        <p:nvPicPr>
          <p:cNvPr id="8196" name="Picture 4" descr="australia-cs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2743200"/>
            <a:ext cx="3676650" cy="3152775"/>
          </a:xfrm>
          <a:prstGeom prst="rect">
            <a:avLst/>
          </a:prstGeom>
          <a:noFill/>
        </p:spPr>
      </p:pic>
      <p:pic>
        <p:nvPicPr>
          <p:cNvPr id="8197" name="Picture 5" descr="australi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" y="2819400"/>
            <a:ext cx="3781425" cy="3124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0E14B-1D52-47A8-8A01-94FD6FCEEB80}" type="slidenum">
              <a:rPr lang="en-US"/>
              <a:pPr/>
              <a:t>10</a:t>
            </a:fld>
            <a:endParaRPr lang="en-US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Example: Cryptarithmetic</a:t>
            </a:r>
          </a:p>
        </p:txBody>
      </p:sp>
      <p:pic>
        <p:nvPicPr>
          <p:cNvPr id="11269" name="Picture 5" descr="cryptarithmetic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7800" y="1371600"/>
            <a:ext cx="6096000" cy="2214563"/>
          </a:xfrm>
          <a:prstGeom prst="rect">
            <a:avLst/>
          </a:prstGeom>
          <a:noFill/>
        </p:spPr>
      </p:pic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3802063"/>
            <a:ext cx="8570913" cy="30559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>
                <a:solidFill>
                  <a:schemeClr val="accent2"/>
                </a:solidFill>
              </a:rPr>
              <a:t>Variables</a:t>
            </a:r>
            <a:r>
              <a:rPr lang="en-US" sz="2400"/>
              <a:t>:</a:t>
            </a:r>
            <a:r>
              <a:rPr lang="en-US" sz="2400" i="1"/>
              <a:t> F T U W R O                      X</a:t>
            </a:r>
            <a:r>
              <a:rPr lang="en-US" sz="2400" i="1" baseline="-25000"/>
              <a:t>1</a:t>
            </a:r>
            <a:r>
              <a:rPr lang="en-US" sz="2400" i="1"/>
              <a:t> X</a:t>
            </a:r>
            <a:r>
              <a:rPr lang="en-US" sz="2400" i="1" baseline="-25000"/>
              <a:t>2 </a:t>
            </a:r>
            <a:r>
              <a:rPr lang="en-US" sz="2400" i="1"/>
              <a:t>X</a:t>
            </a:r>
            <a:r>
              <a:rPr lang="en-US" sz="2400" i="1" baseline="-25000"/>
              <a:t>3</a:t>
            </a:r>
            <a:endParaRPr lang="en-US" sz="2400" i="1"/>
          </a:p>
          <a:p>
            <a:pPr>
              <a:lnSpc>
                <a:spcPct val="90000"/>
              </a:lnSpc>
            </a:pPr>
            <a:r>
              <a:rPr lang="en-US" sz="2400">
                <a:solidFill>
                  <a:schemeClr val="accent2"/>
                </a:solidFill>
              </a:rPr>
              <a:t>Domains</a:t>
            </a:r>
            <a:r>
              <a:rPr lang="en-US" sz="2400"/>
              <a:t>: {</a:t>
            </a:r>
            <a:r>
              <a:rPr lang="en-US" sz="2400" i="1"/>
              <a:t>0,1,2,3,4,5,6,7,8,9</a:t>
            </a:r>
            <a:r>
              <a:rPr lang="en-US" sz="2400"/>
              <a:t>}            {0,1}</a:t>
            </a:r>
          </a:p>
          <a:p>
            <a:pPr>
              <a:lnSpc>
                <a:spcPct val="90000"/>
              </a:lnSpc>
            </a:pPr>
            <a:r>
              <a:rPr lang="en-US" sz="2400">
                <a:solidFill>
                  <a:schemeClr val="accent2"/>
                </a:solidFill>
              </a:rPr>
              <a:t>Constraints</a:t>
            </a:r>
            <a:r>
              <a:rPr lang="en-US" sz="2400"/>
              <a:t>: </a:t>
            </a:r>
            <a:r>
              <a:rPr lang="en-US" sz="2400" i="1"/>
              <a:t>Alldiff (F,T,U,W,R,O)</a:t>
            </a:r>
            <a:endParaRPr lang="en-US" sz="2400"/>
          </a:p>
          <a:p>
            <a:pPr lvl="1">
              <a:lnSpc>
                <a:spcPct val="90000"/>
              </a:lnSpc>
            </a:pPr>
            <a:r>
              <a:rPr lang="en-US" sz="2000" i="1"/>
              <a:t>O + O = R + 10 </a:t>
            </a:r>
            <a:r>
              <a:rPr lang="en-US" sz="2000" i="1">
                <a:latin typeface="Arial"/>
                <a:cs typeface="Arial" charset="0"/>
              </a:rPr>
              <a:t>·</a:t>
            </a:r>
            <a:r>
              <a:rPr lang="en-US" sz="2000" i="1">
                <a:cs typeface="Arial" charset="0"/>
              </a:rPr>
              <a:t> </a:t>
            </a:r>
            <a:r>
              <a:rPr lang="en-US" sz="2000" i="1"/>
              <a:t>X</a:t>
            </a:r>
            <a:r>
              <a:rPr lang="en-US" sz="2000" i="1" baseline="-25000"/>
              <a:t>1</a:t>
            </a:r>
            <a:endParaRPr lang="en-US" sz="2000" i="1"/>
          </a:p>
          <a:p>
            <a:pPr lvl="1">
              <a:lnSpc>
                <a:spcPct val="90000"/>
              </a:lnSpc>
            </a:pPr>
            <a:r>
              <a:rPr lang="en-US" sz="2000" i="1"/>
              <a:t>X</a:t>
            </a:r>
            <a:r>
              <a:rPr lang="en-US" sz="2000" i="1" baseline="-25000"/>
              <a:t>1</a:t>
            </a:r>
            <a:r>
              <a:rPr lang="en-US" sz="2000" i="1"/>
              <a:t> + W + W = U + 10 </a:t>
            </a:r>
            <a:r>
              <a:rPr lang="en-US" sz="2000" i="1">
                <a:latin typeface="Arial"/>
                <a:cs typeface="Arial" charset="0"/>
              </a:rPr>
              <a:t>·</a:t>
            </a:r>
            <a:r>
              <a:rPr lang="en-US" sz="2000" i="1"/>
              <a:t> X</a:t>
            </a:r>
            <a:r>
              <a:rPr lang="en-US" sz="2000" i="1" baseline="-25000"/>
              <a:t>2</a:t>
            </a:r>
            <a:endParaRPr lang="en-US" sz="2000" i="1"/>
          </a:p>
          <a:p>
            <a:pPr lvl="1">
              <a:lnSpc>
                <a:spcPct val="90000"/>
              </a:lnSpc>
            </a:pPr>
            <a:r>
              <a:rPr lang="en-US" sz="2000" i="1"/>
              <a:t>X</a:t>
            </a:r>
            <a:r>
              <a:rPr lang="en-US" sz="2000" i="1" baseline="-25000"/>
              <a:t>2</a:t>
            </a:r>
            <a:r>
              <a:rPr lang="en-US" sz="2000" i="1"/>
              <a:t> + T + T </a:t>
            </a:r>
            <a:r>
              <a:rPr lang="en-US" sz="2000"/>
              <a:t>= </a:t>
            </a:r>
            <a:r>
              <a:rPr lang="en-US" sz="2000" i="1"/>
              <a:t>O + 10 </a:t>
            </a:r>
            <a:r>
              <a:rPr lang="en-US" sz="2000" i="1">
                <a:latin typeface="Arial"/>
                <a:cs typeface="Arial" charset="0"/>
              </a:rPr>
              <a:t>·</a:t>
            </a:r>
            <a:r>
              <a:rPr lang="en-US" sz="2000" i="1"/>
              <a:t> X</a:t>
            </a:r>
            <a:r>
              <a:rPr lang="en-US" sz="2000" i="1" baseline="-25000"/>
              <a:t>3</a:t>
            </a:r>
          </a:p>
          <a:p>
            <a:pPr lvl="1">
              <a:lnSpc>
                <a:spcPct val="90000"/>
              </a:lnSpc>
            </a:pPr>
            <a:r>
              <a:rPr lang="en-US" sz="2000" i="1"/>
              <a:t>X</a:t>
            </a:r>
            <a:r>
              <a:rPr lang="en-US" sz="2000" i="1" baseline="-25000"/>
              <a:t>3</a:t>
            </a:r>
            <a:r>
              <a:rPr lang="en-US" sz="2000"/>
              <a:t> = </a:t>
            </a:r>
            <a:r>
              <a:rPr lang="en-US" sz="2000" i="1"/>
              <a:t>F</a:t>
            </a:r>
            <a:r>
              <a:rPr lang="en-US" sz="2000"/>
              <a:t>, </a:t>
            </a:r>
            <a:r>
              <a:rPr lang="en-US" sz="2000" i="1"/>
              <a:t>T </a:t>
            </a:r>
            <a:r>
              <a:rPr lang="en-US" sz="2000">
                <a:cs typeface="Arial" charset="0"/>
              </a:rPr>
              <a:t>≠</a:t>
            </a:r>
            <a:r>
              <a:rPr lang="en-US" sz="2000"/>
              <a:t> 0, </a:t>
            </a:r>
            <a:r>
              <a:rPr lang="en-US" sz="2000" i="1"/>
              <a:t>F</a:t>
            </a:r>
            <a:r>
              <a:rPr lang="en-US" sz="2000"/>
              <a:t> </a:t>
            </a:r>
            <a:r>
              <a:rPr lang="en-US" sz="2000">
                <a:cs typeface="Arial" charset="0"/>
              </a:rPr>
              <a:t>≠</a:t>
            </a:r>
            <a:r>
              <a:rPr lang="en-US" sz="2000"/>
              <a:t> 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Sudoku puzzle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839200" cy="6019800"/>
          </a:xfrm>
        </p:spPr>
        <p:txBody>
          <a:bodyPr>
            <a:normAutofit fontScale="85000" lnSpcReduction="20000"/>
          </a:bodyPr>
          <a:lstStyle/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Variables: 9x9 grid cells</a:t>
            </a: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Domains: Numbers from 1 to 9</a:t>
            </a: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Constraints: No number can repeat in the same row, column, or 3x3 </a:t>
            </a:r>
            <a:r>
              <a:rPr lang="en-US" sz="3100" dirty="0" err="1" smtClean="0">
                <a:latin typeface="Times New Roman" pitchFamily="18" charset="0"/>
                <a:cs typeface="Times New Roman" pitchFamily="18" charset="0"/>
              </a:rPr>
              <a:t>subgrid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Step 1: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 Start with an empty Sudoku grid.</a:t>
            </a:r>
          </a:p>
          <a:p>
            <a:pPr>
              <a:buNone/>
            </a:pP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Step 2: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 Apply the initial constraints for the given numbers, reducing the domains of variables based on the puzzle's clues.</a:t>
            </a:r>
          </a:p>
          <a:p>
            <a:pPr>
              <a:buNone/>
            </a:pP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Step 3: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 Use constraint propagation to narrow down the domains further. For example, if a row has two cells with domains {2, 5}, and the constraint specifies that these two cells cannot have the same number, we can eliminate the possibility of 5 for one of them.</a:t>
            </a:r>
          </a:p>
          <a:p>
            <a:pPr>
              <a:buNone/>
            </a:pPr>
            <a:r>
              <a:rPr lang="en-US" sz="3100" b="1" dirty="0" smtClean="0">
                <a:latin typeface="Times New Roman" pitchFamily="18" charset="0"/>
                <a:cs typeface="Times New Roman" pitchFamily="18" charset="0"/>
              </a:rPr>
              <a:t>Step 4: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 Continue applying constraints and propagating until the domains of variables are either empty or filled with single values. If they are all filled, you have a valid solution. If any variable's domain is empty, you backtrack to the previous step and try an alternative assignment.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1244</TotalTime>
  <Words>394</Words>
  <Application>Microsoft Office PowerPoint</Application>
  <PresentationFormat>On-screen Show (4:3)</PresentationFormat>
  <Paragraphs>65</Paragraphs>
  <Slides>11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Constraint Satisfaction problems-</vt:lpstr>
      <vt:lpstr>Constraint Satisfaction problems-</vt:lpstr>
      <vt:lpstr>Constraint Satisfaction problems-</vt:lpstr>
      <vt:lpstr>Constraint Satisfaction problems-</vt:lpstr>
      <vt:lpstr>Constraint Satisfaction problems-</vt:lpstr>
      <vt:lpstr>Example: Map-Coloring</vt:lpstr>
      <vt:lpstr>Example: Map-Coloring</vt:lpstr>
      <vt:lpstr>Constraint graph</vt:lpstr>
      <vt:lpstr>Example: Cryptarithmetic</vt:lpstr>
      <vt:lpstr>Sudoku puzzle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Windows User</cp:lastModifiedBy>
  <cp:revision>61</cp:revision>
  <dcterms:created xsi:type="dcterms:W3CDTF">2006-08-16T00:00:00Z</dcterms:created>
  <dcterms:modified xsi:type="dcterms:W3CDTF">2025-02-20T06:58:23Z</dcterms:modified>
</cp:coreProperties>
</file>