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8" r:id="rId2"/>
    <p:sldId id="329" r:id="rId3"/>
    <p:sldId id="331" r:id="rId4"/>
    <p:sldId id="330" r:id="rId5"/>
    <p:sldId id="334" r:id="rId6"/>
    <p:sldId id="335" r:id="rId7"/>
    <p:sldId id="333" r:id="rId8"/>
    <p:sldId id="337" r:id="rId9"/>
    <p:sldId id="258" r:id="rId10"/>
    <p:sldId id="259" r:id="rId11"/>
    <p:sldId id="260" r:id="rId12"/>
    <p:sldId id="261" r:id="rId13"/>
    <p:sldId id="262" r:id="rId14"/>
    <p:sldId id="263" r:id="rId15"/>
    <p:sldId id="339" r:id="rId16"/>
    <p:sldId id="341" r:id="rId17"/>
    <p:sldId id="342" r:id="rId18"/>
    <p:sldId id="340" r:id="rId19"/>
    <p:sldId id="343" r:id="rId20"/>
    <p:sldId id="344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338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798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7" y="6324599"/>
            <a:ext cx="12186284" cy="533400"/>
          </a:xfrm>
          <a:custGeom>
            <a:avLst/>
            <a:gdLst/>
            <a:ahLst/>
            <a:cxnLst/>
            <a:rect l="l" t="t" r="r" b="b"/>
            <a:pathLst>
              <a:path w="12186285" h="533400">
                <a:moveTo>
                  <a:pt x="12185904" y="533399"/>
                </a:moveTo>
                <a:lnTo>
                  <a:pt x="12185904" y="0"/>
                </a:lnTo>
                <a:lnTo>
                  <a:pt x="0" y="0"/>
                </a:lnTo>
                <a:lnTo>
                  <a:pt x="0" y="533399"/>
                </a:lnTo>
                <a:lnTo>
                  <a:pt x="12185904" y="533399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52400"/>
          </a:xfrm>
          <a:custGeom>
            <a:avLst/>
            <a:gdLst/>
            <a:ahLst/>
            <a:cxnLst/>
            <a:rect l="l" t="t" r="r" b="b"/>
            <a:pathLst>
              <a:path w="12192000" h="152400">
                <a:moveTo>
                  <a:pt x="12192000" y="0"/>
                </a:moveTo>
                <a:lnTo>
                  <a:pt x="0" y="0"/>
                </a:lnTo>
                <a:lnTo>
                  <a:pt x="0" y="152400"/>
                </a:lnTo>
                <a:lnTo>
                  <a:pt x="12192000" y="1524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288" y="429769"/>
            <a:ext cx="977753" cy="75285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840" y="6352032"/>
            <a:ext cx="1642873" cy="3657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7" y="6324599"/>
            <a:ext cx="12186284" cy="533400"/>
          </a:xfrm>
          <a:custGeom>
            <a:avLst/>
            <a:gdLst/>
            <a:ahLst/>
            <a:cxnLst/>
            <a:rect l="l" t="t" r="r" b="b"/>
            <a:pathLst>
              <a:path w="12186285" h="533400">
                <a:moveTo>
                  <a:pt x="12185904" y="533399"/>
                </a:moveTo>
                <a:lnTo>
                  <a:pt x="12185904" y="0"/>
                </a:lnTo>
                <a:lnTo>
                  <a:pt x="0" y="0"/>
                </a:lnTo>
                <a:lnTo>
                  <a:pt x="0" y="533399"/>
                </a:lnTo>
                <a:lnTo>
                  <a:pt x="12185904" y="533399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52400"/>
          </a:xfrm>
          <a:custGeom>
            <a:avLst/>
            <a:gdLst/>
            <a:ahLst/>
            <a:cxnLst/>
            <a:rect l="l" t="t" r="r" b="b"/>
            <a:pathLst>
              <a:path w="12192000" h="152400">
                <a:moveTo>
                  <a:pt x="12192000" y="0"/>
                </a:moveTo>
                <a:lnTo>
                  <a:pt x="0" y="0"/>
                </a:lnTo>
                <a:lnTo>
                  <a:pt x="0" y="152400"/>
                </a:lnTo>
                <a:lnTo>
                  <a:pt x="12192000" y="1524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34288" y="429769"/>
            <a:ext cx="977753" cy="75285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3840" y="6352032"/>
            <a:ext cx="1642873" cy="36576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524" y="1194816"/>
            <a:ext cx="12192000" cy="52069"/>
          </a:xfrm>
          <a:custGeom>
            <a:avLst/>
            <a:gdLst/>
            <a:ahLst/>
            <a:cxnLst/>
            <a:rect l="l" t="t" r="r" b="b"/>
            <a:pathLst>
              <a:path w="12192000" h="52069">
                <a:moveTo>
                  <a:pt x="12192000" y="34544"/>
                </a:moveTo>
                <a:lnTo>
                  <a:pt x="12190476" y="34544"/>
                </a:lnTo>
                <a:lnTo>
                  <a:pt x="6096" y="34544"/>
                </a:lnTo>
                <a:lnTo>
                  <a:pt x="0" y="34544"/>
                </a:lnTo>
                <a:lnTo>
                  <a:pt x="0" y="51816"/>
                </a:lnTo>
                <a:lnTo>
                  <a:pt x="6096" y="51816"/>
                </a:lnTo>
                <a:lnTo>
                  <a:pt x="12190476" y="51816"/>
                </a:lnTo>
                <a:lnTo>
                  <a:pt x="12192000" y="51816"/>
                </a:lnTo>
                <a:lnTo>
                  <a:pt x="12192000" y="34544"/>
                </a:lnTo>
                <a:close/>
              </a:path>
              <a:path w="12192000" h="52069">
                <a:moveTo>
                  <a:pt x="12192000" y="0"/>
                </a:moveTo>
                <a:lnTo>
                  <a:pt x="12190476" y="0"/>
                </a:lnTo>
                <a:lnTo>
                  <a:pt x="6096" y="0"/>
                </a:lnTo>
                <a:lnTo>
                  <a:pt x="0" y="0"/>
                </a:lnTo>
                <a:lnTo>
                  <a:pt x="0" y="17272"/>
                </a:lnTo>
                <a:lnTo>
                  <a:pt x="6096" y="17272"/>
                </a:lnTo>
                <a:lnTo>
                  <a:pt x="12190476" y="17272"/>
                </a:lnTo>
                <a:lnTo>
                  <a:pt x="12192000" y="172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6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5345" y="1387221"/>
            <a:ext cx="232854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5343" y="1723023"/>
            <a:ext cx="678307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25981"/>
            <a:ext cx="10363200" cy="2954655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UNIT – IV: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Knowledge &amp; Reasoning: Knowledge representation issues, representation &amp; mapping, approaches to knowledge representation. Using predicate logic, representing simple fact in logic, representing instant &amp; ISA relationship, computable functions &amp; predicates, resolution, natural deduction. Representing knowledge using rules, Procedural verses declarative knowledge, logic programming, forward verses backward reasoning, matching, control knowledge.</a:t>
            </a:r>
            <a:br>
              <a:rPr lang="en-US" dirty="0" smtClean="0">
                <a:solidFill>
                  <a:schemeClr val="tx1"/>
                </a:solidFill>
              </a:rPr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" y="1219201"/>
            <a:ext cx="12191998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" y="1295400"/>
            <a:ext cx="12191998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990601"/>
            <a:ext cx="118872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12344399" cy="5943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4735" y="1234521"/>
            <a:ext cx="8362950" cy="117030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37795" indent="-125730">
              <a:lnSpc>
                <a:spcPct val="100000"/>
              </a:lnSpc>
              <a:spcBef>
                <a:spcPts val="975"/>
              </a:spcBef>
              <a:buSzPct val="112500"/>
              <a:buFont typeface="Arial MT"/>
              <a:buChar char="•"/>
              <a:tabLst>
                <a:tab pos="138430" algn="l"/>
                <a:tab pos="1061085" algn="l"/>
                <a:tab pos="650875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Facts</a:t>
            </a:r>
            <a:r>
              <a:rPr sz="2400" spc="-10" dirty="0">
                <a:latin typeface="Times New Roman"/>
                <a:cs typeface="Times New Roman"/>
              </a:rPr>
              <a:t>:	</a:t>
            </a:r>
            <a:r>
              <a:rPr sz="2400" spc="-5" dirty="0">
                <a:latin typeface="Times New Roman"/>
                <a:cs typeface="Times New Roman"/>
              </a:rPr>
              <a:t>Things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want</a:t>
            </a:r>
            <a:r>
              <a:rPr sz="2400" dirty="0">
                <a:latin typeface="Times New Roman"/>
                <a:cs typeface="Times New Roman"/>
              </a:rPr>
              <a:t> 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represent.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Truth</a:t>
            </a:r>
            <a:r>
              <a:rPr sz="2400" dirty="0">
                <a:latin typeface="Times New Roman"/>
                <a:cs typeface="Times New Roman"/>
              </a:rPr>
              <a:t> in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some	</a:t>
            </a:r>
            <a:r>
              <a:rPr sz="2400" spc="-5" dirty="0">
                <a:latin typeface="Times New Roman"/>
                <a:cs typeface="Times New Roman"/>
              </a:rPr>
              <a:t>relevant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world.</a:t>
            </a:r>
            <a:endParaRPr sz="2400">
              <a:latin typeface="Times New Roman"/>
              <a:cs typeface="Times New Roman"/>
            </a:endParaRPr>
          </a:p>
          <a:p>
            <a:pPr marL="137795" indent="-125730">
              <a:lnSpc>
                <a:spcPct val="100000"/>
              </a:lnSpc>
              <a:spcBef>
                <a:spcPts val="1415"/>
              </a:spcBef>
              <a:buSzPct val="112500"/>
              <a:buFont typeface="Arial MT"/>
              <a:buChar char="•"/>
              <a:tabLst>
                <a:tab pos="13843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Representation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5" dirty="0">
                <a:latin typeface="Times New Roman"/>
                <a:cs typeface="Times New Roman"/>
              </a:rPr>
              <a:t>facts.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041" y="504266"/>
            <a:ext cx="432435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15" dirty="0">
                <a:solidFill>
                  <a:srgbClr val="FF0000"/>
                </a:solidFill>
                <a:latin typeface="Calibri"/>
                <a:cs typeface="Calibri"/>
              </a:rPr>
              <a:t>Representing</a:t>
            </a:r>
            <a:r>
              <a:rPr sz="3200" b="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0" spc="-20" dirty="0">
                <a:solidFill>
                  <a:srgbClr val="FF0000"/>
                </a:solidFill>
                <a:latin typeface="Calibri"/>
                <a:cs typeface="Calibri"/>
              </a:rPr>
              <a:t>facts </a:t>
            </a:r>
            <a:r>
              <a:rPr sz="3200" b="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3200" b="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0" spc="-5" dirty="0">
                <a:solidFill>
                  <a:srgbClr val="FF0000"/>
                </a:solidFill>
                <a:latin typeface="Calibri"/>
                <a:cs typeface="Calibri"/>
              </a:rPr>
              <a:t>logic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2499360"/>
            <a:ext cx="8357616" cy="35539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630170" y="6466433"/>
            <a:ext cx="57029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121920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5088" y="449962"/>
            <a:ext cx="4126229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Knowledge</a:t>
            </a:r>
            <a:r>
              <a:rPr sz="2800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Representation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45465" y="1236536"/>
            <a:ext cx="11018521" cy="4903907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Knowledge?:-</a:t>
            </a:r>
            <a:endParaRPr sz="2400">
              <a:latin typeface="Times New Roman"/>
              <a:cs typeface="Times New Roman"/>
            </a:endParaRPr>
          </a:p>
          <a:p>
            <a:pPr marL="295910" marR="27178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0" dirty="0">
                <a:latin typeface="Times New Roman"/>
                <a:cs typeface="Times New Roman"/>
              </a:rPr>
              <a:t>Knowledge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useful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term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judge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4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understanding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</a:t>
            </a:r>
            <a:r>
              <a:rPr sz="2400" dirty="0">
                <a:latin typeface="Times New Roman"/>
                <a:cs typeface="Times New Roman"/>
              </a:rPr>
              <a:t> individual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given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subject.</a:t>
            </a:r>
            <a:endParaRPr sz="2400">
              <a:latin typeface="Times New Roman"/>
              <a:cs typeface="Times New Roman"/>
            </a:endParaRPr>
          </a:p>
          <a:p>
            <a:pPr marL="295910" marR="495934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0" dirty="0">
                <a:latin typeface="Times New Roman"/>
                <a:cs typeface="Times New Roman"/>
              </a:rPr>
              <a:t>Knowledge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awareness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or</a:t>
            </a:r>
            <a:r>
              <a:rPr sz="24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familiarity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 gained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by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experiences</a:t>
            </a:r>
            <a:r>
              <a:rPr sz="24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facts,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data,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and </a:t>
            </a:r>
            <a:r>
              <a:rPr sz="2400" b="1" spc="-5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situations.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Following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 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types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knowledge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artificial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intelligence.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Knowledge</a:t>
            </a:r>
            <a:r>
              <a:rPr sz="24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Representation?</a:t>
            </a:r>
            <a:endParaRPr sz="2400">
              <a:latin typeface="Times New Roman"/>
              <a:cs typeface="Times New Roman"/>
            </a:endParaRPr>
          </a:p>
          <a:p>
            <a:pPr marL="295910" marR="472440" indent="-283845" algn="just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6545" algn="l"/>
              </a:tabLst>
            </a:pPr>
            <a:r>
              <a:rPr sz="2400" spc="-5" dirty="0">
                <a:latin typeface="Times New Roman"/>
                <a:cs typeface="Times New Roman"/>
              </a:rPr>
              <a:t>Artificial intelligence </a:t>
            </a:r>
            <a:r>
              <a:rPr sz="2400" dirty="0">
                <a:latin typeface="Times New Roman"/>
                <a:cs typeface="Times New Roman"/>
              </a:rPr>
              <a:t>is a </a:t>
            </a:r>
            <a:r>
              <a:rPr sz="2400" spc="-15" dirty="0">
                <a:latin typeface="Times New Roman"/>
                <a:cs typeface="Times New Roman"/>
              </a:rPr>
              <a:t>system </a:t>
            </a:r>
            <a:r>
              <a:rPr sz="2400" spc="-5" dirty="0">
                <a:latin typeface="Times New Roman"/>
                <a:cs typeface="Times New Roman"/>
              </a:rPr>
              <a:t>that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concerned with </a:t>
            </a:r>
            <a:r>
              <a:rPr sz="2400" dirty="0">
                <a:latin typeface="Times New Roman"/>
                <a:cs typeface="Times New Roman"/>
              </a:rPr>
              <a:t>the study of </a:t>
            </a:r>
            <a:r>
              <a:rPr sz="2400" spc="-5" dirty="0">
                <a:latin typeface="Times New Roman"/>
                <a:cs typeface="Times New Roman"/>
              </a:rPr>
              <a:t>understanding,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designing and implementing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20" dirty="0">
                <a:latin typeface="Times New Roman"/>
                <a:cs typeface="Times New Roman"/>
              </a:rPr>
              <a:t>ways,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associated with knowledge representation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computers.</a:t>
            </a:r>
            <a:endParaRPr sz="2400">
              <a:latin typeface="Times New Roman"/>
              <a:cs typeface="Times New Roman"/>
            </a:endParaRPr>
          </a:p>
          <a:p>
            <a:pPr marL="295910" marR="508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  <a:tab pos="9076055" algn="l"/>
              </a:tabLst>
            </a:pPr>
            <a:r>
              <a:rPr sz="2400" dirty="0">
                <a:latin typeface="Times New Roman"/>
                <a:cs typeface="Times New Roman"/>
              </a:rPr>
              <a:t>The main </a:t>
            </a:r>
            <a:r>
              <a:rPr sz="2400" spc="-5" dirty="0">
                <a:latin typeface="Times New Roman"/>
                <a:cs typeface="Times New Roman"/>
              </a:rPr>
              <a:t>objective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AI </a:t>
            </a:r>
            <a:r>
              <a:rPr sz="2400" spc="-15" dirty="0">
                <a:latin typeface="Times New Roman"/>
                <a:cs typeface="Times New Roman"/>
              </a:rPr>
              <a:t>system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5" dirty="0">
                <a:latin typeface="Times New Roman"/>
                <a:cs typeface="Times New Roman"/>
              </a:rPr>
              <a:t>to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design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the 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programs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that 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provide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information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4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computer,</a:t>
            </a:r>
            <a:r>
              <a:rPr sz="24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which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can</a:t>
            </a:r>
            <a:r>
              <a:rPr sz="24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be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 helpful</a:t>
            </a:r>
            <a:r>
              <a:rPr sz="24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24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interact</a:t>
            </a:r>
            <a:r>
              <a:rPr sz="24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with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humans</a:t>
            </a:r>
            <a:r>
              <a:rPr sz="2400" b="1" spc="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and	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solve</a:t>
            </a:r>
            <a:r>
              <a:rPr sz="24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problems </a:t>
            </a:r>
            <a:r>
              <a:rPr sz="2400" b="1" spc="-5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in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various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fields</a:t>
            </a:r>
            <a:r>
              <a:rPr sz="24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which</a:t>
            </a:r>
            <a:r>
              <a:rPr sz="24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require</a:t>
            </a:r>
            <a:r>
              <a:rPr sz="24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human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intelligence.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5" y="1173679"/>
            <a:ext cx="10841989" cy="472122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sz="22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2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Represent?: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Times New Roman"/>
                <a:cs typeface="Times New Roman"/>
              </a:rPr>
              <a:t>Following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kind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knowledge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represented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in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AI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systems: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spc="5" dirty="0">
                <a:latin typeface="Times New Roman"/>
                <a:cs typeface="Times New Roman"/>
              </a:rPr>
              <a:t>Object:</a:t>
            </a:r>
            <a:r>
              <a:rPr sz="2200" b="1" spc="-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facts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objects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our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domain.</a:t>
            </a:r>
            <a:endParaRPr sz="2200" dirty="0">
              <a:latin typeface="Times New Roman"/>
              <a:cs typeface="Times New Roman"/>
            </a:endParaRPr>
          </a:p>
          <a:p>
            <a:pPr marL="500380">
              <a:lnSpc>
                <a:spcPct val="100000"/>
              </a:lnSpc>
              <a:spcBef>
                <a:spcPts val="530"/>
              </a:spcBef>
            </a:pP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E.g.</a:t>
            </a:r>
            <a:r>
              <a:rPr sz="2200" dirty="0">
                <a:latin typeface="Times New Roman"/>
                <a:cs typeface="Times New Roman"/>
              </a:rPr>
              <a:t>, Guitars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contains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strings,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trumpets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brass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instruments.</a:t>
            </a: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dirty="0">
                <a:latin typeface="Times New Roman"/>
                <a:cs typeface="Times New Roman"/>
              </a:rPr>
              <a:t>Events: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Events</a:t>
            </a:r>
            <a:r>
              <a:rPr sz="2200" spc="5" dirty="0">
                <a:latin typeface="Times New Roman"/>
                <a:cs typeface="Times New Roman"/>
              </a:rPr>
              <a:t> are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actions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occur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world.</a:t>
            </a: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dirty="0">
                <a:latin typeface="Times New Roman"/>
                <a:cs typeface="Times New Roman"/>
              </a:rPr>
              <a:t>Performance: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describe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behavior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involves knowledge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how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things.</a:t>
            </a:r>
          </a:p>
          <a:p>
            <a:pPr marL="295910" indent="-28384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dirty="0">
                <a:latin typeface="Times New Roman"/>
                <a:cs typeface="Times New Roman"/>
              </a:rPr>
              <a:t>Meta-knowledge: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knowledge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know.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spc="5" dirty="0">
                <a:latin typeface="Times New Roman"/>
                <a:cs typeface="Times New Roman"/>
              </a:rPr>
              <a:t>Facts: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Facts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truths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we</a:t>
            </a:r>
            <a:r>
              <a:rPr sz="2200" spc="5" dirty="0">
                <a:latin typeface="Times New Roman"/>
                <a:cs typeface="Times New Roman"/>
              </a:rPr>
              <a:t> represent.</a:t>
            </a:r>
            <a:endParaRPr sz="2200" dirty="0">
              <a:latin typeface="Times New Roman"/>
              <a:cs typeface="Times New Roman"/>
            </a:endParaRPr>
          </a:p>
          <a:p>
            <a:pPr marL="295910" marR="332740" indent="-283845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dirty="0">
                <a:latin typeface="Times New Roman"/>
                <a:cs typeface="Times New Roman"/>
              </a:rPr>
              <a:t>Knowledge-Base: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central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component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knowledge-based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knowledge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base.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represented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KB.</a:t>
            </a:r>
          </a:p>
          <a:p>
            <a:pPr marL="984885">
              <a:lnSpc>
                <a:spcPct val="100000"/>
              </a:lnSpc>
              <a:spcBef>
                <a:spcPts val="530"/>
              </a:spcBef>
            </a:pP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Knowledgebase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group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Sentences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(Here,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sentences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technical</a:t>
            </a:r>
          </a:p>
          <a:p>
            <a:pPr marL="295910">
              <a:lnSpc>
                <a:spcPct val="100000"/>
              </a:lnSpc>
            </a:pPr>
            <a:r>
              <a:rPr sz="2200" spc="5" dirty="0">
                <a:latin typeface="Times New Roman"/>
                <a:cs typeface="Times New Roman"/>
              </a:rPr>
              <a:t>term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identical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English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language).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6431" y="432054"/>
            <a:ext cx="2961004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20" dirty="0">
                <a:solidFill>
                  <a:srgbClr val="FF0000"/>
                </a:solidFill>
              </a:rPr>
              <a:t>Types</a:t>
            </a:r>
            <a:r>
              <a:rPr sz="2800" spc="-4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of</a:t>
            </a:r>
            <a:r>
              <a:rPr sz="2800" spc="-4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knowledge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85343" y="1396365"/>
            <a:ext cx="5251451" cy="3075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latin typeface="Times New Roman"/>
                <a:cs typeface="Times New Roman"/>
              </a:rPr>
              <a:t>There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are</a:t>
            </a:r>
            <a:r>
              <a:rPr sz="2400" b="1" dirty="0">
                <a:latin typeface="Times New Roman"/>
                <a:cs typeface="Times New Roman"/>
              </a:rPr>
              <a:t> 5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types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Knowledge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such </a:t>
            </a:r>
            <a:r>
              <a:rPr sz="2400" b="1" dirty="0">
                <a:latin typeface="Times New Roman"/>
                <a:cs typeface="Times New Roman"/>
              </a:rPr>
              <a:t>as: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Declarative</a:t>
            </a:r>
            <a:r>
              <a:rPr sz="24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Knowledge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Procedural 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Knowledge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Meta-knowledge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Heuristic</a:t>
            </a:r>
            <a:r>
              <a:rPr sz="2400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knowledge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Structural</a:t>
            </a:r>
            <a:r>
              <a:rPr sz="240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knowledge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9853" y="1856232"/>
            <a:ext cx="6103803" cy="43586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2" y="1167207"/>
            <a:ext cx="327152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latin typeface="Times New Roman"/>
                <a:cs typeface="Times New Roman"/>
              </a:rPr>
              <a:t>1.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Declarative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Knowledge:-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85345" y="1504640"/>
            <a:ext cx="10497186" cy="4814138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2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Times New Roman"/>
                <a:cs typeface="Times New Roman"/>
              </a:rPr>
              <a:t>Declarative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knowledge</a:t>
            </a:r>
            <a:r>
              <a:rPr sz="2200" spc="5" dirty="0">
                <a:latin typeface="Times New Roman"/>
                <a:cs typeface="Times New Roman"/>
              </a:rPr>
              <a:t> 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something.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includes</a:t>
            </a:r>
            <a:r>
              <a:rPr sz="22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concepts,</a:t>
            </a:r>
            <a:r>
              <a:rPr sz="22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facts,</a:t>
            </a:r>
            <a:r>
              <a:rPr sz="2200" b="1" spc="-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and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objects.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descriptive</a:t>
            </a:r>
            <a:r>
              <a:rPr sz="22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knowledge</a:t>
            </a:r>
            <a:r>
              <a:rPr sz="2200" b="1" spc="-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expressed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</a:t>
            </a:r>
            <a:r>
              <a:rPr sz="22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declarative</a:t>
            </a:r>
            <a:r>
              <a:rPr sz="2200" b="1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sentences</a:t>
            </a:r>
            <a:r>
              <a:rPr sz="2200" dirty="0">
                <a:latin typeface="Times New Roman"/>
                <a:cs typeface="Times New Roman"/>
              </a:rPr>
              <a:t>.</a:t>
            </a: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simpler</a:t>
            </a:r>
            <a:r>
              <a:rPr sz="2200" b="1" spc="-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than</a:t>
            </a:r>
            <a:r>
              <a:rPr sz="22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procedural</a:t>
            </a:r>
            <a:r>
              <a:rPr sz="22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language.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2.</a:t>
            </a:r>
            <a:r>
              <a:rPr sz="22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Procedural</a:t>
            </a:r>
            <a:r>
              <a:rPr sz="2200" b="1" spc="-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Knowledge:-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known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imperative</a:t>
            </a:r>
            <a:r>
              <a:rPr sz="22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knowledge.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Times New Roman"/>
                <a:cs typeface="Times New Roman"/>
              </a:rPr>
              <a:t>Procedural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knowledge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type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knowledge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responsible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for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knowing</a:t>
            </a:r>
            <a:r>
              <a:rPr sz="22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how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to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do</a:t>
            </a:r>
            <a:endParaRPr sz="2200" dirty="0">
              <a:latin typeface="Times New Roman"/>
              <a:cs typeface="Times New Roman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something.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directly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applied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task.</a:t>
            </a: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includes</a:t>
            </a:r>
            <a:r>
              <a:rPr sz="22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rules,</a:t>
            </a:r>
            <a:r>
              <a:rPr sz="22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strategies,</a:t>
            </a:r>
            <a:r>
              <a:rPr sz="22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procedures,</a:t>
            </a:r>
            <a:r>
              <a:rPr sz="22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agendas,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etc.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Times New Roman"/>
                <a:cs typeface="Times New Roman"/>
              </a:rPr>
              <a:t>Procedural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knowledge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depends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on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task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applied.</a:t>
            </a:r>
            <a:endParaRPr sz="2200" dirty="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495"/>
              </a:spcBef>
            </a:pPr>
            <a:r>
              <a:rPr sz="2400" b="1" spc="-10" dirty="0">
                <a:latin typeface="Calibri"/>
                <a:cs typeface="Calibri"/>
              </a:rPr>
              <a:t>For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example: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Computer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program.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5465" y="1303656"/>
            <a:ext cx="11207115" cy="4611519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3.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Meta-knowledge:-</a:t>
            </a:r>
            <a:endParaRPr sz="240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Knowledge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about</a:t>
            </a:r>
            <a:r>
              <a:rPr sz="24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other</a:t>
            </a:r>
            <a:r>
              <a:rPr sz="24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types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knowledge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called Meta-knowledge.</a:t>
            </a:r>
            <a:endParaRPr sz="2400">
              <a:latin typeface="Times New Roman"/>
              <a:cs typeface="Times New Roman"/>
            </a:endParaRPr>
          </a:p>
          <a:p>
            <a:pPr marL="295910" marR="58547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5" dirty="0">
                <a:latin typeface="Times New Roman"/>
                <a:cs typeface="Times New Roman"/>
              </a:rPr>
              <a:t>Meta-knowledge </a:t>
            </a:r>
            <a:r>
              <a:rPr sz="2400" dirty="0">
                <a:latin typeface="Times New Roman"/>
                <a:cs typeface="Times New Roman"/>
              </a:rPr>
              <a:t>is helpful in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enhancing the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efficiency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of 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problem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solving </a:t>
            </a:r>
            <a:r>
              <a:rPr sz="2400" spc="-5" dirty="0">
                <a:latin typeface="Times New Roman"/>
                <a:cs typeface="Times New Roman"/>
              </a:rPr>
              <a:t>through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proper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reasoning </a:t>
            </a:r>
            <a:r>
              <a:rPr sz="2400" spc="-10" dirty="0">
                <a:latin typeface="Times New Roman"/>
                <a:cs typeface="Times New Roman"/>
              </a:rPr>
              <a:t>process.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4.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Heuristic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knowledge:-</a:t>
            </a:r>
            <a:endParaRPr sz="240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5" dirty="0">
                <a:latin typeface="Times New Roman"/>
                <a:cs typeface="Times New Roman"/>
              </a:rPr>
              <a:t>Heuristic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knowledge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based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thumb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rule.</a:t>
            </a:r>
            <a:endParaRPr sz="2400">
              <a:latin typeface="Times New Roman"/>
              <a:cs typeface="Times New Roman"/>
            </a:endParaRPr>
          </a:p>
          <a:p>
            <a:pPr marL="295910" marR="110109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30" dirty="0">
                <a:latin typeface="Times New Roman"/>
                <a:cs typeface="Times New Roman"/>
              </a:rPr>
              <a:t>It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provides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information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based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thumb </a:t>
            </a:r>
            <a:r>
              <a:rPr sz="2400" spc="-5" dirty="0">
                <a:latin typeface="Times New Roman"/>
                <a:cs typeface="Times New Roman"/>
              </a:rPr>
              <a:t>rule,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which</a:t>
            </a:r>
            <a:r>
              <a:rPr sz="2400" dirty="0">
                <a:latin typeface="Times New Roman"/>
                <a:cs typeface="Times New Roman"/>
              </a:rPr>
              <a:t> is </a:t>
            </a:r>
            <a:r>
              <a:rPr sz="2400" spc="-5" dirty="0">
                <a:latin typeface="Times New Roman"/>
                <a:cs typeface="Times New Roman"/>
              </a:rPr>
              <a:t>useful</a:t>
            </a:r>
            <a:r>
              <a:rPr sz="2400" dirty="0">
                <a:latin typeface="Times New Roman"/>
                <a:cs typeface="Times New Roman"/>
              </a:rPr>
              <a:t> in </a:t>
            </a:r>
            <a:r>
              <a:rPr sz="2400" spc="-5" dirty="0">
                <a:latin typeface="Times New Roman"/>
                <a:cs typeface="Times New Roman"/>
              </a:rPr>
              <a:t>guiding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reasoning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process.</a:t>
            </a:r>
            <a:endParaRPr sz="2400">
              <a:latin typeface="Times New Roman"/>
              <a:cs typeface="Times New Roman"/>
            </a:endParaRPr>
          </a:p>
          <a:p>
            <a:pPr marL="295910" marR="508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30" dirty="0">
                <a:latin typeface="Times New Roman"/>
                <a:cs typeface="Times New Roman"/>
              </a:rPr>
              <a:t>In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type,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knowledge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representation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based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strategies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solve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problems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through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experience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past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problems, </a:t>
            </a:r>
            <a:r>
              <a:rPr sz="2400" spc="-5" dirty="0">
                <a:latin typeface="Times New Roman"/>
                <a:cs typeface="Times New Roman"/>
              </a:rPr>
              <a:t>compiled</a:t>
            </a:r>
            <a:r>
              <a:rPr sz="2400" dirty="0">
                <a:latin typeface="Times New Roman"/>
                <a:cs typeface="Times New Roman"/>
              </a:rPr>
              <a:t> 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</a:t>
            </a:r>
            <a:r>
              <a:rPr sz="2400" dirty="0">
                <a:latin typeface="Times New Roman"/>
                <a:cs typeface="Times New Roman"/>
              </a:rPr>
              <a:t> expert.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Hence,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also</a:t>
            </a:r>
            <a:r>
              <a:rPr sz="2400" dirty="0">
                <a:latin typeface="Times New Roman"/>
                <a:cs typeface="Times New Roman"/>
              </a:rPr>
              <a:t> known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Shallow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knowledge.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5" y="1332725"/>
            <a:ext cx="11033125" cy="124906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5.Structural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knowledge:-</a:t>
            </a:r>
            <a:endParaRPr sz="2400">
              <a:latin typeface="Times New Roman"/>
              <a:cs typeface="Times New Roman"/>
            </a:endParaRPr>
          </a:p>
          <a:p>
            <a:pPr marL="283210" marR="5080" indent="-283210" algn="r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283210" algn="l"/>
                <a:tab pos="283845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5" dirty="0">
                <a:latin typeface="Calibri"/>
                <a:cs typeface="Calibri"/>
              </a:rPr>
              <a:t> 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establish relationships</a:t>
            </a:r>
            <a:r>
              <a:rPr sz="2400" b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between</a:t>
            </a:r>
            <a:r>
              <a:rPr sz="24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concepts</a:t>
            </a:r>
            <a:r>
              <a:rPr sz="2400" b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or objects </a:t>
            </a:r>
            <a:r>
              <a:rPr sz="2400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R="52069" algn="r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description,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knowledge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solve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real-world</a:t>
            </a:r>
            <a:r>
              <a:rPr sz="2400" b="1" spc="-8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problems.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1999" cy="662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4799"/>
            <a:ext cx="12192000" cy="6172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121920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2027" y="321691"/>
            <a:ext cx="687197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20" dirty="0">
                <a:solidFill>
                  <a:srgbClr val="FF0000"/>
                </a:solidFill>
              </a:rPr>
              <a:t>Techniques</a:t>
            </a:r>
            <a:r>
              <a:rPr sz="2800" spc="-2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of</a:t>
            </a:r>
            <a:r>
              <a:rPr sz="2800" spc="-4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Knowledge</a:t>
            </a:r>
            <a:r>
              <a:rPr sz="2800" spc="-5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Representation</a:t>
            </a:r>
            <a:r>
              <a:rPr sz="2800" spc="-7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in AI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85342" y="1387221"/>
            <a:ext cx="79375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5" dirty="0">
                <a:latin typeface="Calibri"/>
                <a:cs typeface="Calibri"/>
              </a:rPr>
              <a:t>There</a:t>
            </a:r>
            <a:r>
              <a:rPr sz="2400" spc="-10" dirty="0">
                <a:latin typeface="Calibri"/>
                <a:cs typeface="Calibri"/>
              </a:rPr>
              <a:t> are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four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representing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</a:t>
            </a:r>
            <a:r>
              <a:rPr sz="2400" spc="-5" dirty="0">
                <a:latin typeface="Calibri"/>
                <a:cs typeface="Calibri"/>
              </a:rPr>
              <a:t> such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0488" y="1929383"/>
            <a:ext cx="5486025" cy="41422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2" y="1314446"/>
            <a:ext cx="10808971" cy="207391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1.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Logical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Representation:-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0" dirty="0">
                <a:latin typeface="Calibri"/>
                <a:cs typeface="Calibri"/>
              </a:rPr>
              <a:t>Logical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representation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language with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definite</a:t>
            </a:r>
            <a:r>
              <a:rPr sz="24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rules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deal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with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propositions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and has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no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 ambiguity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representation.</a:t>
            </a:r>
            <a:endParaRPr sz="2400">
              <a:latin typeface="Calibri"/>
              <a:cs typeface="Calibri"/>
            </a:endParaRPr>
          </a:p>
          <a:p>
            <a:pPr marL="363220" indent="-35052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62585" algn="l"/>
                <a:tab pos="363220" algn="l"/>
              </a:tabLst>
            </a:pPr>
            <a:r>
              <a:rPr sz="2400" spc="-10" dirty="0">
                <a:latin typeface="Calibri"/>
                <a:cs typeface="Calibri"/>
              </a:rPr>
              <a:t>Also,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consists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precisely </a:t>
            </a:r>
            <a:r>
              <a:rPr sz="2400" b="1" spc="-5" dirty="0">
                <a:latin typeface="Calibri"/>
                <a:cs typeface="Calibri"/>
              </a:rPr>
              <a:t>defined </a:t>
            </a:r>
            <a:r>
              <a:rPr sz="2400" b="1" spc="-25" dirty="0">
                <a:latin typeface="Calibri"/>
                <a:cs typeface="Calibri"/>
              </a:rPr>
              <a:t>syntax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and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semantics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supports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sound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inference.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Each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sentence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translated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syntax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semantics.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129" y="3499103"/>
            <a:ext cx="9201883" cy="26456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5" y="1314446"/>
            <a:ext cx="10389236" cy="2680477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15" dirty="0">
                <a:latin typeface="Calibri"/>
                <a:cs typeface="Calibri"/>
              </a:rPr>
              <a:t>Advantages: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0" dirty="0">
                <a:latin typeface="Calibri"/>
                <a:cs typeface="Calibri"/>
              </a:rPr>
              <a:t>Logical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representation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helps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perform</a:t>
            </a:r>
            <a:r>
              <a:rPr sz="2400"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logical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reasoning.</a:t>
            </a:r>
            <a:endParaRPr sz="2400">
              <a:latin typeface="Calibri"/>
              <a:cs typeface="Calibri"/>
            </a:endParaRPr>
          </a:p>
          <a:p>
            <a:pPr marL="12700" marR="2138045">
              <a:lnSpc>
                <a:spcPct val="120100"/>
              </a:lnSpc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0" dirty="0">
                <a:latin typeface="Calibri"/>
                <a:cs typeface="Calibri"/>
              </a:rPr>
              <a:t> representation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basis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programming</a:t>
            </a:r>
            <a:r>
              <a:rPr sz="24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languages. </a:t>
            </a:r>
            <a:r>
              <a:rPr sz="2400" b="1" spc="-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Disadvantages: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0" dirty="0">
                <a:latin typeface="Calibri"/>
                <a:cs typeface="Calibri"/>
              </a:rPr>
              <a:t>Logical representations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restrictions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challenging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may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2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very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natural,</a:t>
            </a:r>
            <a:r>
              <a:rPr sz="2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inference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may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very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efficient</a:t>
            </a:r>
            <a:r>
              <a:rPr sz="240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5" y="1314446"/>
            <a:ext cx="10377804" cy="424090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2.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Semantic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Network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Representation:-</a:t>
            </a:r>
            <a:endParaRPr sz="24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5" dirty="0">
                <a:latin typeface="Calibri"/>
                <a:cs typeface="Calibri"/>
              </a:rPr>
              <a:t>Semantic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networks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</a:t>
            </a:r>
            <a:r>
              <a:rPr sz="2400" dirty="0">
                <a:latin typeface="Calibri"/>
                <a:cs typeface="Calibri"/>
              </a:rPr>
              <a:t> 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alternative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4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predicate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logic</a:t>
            </a:r>
            <a:r>
              <a:rPr sz="24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knowledge</a:t>
            </a:r>
            <a:endParaRPr sz="24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representation.</a:t>
            </a:r>
            <a:endParaRPr sz="24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Semantic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networks,</a:t>
            </a:r>
            <a:r>
              <a:rPr sz="2400" spc="-15" dirty="0">
                <a:latin typeface="Calibri"/>
                <a:cs typeface="Calibri"/>
              </a:rPr>
              <a:t> you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represent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your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graphical</a:t>
            </a:r>
            <a:endParaRPr sz="24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networks.</a:t>
            </a:r>
            <a:endParaRPr sz="2400" dirty="0">
              <a:latin typeface="Calibri"/>
              <a:cs typeface="Calibri"/>
            </a:endParaRPr>
          </a:p>
          <a:p>
            <a:pPr marL="295910" marR="9398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This </a:t>
            </a:r>
            <a:r>
              <a:rPr sz="2400" spc="-10" dirty="0">
                <a:latin typeface="Calibri"/>
                <a:cs typeface="Calibri"/>
              </a:rPr>
              <a:t>network consists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nodes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representing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objects and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arcs </a:t>
            </a:r>
            <a:r>
              <a:rPr sz="2400" spc="-5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describe 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relationship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between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objects.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consist</a:t>
            </a:r>
            <a:r>
              <a:rPr sz="2400" spc="-5" dirty="0">
                <a:latin typeface="Calibri"/>
                <a:cs typeface="Calibri"/>
              </a:rPr>
              <a:t> 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two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relations:</a:t>
            </a:r>
            <a:endParaRPr sz="24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dirty="0">
                <a:latin typeface="Calibri"/>
                <a:cs typeface="Calibri"/>
              </a:rPr>
              <a:t>IS-A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relation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(Inheritance)</a:t>
            </a:r>
            <a:endParaRPr sz="24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5" dirty="0">
                <a:latin typeface="Calibri"/>
                <a:cs typeface="Calibri"/>
              </a:rPr>
              <a:t>Kind-of-relation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234" y="1213104"/>
            <a:ext cx="7357872" cy="2286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042" y="388746"/>
            <a:ext cx="55092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  <a:r>
              <a:rPr spc="-25" dirty="0"/>
              <a:t> </a:t>
            </a:r>
            <a:r>
              <a:rPr spc="-5" dirty="0"/>
              <a:t>Semantic</a:t>
            </a:r>
            <a:r>
              <a:rPr spc="-15" dirty="0"/>
              <a:t> </a:t>
            </a:r>
            <a:r>
              <a:rPr spc="-5" dirty="0"/>
              <a:t>Network</a:t>
            </a:r>
            <a:r>
              <a:rPr spc="-55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5644" y="3516579"/>
            <a:ext cx="8797925" cy="2722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spc="-10" dirty="0">
                <a:latin typeface="Calibri"/>
                <a:cs typeface="Calibri"/>
              </a:rPr>
              <a:t>Advantages: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Semantic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networks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natural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representation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knowledge.</a:t>
            </a:r>
            <a:endParaRPr sz="2200">
              <a:latin typeface="Calibri"/>
              <a:cs typeface="Calibri"/>
            </a:endParaRPr>
          </a:p>
          <a:p>
            <a:pPr marL="12700" marR="2875915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Also, </a:t>
            </a:r>
            <a:r>
              <a:rPr sz="2200" dirty="0">
                <a:latin typeface="Calibri"/>
                <a:cs typeface="Calibri"/>
              </a:rPr>
              <a:t>it </a:t>
            </a:r>
            <a:r>
              <a:rPr sz="2200" spc="-15" dirty="0">
                <a:latin typeface="Calibri"/>
                <a:cs typeface="Calibri"/>
              </a:rPr>
              <a:t>conveys </a:t>
            </a:r>
            <a:r>
              <a:rPr sz="2200" dirty="0">
                <a:latin typeface="Calibri"/>
                <a:cs typeface="Calibri"/>
              </a:rPr>
              <a:t>meaning in </a:t>
            </a:r>
            <a:r>
              <a:rPr sz="2200" spc="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transparent </a:t>
            </a:r>
            <a:r>
              <a:rPr sz="2200" spc="-30" dirty="0">
                <a:latin typeface="Calibri"/>
                <a:cs typeface="Calibri"/>
              </a:rPr>
              <a:t>manner. 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These networks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simple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and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easy to understand. </a:t>
            </a:r>
            <a:r>
              <a:rPr sz="2200" b="1" spc="-484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Disadvantages: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Calibri"/>
                <a:cs typeface="Calibri"/>
              </a:rPr>
              <a:t>Semantic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networks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take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more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computational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time</a:t>
            </a:r>
            <a:r>
              <a:rPr sz="22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at</a:t>
            </a:r>
            <a:r>
              <a:rPr sz="22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runtime.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Also,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these </a:t>
            </a:r>
            <a:r>
              <a:rPr sz="2200" spc="-5" dirty="0">
                <a:latin typeface="Calibri"/>
                <a:cs typeface="Calibri"/>
              </a:rPr>
              <a:t>are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inadequate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do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have </a:t>
            </a:r>
            <a:r>
              <a:rPr sz="2200" b="1" spc="-20" dirty="0">
                <a:solidFill>
                  <a:srgbClr val="001F5F"/>
                </a:solidFill>
                <a:latin typeface="Calibri"/>
                <a:cs typeface="Calibri"/>
              </a:rPr>
              <a:t>any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equivalent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quantifiers.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Calibri"/>
                <a:cs typeface="Calibri"/>
              </a:rPr>
              <a:t>These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networks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22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intelligent</a:t>
            </a:r>
            <a:r>
              <a:rPr sz="22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depend on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creator</a:t>
            </a:r>
            <a:r>
              <a:rPr sz="22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2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system.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2" y="1229995"/>
            <a:ext cx="31292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65" dirty="0"/>
              <a:t> </a:t>
            </a:r>
            <a:r>
              <a:rPr spc="-15" dirty="0"/>
              <a:t>Frame</a:t>
            </a:r>
            <a:r>
              <a:rPr spc="-35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2" y="1659458"/>
            <a:ext cx="10904220" cy="39106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frame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record</a:t>
            </a:r>
            <a:r>
              <a:rPr sz="20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like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consists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a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collection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attributes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values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describe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</a:t>
            </a:r>
            <a:endParaRPr sz="20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entity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world.</a:t>
            </a:r>
            <a:endParaRPr sz="20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10" dirty="0">
                <a:latin typeface="Calibri"/>
                <a:cs typeface="Calibri"/>
              </a:rPr>
              <a:t>These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AI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data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divides</a:t>
            </a:r>
            <a:r>
              <a:rPr sz="20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knowledge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1F5F"/>
                </a:solidFill>
                <a:latin typeface="Calibri"/>
                <a:cs typeface="Calibri"/>
              </a:rPr>
              <a:t>into</a:t>
            </a:r>
            <a:r>
              <a:rPr sz="20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substructures</a:t>
            </a:r>
            <a:r>
              <a:rPr sz="20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representing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stereotypes</a:t>
            </a:r>
            <a:endParaRPr sz="20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situations.</a:t>
            </a:r>
            <a:endParaRPr sz="2000" dirty="0">
              <a:latin typeface="Calibri"/>
              <a:cs typeface="Calibri"/>
            </a:endParaRPr>
          </a:p>
          <a:p>
            <a:pPr marL="353695" indent="-34163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3695" algn="l"/>
                <a:tab pos="354330" algn="l"/>
              </a:tabLst>
            </a:pPr>
            <a:r>
              <a:rPr sz="2000" spc="-25" dirty="0">
                <a:latin typeface="Calibri"/>
                <a:cs typeface="Calibri"/>
              </a:rPr>
              <a:t>Basically,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consists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 of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 a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collection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 slots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 and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slot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1F5F"/>
                </a:solidFill>
                <a:latin typeface="Calibri"/>
                <a:cs typeface="Calibri"/>
              </a:rPr>
              <a:t>values</a:t>
            </a:r>
            <a:r>
              <a:rPr sz="20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0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001F5F"/>
                </a:solidFill>
                <a:latin typeface="Calibri"/>
                <a:cs typeface="Calibri"/>
              </a:rPr>
              <a:t>any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type</a:t>
            </a:r>
            <a:r>
              <a:rPr sz="20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001F5F"/>
                </a:solidFill>
                <a:latin typeface="Calibri"/>
                <a:cs typeface="Calibri"/>
              </a:rPr>
              <a:t>size.</a:t>
            </a:r>
            <a:endParaRPr sz="20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10" dirty="0">
                <a:latin typeface="Calibri"/>
                <a:cs typeface="Calibri"/>
              </a:rPr>
              <a:t>Slots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have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names and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1F5F"/>
                </a:solidFill>
                <a:latin typeface="Calibri"/>
                <a:cs typeface="Calibri"/>
              </a:rPr>
              <a:t>values</a:t>
            </a:r>
            <a:r>
              <a:rPr sz="20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which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20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called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facets</a:t>
            </a:r>
            <a:r>
              <a:rPr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spc="-15" dirty="0">
                <a:latin typeface="Calibri"/>
                <a:cs typeface="Calibri"/>
              </a:rPr>
              <a:t>Advantages:</a:t>
            </a:r>
            <a:endParaRPr sz="20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makes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programming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easier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by grouping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the</a:t>
            </a:r>
            <a:r>
              <a:rPr sz="2000" b="1" spc="-15" dirty="0">
                <a:latin typeface="Calibri"/>
                <a:cs typeface="Calibri"/>
              </a:rPr>
              <a:t> related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data.</a:t>
            </a:r>
            <a:endParaRPr sz="20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15" dirty="0">
                <a:latin typeface="Calibri"/>
                <a:cs typeface="Calibri"/>
              </a:rPr>
              <a:t>Frame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representation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easy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to </a:t>
            </a:r>
            <a:r>
              <a:rPr sz="2000" b="1" spc="-10" dirty="0">
                <a:latin typeface="Calibri"/>
                <a:cs typeface="Calibri"/>
              </a:rPr>
              <a:t>understand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and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visualize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5" dirty="0">
                <a:latin typeface="Calibri"/>
                <a:cs typeface="Calibri"/>
              </a:rPr>
              <a:t>It 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very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easy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add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slots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new attributes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relations.</a:t>
            </a:r>
            <a:endParaRPr sz="20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20" dirty="0">
                <a:latin typeface="Calibri"/>
                <a:cs typeface="Calibri"/>
              </a:rPr>
              <a:t>Also,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easy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include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default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data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search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missing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values.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4" y="1321761"/>
            <a:ext cx="10919460" cy="3618939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b="1" spc="-10" dirty="0">
                <a:latin typeface="Calibri"/>
                <a:cs typeface="Calibri"/>
              </a:rPr>
              <a:t>Disadvantages: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mtClean="0">
                <a:latin typeface="Calibri"/>
                <a:cs typeface="Calibri"/>
              </a:rPr>
              <a:t>The</a:t>
            </a:r>
            <a:r>
              <a:rPr sz="2200" spc="-10" smtClean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inference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mechanism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cannot</a:t>
            </a:r>
            <a:r>
              <a:rPr sz="2200" b="1" spc="4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be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smoothly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proceeded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by </a:t>
            </a:r>
            <a:r>
              <a:rPr sz="2200" spc="-10" dirty="0">
                <a:latin typeface="Calibri"/>
                <a:cs typeface="Calibri"/>
              </a:rPr>
              <a:t>frame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representation.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 </a:t>
            </a:r>
            <a:r>
              <a:rPr sz="2200" spc="5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very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generalized</a:t>
            </a:r>
            <a:r>
              <a:rPr sz="2200" spc="-5" dirty="0">
                <a:latin typeface="Calibri"/>
                <a:cs typeface="Calibri"/>
              </a:rPr>
              <a:t> approach.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4.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Production</a:t>
            </a:r>
            <a:r>
              <a:rPr sz="2400" b="1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Rules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production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rules,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agent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checks</a:t>
            </a:r>
            <a:r>
              <a:rPr sz="2200" spc="-15" dirty="0">
                <a:latin typeface="Calibri"/>
                <a:cs typeface="Calibri"/>
              </a:rPr>
              <a:t> for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condition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condition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exists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production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rule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fires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corresponding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action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carried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out.</a:t>
            </a:r>
            <a:endParaRPr sz="2200">
              <a:latin typeface="Calibri"/>
              <a:cs typeface="Calibri"/>
            </a:endParaRPr>
          </a:p>
          <a:p>
            <a:pPr marL="360045" indent="-347980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360045" algn="l"/>
                <a:tab pos="36068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condition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rule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determines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which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rule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may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be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applied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to </a:t>
            </a:r>
            <a:r>
              <a:rPr sz="2200" b="1" dirty="0">
                <a:latin typeface="Calibri"/>
                <a:cs typeface="Calibri"/>
              </a:rPr>
              <a:t>a </a:t>
            </a:r>
            <a:r>
              <a:rPr sz="2200" b="1" spc="-5" dirty="0">
                <a:latin typeface="Calibri"/>
                <a:cs typeface="Calibri"/>
              </a:rPr>
              <a:t>problem</a:t>
            </a:r>
            <a:r>
              <a:rPr sz="2200" spc="-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Whereas,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action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carries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associated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problem-solving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steps.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5" dirty="0">
                <a:latin typeface="Calibri"/>
                <a:cs typeface="Calibri"/>
              </a:rPr>
              <a:t>This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complete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process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called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recognize-act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cycle.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2" y="1374775"/>
            <a:ext cx="10849611" cy="4719241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production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rules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system</a:t>
            </a:r>
            <a:r>
              <a:rPr sz="2200" spc="-5" dirty="0">
                <a:latin typeface="Calibri"/>
                <a:cs typeface="Calibri"/>
              </a:rPr>
              <a:t> consists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5" dirty="0">
                <a:latin typeface="Calibri"/>
                <a:cs typeface="Calibri"/>
              </a:rPr>
              <a:t> three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main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parts: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set </a:t>
            </a:r>
            <a:r>
              <a:rPr sz="2200" b="1" spc="-5" dirty="0">
                <a:latin typeface="Calibri"/>
                <a:cs typeface="Calibri"/>
              </a:rPr>
              <a:t>of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production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rules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spc="-15" dirty="0">
                <a:latin typeface="Calibri"/>
                <a:cs typeface="Calibri"/>
              </a:rPr>
              <a:t>Working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Memory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recognize-act-cycle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spc="-10" dirty="0">
                <a:latin typeface="Calibri"/>
                <a:cs typeface="Calibri"/>
              </a:rPr>
              <a:t>Advantages: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production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rules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expressed </a:t>
            </a:r>
            <a:r>
              <a:rPr sz="2200" b="1" spc="5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2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natural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 language.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production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rules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22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highly</a:t>
            </a:r>
            <a:r>
              <a:rPr sz="2200"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modular and</a:t>
            </a:r>
            <a:r>
              <a:rPr sz="2200" b="1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 be</a:t>
            </a:r>
            <a:r>
              <a:rPr sz="22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easily</a:t>
            </a:r>
            <a:r>
              <a:rPr sz="22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removed</a:t>
            </a:r>
            <a:r>
              <a:rPr sz="22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22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modified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200" b="1" spc="-10" dirty="0">
                <a:latin typeface="Calibri"/>
                <a:cs typeface="Calibri"/>
              </a:rPr>
              <a:t>Disadvantages: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exhibit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any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learning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capabilities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does</a:t>
            </a:r>
            <a:r>
              <a:rPr sz="22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22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store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result</a:t>
            </a:r>
            <a:r>
              <a:rPr sz="22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2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the problem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future</a:t>
            </a:r>
            <a:r>
              <a:rPr sz="22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uses.</a:t>
            </a:r>
            <a:endParaRPr sz="220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During the </a:t>
            </a:r>
            <a:r>
              <a:rPr sz="2200" spc="-5" dirty="0">
                <a:latin typeface="Calibri"/>
                <a:cs typeface="Calibri"/>
              </a:rPr>
              <a:t>execution </a:t>
            </a:r>
            <a:r>
              <a:rPr sz="2200" spc="5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program, 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many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rules </a:t>
            </a:r>
            <a:r>
              <a:rPr sz="2200" b="1" spc="-20" dirty="0">
                <a:solidFill>
                  <a:srgbClr val="001F5F"/>
                </a:solidFill>
                <a:latin typeface="Calibri"/>
                <a:cs typeface="Calibri"/>
              </a:rPr>
              <a:t>may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be active</a:t>
            </a:r>
            <a:r>
              <a:rPr sz="2200" spc="-5" dirty="0">
                <a:latin typeface="Calibri"/>
                <a:cs typeface="Calibri"/>
              </a:rPr>
              <a:t>. Thus, </a:t>
            </a:r>
            <a:r>
              <a:rPr sz="2200" dirty="0">
                <a:latin typeface="Calibri"/>
                <a:cs typeface="Calibri"/>
              </a:rPr>
              <a:t>rule-based </a:t>
            </a:r>
            <a:r>
              <a:rPr sz="2200" spc="-5" dirty="0">
                <a:latin typeface="Calibri"/>
                <a:cs typeface="Calibri"/>
              </a:rPr>
              <a:t>production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systems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inefficient.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2884" y="535050"/>
            <a:ext cx="6890384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5" dirty="0">
                <a:solidFill>
                  <a:srgbClr val="FF0000"/>
                </a:solidFill>
              </a:rPr>
              <a:t>Approaches</a:t>
            </a:r>
            <a:r>
              <a:rPr sz="2800" spc="-3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to</a:t>
            </a:r>
            <a:r>
              <a:rPr sz="2800" spc="-8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knowledge</a:t>
            </a:r>
            <a:r>
              <a:rPr sz="2800" spc="-3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representation</a:t>
            </a:r>
            <a:r>
              <a:rPr sz="2800" spc="-7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in</a:t>
            </a:r>
            <a:r>
              <a:rPr sz="2800" spc="-1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AI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85345" y="1321760"/>
            <a:ext cx="10380980" cy="3452227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spc="-5" dirty="0">
                <a:latin typeface="Calibri"/>
                <a:cs typeface="Calibri"/>
              </a:rPr>
              <a:t>There</a:t>
            </a:r>
            <a:r>
              <a:rPr sz="2200" spc="-10" dirty="0">
                <a:latin typeface="Calibri"/>
                <a:cs typeface="Calibri"/>
              </a:rPr>
              <a:t> are </a:t>
            </a:r>
            <a:r>
              <a:rPr sz="2200" dirty="0">
                <a:latin typeface="Calibri"/>
                <a:cs typeface="Calibri"/>
              </a:rPr>
              <a:t>mainly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four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approaches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</a:t>
            </a:r>
            <a:r>
              <a:rPr sz="2200" dirty="0">
                <a:latin typeface="Calibri"/>
                <a:cs typeface="Calibri"/>
              </a:rPr>
              <a:t> knowledge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representation,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givenbelow:</a:t>
            </a:r>
            <a:endParaRPr sz="2200">
              <a:latin typeface="Calibri"/>
              <a:cs typeface="Calibri"/>
            </a:endParaRPr>
          </a:p>
          <a:p>
            <a:pPr marL="291465" indent="-215265">
              <a:lnSpc>
                <a:spcPct val="100000"/>
              </a:lnSpc>
              <a:spcBef>
                <a:spcPts val="530"/>
              </a:spcBef>
              <a:buSzPct val="95454"/>
              <a:buAutoNum type="arabicPeriod"/>
              <a:tabLst>
                <a:tab pos="291465" algn="l"/>
              </a:tabLst>
            </a:pPr>
            <a:r>
              <a:rPr sz="2200" dirty="0">
                <a:latin typeface="Calibri"/>
                <a:cs typeface="Calibri"/>
              </a:rPr>
              <a:t>Simple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relational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endParaRPr sz="2200">
              <a:latin typeface="Calibri"/>
              <a:cs typeface="Calibri"/>
            </a:endParaRPr>
          </a:p>
          <a:p>
            <a:pPr marL="286385" indent="-274320">
              <a:lnSpc>
                <a:spcPct val="100000"/>
              </a:lnSpc>
              <a:spcBef>
                <a:spcPts val="530"/>
              </a:spcBef>
              <a:buSzPct val="95454"/>
              <a:buAutoNum type="arabicPeriod"/>
              <a:tabLst>
                <a:tab pos="287020" algn="l"/>
              </a:tabLst>
            </a:pPr>
            <a:r>
              <a:rPr sz="2200" spc="-5" dirty="0">
                <a:latin typeface="Calibri"/>
                <a:cs typeface="Calibri"/>
              </a:rPr>
              <a:t>Inheritable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endParaRPr sz="2200">
              <a:latin typeface="Calibri"/>
              <a:cs typeface="Calibri"/>
            </a:endParaRPr>
          </a:p>
          <a:p>
            <a:pPr marL="286385" indent="-274320">
              <a:lnSpc>
                <a:spcPct val="100000"/>
              </a:lnSpc>
              <a:spcBef>
                <a:spcPts val="530"/>
              </a:spcBef>
              <a:buSzPct val="95454"/>
              <a:buAutoNum type="arabicPeriod"/>
              <a:tabLst>
                <a:tab pos="287020" algn="l"/>
              </a:tabLst>
            </a:pPr>
            <a:r>
              <a:rPr sz="2200" spc="-10" dirty="0">
                <a:latin typeface="Calibri"/>
                <a:cs typeface="Calibri"/>
              </a:rPr>
              <a:t>Inferential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endParaRPr sz="2200">
              <a:latin typeface="Calibri"/>
              <a:cs typeface="Calibri"/>
            </a:endParaRPr>
          </a:p>
          <a:p>
            <a:pPr marL="286385" indent="-274320">
              <a:lnSpc>
                <a:spcPct val="100000"/>
              </a:lnSpc>
              <a:spcBef>
                <a:spcPts val="530"/>
              </a:spcBef>
              <a:buSzPct val="95454"/>
              <a:buAutoNum type="arabicPeriod"/>
              <a:tabLst>
                <a:tab pos="287020" algn="l"/>
              </a:tabLst>
            </a:pPr>
            <a:r>
              <a:rPr sz="2200" spc="-5" dirty="0">
                <a:latin typeface="Calibri"/>
                <a:cs typeface="Calibri"/>
              </a:rPr>
              <a:t>Procedural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endParaRPr sz="22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  <a:spcBef>
                <a:spcPts val="490"/>
              </a:spcBef>
            </a:pP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1. Simple</a:t>
            </a:r>
            <a:r>
              <a:rPr sz="20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relational</a:t>
            </a: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knowledge:-</a:t>
            </a:r>
            <a:endParaRPr sz="200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10" dirty="0">
                <a:latin typeface="Calibri"/>
                <a:cs typeface="Calibri"/>
              </a:rPr>
              <a:t>This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approach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knowledge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representation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famous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where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between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different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entities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represented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database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systems</a:t>
            </a:r>
            <a:endParaRPr sz="20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480"/>
              </a:spcBef>
            </a:pPr>
            <a:r>
              <a:rPr sz="2000" b="1" spc="-10" dirty="0">
                <a:latin typeface="Calibri"/>
                <a:cs typeface="Calibri"/>
              </a:rPr>
              <a:t>Example: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following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simple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relational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knowledge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representation.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126" y="4785359"/>
            <a:ext cx="7787641" cy="15026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417" y="1300938"/>
            <a:ext cx="298958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/>
              <a:t>2.</a:t>
            </a:r>
            <a:r>
              <a:rPr sz="2200" spc="-40" dirty="0"/>
              <a:t> </a:t>
            </a:r>
            <a:r>
              <a:rPr sz="2200" spc="-5" dirty="0"/>
              <a:t>Inheritable</a:t>
            </a:r>
            <a:r>
              <a:rPr sz="2200" spc="-75" dirty="0"/>
              <a:t> </a:t>
            </a:r>
            <a:r>
              <a:rPr sz="2200" spc="-5" dirty="0"/>
              <a:t>knowledge: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388417" y="1703958"/>
            <a:ext cx="10453371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inheritable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approach,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data </a:t>
            </a:r>
            <a:r>
              <a:rPr sz="2200" spc="-5" dirty="0">
                <a:latin typeface="Calibri"/>
                <a:cs typeface="Calibri"/>
              </a:rPr>
              <a:t>must be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stored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hierarchy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classes.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804" y="2215896"/>
            <a:ext cx="5162485" cy="3534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5" y="1321760"/>
            <a:ext cx="9757410" cy="4180632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3.</a:t>
            </a:r>
            <a:r>
              <a:rPr sz="22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libri"/>
                <a:cs typeface="Calibri"/>
              </a:rPr>
              <a:t>Inferential</a:t>
            </a:r>
            <a:r>
              <a:rPr sz="22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knowledge:</a:t>
            </a:r>
            <a:endParaRPr sz="22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10" dirty="0">
                <a:latin typeface="Calibri"/>
                <a:cs typeface="Calibri"/>
              </a:rPr>
              <a:t>Inferential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approach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represents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2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form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2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formal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logics.</a:t>
            </a:r>
            <a:endParaRPr sz="22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5" dirty="0">
                <a:latin typeface="Calibri"/>
                <a:cs typeface="Calibri"/>
              </a:rPr>
              <a:t>This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approach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22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derive</a:t>
            </a:r>
            <a:r>
              <a:rPr sz="22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more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facts.</a:t>
            </a:r>
            <a:endParaRPr sz="22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guaranteed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correctness.</a:t>
            </a:r>
            <a:endParaRPr sz="22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spc="-5" dirty="0">
                <a:latin typeface="Calibri"/>
                <a:cs typeface="Calibri"/>
              </a:rPr>
              <a:t>Example: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Let's </a:t>
            </a:r>
            <a:r>
              <a:rPr sz="2200" spc="-5" dirty="0">
                <a:latin typeface="Calibri"/>
                <a:cs typeface="Calibri"/>
              </a:rPr>
              <a:t>suppose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two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statements: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698500" algn="l"/>
              </a:tabLst>
            </a:pPr>
            <a:r>
              <a:rPr sz="2200" spc="-5" dirty="0">
                <a:latin typeface="Calibri"/>
                <a:cs typeface="Calibri"/>
              </a:rPr>
              <a:t>Marcus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man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All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men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mortal</a:t>
            </a:r>
          </a:p>
          <a:p>
            <a:pPr marL="69786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Calibri"/>
                <a:cs typeface="Calibri"/>
              </a:rPr>
              <a:t>Then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as;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 dirty="0">
              <a:latin typeface="Calibri"/>
              <a:cs typeface="Calibri"/>
            </a:endParaRPr>
          </a:p>
          <a:p>
            <a:pPr marL="697865">
              <a:lnSpc>
                <a:spcPct val="100000"/>
              </a:lnSpc>
            </a:pPr>
            <a:r>
              <a:rPr sz="2200" b="1" spc="-5" dirty="0">
                <a:latin typeface="Calibri"/>
                <a:cs typeface="Calibri"/>
              </a:rPr>
              <a:t>man(Marcus)</a:t>
            </a:r>
            <a:endParaRPr sz="2200" dirty="0">
              <a:latin typeface="Calibri"/>
              <a:cs typeface="Calibri"/>
            </a:endParaRPr>
          </a:p>
          <a:p>
            <a:pPr marL="697865">
              <a:lnSpc>
                <a:spcPct val="100000"/>
              </a:lnSpc>
              <a:spcBef>
                <a:spcPts val="25"/>
              </a:spcBef>
            </a:pPr>
            <a:r>
              <a:rPr sz="2200" b="1" spc="-405" dirty="0">
                <a:latin typeface="Yu Gothic UI"/>
                <a:cs typeface="Yu Gothic UI"/>
              </a:rPr>
              <a:t>∀</a:t>
            </a:r>
            <a:r>
              <a:rPr sz="2200" b="1" spc="-405" dirty="0">
                <a:latin typeface="Calibri"/>
                <a:cs typeface="Calibri"/>
              </a:rPr>
              <a:t>x</a:t>
            </a:r>
            <a:r>
              <a:rPr sz="2200" b="1" spc="-390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=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man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(x)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----------&gt;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mortal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(x)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4" y="1321761"/>
            <a:ext cx="10669906" cy="23031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4.</a:t>
            </a:r>
            <a:r>
              <a:rPr sz="22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Procedural</a:t>
            </a:r>
            <a:r>
              <a:rPr sz="22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knowledge: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5" dirty="0">
                <a:latin typeface="Calibri"/>
                <a:cs typeface="Calibri"/>
              </a:rPr>
              <a:t>Procedural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approach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uses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small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programs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codes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describes</a:t>
            </a:r>
            <a:r>
              <a:rPr sz="22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how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2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do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specific</a:t>
            </a:r>
            <a:r>
              <a:rPr sz="22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things,</a:t>
            </a:r>
            <a:r>
              <a:rPr sz="2200" b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how</a:t>
            </a:r>
            <a:r>
              <a:rPr sz="22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proceed.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approach,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important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rule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If-Then</a:t>
            </a:r>
            <a:r>
              <a:rPr sz="22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rule</a:t>
            </a:r>
            <a:r>
              <a:rPr sz="2200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we </a:t>
            </a:r>
            <a:r>
              <a:rPr sz="2200" spc="-5" dirty="0">
                <a:latin typeface="Calibri"/>
                <a:cs typeface="Calibri"/>
              </a:rPr>
              <a:t>can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various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coding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languages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such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LISP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language</a:t>
            </a:r>
            <a:r>
              <a:rPr sz="22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Prolog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language</a:t>
            </a:r>
            <a:r>
              <a:rPr sz="2200" spc="-5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5126" y="573150"/>
            <a:ext cx="905700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Knowledge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 Representation</a:t>
            </a:r>
            <a:r>
              <a:rPr sz="25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25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Predicate</a:t>
            </a:r>
            <a:r>
              <a:rPr sz="25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logic(First-order</a:t>
            </a:r>
            <a:r>
              <a:rPr sz="25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logic)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342" y="1321760"/>
            <a:ext cx="10979150" cy="4655121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2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10" dirty="0">
                <a:latin typeface="Calibri"/>
                <a:cs typeface="Calibri"/>
              </a:rPr>
              <a:t>First-order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known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Predicate </a:t>
            </a:r>
            <a:r>
              <a:rPr sz="2200" b="1" dirty="0">
                <a:latin typeface="Calibri"/>
                <a:cs typeface="Calibri"/>
              </a:rPr>
              <a:t>logic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or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First-order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predicate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logic</a:t>
            </a:r>
            <a:r>
              <a:rPr sz="2200" spc="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10" dirty="0">
                <a:latin typeface="Calibri"/>
                <a:cs typeface="Calibri"/>
              </a:rPr>
              <a:t>Predicate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deals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predicates,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5" dirty="0">
                <a:latin typeface="Calibri"/>
                <a:cs typeface="Calibri"/>
              </a:rPr>
              <a:t> propositions,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consist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variables.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Predicate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Logic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Definition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5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predicate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expression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of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one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or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more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variables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determined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some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specific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domain.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predicate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variables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can</a:t>
            </a:r>
            <a:r>
              <a:rPr sz="2200" dirty="0">
                <a:latin typeface="Calibri"/>
                <a:cs typeface="Calibri"/>
              </a:rPr>
              <a:t> be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made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proposition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by </a:t>
            </a:r>
            <a:r>
              <a:rPr sz="2200" dirty="0">
                <a:latin typeface="Calibri"/>
                <a:cs typeface="Calibri"/>
              </a:rPr>
              <a:t>either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authorizing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value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</a:t>
            </a:r>
            <a:r>
              <a:rPr sz="2200" dirty="0">
                <a:latin typeface="Calibri"/>
                <a:cs typeface="Calibri"/>
              </a:rPr>
              <a:t> the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variable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quantifying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variable.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First-order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logic</a:t>
            </a:r>
            <a:r>
              <a:rPr sz="22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(like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natural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language) </a:t>
            </a:r>
            <a:r>
              <a:rPr sz="2200" dirty="0">
                <a:latin typeface="Calibri"/>
                <a:cs typeface="Calibri"/>
              </a:rPr>
              <a:t>does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assume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that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world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contains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facts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like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propositional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but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assumes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following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things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 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world:</a:t>
            </a:r>
            <a:endParaRPr sz="22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698500" algn="l"/>
              </a:tabLst>
            </a:pPr>
            <a:r>
              <a:rPr sz="2200" b="1" dirty="0">
                <a:latin typeface="Calibri"/>
                <a:cs typeface="Calibri"/>
              </a:rPr>
              <a:t>Objects: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B,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people,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numbers,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colors, </a:t>
            </a:r>
            <a:r>
              <a:rPr sz="2200" spc="-15" dirty="0">
                <a:latin typeface="Calibri"/>
                <a:cs typeface="Calibri"/>
              </a:rPr>
              <a:t>wars, </a:t>
            </a:r>
            <a:r>
              <a:rPr sz="2200" dirty="0">
                <a:latin typeface="Calibri"/>
                <a:cs typeface="Calibri"/>
              </a:rPr>
              <a:t>theories,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squares,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pits,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wumpus,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......</a:t>
            </a:r>
            <a:endParaRPr sz="22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698500" algn="l"/>
              </a:tabLst>
            </a:pPr>
            <a:r>
              <a:rPr sz="2200" b="1" spc="-5" dirty="0">
                <a:latin typeface="Calibri"/>
                <a:cs typeface="Calibri"/>
              </a:rPr>
              <a:t>Relations: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It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can </a:t>
            </a:r>
            <a:r>
              <a:rPr sz="2200" b="1" dirty="0">
                <a:latin typeface="Calibri"/>
                <a:cs typeface="Calibri"/>
              </a:rPr>
              <a:t>be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unary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relation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such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as: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red,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round,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 </a:t>
            </a:r>
            <a:r>
              <a:rPr sz="2200" spc="-5" dirty="0">
                <a:latin typeface="Calibri"/>
                <a:cs typeface="Calibri"/>
              </a:rPr>
              <a:t>adjacent,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or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n-any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relation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such</a:t>
            </a:r>
            <a:endParaRPr sz="2200">
              <a:latin typeface="Calibri"/>
              <a:cs typeface="Calibri"/>
            </a:endParaRPr>
          </a:p>
          <a:p>
            <a:pPr marL="697865">
              <a:lnSpc>
                <a:spcPct val="100000"/>
              </a:lnSpc>
            </a:pPr>
            <a:r>
              <a:rPr sz="2200" b="1" spc="-5" dirty="0">
                <a:latin typeface="Calibri"/>
                <a:cs typeface="Calibri"/>
              </a:rPr>
              <a:t>as: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sister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of,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brother</a:t>
            </a:r>
            <a:r>
              <a:rPr sz="2200" spc="-45" dirty="0">
                <a:latin typeface="Calibri"/>
                <a:cs typeface="Calibri"/>
              </a:rPr>
              <a:t> of,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color, </a:t>
            </a:r>
            <a:r>
              <a:rPr sz="2200" dirty="0">
                <a:latin typeface="Calibri"/>
                <a:cs typeface="Calibri"/>
              </a:rPr>
              <a:t>comes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between</a:t>
            </a:r>
            <a:endParaRPr sz="22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698500" algn="l"/>
              </a:tabLst>
            </a:pPr>
            <a:r>
              <a:rPr sz="2200" b="1" spc="-5" dirty="0">
                <a:latin typeface="Calibri"/>
                <a:cs typeface="Calibri"/>
              </a:rPr>
              <a:t>Function: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Father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of,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best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friend,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of,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......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4" y="1387220"/>
            <a:ext cx="7322820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/>
              <a:t>As</a:t>
            </a:r>
            <a:r>
              <a:rPr sz="2200" spc="-10" dirty="0"/>
              <a:t> </a:t>
            </a:r>
            <a:r>
              <a:rPr sz="2200" dirty="0"/>
              <a:t>a</a:t>
            </a:r>
            <a:r>
              <a:rPr sz="2200" spc="-10" dirty="0"/>
              <a:t> </a:t>
            </a:r>
            <a:r>
              <a:rPr sz="2200" spc="-15" dirty="0"/>
              <a:t>natural</a:t>
            </a:r>
            <a:r>
              <a:rPr sz="2200" spc="5" dirty="0"/>
              <a:t> </a:t>
            </a:r>
            <a:r>
              <a:rPr sz="2200" spc="-5" dirty="0"/>
              <a:t>language,</a:t>
            </a:r>
            <a:r>
              <a:rPr sz="2200" spc="-40" dirty="0"/>
              <a:t> </a:t>
            </a:r>
            <a:r>
              <a:rPr sz="2200" spc="-5" dirty="0"/>
              <a:t>first-order</a:t>
            </a:r>
            <a:r>
              <a:rPr sz="2200" spc="-35" dirty="0"/>
              <a:t> </a:t>
            </a:r>
            <a:r>
              <a:rPr sz="2200" dirty="0"/>
              <a:t>logic</a:t>
            </a:r>
            <a:r>
              <a:rPr sz="2200" spc="-35" dirty="0"/>
              <a:t> </a:t>
            </a:r>
            <a:r>
              <a:rPr sz="2200" dirty="0"/>
              <a:t>also</a:t>
            </a:r>
            <a:r>
              <a:rPr sz="2200" spc="-10" dirty="0"/>
              <a:t> </a:t>
            </a:r>
            <a:r>
              <a:rPr sz="2200" spc="-5" dirty="0"/>
              <a:t>has</a:t>
            </a:r>
            <a:r>
              <a:rPr sz="2200" spc="-15" dirty="0"/>
              <a:t> </a:t>
            </a:r>
            <a:r>
              <a:rPr sz="2200" dirty="0"/>
              <a:t>two</a:t>
            </a:r>
            <a:r>
              <a:rPr sz="2200" spc="-10" dirty="0"/>
              <a:t> </a:t>
            </a:r>
            <a:r>
              <a:rPr sz="2200" dirty="0"/>
              <a:t>main</a:t>
            </a:r>
            <a:r>
              <a:rPr sz="2200" spc="-30" dirty="0"/>
              <a:t> </a:t>
            </a:r>
            <a:r>
              <a:rPr sz="2200" dirty="0"/>
              <a:t>parts:</a:t>
            </a:r>
            <a:endParaRPr sz="2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85343" y="1723023"/>
            <a:ext cx="6783070" cy="1596591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698500" indent="-229235">
              <a:lnSpc>
                <a:spcPct val="100000"/>
              </a:lnSpc>
              <a:spcBef>
                <a:spcPts val="630"/>
              </a:spcBef>
              <a:buFont typeface="Wingdings"/>
              <a:buChar char=""/>
              <a:tabLst>
                <a:tab pos="698500" algn="l"/>
              </a:tabLst>
            </a:pPr>
            <a:r>
              <a:rPr spc="-20" dirty="0"/>
              <a:t>Syntax</a:t>
            </a:r>
          </a:p>
          <a:p>
            <a:pPr marL="698500" indent="-22923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698500" algn="l"/>
              </a:tabLst>
            </a:pPr>
            <a:r>
              <a:rPr spc="-5" dirty="0"/>
              <a:t>Semantics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>
                <a:solidFill>
                  <a:srgbClr val="C00000"/>
                </a:solidFill>
              </a:rPr>
              <a:t>Basic</a:t>
            </a:r>
            <a:r>
              <a:rPr spc="-30"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Elements</a:t>
            </a:r>
            <a:r>
              <a:rPr spc="-10"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of</a:t>
            </a:r>
            <a:r>
              <a:rPr spc="5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Predicate</a:t>
            </a:r>
            <a:r>
              <a:rPr spc="-5" dirty="0">
                <a:solidFill>
                  <a:srgbClr val="C00000"/>
                </a:solidFill>
              </a:rPr>
              <a:t> Logic(First-order</a:t>
            </a:r>
            <a:r>
              <a:rPr spc="-65" dirty="0">
                <a:solidFill>
                  <a:srgbClr val="C00000"/>
                </a:solidFill>
              </a:rPr>
              <a:t> </a:t>
            </a:r>
            <a:r>
              <a:rPr spc="5" dirty="0">
                <a:solidFill>
                  <a:srgbClr val="C00000"/>
                </a:solidFill>
              </a:rPr>
              <a:t>logic):</a:t>
            </a: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000" b="0" spc="-10" dirty="0">
                <a:latin typeface="Calibri"/>
                <a:cs typeface="Calibri"/>
              </a:rPr>
              <a:t>Following</a:t>
            </a:r>
            <a:r>
              <a:rPr sz="2000" b="0" dirty="0">
                <a:latin typeface="Calibri"/>
                <a:cs typeface="Calibri"/>
              </a:rPr>
              <a:t> </a:t>
            </a:r>
            <a:r>
              <a:rPr sz="2000" b="0" spc="-15" dirty="0">
                <a:latin typeface="Calibri"/>
                <a:cs typeface="Calibri"/>
              </a:rPr>
              <a:t>are</a:t>
            </a:r>
            <a:r>
              <a:rPr sz="2000" b="0" spc="20" dirty="0">
                <a:latin typeface="Calibri"/>
                <a:cs typeface="Calibri"/>
              </a:rPr>
              <a:t> </a:t>
            </a:r>
            <a:r>
              <a:rPr sz="2000" b="0" spc="-5" dirty="0">
                <a:latin typeface="Calibri"/>
                <a:cs typeface="Calibri"/>
              </a:rPr>
              <a:t>the</a:t>
            </a:r>
            <a:r>
              <a:rPr sz="2000" b="0" dirty="0">
                <a:latin typeface="Calibri"/>
                <a:cs typeface="Calibri"/>
              </a:rPr>
              <a:t> </a:t>
            </a:r>
            <a:r>
              <a:rPr sz="2000" b="0" spc="-5" dirty="0">
                <a:latin typeface="Calibri"/>
                <a:cs typeface="Calibri"/>
              </a:rPr>
              <a:t>basic</a:t>
            </a:r>
            <a:r>
              <a:rPr sz="2000" b="0" spc="25" dirty="0">
                <a:latin typeface="Calibri"/>
                <a:cs typeface="Calibri"/>
              </a:rPr>
              <a:t> </a:t>
            </a:r>
            <a:r>
              <a:rPr sz="2000" b="0" spc="-15" dirty="0">
                <a:latin typeface="Calibri"/>
                <a:cs typeface="Calibri"/>
              </a:rPr>
              <a:t>elements</a:t>
            </a:r>
            <a:r>
              <a:rPr sz="2000" b="0" spc="100" dirty="0">
                <a:latin typeface="Calibri"/>
                <a:cs typeface="Calibri"/>
              </a:rPr>
              <a:t> </a:t>
            </a:r>
            <a:r>
              <a:rPr sz="2000" b="0" spc="-5" dirty="0">
                <a:latin typeface="Calibri"/>
                <a:cs typeface="Calibri"/>
              </a:rPr>
              <a:t>of</a:t>
            </a:r>
            <a:r>
              <a:rPr sz="2000" b="0" spc="-10" dirty="0">
                <a:latin typeface="Calibri"/>
                <a:cs typeface="Calibri"/>
              </a:rPr>
              <a:t> </a:t>
            </a:r>
            <a:r>
              <a:rPr sz="2000" b="0" spc="-15" dirty="0">
                <a:latin typeface="Calibri"/>
                <a:cs typeface="Calibri"/>
              </a:rPr>
              <a:t>Predicate</a:t>
            </a:r>
            <a:r>
              <a:rPr sz="2000" b="0" spc="75" dirty="0">
                <a:latin typeface="Calibri"/>
                <a:cs typeface="Calibri"/>
              </a:rPr>
              <a:t> </a:t>
            </a:r>
            <a:r>
              <a:rPr sz="2000" b="0" spc="-5" dirty="0">
                <a:latin typeface="Calibri"/>
                <a:cs typeface="Calibri"/>
              </a:rPr>
              <a:t>Logic or</a:t>
            </a:r>
            <a:r>
              <a:rPr sz="2000" b="0" spc="-15" dirty="0">
                <a:latin typeface="Calibri"/>
                <a:cs typeface="Calibri"/>
              </a:rPr>
              <a:t> </a:t>
            </a:r>
            <a:r>
              <a:rPr sz="2000" b="0" spc="-20" dirty="0">
                <a:latin typeface="Calibri"/>
                <a:cs typeface="Calibri"/>
              </a:rPr>
              <a:t>FOL</a:t>
            </a:r>
            <a:r>
              <a:rPr sz="2000" b="0" spc="35" dirty="0">
                <a:latin typeface="Calibri"/>
                <a:cs typeface="Calibri"/>
              </a:rPr>
              <a:t> </a:t>
            </a:r>
            <a:r>
              <a:rPr sz="2000" b="0" spc="-25" dirty="0">
                <a:latin typeface="Calibri"/>
                <a:cs typeface="Calibri"/>
              </a:rPr>
              <a:t>syntax: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552" y="3270453"/>
            <a:ext cx="7853045" cy="30646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5" y="1387221"/>
            <a:ext cx="232854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Atomic</a:t>
            </a:r>
            <a:r>
              <a:rPr spc="-85" dirty="0"/>
              <a:t> </a:t>
            </a:r>
            <a:r>
              <a:rPr spc="-10" dirty="0"/>
              <a:t>sentences: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753504"/>
            <a:ext cx="10046971" cy="1160574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10" dirty="0">
                <a:latin typeface="Calibri"/>
                <a:cs typeface="Calibri"/>
              </a:rPr>
              <a:t>Atomic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sentences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most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basic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sentences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first-order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5" dirty="0">
                <a:latin typeface="Calibri"/>
                <a:cs typeface="Calibri"/>
              </a:rPr>
              <a:t>These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sentences</a:t>
            </a:r>
            <a:r>
              <a:rPr sz="2200" spc="-10" dirty="0">
                <a:latin typeface="Calibri"/>
                <a:cs typeface="Calibri"/>
              </a:rPr>
              <a:t> are</a:t>
            </a:r>
            <a:r>
              <a:rPr sz="2200" spc="-5" dirty="0">
                <a:latin typeface="Calibri"/>
                <a:cs typeface="Calibri"/>
              </a:rPr>
              <a:t> formed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from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predicate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symbol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followed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by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parenthesis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sequence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terms.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344" y="2960624"/>
            <a:ext cx="1004569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u="heavy" spc="-6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S</a:t>
            </a:r>
            <a:r>
              <a:rPr sz="2200" b="1" u="heavy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Y</a:t>
            </a:r>
            <a:r>
              <a:rPr sz="2200" b="1" u="heavy" spc="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N</a:t>
            </a:r>
            <a:r>
              <a:rPr sz="2200" b="1" u="heavy" spc="-16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T</a:t>
            </a:r>
            <a:r>
              <a:rPr sz="2200" b="1" u="heavy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A</a:t>
            </a:r>
            <a:r>
              <a:rPr sz="2200" b="1" u="heavy" spc="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X</a:t>
            </a:r>
            <a:r>
              <a:rPr sz="2200" b="1" u="heavy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343" y="3699017"/>
            <a:ext cx="7216140" cy="1160574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200" b="1" u="heavy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EXAMPLE:</a:t>
            </a:r>
            <a:endParaRPr sz="2200">
              <a:latin typeface="Calibri"/>
              <a:cs typeface="Calibri"/>
            </a:endParaRPr>
          </a:p>
          <a:p>
            <a:pPr marL="1219835">
              <a:lnSpc>
                <a:spcPct val="100000"/>
              </a:lnSpc>
              <a:spcBef>
                <a:spcPts val="530"/>
              </a:spcBef>
            </a:pPr>
            <a:r>
              <a:rPr sz="2200" b="1" spc="-5" dirty="0">
                <a:latin typeface="Calibri"/>
                <a:cs typeface="Calibri"/>
              </a:rPr>
              <a:t>Ravi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and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Ajay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are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brothers: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=&gt;</a:t>
            </a:r>
            <a:r>
              <a:rPr sz="2200" b="1" spc="47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Brothers(Ravi,</a:t>
            </a:r>
            <a:r>
              <a:rPr sz="2200" b="1" spc="-8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Ajay).</a:t>
            </a:r>
            <a:endParaRPr sz="2200">
              <a:latin typeface="Calibri"/>
              <a:cs typeface="Calibri"/>
            </a:endParaRPr>
          </a:p>
          <a:p>
            <a:pPr marL="1250315">
              <a:lnSpc>
                <a:spcPct val="100000"/>
              </a:lnSpc>
              <a:tabLst>
                <a:tab pos="4420235" algn="l"/>
              </a:tabLst>
            </a:pPr>
            <a:r>
              <a:rPr sz="2200" b="1" dirty="0">
                <a:latin typeface="Calibri"/>
                <a:cs typeface="Calibri"/>
              </a:rPr>
              <a:t>Chinky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is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a</a:t>
            </a:r>
            <a:r>
              <a:rPr sz="2200" b="1" spc="-10" dirty="0">
                <a:latin typeface="Calibri"/>
                <a:cs typeface="Calibri"/>
              </a:rPr>
              <a:t> cat:	</a:t>
            </a:r>
            <a:r>
              <a:rPr sz="2200" b="1" dirty="0">
                <a:latin typeface="Calibri"/>
                <a:cs typeface="Calibri"/>
              </a:rPr>
              <a:t>=&gt;</a:t>
            </a:r>
            <a:r>
              <a:rPr sz="2200" b="1" spc="465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cat </a:t>
            </a:r>
            <a:r>
              <a:rPr sz="2200" b="1" spc="5" dirty="0">
                <a:latin typeface="Calibri"/>
                <a:cs typeface="Calibri"/>
              </a:rPr>
              <a:t>(Chinky)</a:t>
            </a:r>
            <a:r>
              <a:rPr sz="2200" spc="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4897" y="3026626"/>
            <a:ext cx="5301868" cy="6567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61717" y="3145282"/>
            <a:ext cx="485521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Predicate</a:t>
            </a:r>
            <a:r>
              <a:rPr sz="24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(term1,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term2,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......,</a:t>
            </a:r>
            <a:r>
              <a:rPr sz="2400" b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term</a:t>
            </a:r>
            <a:r>
              <a:rPr sz="2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n)</a:t>
            </a:r>
            <a:r>
              <a:rPr sz="2400" spc="5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4" y="1321761"/>
            <a:ext cx="10663556" cy="3913892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Complex</a:t>
            </a:r>
            <a:r>
              <a:rPr sz="22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Sentences: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Complex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sentences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dirty="0">
                <a:latin typeface="Calibri"/>
                <a:cs typeface="Calibri"/>
              </a:rPr>
              <a:t>made 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combining</a:t>
            </a:r>
            <a:r>
              <a:rPr sz="2200" b="1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atomic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sentences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22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connectives.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spc="-10" dirty="0">
                <a:latin typeface="Calibri"/>
                <a:cs typeface="Calibri"/>
              </a:rPr>
              <a:t>First-order </a:t>
            </a:r>
            <a:r>
              <a:rPr sz="2200" b="1" dirty="0">
                <a:latin typeface="Calibri"/>
                <a:cs typeface="Calibri"/>
              </a:rPr>
              <a:t>logic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statements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can</a:t>
            </a:r>
            <a:r>
              <a:rPr sz="2200" b="1" dirty="0">
                <a:latin typeface="Calibri"/>
                <a:cs typeface="Calibri"/>
              </a:rPr>
              <a:t> be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divided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into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two </a:t>
            </a:r>
            <a:r>
              <a:rPr sz="2200" b="1" dirty="0">
                <a:latin typeface="Calibri"/>
                <a:cs typeface="Calibri"/>
              </a:rPr>
              <a:t>parts: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spc="-5" dirty="0">
                <a:latin typeface="Calibri"/>
                <a:cs typeface="Calibri"/>
              </a:rPr>
              <a:t>Subject: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Subject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statement.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spc="-10" dirty="0">
                <a:latin typeface="Calibri"/>
                <a:cs typeface="Calibri"/>
              </a:rPr>
              <a:t>Predicate: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predicate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can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defined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relation,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binds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two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atoms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together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statement.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u="heavy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EXAMPLE:</a:t>
            </a:r>
            <a:endParaRPr sz="2200">
              <a:latin typeface="Calibri"/>
              <a:cs typeface="Calibri"/>
            </a:endParaRPr>
          </a:p>
          <a:p>
            <a:pPr marL="457200">
              <a:lnSpc>
                <a:spcPct val="100000"/>
              </a:lnSpc>
              <a:spcBef>
                <a:spcPts val="530"/>
              </a:spcBef>
              <a:tabLst>
                <a:tab pos="3503929" algn="l"/>
              </a:tabLst>
            </a:pPr>
            <a:r>
              <a:rPr sz="2200" b="1" spc="-5" dirty="0">
                <a:latin typeface="Calibri"/>
                <a:cs typeface="Calibri"/>
              </a:rPr>
              <a:t>Consider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statement:	</a:t>
            </a:r>
            <a:r>
              <a:rPr sz="2200" b="1" spc="-5" dirty="0">
                <a:latin typeface="Calibri"/>
                <a:cs typeface="Calibri"/>
              </a:rPr>
              <a:t>"x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is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an</a:t>
            </a:r>
            <a:r>
              <a:rPr sz="2200" b="1" spc="-25" dirty="0">
                <a:latin typeface="Calibri"/>
                <a:cs typeface="Calibri"/>
              </a:rPr>
              <a:t> integer."</a:t>
            </a:r>
            <a:r>
              <a:rPr sz="2200" spc="-25" dirty="0">
                <a:latin typeface="Calibri"/>
                <a:cs typeface="Calibri"/>
              </a:rPr>
              <a:t>,</a:t>
            </a:r>
            <a:endParaRPr sz="22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consists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two </a:t>
            </a:r>
            <a:r>
              <a:rPr sz="2200" dirty="0">
                <a:latin typeface="Calibri"/>
                <a:cs typeface="Calibri"/>
              </a:rPr>
              <a:t>parts,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the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first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part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x is</a:t>
            </a:r>
            <a:r>
              <a:rPr sz="22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subject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2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sz="2200" b="1" spc="-15" dirty="0">
                <a:solidFill>
                  <a:srgbClr val="C00000"/>
                </a:solidFill>
                <a:latin typeface="Calibri"/>
                <a:cs typeface="Calibri"/>
              </a:rPr>
              <a:t>statement</a:t>
            </a: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 </a:t>
            </a:r>
            <a:r>
              <a:rPr sz="2200" b="1" dirty="0">
                <a:latin typeface="Calibri"/>
                <a:cs typeface="Calibri"/>
              </a:rPr>
              <a:t>second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part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"is</a:t>
            </a: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an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b="1" spc="-30" dirty="0">
                <a:solidFill>
                  <a:srgbClr val="C00000"/>
                </a:solidFill>
                <a:latin typeface="Calibri"/>
                <a:cs typeface="Calibri"/>
              </a:rPr>
              <a:t>integer,"</a:t>
            </a:r>
            <a:r>
              <a:rPr sz="22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2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known</a:t>
            </a:r>
            <a:r>
              <a:rPr sz="22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as</a:t>
            </a: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predicate.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1034" y="5048521"/>
            <a:ext cx="4907835" cy="105734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6787" y="1095618"/>
            <a:ext cx="11130916" cy="5307222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100" b="1" spc="-5" dirty="0">
                <a:solidFill>
                  <a:srgbClr val="C00000"/>
                </a:solidFill>
                <a:latin typeface="Calibri"/>
                <a:cs typeface="Calibri"/>
              </a:rPr>
              <a:t>Quantifiers</a:t>
            </a:r>
            <a:r>
              <a:rPr sz="21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b="1" spc="5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1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C00000"/>
                </a:solidFill>
                <a:latin typeface="Calibri"/>
                <a:cs typeface="Calibri"/>
              </a:rPr>
              <a:t>Predicate</a:t>
            </a:r>
            <a:r>
              <a:rPr sz="21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C00000"/>
                </a:solidFill>
                <a:latin typeface="Calibri"/>
                <a:cs typeface="Calibri"/>
              </a:rPr>
              <a:t>Logic</a:t>
            </a:r>
            <a:r>
              <a:rPr sz="21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b="1" spc="-5" dirty="0">
                <a:solidFill>
                  <a:srgbClr val="C00000"/>
                </a:solidFill>
                <a:latin typeface="Calibri"/>
                <a:cs typeface="Calibri"/>
              </a:rPr>
              <a:t>(or)</a:t>
            </a:r>
            <a:r>
              <a:rPr sz="2100" b="1" spc="45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C00000"/>
                </a:solidFill>
                <a:latin typeface="Calibri"/>
                <a:cs typeface="Calibri"/>
              </a:rPr>
              <a:t>First-order</a:t>
            </a:r>
            <a:r>
              <a:rPr sz="21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C00000"/>
                </a:solidFill>
                <a:latin typeface="Calibri"/>
                <a:cs typeface="Calibri"/>
              </a:rPr>
              <a:t>logic: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100" dirty="0">
                <a:latin typeface="Calibri"/>
                <a:cs typeface="Calibri"/>
              </a:rPr>
              <a:t>These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are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the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symbols</a:t>
            </a:r>
            <a:r>
              <a:rPr sz="2100" spc="-10" dirty="0">
                <a:latin typeface="Calibri"/>
                <a:cs typeface="Calibri"/>
              </a:rPr>
              <a:t> that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permit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1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determine</a:t>
            </a:r>
            <a:r>
              <a:rPr sz="2100"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5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 identify</a:t>
            </a:r>
            <a:r>
              <a:rPr sz="21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1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-15" dirty="0">
                <a:solidFill>
                  <a:srgbClr val="001F5F"/>
                </a:solidFill>
                <a:latin typeface="Calibri"/>
                <a:cs typeface="Calibri"/>
              </a:rPr>
              <a:t>range</a:t>
            </a:r>
            <a:r>
              <a:rPr sz="21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1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5" dirty="0">
                <a:solidFill>
                  <a:srgbClr val="001F5F"/>
                </a:solidFill>
                <a:latin typeface="Calibri"/>
                <a:cs typeface="Calibri"/>
              </a:rPr>
              <a:t>scope</a:t>
            </a:r>
            <a:r>
              <a:rPr sz="21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1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1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variable</a:t>
            </a:r>
            <a:r>
              <a:rPr sz="21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5" dirty="0">
                <a:solidFill>
                  <a:srgbClr val="001F5F"/>
                </a:solidFill>
                <a:latin typeface="Calibri"/>
                <a:cs typeface="Calibri"/>
              </a:rPr>
              <a:t>in the</a:t>
            </a:r>
            <a:endParaRPr sz="21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logical</a:t>
            </a:r>
            <a:r>
              <a:rPr sz="21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001F5F"/>
                </a:solidFill>
                <a:latin typeface="Calibri"/>
                <a:cs typeface="Calibri"/>
              </a:rPr>
              <a:t>expression.</a:t>
            </a:r>
            <a:r>
              <a:rPr sz="2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There are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two</a:t>
            </a:r>
            <a:r>
              <a:rPr sz="2100" dirty="0">
                <a:latin typeface="Calibri"/>
                <a:cs typeface="Calibri"/>
              </a:rPr>
              <a:t> types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quantifier:</a:t>
            </a:r>
            <a:endParaRPr sz="2100" dirty="0">
              <a:latin typeface="Calibri"/>
              <a:cs typeface="Calibri"/>
            </a:endParaRPr>
          </a:p>
          <a:p>
            <a:pPr marL="280035" indent="-267970">
              <a:lnSpc>
                <a:spcPct val="100000"/>
              </a:lnSpc>
              <a:spcBef>
                <a:spcPts val="509"/>
              </a:spcBef>
              <a:buAutoNum type="arabicPeriod"/>
              <a:tabLst>
                <a:tab pos="280670" algn="l"/>
              </a:tabLst>
            </a:pPr>
            <a:r>
              <a:rPr sz="2100" b="1" spc="-5" dirty="0">
                <a:latin typeface="Calibri"/>
                <a:cs typeface="Calibri"/>
              </a:rPr>
              <a:t>Universal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-15" dirty="0">
                <a:latin typeface="Calibri"/>
                <a:cs typeface="Calibri"/>
              </a:rPr>
              <a:t>Quantifier,</a:t>
            </a:r>
            <a:r>
              <a:rPr sz="2100" b="1" spc="-65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(for</a:t>
            </a:r>
            <a:r>
              <a:rPr sz="2100" b="1" spc="-3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all,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everyone,</a:t>
            </a:r>
            <a:r>
              <a:rPr sz="2100" b="1" spc="-2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everything)</a:t>
            </a:r>
            <a:endParaRPr sz="2100" dirty="0">
              <a:latin typeface="Calibri"/>
              <a:cs typeface="Calibri"/>
            </a:endParaRPr>
          </a:p>
          <a:p>
            <a:pPr marL="280670" indent="-268605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281305" algn="l"/>
              </a:tabLst>
            </a:pPr>
            <a:r>
              <a:rPr sz="2100" b="1" spc="-5" dirty="0">
                <a:latin typeface="Calibri"/>
                <a:cs typeface="Calibri"/>
              </a:rPr>
              <a:t>Existential</a:t>
            </a:r>
            <a:r>
              <a:rPr sz="2100" b="1" spc="-85" dirty="0">
                <a:latin typeface="Calibri"/>
                <a:cs typeface="Calibri"/>
              </a:rPr>
              <a:t> </a:t>
            </a:r>
            <a:r>
              <a:rPr sz="2100" b="1" spc="-15" dirty="0">
                <a:latin typeface="Calibri"/>
                <a:cs typeface="Calibri"/>
              </a:rPr>
              <a:t>quantifier,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(for</a:t>
            </a:r>
            <a:r>
              <a:rPr sz="2100" b="1" spc="-3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some,</a:t>
            </a:r>
            <a:r>
              <a:rPr sz="2100" b="1" spc="-15" dirty="0">
                <a:latin typeface="Calibri"/>
                <a:cs typeface="Calibri"/>
              </a:rPr>
              <a:t> at</a:t>
            </a:r>
            <a:r>
              <a:rPr sz="2100" b="1" spc="-5" dirty="0">
                <a:latin typeface="Calibri"/>
                <a:cs typeface="Calibri"/>
              </a:rPr>
              <a:t> least</a:t>
            </a:r>
            <a:r>
              <a:rPr sz="2100" b="1" spc="-10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one).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  <a:tabLst>
                <a:tab pos="469900" algn="l"/>
              </a:tabLst>
            </a:pPr>
            <a:r>
              <a:rPr sz="2100" b="1" spc="5" dirty="0">
                <a:solidFill>
                  <a:srgbClr val="C00000"/>
                </a:solidFill>
                <a:latin typeface="Calibri"/>
                <a:cs typeface="Calibri"/>
              </a:rPr>
              <a:t>1.	</a:t>
            </a:r>
            <a:r>
              <a:rPr sz="2100" b="1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Universal</a:t>
            </a:r>
            <a:r>
              <a:rPr sz="2100" b="1" u="heavy" spc="-2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100" b="1" u="heavy" spc="-1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Quantifier,</a:t>
            </a:r>
            <a:r>
              <a:rPr sz="2100" b="1" u="heavy" spc="-9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100" b="1" u="heavy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(for</a:t>
            </a:r>
            <a:r>
              <a:rPr sz="2100" b="1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100" b="1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all,</a:t>
            </a:r>
            <a:r>
              <a:rPr sz="2100" b="1" u="heavy" spc="-4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100" b="1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everyone,</a:t>
            </a:r>
            <a:r>
              <a:rPr sz="2100" b="1" u="heavy" spc="-2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100" b="1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everything):-</a:t>
            </a:r>
            <a:endParaRPr sz="2100" dirty="0">
              <a:latin typeface="Calibri"/>
              <a:cs typeface="Calibri"/>
            </a:endParaRPr>
          </a:p>
          <a:p>
            <a:pPr marL="295910" marR="148590" indent="-28384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100" spc="-10" dirty="0">
                <a:latin typeface="Calibri"/>
                <a:cs typeface="Calibri"/>
              </a:rPr>
              <a:t>Universal</a:t>
            </a:r>
            <a:r>
              <a:rPr sz="2100" spc="-5" dirty="0">
                <a:latin typeface="Calibri"/>
                <a:cs typeface="Calibri"/>
              </a:rPr>
              <a:t> quantifier</a:t>
            </a:r>
            <a:r>
              <a:rPr sz="2100" dirty="0">
                <a:latin typeface="Calibri"/>
                <a:cs typeface="Calibri"/>
              </a:rPr>
              <a:t> is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a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symbol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logical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representation,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which </a:t>
            </a:r>
            <a:r>
              <a:rPr sz="2100" spc="-5" dirty="0">
                <a:latin typeface="Calibri"/>
                <a:cs typeface="Calibri"/>
              </a:rPr>
              <a:t>specifies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that</a:t>
            </a:r>
            <a:r>
              <a:rPr sz="2100" dirty="0">
                <a:latin typeface="Calibri"/>
                <a:cs typeface="Calibri"/>
              </a:rPr>
              <a:t> the</a:t>
            </a:r>
            <a:r>
              <a:rPr sz="2100" spc="-15" dirty="0">
                <a:latin typeface="Calibri"/>
                <a:cs typeface="Calibri"/>
              </a:rPr>
              <a:t> statement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within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its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range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is</a:t>
            </a:r>
            <a:r>
              <a:rPr sz="2100" b="1" spc="-2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true</a:t>
            </a:r>
            <a:r>
              <a:rPr sz="2100" b="1" spc="-20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for </a:t>
            </a:r>
            <a:r>
              <a:rPr sz="2100" b="1" dirty="0">
                <a:latin typeface="Calibri"/>
                <a:cs typeface="Calibri"/>
              </a:rPr>
              <a:t>everything</a:t>
            </a:r>
            <a:r>
              <a:rPr sz="2100" b="1" spc="-35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or</a:t>
            </a:r>
            <a:r>
              <a:rPr sz="2100" b="1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every</a:t>
            </a:r>
            <a:r>
              <a:rPr sz="2100" b="1" spc="-10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instance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of</a:t>
            </a:r>
            <a:r>
              <a:rPr sz="2100" b="1" spc="-10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a</a:t>
            </a:r>
            <a:r>
              <a:rPr sz="2100" b="1" spc="-1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particular</a:t>
            </a:r>
            <a:r>
              <a:rPr sz="2100" b="1" spc="-50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thing.</a:t>
            </a:r>
            <a:endParaRPr sz="21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Universal</a:t>
            </a:r>
            <a:r>
              <a:rPr sz="2100" spc="-5" dirty="0">
                <a:latin typeface="Calibri"/>
                <a:cs typeface="Calibri"/>
              </a:rPr>
              <a:t> quantifier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represented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by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a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symbol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-380" dirty="0">
                <a:latin typeface="Yu Gothic UI"/>
                <a:cs typeface="Yu Gothic UI"/>
              </a:rPr>
              <a:t>∀</a:t>
            </a:r>
            <a:r>
              <a:rPr sz="2100" spc="-380" dirty="0">
                <a:latin typeface="Calibri"/>
                <a:cs typeface="Calibri"/>
              </a:rPr>
              <a:t>,</a:t>
            </a:r>
            <a:r>
              <a:rPr sz="2100" spc="-3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which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resembles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an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inverted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A.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b="1" dirty="0">
                <a:latin typeface="Calibri"/>
                <a:cs typeface="Calibri"/>
              </a:rPr>
              <a:t>NOTE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:-</a:t>
            </a:r>
            <a:r>
              <a:rPr sz="2100" b="1" spc="-15" dirty="0">
                <a:latin typeface="Calibri"/>
                <a:cs typeface="Calibri"/>
              </a:rPr>
              <a:t> </a:t>
            </a:r>
            <a:r>
              <a:rPr sz="2100" b="1" spc="-5" dirty="0">
                <a:solidFill>
                  <a:srgbClr val="001F5F"/>
                </a:solidFill>
                <a:latin typeface="Calibri"/>
                <a:cs typeface="Calibri"/>
              </a:rPr>
              <a:t>In universal</a:t>
            </a:r>
            <a:r>
              <a:rPr sz="21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-5" dirty="0">
                <a:solidFill>
                  <a:srgbClr val="001F5F"/>
                </a:solidFill>
                <a:latin typeface="Calibri"/>
                <a:cs typeface="Calibri"/>
              </a:rPr>
              <a:t>quantifier</a:t>
            </a:r>
            <a:r>
              <a:rPr sz="2100" b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21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use</a:t>
            </a:r>
            <a:r>
              <a:rPr sz="2100" b="1" spc="-5" dirty="0">
                <a:solidFill>
                  <a:srgbClr val="001F5F"/>
                </a:solidFill>
                <a:latin typeface="Calibri"/>
                <a:cs typeface="Calibri"/>
              </a:rPr>
              <a:t> implication</a:t>
            </a:r>
            <a:r>
              <a:rPr sz="2100" b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001F5F"/>
                </a:solidFill>
                <a:latin typeface="Calibri"/>
                <a:cs typeface="Calibri"/>
              </a:rPr>
              <a:t>"→"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100" dirty="0">
                <a:latin typeface="Calibri"/>
                <a:cs typeface="Calibri"/>
              </a:rPr>
              <a:t>If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x</a:t>
            </a:r>
            <a:r>
              <a:rPr sz="2100" dirty="0">
                <a:latin typeface="Calibri"/>
                <a:cs typeface="Calibri"/>
              </a:rPr>
              <a:t> is</a:t>
            </a:r>
            <a:r>
              <a:rPr sz="2100" spc="5" dirty="0">
                <a:latin typeface="Calibri"/>
                <a:cs typeface="Calibri"/>
              </a:rPr>
              <a:t> a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variable,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then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mbria Math"/>
                <a:cs typeface="Cambria Math"/>
              </a:rPr>
              <a:t>∀</a:t>
            </a:r>
            <a:r>
              <a:rPr sz="2100" dirty="0">
                <a:latin typeface="Calibri"/>
                <a:cs typeface="Calibri"/>
              </a:rPr>
              <a:t>x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 read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as:</a:t>
            </a: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100" b="1" spc="-10" dirty="0">
                <a:latin typeface="Calibri"/>
                <a:cs typeface="Calibri"/>
              </a:rPr>
              <a:t>For</a:t>
            </a:r>
            <a:r>
              <a:rPr sz="2100" b="1" spc="-3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all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x</a:t>
            </a:r>
            <a:endParaRPr sz="21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100" b="1" spc="-10" dirty="0">
                <a:latin typeface="Calibri"/>
                <a:cs typeface="Calibri"/>
              </a:rPr>
              <a:t>For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each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x</a:t>
            </a:r>
            <a:endParaRPr sz="21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100" b="1" spc="-10" dirty="0">
                <a:latin typeface="Calibri"/>
                <a:cs typeface="Calibri"/>
              </a:rPr>
              <a:t>For</a:t>
            </a:r>
            <a:r>
              <a:rPr sz="2100" b="1" spc="-30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every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x.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41" y="469468"/>
            <a:ext cx="4848860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5" dirty="0">
                <a:solidFill>
                  <a:srgbClr val="FF0000"/>
                </a:solidFill>
              </a:rPr>
              <a:t>Example</a:t>
            </a:r>
            <a:r>
              <a:rPr sz="2800" spc="-40" dirty="0">
                <a:solidFill>
                  <a:srgbClr val="FF0000"/>
                </a:solidFill>
              </a:rPr>
              <a:t> </a:t>
            </a:r>
            <a:r>
              <a:rPr sz="2800" spc="-15" dirty="0">
                <a:solidFill>
                  <a:srgbClr val="FF0000"/>
                </a:solidFill>
              </a:rPr>
              <a:t>for</a:t>
            </a:r>
            <a:r>
              <a:rPr sz="2800" spc="-1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Universal</a:t>
            </a:r>
            <a:r>
              <a:rPr sz="2800" spc="-8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Quantifier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85345" y="1328090"/>
            <a:ext cx="2266949" cy="77040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EXAMPLE:</a:t>
            </a:r>
            <a:r>
              <a:rPr sz="2000" b="1" u="heavy" spc="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endParaRPr sz="20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  <a:spcBef>
                <a:spcPts val="480"/>
              </a:spcBef>
            </a:pPr>
            <a:r>
              <a:rPr sz="2000" b="1" spc="-10" dirty="0">
                <a:latin typeface="Calibri"/>
                <a:cs typeface="Calibri"/>
              </a:rPr>
              <a:t>All </a:t>
            </a:r>
            <a:r>
              <a:rPr sz="2000" b="1" spc="-5" dirty="0">
                <a:latin typeface="Calibri"/>
                <a:cs typeface="Calibri"/>
              </a:rPr>
              <a:t>man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drink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coffee.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2044" y="1390270"/>
            <a:ext cx="125857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SOLUTION:-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0511" y="1504284"/>
            <a:ext cx="6809552" cy="463581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5" y="1321761"/>
            <a:ext cx="10801986" cy="3793346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Existential</a:t>
            </a:r>
            <a:r>
              <a:rPr sz="22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Quantifier: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5" dirty="0">
                <a:latin typeface="Calibri"/>
                <a:cs typeface="Calibri"/>
              </a:rPr>
              <a:t>Existential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quantifiers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type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quantifiers,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express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that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statement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within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its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scope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true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 for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least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instance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something.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denoted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logical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operator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spc="-455" dirty="0">
                <a:solidFill>
                  <a:srgbClr val="FF0000"/>
                </a:solidFill>
                <a:latin typeface="Yu Gothic UI"/>
                <a:cs typeface="Yu Gothic UI"/>
              </a:rPr>
              <a:t>∃</a:t>
            </a:r>
            <a:r>
              <a:rPr sz="2200" spc="-455" dirty="0">
                <a:latin typeface="Calibri"/>
                <a:cs typeface="Calibri"/>
              </a:rPr>
              <a:t>,</a:t>
            </a:r>
            <a:r>
              <a:rPr sz="2200" spc="-43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which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resembles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inverted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  <a:tabLst>
                <a:tab pos="853440" algn="l"/>
              </a:tabLst>
            </a:pP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Note: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Existential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quantifier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always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use AND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Conjunction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symbol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240" dirty="0">
                <a:latin typeface="Calibri"/>
                <a:cs typeface="Calibri"/>
              </a:rPr>
              <a:t>(</a:t>
            </a:r>
            <a:r>
              <a:rPr sz="2400" b="1" spc="-240" dirty="0">
                <a:latin typeface="Yu Gothic UI"/>
                <a:cs typeface="Yu Gothic UI"/>
              </a:rPr>
              <a:t>𝖠</a:t>
            </a:r>
            <a:r>
              <a:rPr sz="2400" b="1" spc="-240" dirty="0">
                <a:latin typeface="Calibri"/>
                <a:cs typeface="Calibri"/>
              </a:rPr>
              <a:t>).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variable,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existential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quantifier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5" dirty="0">
                <a:latin typeface="Calibri"/>
                <a:cs typeface="Calibri"/>
              </a:rPr>
              <a:t> or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spc="-5" dirty="0">
                <a:latin typeface="Calibri"/>
                <a:cs typeface="Calibri"/>
              </a:rPr>
              <a:t>(x). </a:t>
            </a:r>
            <a:r>
              <a:rPr sz="2400" spc="5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be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read </a:t>
            </a:r>
            <a:r>
              <a:rPr sz="2400" dirty="0">
                <a:latin typeface="Calibri"/>
                <a:cs typeface="Calibri"/>
              </a:rPr>
              <a:t>as: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5" dirty="0">
                <a:latin typeface="Calibri"/>
                <a:cs typeface="Calibri"/>
              </a:rPr>
              <a:t>There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exists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'x.'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10" dirty="0">
                <a:latin typeface="Calibri"/>
                <a:cs typeface="Calibri"/>
              </a:rPr>
              <a:t>For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some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'x.'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10" dirty="0">
                <a:latin typeface="Calibri"/>
                <a:cs typeface="Calibri"/>
              </a:rPr>
              <a:t>For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least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'x.'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" y="1194816"/>
            <a:ext cx="12192000" cy="4977765"/>
            <a:chOff x="1523" y="1194816"/>
            <a:chExt cx="12192000" cy="4977765"/>
          </a:xfrm>
        </p:grpSpPr>
        <p:sp>
          <p:nvSpPr>
            <p:cNvPr id="3" name="object 3"/>
            <p:cNvSpPr/>
            <p:nvPr/>
          </p:nvSpPr>
          <p:spPr>
            <a:xfrm>
              <a:off x="1524" y="1194815"/>
              <a:ext cx="12192000" cy="52069"/>
            </a:xfrm>
            <a:custGeom>
              <a:avLst/>
              <a:gdLst/>
              <a:ahLst/>
              <a:cxnLst/>
              <a:rect l="l" t="t" r="r" b="b"/>
              <a:pathLst>
                <a:path w="12192000" h="52069">
                  <a:moveTo>
                    <a:pt x="12192000" y="34544"/>
                  </a:moveTo>
                  <a:lnTo>
                    <a:pt x="12190476" y="34544"/>
                  </a:lnTo>
                  <a:lnTo>
                    <a:pt x="6096" y="34544"/>
                  </a:lnTo>
                  <a:lnTo>
                    <a:pt x="0" y="34544"/>
                  </a:lnTo>
                  <a:lnTo>
                    <a:pt x="0" y="51816"/>
                  </a:lnTo>
                  <a:lnTo>
                    <a:pt x="6096" y="51816"/>
                  </a:lnTo>
                  <a:lnTo>
                    <a:pt x="12190476" y="51816"/>
                  </a:lnTo>
                  <a:lnTo>
                    <a:pt x="12192000" y="51816"/>
                  </a:lnTo>
                  <a:lnTo>
                    <a:pt x="12192000" y="34544"/>
                  </a:lnTo>
                  <a:close/>
                </a:path>
                <a:path w="12192000" h="52069">
                  <a:moveTo>
                    <a:pt x="12192000" y="0"/>
                  </a:moveTo>
                  <a:lnTo>
                    <a:pt x="12190476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17272"/>
                  </a:lnTo>
                  <a:lnTo>
                    <a:pt x="6096" y="17272"/>
                  </a:lnTo>
                  <a:lnTo>
                    <a:pt x="12190476" y="17272"/>
                  </a:lnTo>
                  <a:lnTo>
                    <a:pt x="12192000" y="1727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96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896" y="1286256"/>
              <a:ext cx="8570976" cy="488594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2042" y="469468"/>
            <a:ext cx="499173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5" dirty="0">
                <a:solidFill>
                  <a:srgbClr val="FF0000"/>
                </a:solidFill>
              </a:rPr>
              <a:t>Example</a:t>
            </a:r>
            <a:r>
              <a:rPr sz="2800" spc="-50" dirty="0">
                <a:solidFill>
                  <a:srgbClr val="FF0000"/>
                </a:solidFill>
              </a:rPr>
              <a:t> </a:t>
            </a:r>
            <a:r>
              <a:rPr sz="2800" spc="-15" dirty="0">
                <a:solidFill>
                  <a:srgbClr val="FF0000"/>
                </a:solidFill>
              </a:rPr>
              <a:t>for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Existential</a:t>
            </a:r>
            <a:r>
              <a:rPr sz="2800" spc="-6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Quantifier</a:t>
            </a:r>
            <a:endParaRPr sz="28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5" y="1314447"/>
            <a:ext cx="6160770" cy="1794081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Properties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Quantifiers: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universal</a:t>
            </a:r>
            <a:r>
              <a:rPr sz="2400" spc="-20" dirty="0">
                <a:latin typeface="Calibri"/>
                <a:cs typeface="Calibri"/>
              </a:rPr>
              <a:t> quantifier,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Calibri"/>
                <a:cs typeface="Calibri"/>
              </a:rPr>
              <a:t>x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Calibri"/>
                <a:cs typeface="Calibri"/>
              </a:rPr>
              <a:t>y</a:t>
            </a:r>
            <a:r>
              <a:rPr sz="2400" dirty="0">
                <a:latin typeface="Calibri"/>
                <a:cs typeface="Calibri"/>
              </a:rPr>
              <a:t> is</a:t>
            </a:r>
            <a:r>
              <a:rPr sz="2400" spc="-5" dirty="0">
                <a:latin typeface="Calibri"/>
                <a:cs typeface="Calibri"/>
              </a:rPr>
              <a:t> similar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Calibri"/>
                <a:cs typeface="Calibri"/>
              </a:rPr>
              <a:t>y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Calibri"/>
                <a:cs typeface="Calibri"/>
              </a:rPr>
              <a:t>x.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Existential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quantifier,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similar</a:t>
            </a:r>
            <a:r>
              <a:rPr sz="2400" spc="-10" dirty="0">
                <a:latin typeface="Calibri"/>
                <a:cs typeface="Calibri"/>
              </a:rPr>
              <a:t> 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spc="-5" dirty="0">
                <a:latin typeface="Calibri"/>
                <a:cs typeface="Calibri"/>
              </a:rPr>
              <a:t>y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spc="-5" dirty="0">
                <a:latin typeface="Calibri"/>
                <a:cs typeface="Calibri"/>
              </a:rPr>
              <a:t>x.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spc="-5" dirty="0">
                <a:latin typeface="Calibri"/>
                <a:cs typeface="Calibri"/>
              </a:rPr>
              <a:t>x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Calibri"/>
                <a:cs typeface="Calibri"/>
              </a:rPr>
              <a:t>y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similar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Calibri"/>
                <a:cs typeface="Calibri"/>
              </a:rPr>
              <a:t>y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spc="-5" dirty="0">
                <a:latin typeface="Calibri"/>
                <a:cs typeface="Calibri"/>
              </a:rPr>
              <a:t>x.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5748" y="504267"/>
            <a:ext cx="830072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5" dirty="0">
                <a:solidFill>
                  <a:srgbClr val="FF0000"/>
                </a:solidFill>
              </a:rPr>
              <a:t>Examples</a:t>
            </a:r>
            <a:r>
              <a:rPr sz="3200" spc="20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of</a:t>
            </a:r>
            <a:r>
              <a:rPr sz="3200" spc="5" dirty="0">
                <a:solidFill>
                  <a:srgbClr val="FF0000"/>
                </a:solidFill>
              </a:rPr>
              <a:t> </a:t>
            </a:r>
            <a:r>
              <a:rPr sz="3200" spc="-20" dirty="0">
                <a:solidFill>
                  <a:srgbClr val="FF0000"/>
                </a:solidFill>
              </a:rPr>
              <a:t>Predicate</a:t>
            </a:r>
            <a:r>
              <a:rPr sz="3200" spc="40" dirty="0">
                <a:solidFill>
                  <a:srgbClr val="FF0000"/>
                </a:solidFill>
              </a:rPr>
              <a:t> </a:t>
            </a:r>
            <a:r>
              <a:rPr sz="3200" spc="-10" dirty="0">
                <a:solidFill>
                  <a:srgbClr val="FF0000"/>
                </a:solidFill>
              </a:rPr>
              <a:t>Logic(FOL)</a:t>
            </a:r>
            <a:r>
              <a:rPr sz="3200" spc="25" dirty="0">
                <a:solidFill>
                  <a:srgbClr val="FF0000"/>
                </a:solidFill>
              </a:rPr>
              <a:t> </a:t>
            </a:r>
            <a:r>
              <a:rPr sz="3200" spc="-10" dirty="0">
                <a:solidFill>
                  <a:srgbClr val="FF0000"/>
                </a:solidFill>
              </a:rPr>
              <a:t>using</a:t>
            </a:r>
            <a:r>
              <a:rPr sz="3200" spc="10" dirty="0">
                <a:solidFill>
                  <a:srgbClr val="FF0000"/>
                </a:solidFill>
              </a:rPr>
              <a:t> </a:t>
            </a:r>
            <a:r>
              <a:rPr sz="3200" spc="-10" dirty="0">
                <a:solidFill>
                  <a:srgbClr val="FF0000"/>
                </a:solidFill>
              </a:rPr>
              <a:t>quantifier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85343" y="1387220"/>
            <a:ext cx="10901680" cy="4598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90" indent="-30162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14325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All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birds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fly.</a:t>
            </a:r>
            <a:endParaRPr sz="24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question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predicate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"</a:t>
            </a:r>
            <a:r>
              <a:rPr sz="2400" b="1" dirty="0">
                <a:latin typeface="Calibri"/>
                <a:cs typeface="Calibri"/>
              </a:rPr>
              <a:t>fly(bird)</a:t>
            </a:r>
            <a:r>
              <a:rPr sz="2400" dirty="0">
                <a:latin typeface="Calibri"/>
                <a:cs typeface="Calibri"/>
              </a:rPr>
              <a:t>."</a:t>
            </a:r>
          </a:p>
          <a:p>
            <a:pPr marL="29591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since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birds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follows.</a:t>
            </a:r>
            <a:endParaRPr sz="2400" dirty="0">
              <a:latin typeface="Calibri"/>
              <a:cs typeface="Calibri"/>
            </a:endParaRPr>
          </a:p>
          <a:p>
            <a:pPr marL="1253490">
              <a:lnSpc>
                <a:spcPct val="100000"/>
              </a:lnSpc>
            </a:pPr>
            <a:r>
              <a:rPr sz="2400" b="1" spc="-894" dirty="0">
                <a:latin typeface="Yu Gothic UI"/>
                <a:cs typeface="Yu Gothic UI"/>
              </a:rPr>
              <a:t>∀</a:t>
            </a:r>
            <a:r>
              <a:rPr sz="2400" b="1" dirty="0">
                <a:latin typeface="Calibri"/>
                <a:cs typeface="Calibri"/>
              </a:rPr>
              <a:t>x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</a:t>
            </a:r>
            <a:r>
              <a:rPr sz="2400" b="1" spc="10" dirty="0">
                <a:latin typeface="Calibri"/>
                <a:cs typeface="Calibri"/>
              </a:rPr>
              <a:t>i</a:t>
            </a:r>
            <a:r>
              <a:rPr sz="2400" b="1" spc="-15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d(x)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→fl</a:t>
            </a:r>
            <a:r>
              <a:rPr sz="2400" b="1" spc="-10" dirty="0">
                <a:latin typeface="Calibri"/>
                <a:cs typeface="Calibri"/>
              </a:rPr>
              <a:t>y</a:t>
            </a:r>
            <a:r>
              <a:rPr sz="2400" b="1" dirty="0">
                <a:latin typeface="Calibri"/>
                <a:cs typeface="Calibri"/>
              </a:rPr>
              <a:t>(x</a:t>
            </a:r>
            <a:r>
              <a:rPr sz="2400" b="1" spc="-5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.</a:t>
            </a:r>
          </a:p>
          <a:p>
            <a:pPr marL="313690" indent="-301625">
              <a:lnSpc>
                <a:spcPct val="100000"/>
              </a:lnSpc>
              <a:spcBef>
                <a:spcPts val="580"/>
              </a:spcBef>
              <a:buAutoNum type="arabicPeriod" startAt="2"/>
              <a:tabLst>
                <a:tab pos="314325" algn="l"/>
              </a:tabLst>
            </a:pP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Every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man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respects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his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parent.</a:t>
            </a:r>
            <a:endParaRPr sz="24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question,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predicate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"</a:t>
            </a:r>
            <a:r>
              <a:rPr sz="2400" b="1" spc="-5" dirty="0">
                <a:latin typeface="Calibri"/>
                <a:cs typeface="Calibri"/>
              </a:rPr>
              <a:t>respect(x, y),"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where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x=man,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and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y=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parent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Since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every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follows:</a:t>
            </a:r>
            <a:endParaRPr sz="2400" dirty="0">
              <a:latin typeface="Calibri"/>
              <a:cs typeface="Calibri"/>
            </a:endParaRPr>
          </a:p>
          <a:p>
            <a:pPr marL="1253490">
              <a:lnSpc>
                <a:spcPct val="100000"/>
              </a:lnSpc>
              <a:spcBef>
                <a:spcPts val="5"/>
              </a:spcBef>
            </a:pPr>
            <a:r>
              <a:rPr sz="2400" b="1" spc="-894" dirty="0">
                <a:latin typeface="Yu Gothic UI"/>
                <a:cs typeface="Yu Gothic UI"/>
              </a:rPr>
              <a:t>∀</a:t>
            </a:r>
            <a:r>
              <a:rPr sz="2400" b="1" spc="-894" dirty="0">
                <a:latin typeface="Calibri"/>
                <a:cs typeface="Calibri"/>
              </a:rPr>
              <a:t>x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</a:t>
            </a:r>
            <a:r>
              <a:rPr sz="2400" b="1" spc="5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(x) →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r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s</a:t>
            </a:r>
            <a:r>
              <a:rPr sz="2400" b="1" spc="5" dirty="0">
                <a:latin typeface="Calibri"/>
                <a:cs typeface="Calibri"/>
              </a:rPr>
              <a:t>p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5" dirty="0">
                <a:latin typeface="Calibri"/>
                <a:cs typeface="Calibri"/>
              </a:rPr>
              <a:t>c</a:t>
            </a:r>
            <a:r>
              <a:rPr sz="2400" b="1" spc="5" dirty="0">
                <a:latin typeface="Calibri"/>
                <a:cs typeface="Calibri"/>
              </a:rPr>
              <a:t>t</a:t>
            </a:r>
            <a:r>
              <a:rPr sz="2400" b="1" dirty="0">
                <a:latin typeface="Calibri"/>
                <a:cs typeface="Calibri"/>
              </a:rPr>
              <a:t>s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(x,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p</a:t>
            </a:r>
            <a:r>
              <a:rPr sz="2400" b="1" spc="-10" dirty="0">
                <a:latin typeface="Calibri"/>
                <a:cs typeface="Calibri"/>
              </a:rPr>
              <a:t>a</a:t>
            </a:r>
            <a:r>
              <a:rPr sz="2400" b="1" spc="-15" dirty="0">
                <a:latin typeface="Calibri"/>
                <a:cs typeface="Calibri"/>
              </a:rPr>
              <a:t>r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20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20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.</a:t>
            </a:r>
          </a:p>
          <a:p>
            <a:pPr marL="313690" indent="-301625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314325" algn="l"/>
              </a:tabLst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Some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boys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play</a:t>
            </a:r>
            <a:r>
              <a:rPr sz="2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cricket.</a:t>
            </a:r>
            <a:endParaRPr sz="2400" dirty="0">
              <a:latin typeface="Calibri"/>
              <a:cs typeface="Calibri"/>
            </a:endParaRPr>
          </a:p>
          <a:p>
            <a:pPr marL="295910" marR="508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In this question, the </a:t>
            </a:r>
            <a:r>
              <a:rPr sz="2400" spc="-10" dirty="0">
                <a:latin typeface="Calibri"/>
                <a:cs typeface="Calibri"/>
              </a:rPr>
              <a:t>predicate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"</a:t>
            </a:r>
            <a:r>
              <a:rPr sz="2400" b="1" spc="-10" dirty="0">
                <a:latin typeface="Calibri"/>
                <a:cs typeface="Calibri"/>
              </a:rPr>
              <a:t>play(x, </a:t>
            </a:r>
            <a:r>
              <a:rPr sz="2400" b="1" spc="-5" dirty="0">
                <a:latin typeface="Calibri"/>
                <a:cs typeface="Calibri"/>
              </a:rPr>
              <a:t>y)</a:t>
            </a:r>
            <a:r>
              <a:rPr sz="2400" spc="-5" dirty="0">
                <a:latin typeface="Calibri"/>
                <a:cs typeface="Calibri"/>
              </a:rPr>
              <a:t>," where x= </a:t>
            </a:r>
            <a:r>
              <a:rPr sz="2400" spc="-15" dirty="0">
                <a:latin typeface="Calibri"/>
                <a:cs typeface="Calibri"/>
              </a:rPr>
              <a:t>boys, </a:t>
            </a:r>
            <a:r>
              <a:rPr sz="2400" dirty="0">
                <a:latin typeface="Calibri"/>
                <a:cs typeface="Calibri"/>
              </a:rPr>
              <a:t>and y= </a:t>
            </a:r>
            <a:r>
              <a:rPr sz="2400" spc="-10" dirty="0">
                <a:latin typeface="Calibri"/>
                <a:cs typeface="Calibri"/>
              </a:rPr>
              <a:t>game. </a:t>
            </a:r>
            <a:r>
              <a:rPr sz="2400" spc="-5" dirty="0">
                <a:latin typeface="Calibri"/>
                <a:cs typeface="Calibri"/>
              </a:rPr>
              <a:t>Since there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boys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spc="-495" dirty="0">
                <a:latin typeface="Yu Gothic UI"/>
                <a:cs typeface="Yu Gothic UI"/>
              </a:rPr>
              <a:t>∃</a:t>
            </a:r>
            <a:r>
              <a:rPr sz="2400" b="1" spc="-495" dirty="0">
                <a:latin typeface="Calibri"/>
                <a:cs typeface="Calibri"/>
              </a:rPr>
              <a:t>,</a:t>
            </a:r>
            <a:r>
              <a:rPr sz="2400" b="1" spc="-459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and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will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 </a:t>
            </a:r>
            <a:r>
              <a:rPr sz="2400" b="1" spc="-10" dirty="0">
                <a:latin typeface="Calibri"/>
                <a:cs typeface="Calibri"/>
              </a:rPr>
              <a:t>represented </a:t>
            </a:r>
            <a:r>
              <a:rPr sz="2400" b="1" spc="-5" dirty="0">
                <a:latin typeface="Calibri"/>
                <a:cs typeface="Calibri"/>
              </a:rPr>
              <a:t>as</a:t>
            </a:r>
            <a:r>
              <a:rPr sz="2400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1253490">
              <a:lnSpc>
                <a:spcPct val="100000"/>
              </a:lnSpc>
              <a:spcBef>
                <a:spcPts val="5"/>
              </a:spcBef>
            </a:pPr>
            <a:r>
              <a:rPr sz="2400" b="1" spc="-990" dirty="0">
                <a:latin typeface="Yu Gothic UI"/>
                <a:cs typeface="Yu Gothic UI"/>
              </a:rPr>
              <a:t>∃</a:t>
            </a:r>
            <a:r>
              <a:rPr sz="2400" b="1" dirty="0">
                <a:latin typeface="Calibri"/>
                <a:cs typeface="Calibri"/>
              </a:rPr>
              <a:t>x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b</a:t>
            </a:r>
            <a:r>
              <a:rPr sz="2400" b="1" spc="-20" dirty="0">
                <a:latin typeface="Calibri"/>
                <a:cs typeface="Calibri"/>
              </a:rPr>
              <a:t>o</a:t>
            </a:r>
            <a:r>
              <a:rPr sz="2400" b="1" spc="-35" dirty="0">
                <a:latin typeface="Calibri"/>
                <a:cs typeface="Calibri"/>
              </a:rPr>
              <a:t>y</a:t>
            </a:r>
            <a:r>
              <a:rPr sz="2400" b="1" dirty="0">
                <a:latin typeface="Calibri"/>
                <a:cs typeface="Calibri"/>
              </a:rPr>
              <a:t>s(x) →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pl</a:t>
            </a:r>
            <a:r>
              <a:rPr sz="2400" b="1" spc="-60" dirty="0">
                <a:latin typeface="Calibri"/>
                <a:cs typeface="Calibri"/>
              </a:rPr>
              <a:t>a</a:t>
            </a:r>
            <a:r>
              <a:rPr sz="2400" b="1" spc="-10" dirty="0">
                <a:latin typeface="Calibri"/>
                <a:cs typeface="Calibri"/>
              </a:rPr>
              <a:t>y</a:t>
            </a:r>
            <a:r>
              <a:rPr sz="2400" b="1" dirty="0">
                <a:latin typeface="Calibri"/>
                <a:cs typeface="Calibri"/>
              </a:rPr>
              <a:t>(x,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c</a:t>
            </a:r>
            <a:r>
              <a:rPr sz="2400" b="1" spc="10" dirty="0">
                <a:latin typeface="Calibri"/>
                <a:cs typeface="Calibri"/>
              </a:rPr>
              <a:t>r</a:t>
            </a:r>
            <a:r>
              <a:rPr sz="2400" b="1" spc="5" dirty="0">
                <a:latin typeface="Calibri"/>
                <a:cs typeface="Calibri"/>
              </a:rPr>
              <a:t>i</a:t>
            </a:r>
            <a:r>
              <a:rPr sz="2400" b="1" spc="-5" dirty="0">
                <a:latin typeface="Calibri"/>
                <a:cs typeface="Calibri"/>
              </a:rPr>
              <a:t>c</a:t>
            </a:r>
            <a:r>
              <a:rPr sz="2400" b="1" spc="-70" dirty="0">
                <a:latin typeface="Calibri"/>
                <a:cs typeface="Calibri"/>
              </a:rPr>
              <a:t>k</a:t>
            </a:r>
            <a:r>
              <a:rPr sz="2400" b="1" spc="-35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20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40" y="1300938"/>
            <a:ext cx="10328276" cy="4124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226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314960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all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students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like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both</a:t>
            </a:r>
            <a:r>
              <a:rPr sz="2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Mathematics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Science.</a:t>
            </a:r>
            <a:endParaRPr sz="2400">
              <a:latin typeface="Calibri"/>
              <a:cs typeface="Calibri"/>
            </a:endParaRPr>
          </a:p>
          <a:p>
            <a:pPr marL="295910" marR="27305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question,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predicate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"</a:t>
            </a:r>
            <a:r>
              <a:rPr sz="2400" b="1" spc="-10" dirty="0">
                <a:latin typeface="Calibri"/>
                <a:cs typeface="Calibri"/>
              </a:rPr>
              <a:t>like(x, </a:t>
            </a:r>
            <a:r>
              <a:rPr sz="2400" b="1" spc="-5" dirty="0">
                <a:latin typeface="Calibri"/>
                <a:cs typeface="Calibri"/>
              </a:rPr>
              <a:t>y),"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where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x=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student, and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y=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subject</a:t>
            </a:r>
            <a:r>
              <a:rPr sz="2400" spc="5" dirty="0">
                <a:latin typeface="Calibri"/>
                <a:cs typeface="Calibri"/>
              </a:rPr>
              <a:t>.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Since there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not all </a:t>
            </a:r>
            <a:r>
              <a:rPr sz="2400" spc="-5" dirty="0">
                <a:latin typeface="Calibri"/>
                <a:cs typeface="Calibri"/>
              </a:rPr>
              <a:t>students, so </a:t>
            </a:r>
            <a:r>
              <a:rPr sz="2400" spc="-20" dirty="0">
                <a:latin typeface="Calibri"/>
                <a:cs typeface="Calibri"/>
              </a:rPr>
              <a:t>we </a:t>
            </a:r>
            <a:r>
              <a:rPr sz="2400" spc="-5" dirty="0">
                <a:latin typeface="Calibri"/>
                <a:cs typeface="Calibri"/>
              </a:rPr>
              <a:t>will </a:t>
            </a:r>
            <a:r>
              <a:rPr sz="2400" dirty="0">
                <a:latin typeface="Calibri"/>
                <a:cs typeface="Calibri"/>
              </a:rPr>
              <a:t>use </a:t>
            </a:r>
            <a:r>
              <a:rPr sz="2400" b="1" spc="-894" dirty="0">
                <a:latin typeface="Yu Gothic UI"/>
                <a:cs typeface="Yu Gothic UI"/>
              </a:rPr>
              <a:t>∀</a:t>
            </a:r>
            <a:r>
              <a:rPr sz="2400" b="1" spc="-155" dirty="0">
                <a:latin typeface="Yu Gothic UI"/>
                <a:cs typeface="Yu Gothic UI"/>
              </a:rPr>
              <a:t> </a:t>
            </a:r>
            <a:r>
              <a:rPr sz="2400" b="1" dirty="0">
                <a:latin typeface="Calibri"/>
                <a:cs typeface="Calibri"/>
              </a:rPr>
              <a:t>with </a:t>
            </a:r>
            <a:r>
              <a:rPr sz="2400" b="1" spc="-10" dirty="0">
                <a:latin typeface="Calibri"/>
                <a:cs typeface="Calibri"/>
              </a:rPr>
              <a:t>negation, </a:t>
            </a:r>
            <a:r>
              <a:rPr sz="2400" b="1" dirty="0">
                <a:latin typeface="Calibri"/>
                <a:cs typeface="Calibri"/>
              </a:rPr>
              <a:t>so </a:t>
            </a:r>
            <a:r>
              <a:rPr sz="2400" spc="-10" dirty="0">
                <a:latin typeface="Calibri"/>
                <a:cs typeface="Calibri"/>
              </a:rPr>
              <a:t>following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this:</a:t>
            </a:r>
            <a:endParaRPr sz="2400">
              <a:latin typeface="Calibri"/>
              <a:cs typeface="Calibri"/>
            </a:endParaRPr>
          </a:p>
          <a:p>
            <a:pPr marL="125349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¬</a:t>
            </a:r>
            <a:r>
              <a:rPr sz="2400" b="1" spc="-894" dirty="0">
                <a:latin typeface="Yu Gothic UI"/>
                <a:cs typeface="Yu Gothic UI"/>
              </a:rPr>
              <a:t>∀</a:t>
            </a:r>
            <a:r>
              <a:rPr sz="2400" b="1" spc="-180" dirty="0">
                <a:latin typeface="Yu Gothic UI"/>
                <a:cs typeface="Yu Gothic UI"/>
              </a:rPr>
              <a:t> </a:t>
            </a:r>
            <a:r>
              <a:rPr sz="2400" b="1" dirty="0">
                <a:latin typeface="Calibri"/>
                <a:cs typeface="Calibri"/>
              </a:rPr>
              <a:t>(x) [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10" dirty="0">
                <a:latin typeface="Calibri"/>
                <a:cs typeface="Calibri"/>
              </a:rPr>
              <a:t>u</a:t>
            </a:r>
            <a:r>
              <a:rPr sz="2400" b="1" spc="5" dirty="0">
                <a:latin typeface="Calibri"/>
                <a:cs typeface="Calibri"/>
              </a:rPr>
              <a:t>d</a:t>
            </a:r>
            <a:r>
              <a:rPr sz="2400" b="1" spc="-5" dirty="0">
                <a:latin typeface="Calibri"/>
                <a:cs typeface="Calibri"/>
              </a:rPr>
              <a:t>e</a:t>
            </a:r>
            <a:r>
              <a:rPr sz="2400" b="1" spc="-25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t(x)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li</a:t>
            </a:r>
            <a:r>
              <a:rPr sz="2400" b="1" spc="-75" dirty="0">
                <a:latin typeface="Calibri"/>
                <a:cs typeface="Calibri"/>
              </a:rPr>
              <a:t>k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(x,</a:t>
            </a:r>
            <a:r>
              <a:rPr sz="2400" b="1" spc="-15" dirty="0">
                <a:latin typeface="Calibri"/>
                <a:cs typeface="Calibri"/>
              </a:rPr>
              <a:t> M</a:t>
            </a:r>
            <a:r>
              <a:rPr sz="2400" b="1" spc="-35" dirty="0">
                <a:latin typeface="Calibri"/>
                <a:cs typeface="Calibri"/>
              </a:rPr>
              <a:t>a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10" dirty="0">
                <a:latin typeface="Calibri"/>
                <a:cs typeface="Calibri"/>
              </a:rPr>
              <a:t>h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15" dirty="0">
                <a:latin typeface="Calibri"/>
                <a:cs typeface="Calibri"/>
              </a:rPr>
              <a:t>m</a:t>
            </a:r>
            <a:r>
              <a:rPr sz="2400" b="1" spc="-35" dirty="0">
                <a:latin typeface="Calibri"/>
                <a:cs typeface="Calibri"/>
              </a:rPr>
              <a:t>a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10" dirty="0">
                <a:latin typeface="Calibri"/>
                <a:cs typeface="Calibri"/>
              </a:rPr>
              <a:t>i</a:t>
            </a:r>
            <a:r>
              <a:rPr sz="2400" b="1" spc="-5" dirty="0">
                <a:latin typeface="Calibri"/>
                <a:cs typeface="Calibri"/>
              </a:rPr>
              <a:t>cs</a:t>
            </a:r>
            <a:r>
              <a:rPr sz="2400" b="1" dirty="0">
                <a:latin typeface="Calibri"/>
                <a:cs typeface="Calibri"/>
              </a:rPr>
              <a:t>)</a:t>
            </a:r>
            <a:r>
              <a:rPr sz="2400" b="1" spc="40" dirty="0">
                <a:latin typeface="Calibri"/>
                <a:cs typeface="Calibri"/>
              </a:rPr>
              <a:t> </a:t>
            </a:r>
            <a:r>
              <a:rPr sz="2400" b="1" spc="-985" dirty="0">
                <a:latin typeface="Yu Gothic UI"/>
                <a:cs typeface="Yu Gothic UI"/>
              </a:rPr>
              <a:t>𝖠</a:t>
            </a:r>
            <a:r>
              <a:rPr sz="2400" b="1" spc="-155" dirty="0">
                <a:latin typeface="Yu Gothic UI"/>
                <a:cs typeface="Yu Gothic UI"/>
              </a:rPr>
              <a:t> </a:t>
            </a:r>
            <a:r>
              <a:rPr sz="2400" b="1" spc="5" dirty="0">
                <a:latin typeface="Calibri"/>
                <a:cs typeface="Calibri"/>
              </a:rPr>
              <a:t>li</a:t>
            </a:r>
            <a:r>
              <a:rPr sz="2400" b="1" spc="-75" dirty="0">
                <a:latin typeface="Calibri"/>
                <a:cs typeface="Calibri"/>
              </a:rPr>
              <a:t>k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(x,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</a:t>
            </a:r>
            <a:r>
              <a:rPr sz="2400" b="1" spc="-5" dirty="0">
                <a:latin typeface="Calibri"/>
                <a:cs typeface="Calibri"/>
              </a:rPr>
              <a:t>c</a:t>
            </a:r>
            <a:r>
              <a:rPr sz="2400" b="1" spc="5" dirty="0">
                <a:latin typeface="Calibri"/>
                <a:cs typeface="Calibri"/>
              </a:rPr>
              <a:t>i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n</a:t>
            </a:r>
            <a:r>
              <a:rPr sz="2400" b="1" spc="5" dirty="0">
                <a:latin typeface="Calibri"/>
                <a:cs typeface="Calibri"/>
              </a:rPr>
              <a:t>c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)</a:t>
            </a:r>
            <a:r>
              <a:rPr sz="2400" b="1" spc="-20" dirty="0">
                <a:latin typeface="Calibri"/>
                <a:cs typeface="Calibri"/>
              </a:rPr>
              <a:t>]</a:t>
            </a:r>
            <a:r>
              <a:rPr sz="2400" b="1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13690" indent="-301625">
              <a:lnSpc>
                <a:spcPct val="100000"/>
              </a:lnSpc>
              <a:spcBef>
                <a:spcPts val="580"/>
              </a:spcBef>
              <a:buAutoNum type="arabicPeriod" startAt="5"/>
              <a:tabLst>
                <a:tab pos="314325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Only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one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student failed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Mathematics.</a:t>
            </a:r>
            <a:endParaRPr sz="2400">
              <a:latin typeface="Calibri"/>
              <a:cs typeface="Calibri"/>
            </a:endParaRPr>
          </a:p>
          <a:p>
            <a:pPr marL="295910" marR="508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question,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predicate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"</a:t>
            </a:r>
            <a:r>
              <a:rPr sz="2400" b="1" spc="-5" dirty="0">
                <a:latin typeface="Calibri"/>
                <a:cs typeface="Calibri"/>
              </a:rPr>
              <a:t>failed(x,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y),"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where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x=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student, and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y=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subject</a:t>
            </a:r>
            <a:r>
              <a:rPr sz="2400" spc="5" dirty="0">
                <a:latin typeface="Calibri"/>
                <a:cs typeface="Calibri"/>
              </a:rPr>
              <a:t>.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Since there </a:t>
            </a:r>
            <a:r>
              <a:rPr sz="2400" dirty="0">
                <a:latin typeface="Calibri"/>
                <a:cs typeface="Calibri"/>
              </a:rPr>
              <a:t>is only one </a:t>
            </a:r>
            <a:r>
              <a:rPr sz="2400" spc="-5" dirty="0">
                <a:latin typeface="Calibri"/>
                <a:cs typeface="Calibri"/>
              </a:rPr>
              <a:t>student who </a:t>
            </a:r>
            <a:r>
              <a:rPr sz="2400" spc="-10" dirty="0">
                <a:latin typeface="Calibri"/>
                <a:cs typeface="Calibri"/>
              </a:rPr>
              <a:t>failed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Mathematics, so </a:t>
            </a:r>
            <a:r>
              <a:rPr sz="2400" spc="-20" dirty="0">
                <a:latin typeface="Calibri"/>
                <a:cs typeface="Calibri"/>
              </a:rPr>
              <a:t>we </a:t>
            </a:r>
            <a:r>
              <a:rPr sz="2400" spc="-5" dirty="0">
                <a:latin typeface="Calibri"/>
                <a:cs typeface="Calibri"/>
              </a:rPr>
              <a:t>will use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following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this:</a:t>
            </a:r>
            <a:endParaRPr sz="2400">
              <a:latin typeface="Calibri"/>
              <a:cs typeface="Calibri"/>
            </a:endParaRPr>
          </a:p>
          <a:p>
            <a:pPr marL="1253490">
              <a:lnSpc>
                <a:spcPct val="100000"/>
              </a:lnSpc>
              <a:spcBef>
                <a:spcPts val="5"/>
              </a:spcBef>
            </a:pPr>
            <a:r>
              <a:rPr sz="2400" b="1" spc="-250" dirty="0">
                <a:latin typeface="Yu Gothic UI"/>
                <a:cs typeface="Yu Gothic UI"/>
              </a:rPr>
              <a:t>∃</a:t>
            </a:r>
            <a:r>
              <a:rPr sz="2400" b="1" spc="-250" dirty="0">
                <a:latin typeface="Calibri"/>
                <a:cs typeface="Calibri"/>
              </a:rPr>
              <a:t>(x)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[</a:t>
            </a:r>
            <a:r>
              <a:rPr sz="2400" b="1" spc="-5" dirty="0">
                <a:latin typeface="Calibri"/>
                <a:cs typeface="Calibri"/>
              </a:rPr>
              <a:t> student(x)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10" dirty="0">
                <a:latin typeface="Calibri"/>
                <a:cs typeface="Calibri"/>
              </a:rPr>
              <a:t> failed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(x,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Mathematics)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940" dirty="0">
                <a:latin typeface="Yu Gothic UI"/>
                <a:cs typeface="Yu Gothic UI"/>
              </a:rPr>
              <a:t>𝖠∀</a:t>
            </a:r>
            <a:r>
              <a:rPr sz="2400" b="1" spc="-180" dirty="0">
                <a:latin typeface="Yu Gothic UI"/>
                <a:cs typeface="Yu Gothic U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(y)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[¬(x==y)</a:t>
            </a:r>
            <a:r>
              <a:rPr sz="2400" b="1" spc="30" dirty="0">
                <a:latin typeface="Calibri"/>
                <a:cs typeface="Calibri"/>
              </a:rPr>
              <a:t> </a:t>
            </a:r>
            <a:r>
              <a:rPr sz="2400" b="1" spc="-985" dirty="0">
                <a:latin typeface="Yu Gothic UI"/>
                <a:cs typeface="Yu Gothic UI"/>
              </a:rPr>
              <a:t>𝖠</a:t>
            </a:r>
            <a:r>
              <a:rPr sz="2400" b="1" spc="-160" dirty="0">
                <a:latin typeface="Yu Gothic UI"/>
                <a:cs typeface="Yu Gothic U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student(y)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¬failed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(x,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Mathematics)]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14446"/>
            <a:ext cx="10798811" cy="4687181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Free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Bound</a:t>
            </a:r>
            <a:r>
              <a:rPr sz="2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Variables:</a:t>
            </a:r>
            <a:endParaRPr sz="24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quantifiers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interact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variables which </a:t>
            </a:r>
            <a:r>
              <a:rPr sz="2400" dirty="0">
                <a:latin typeface="Calibri"/>
                <a:cs typeface="Calibri"/>
              </a:rPr>
              <a:t>appear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a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suitable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70" dirty="0">
                <a:latin typeface="Calibri"/>
                <a:cs typeface="Calibri"/>
              </a:rPr>
              <a:t>way.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There </a:t>
            </a:r>
            <a:r>
              <a:rPr sz="2400" spc="-10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two</a:t>
            </a:r>
            <a:endParaRPr sz="24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variables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First-order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</a:t>
            </a:r>
            <a:r>
              <a:rPr sz="2400" spc="-10" dirty="0">
                <a:latin typeface="Calibri"/>
                <a:cs typeface="Calibri"/>
              </a:rPr>
              <a:t> are given</a:t>
            </a:r>
            <a:r>
              <a:rPr sz="2400" dirty="0">
                <a:latin typeface="Calibri"/>
                <a:cs typeface="Calibri"/>
              </a:rPr>
              <a:t> below:</a:t>
            </a: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Free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Variable</a:t>
            </a:r>
            <a:r>
              <a:rPr sz="2400" b="1" spc="-20" dirty="0">
                <a:latin typeface="Calibri"/>
                <a:cs typeface="Calibri"/>
              </a:rPr>
              <a:t>: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variable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said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free variable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formula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occurs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outside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scope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quantifier.</a:t>
            </a:r>
            <a:endParaRPr sz="2400" dirty="0">
              <a:latin typeface="Calibri"/>
              <a:cs typeface="Calibri"/>
            </a:endParaRPr>
          </a:p>
          <a:p>
            <a:pPr marL="762000">
              <a:lnSpc>
                <a:spcPct val="100000"/>
              </a:lnSpc>
              <a:spcBef>
                <a:spcPts val="575"/>
              </a:spcBef>
            </a:pPr>
            <a:r>
              <a:rPr sz="2400" b="1" spc="-10" dirty="0">
                <a:latin typeface="Calibri"/>
                <a:cs typeface="Calibri"/>
              </a:rPr>
              <a:t>Example:</a:t>
            </a:r>
            <a:endParaRPr sz="2400" dirty="0">
              <a:latin typeface="Calibri"/>
              <a:cs typeface="Calibri"/>
            </a:endParaRPr>
          </a:p>
          <a:p>
            <a:pPr marL="2061210">
              <a:lnSpc>
                <a:spcPct val="100000"/>
              </a:lnSpc>
              <a:spcBef>
                <a:spcPts val="580"/>
              </a:spcBef>
            </a:pPr>
            <a:r>
              <a:rPr sz="2400" b="1" spc="-445" dirty="0">
                <a:latin typeface="Yu Gothic UI"/>
                <a:cs typeface="Yu Gothic UI"/>
              </a:rPr>
              <a:t>∀</a:t>
            </a:r>
            <a:r>
              <a:rPr sz="2400" b="1" spc="-445" dirty="0">
                <a:latin typeface="Calibri"/>
                <a:cs typeface="Calibri"/>
              </a:rPr>
              <a:t>x</a:t>
            </a:r>
            <a:r>
              <a:rPr sz="2400" b="1" spc="-425" dirty="0">
                <a:latin typeface="Calibri"/>
                <a:cs typeface="Calibri"/>
              </a:rPr>
              <a:t> </a:t>
            </a:r>
            <a:r>
              <a:rPr sz="2400" b="1" spc="-175" dirty="0">
                <a:latin typeface="Yu Gothic UI"/>
                <a:cs typeface="Yu Gothic UI"/>
              </a:rPr>
              <a:t>∃</a:t>
            </a:r>
            <a:r>
              <a:rPr sz="2400" b="1" spc="-175" dirty="0">
                <a:latin typeface="Calibri"/>
                <a:cs typeface="Calibri"/>
              </a:rPr>
              <a:t>(y)[P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(x,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80" dirty="0">
                <a:latin typeface="Calibri"/>
                <a:cs typeface="Calibri"/>
              </a:rPr>
              <a:t>y,</a:t>
            </a:r>
            <a:r>
              <a:rPr sz="2400" b="1" spc="-10" dirty="0">
                <a:latin typeface="Calibri"/>
                <a:cs typeface="Calibri"/>
              </a:rPr>
              <a:t> z)],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where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z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" dirty="0">
                <a:latin typeface="Calibri"/>
                <a:cs typeface="Calibri"/>
              </a:rPr>
              <a:t> free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variable.</a:t>
            </a:r>
            <a:endParaRPr sz="2400" dirty="0">
              <a:latin typeface="Calibri"/>
              <a:cs typeface="Calibri"/>
            </a:endParaRPr>
          </a:p>
          <a:p>
            <a:pPr marL="295910" marR="38100" indent="-283845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Bound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Variable: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variable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said to </a:t>
            </a:r>
            <a:r>
              <a:rPr sz="2400" spc="5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5" dirty="0">
                <a:latin typeface="Calibri"/>
                <a:cs typeface="Calibri"/>
              </a:rPr>
              <a:t>bound </a:t>
            </a:r>
            <a:r>
              <a:rPr sz="2400" spc="-5" dirty="0">
                <a:latin typeface="Calibri"/>
                <a:cs typeface="Calibri"/>
              </a:rPr>
              <a:t>variable </a:t>
            </a:r>
            <a:r>
              <a:rPr sz="2400" dirty="0">
                <a:latin typeface="Calibri"/>
                <a:cs typeface="Calibri"/>
              </a:rPr>
              <a:t>in a </a:t>
            </a:r>
            <a:r>
              <a:rPr sz="2400" spc="-5" dirty="0">
                <a:latin typeface="Calibri"/>
                <a:cs typeface="Calibri"/>
              </a:rPr>
              <a:t>formula </a:t>
            </a:r>
            <a:r>
              <a:rPr sz="2400" dirty="0">
                <a:latin typeface="Calibri"/>
                <a:cs typeface="Calibri"/>
              </a:rPr>
              <a:t>if it </a:t>
            </a:r>
            <a:r>
              <a:rPr sz="2400" spc="-10" dirty="0">
                <a:latin typeface="Calibri"/>
                <a:cs typeface="Calibri"/>
              </a:rPr>
              <a:t>occurs </a:t>
            </a:r>
            <a:r>
              <a:rPr sz="2400" dirty="0">
                <a:latin typeface="Calibri"/>
                <a:cs typeface="Calibri"/>
              </a:rPr>
              <a:t>within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scope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quantifier.</a:t>
            </a:r>
            <a:endParaRPr sz="2400" dirty="0">
              <a:latin typeface="Calibri"/>
              <a:cs typeface="Calibri"/>
            </a:endParaRPr>
          </a:p>
          <a:p>
            <a:pPr marL="899160">
              <a:lnSpc>
                <a:spcPct val="100000"/>
              </a:lnSpc>
              <a:spcBef>
                <a:spcPts val="580"/>
              </a:spcBef>
            </a:pPr>
            <a:r>
              <a:rPr sz="2400" b="1" spc="-10" dirty="0">
                <a:latin typeface="Calibri"/>
                <a:cs typeface="Calibri"/>
              </a:rPr>
              <a:t>Example:</a:t>
            </a:r>
            <a:endParaRPr sz="2400" dirty="0">
              <a:latin typeface="Calibri"/>
              <a:cs typeface="Calibri"/>
            </a:endParaRPr>
          </a:p>
          <a:p>
            <a:pPr marL="2198370">
              <a:lnSpc>
                <a:spcPct val="100000"/>
              </a:lnSpc>
              <a:spcBef>
                <a:spcPts val="580"/>
              </a:spcBef>
            </a:pPr>
            <a:r>
              <a:rPr sz="2400" b="1" spc="-894" dirty="0">
                <a:latin typeface="Yu Gothic UI"/>
                <a:cs typeface="Yu Gothic UI"/>
              </a:rPr>
              <a:t>∀</a:t>
            </a:r>
            <a:r>
              <a:rPr sz="2400" b="1" spc="-894" dirty="0">
                <a:latin typeface="Calibri"/>
                <a:cs typeface="Calibri"/>
              </a:rPr>
              <a:t>x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[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(x) B( </a:t>
            </a:r>
            <a:r>
              <a:rPr sz="2400" b="1" spc="-10" dirty="0">
                <a:latin typeface="Calibri"/>
                <a:cs typeface="Calibri"/>
              </a:rPr>
              <a:t>y</a:t>
            </a:r>
            <a:r>
              <a:rPr sz="2400" b="1" dirty="0">
                <a:latin typeface="Calibri"/>
                <a:cs typeface="Calibri"/>
              </a:rPr>
              <a:t>)</a:t>
            </a:r>
            <a:r>
              <a:rPr sz="2400" b="1" spc="-20" dirty="0">
                <a:latin typeface="Calibri"/>
                <a:cs typeface="Calibri"/>
              </a:rPr>
              <a:t>]</a:t>
            </a: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h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15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x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</a:t>
            </a:r>
            <a:r>
              <a:rPr sz="2400" b="1" spc="5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d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y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</a:t>
            </a:r>
            <a:r>
              <a:rPr sz="2400" b="1" spc="-15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10" dirty="0">
                <a:latin typeface="Calibri"/>
                <a:cs typeface="Calibri"/>
              </a:rPr>
              <a:t>h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b</a:t>
            </a:r>
            <a:r>
              <a:rPr sz="2400" b="1" dirty="0">
                <a:latin typeface="Calibri"/>
                <a:cs typeface="Calibri"/>
              </a:rPr>
              <a:t>o</a:t>
            </a:r>
            <a:r>
              <a:rPr sz="2400" b="1" spc="10" dirty="0">
                <a:latin typeface="Calibri"/>
                <a:cs typeface="Calibri"/>
              </a:rPr>
              <a:t>u</a:t>
            </a:r>
            <a:r>
              <a:rPr sz="2400" b="1" spc="5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d</a:t>
            </a:r>
            <a:r>
              <a:rPr sz="2400" b="1" spc="-35" dirty="0">
                <a:latin typeface="Calibri"/>
                <a:cs typeface="Calibri"/>
              </a:rPr>
              <a:t> v</a:t>
            </a:r>
            <a:r>
              <a:rPr sz="2400" b="1" spc="-10" dirty="0">
                <a:latin typeface="Calibri"/>
                <a:cs typeface="Calibri"/>
              </a:rPr>
              <a:t>a</a:t>
            </a:r>
            <a:r>
              <a:rPr sz="2400" b="1" spc="5" dirty="0">
                <a:latin typeface="Calibri"/>
                <a:cs typeface="Calibri"/>
              </a:rPr>
              <a:t>ri</a:t>
            </a:r>
            <a:r>
              <a:rPr sz="2400" b="1" spc="-10" dirty="0">
                <a:latin typeface="Calibri"/>
                <a:cs typeface="Calibri"/>
              </a:rPr>
              <a:t>a</a:t>
            </a:r>
            <a:r>
              <a:rPr sz="2400" b="1" spc="5" dirty="0">
                <a:latin typeface="Calibri"/>
                <a:cs typeface="Calibri"/>
              </a:rPr>
              <a:t>bl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4737" y="1234521"/>
            <a:ext cx="8362949" cy="1043234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37795" indent="-125730">
              <a:lnSpc>
                <a:spcPct val="100000"/>
              </a:lnSpc>
              <a:spcBef>
                <a:spcPts val="975"/>
              </a:spcBef>
              <a:buSzPct val="112500"/>
              <a:buFont typeface="Arial MT"/>
              <a:buChar char="•"/>
              <a:tabLst>
                <a:tab pos="138430" algn="l"/>
                <a:tab pos="1061085" algn="l"/>
                <a:tab pos="650875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Facts</a:t>
            </a:r>
            <a:r>
              <a:rPr sz="2400" spc="-10" dirty="0">
                <a:latin typeface="Times New Roman"/>
                <a:cs typeface="Times New Roman"/>
              </a:rPr>
              <a:t>:	</a:t>
            </a:r>
            <a:r>
              <a:rPr sz="2400" spc="-5" dirty="0">
                <a:latin typeface="Times New Roman"/>
                <a:cs typeface="Times New Roman"/>
              </a:rPr>
              <a:t>Things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want</a:t>
            </a:r>
            <a:r>
              <a:rPr sz="2400" dirty="0">
                <a:latin typeface="Times New Roman"/>
                <a:cs typeface="Times New Roman"/>
              </a:rPr>
              <a:t> 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represent.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Truth</a:t>
            </a:r>
            <a:r>
              <a:rPr sz="2400" dirty="0">
                <a:latin typeface="Times New Roman"/>
                <a:cs typeface="Times New Roman"/>
              </a:rPr>
              <a:t> in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some	</a:t>
            </a:r>
            <a:r>
              <a:rPr sz="2400" spc="-5" dirty="0">
                <a:latin typeface="Times New Roman"/>
                <a:cs typeface="Times New Roman"/>
              </a:rPr>
              <a:t>relevant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world.</a:t>
            </a:r>
            <a:endParaRPr sz="2400">
              <a:latin typeface="Times New Roman"/>
              <a:cs typeface="Times New Roman"/>
            </a:endParaRPr>
          </a:p>
          <a:p>
            <a:pPr marL="137795" indent="-125730">
              <a:lnSpc>
                <a:spcPct val="100000"/>
              </a:lnSpc>
              <a:spcBef>
                <a:spcPts val="1415"/>
              </a:spcBef>
              <a:buSzPct val="112500"/>
              <a:buFont typeface="Arial MT"/>
              <a:buChar char="•"/>
              <a:tabLst>
                <a:tab pos="13843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Representation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5" dirty="0">
                <a:latin typeface="Times New Roman"/>
                <a:cs typeface="Times New Roman"/>
              </a:rPr>
              <a:t>facts.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042" y="504267"/>
            <a:ext cx="432435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15" dirty="0">
                <a:solidFill>
                  <a:srgbClr val="FF0000"/>
                </a:solidFill>
                <a:latin typeface="Calibri"/>
                <a:cs typeface="Calibri"/>
              </a:rPr>
              <a:t>Representing</a:t>
            </a:r>
            <a:r>
              <a:rPr sz="3200" b="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0" spc="-20" dirty="0">
                <a:solidFill>
                  <a:srgbClr val="FF0000"/>
                </a:solidFill>
                <a:latin typeface="Calibri"/>
                <a:cs typeface="Calibri"/>
              </a:rPr>
              <a:t>facts </a:t>
            </a:r>
            <a:r>
              <a:rPr sz="3200" b="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3200" b="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0" spc="-5" dirty="0">
                <a:solidFill>
                  <a:srgbClr val="FF0000"/>
                </a:solidFill>
                <a:latin typeface="Calibri"/>
                <a:cs typeface="Calibri"/>
              </a:rPr>
              <a:t>logic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4" y="2499360"/>
            <a:ext cx="8357616" cy="35539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4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1743" y="1849339"/>
            <a:ext cx="6533936" cy="42442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608" y="1117286"/>
            <a:ext cx="2788921" cy="1165704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330"/>
              </a:spcBef>
              <a:buSzPct val="120833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/>
                <a:cs typeface="Times New Roman"/>
              </a:rPr>
              <a:t>Spot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dog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1995"/>
              </a:spcBef>
              <a:buSzPct val="120833"/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/>
                <a:cs typeface="Times New Roman"/>
              </a:rPr>
              <a:t>Every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tail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608" y="2728022"/>
            <a:ext cx="4934585" cy="33750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2987675" indent="-344805">
              <a:lnSpc>
                <a:spcPct val="131800"/>
              </a:lnSpc>
              <a:spcBef>
                <a:spcPts val="95"/>
              </a:spcBef>
              <a:buSzPct val="120833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/>
                <a:cs typeface="Times New Roman"/>
              </a:rPr>
              <a:t>Spot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dog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dog(Spot)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2330"/>
              </a:spcBef>
              <a:buSzPct val="120833"/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/>
                <a:cs typeface="Times New Roman"/>
              </a:rPr>
              <a:t>Every</a:t>
            </a:r>
            <a:r>
              <a:rPr sz="2400" dirty="0">
                <a:latin typeface="Times New Roman"/>
                <a:cs typeface="Times New Roman"/>
              </a:rPr>
              <a:t> dog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tail</a:t>
            </a:r>
            <a:endParaRPr sz="24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915"/>
              </a:spcBef>
            </a:pPr>
            <a:r>
              <a:rPr sz="2400" spc="5" dirty="0">
                <a:solidFill>
                  <a:srgbClr val="0000FF"/>
                </a:solidFill>
                <a:latin typeface="Cambria Math"/>
                <a:cs typeface="Cambria Math"/>
              </a:rPr>
              <a:t>∀</a:t>
            </a:r>
            <a:r>
              <a:rPr sz="2400" spc="5" dirty="0">
                <a:solidFill>
                  <a:srgbClr val="0000FF"/>
                </a:solidFill>
                <a:latin typeface="Times New Roman"/>
                <a:cs typeface="Times New Roman"/>
              </a:rPr>
              <a:t>x:</a:t>
            </a:r>
            <a:r>
              <a:rPr sz="2400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dog(x)</a:t>
            </a:r>
            <a:r>
              <a:rPr sz="24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→</a:t>
            </a:r>
            <a:r>
              <a:rPr sz="24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hastail(x)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Times New Roman"/>
              <a:cs typeface="Times New Roman"/>
            </a:endParaRPr>
          </a:p>
          <a:p>
            <a:pPr marL="3277235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hastail(Spot)</a:t>
            </a:r>
            <a:endParaRPr sz="2400">
              <a:latin typeface="Times New Roman"/>
              <a:cs typeface="Times New Roman"/>
            </a:endParaRPr>
          </a:p>
          <a:p>
            <a:pPr marL="3201035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Times New Roman"/>
                <a:cs typeface="Times New Roman"/>
              </a:rPr>
              <a:t>Spot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dirty="0">
                <a:latin typeface="Times New Roman"/>
                <a:cs typeface="Times New Roman"/>
              </a:rPr>
              <a:t> 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tail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2041" y="507315"/>
            <a:ext cx="472059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5" dirty="0">
                <a:solidFill>
                  <a:srgbClr val="FF0000"/>
                </a:solidFill>
                <a:latin typeface="Times New Roman"/>
                <a:cs typeface="Times New Roman"/>
              </a:rPr>
              <a:t>Representation</a:t>
            </a:r>
            <a:r>
              <a:rPr sz="3200" b="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0" spc="-5" dirty="0">
                <a:solidFill>
                  <a:srgbClr val="FF0000"/>
                </a:solidFill>
                <a:latin typeface="Times New Roman"/>
                <a:cs typeface="Times New Roman"/>
              </a:rPr>
              <a:t>and Mapping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17848" y="1914145"/>
            <a:ext cx="1313815" cy="372110"/>
          </a:xfrm>
          <a:custGeom>
            <a:avLst/>
            <a:gdLst/>
            <a:ahLst/>
            <a:cxnLst/>
            <a:rect l="l" t="t" r="r" b="b"/>
            <a:pathLst>
              <a:path w="1313814" h="372110">
                <a:moveTo>
                  <a:pt x="985265" y="0"/>
                </a:moveTo>
                <a:lnTo>
                  <a:pt x="985265" y="92963"/>
                </a:lnTo>
                <a:lnTo>
                  <a:pt x="0" y="92963"/>
                </a:lnTo>
                <a:lnTo>
                  <a:pt x="0" y="278891"/>
                </a:lnTo>
                <a:lnTo>
                  <a:pt x="985265" y="278891"/>
                </a:lnTo>
                <a:lnTo>
                  <a:pt x="985265" y="371855"/>
                </a:lnTo>
                <a:lnTo>
                  <a:pt x="1313688" y="185927"/>
                </a:lnTo>
                <a:lnTo>
                  <a:pt x="98526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82766" y="1941703"/>
            <a:ext cx="186499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Spot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has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tail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79978" y="4428745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342900" y="0"/>
                </a:moveTo>
                <a:lnTo>
                  <a:pt x="114300" y="0"/>
                </a:lnTo>
                <a:lnTo>
                  <a:pt x="114300" y="400049"/>
                </a:lnTo>
                <a:lnTo>
                  <a:pt x="0" y="400049"/>
                </a:lnTo>
                <a:lnTo>
                  <a:pt x="228600" y="533399"/>
                </a:lnTo>
                <a:lnTo>
                  <a:pt x="457200" y="400049"/>
                </a:lnTo>
                <a:lnTo>
                  <a:pt x="342900" y="400049"/>
                </a:lnTo>
                <a:lnTo>
                  <a:pt x="34290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" y="1194816"/>
            <a:ext cx="12192000" cy="52069"/>
          </a:xfrm>
          <a:custGeom>
            <a:avLst/>
            <a:gdLst/>
            <a:ahLst/>
            <a:cxnLst/>
            <a:rect l="l" t="t" r="r" b="b"/>
            <a:pathLst>
              <a:path w="12192000" h="52069">
                <a:moveTo>
                  <a:pt x="12192000" y="34544"/>
                </a:moveTo>
                <a:lnTo>
                  <a:pt x="12190476" y="34544"/>
                </a:lnTo>
                <a:lnTo>
                  <a:pt x="6096" y="34544"/>
                </a:lnTo>
                <a:lnTo>
                  <a:pt x="0" y="34544"/>
                </a:lnTo>
                <a:lnTo>
                  <a:pt x="0" y="51816"/>
                </a:lnTo>
                <a:lnTo>
                  <a:pt x="6096" y="51816"/>
                </a:lnTo>
                <a:lnTo>
                  <a:pt x="12190476" y="51816"/>
                </a:lnTo>
                <a:lnTo>
                  <a:pt x="12192000" y="51816"/>
                </a:lnTo>
                <a:lnTo>
                  <a:pt x="12192000" y="34544"/>
                </a:lnTo>
                <a:close/>
              </a:path>
              <a:path w="12192000" h="52069">
                <a:moveTo>
                  <a:pt x="12192000" y="0"/>
                </a:moveTo>
                <a:lnTo>
                  <a:pt x="12190476" y="0"/>
                </a:lnTo>
                <a:lnTo>
                  <a:pt x="6096" y="0"/>
                </a:lnTo>
                <a:lnTo>
                  <a:pt x="0" y="0"/>
                </a:lnTo>
                <a:lnTo>
                  <a:pt x="0" y="17272"/>
                </a:lnTo>
                <a:lnTo>
                  <a:pt x="6096" y="17272"/>
                </a:lnTo>
                <a:lnTo>
                  <a:pt x="12190476" y="17272"/>
                </a:lnTo>
                <a:lnTo>
                  <a:pt x="12192000" y="172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6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041" y="507315"/>
            <a:ext cx="430974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5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3200" b="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0" spc="-5" dirty="0">
                <a:solidFill>
                  <a:srgbClr val="FF0000"/>
                </a:solidFill>
                <a:latin typeface="Times New Roman"/>
                <a:cs typeface="Times New Roman"/>
              </a:rPr>
              <a:t>Propositional</a:t>
            </a:r>
            <a:r>
              <a:rPr sz="3200" b="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0" spc="-5" dirty="0">
                <a:solidFill>
                  <a:srgbClr val="FF0000"/>
                </a:solidFill>
                <a:latin typeface="Times New Roman"/>
                <a:cs typeface="Times New Roman"/>
              </a:rPr>
              <a:t>Logic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" y="1499616"/>
            <a:ext cx="9500617" cy="434055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593" y="5518200"/>
            <a:ext cx="96521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86511"/>
            <a:ext cx="10524745" cy="59283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4" y="1325042"/>
            <a:ext cx="10561956" cy="410432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62255" indent="-25019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262890" algn="l"/>
              </a:tabLst>
            </a:pPr>
            <a:r>
              <a:rPr sz="2000" spc="-10" dirty="0">
                <a:latin typeface="Calibri"/>
                <a:cs typeface="Calibri"/>
              </a:rPr>
              <a:t>Eliminate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↔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connectives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05"/>
              </a:spcBef>
            </a:pPr>
            <a:r>
              <a:rPr sz="2000" spc="-10" dirty="0">
                <a:latin typeface="Calibri"/>
                <a:cs typeface="Calibri"/>
              </a:rPr>
              <a:t>(P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↔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Q)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((P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Q)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^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(Q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P))</a:t>
            </a:r>
            <a:endParaRPr sz="2000">
              <a:latin typeface="Calibri"/>
              <a:cs typeface="Calibri"/>
            </a:endParaRPr>
          </a:p>
          <a:p>
            <a:pPr marL="262255" indent="-250190">
              <a:lnSpc>
                <a:spcPct val="100000"/>
              </a:lnSpc>
              <a:spcBef>
                <a:spcPts val="480"/>
              </a:spcBef>
              <a:buAutoNum type="arabicPeriod" startAt="2"/>
              <a:tabLst>
                <a:tab pos="262890" algn="l"/>
              </a:tabLst>
            </a:pPr>
            <a:r>
              <a:rPr sz="2000" spc="-10" dirty="0">
                <a:latin typeface="Calibri"/>
                <a:cs typeface="Calibri"/>
              </a:rPr>
              <a:t>Eliminate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libri"/>
                <a:cs typeface="Calibri"/>
              </a:rPr>
              <a:t>connectives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alibri"/>
                <a:cs typeface="Calibri"/>
              </a:rPr>
              <a:t>(P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Q)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Q)</a:t>
            </a:r>
            <a:endParaRPr sz="2000">
              <a:latin typeface="Calibri"/>
              <a:cs typeface="Calibri"/>
            </a:endParaRPr>
          </a:p>
          <a:p>
            <a:pPr marL="262255" indent="-250190">
              <a:lnSpc>
                <a:spcPct val="100000"/>
              </a:lnSpc>
              <a:spcBef>
                <a:spcPts val="459"/>
              </a:spcBef>
              <a:buAutoNum type="arabicPeriod" startAt="3"/>
              <a:tabLst>
                <a:tab pos="262890" algn="l"/>
              </a:tabLst>
            </a:pPr>
            <a:r>
              <a:rPr sz="2000" spc="-10" dirty="0">
                <a:latin typeface="Calibri"/>
                <a:cs typeface="Calibri"/>
              </a:rPr>
              <a:t>Reduce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scope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each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negation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symbol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single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predicate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05"/>
              </a:spcBef>
            </a:pPr>
            <a:r>
              <a:rPr sz="2000" spc="-15" dirty="0">
                <a:latin typeface="Symbol"/>
                <a:cs typeface="Symbol"/>
              </a:rPr>
              <a:t></a:t>
            </a:r>
            <a:r>
              <a:rPr sz="2000" spc="-15" dirty="0">
                <a:latin typeface="Calibri"/>
                <a:cs typeface="Calibri"/>
              </a:rPr>
              <a:t>P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P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(P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Q)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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Q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(P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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Q)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Q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4"/>
              </a:spcBef>
            </a:pP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x)P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</a:t>
            </a:r>
            <a:r>
              <a:rPr sz="2000" spc="-10" dirty="0">
                <a:latin typeface="Calibri"/>
                <a:cs typeface="Calibri"/>
              </a:rPr>
              <a:t>x)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</a:t>
            </a:r>
            <a:r>
              <a:rPr sz="2000" spc="-10" dirty="0">
                <a:latin typeface="Calibri"/>
                <a:cs typeface="Calibri"/>
              </a:rPr>
              <a:t>x)P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x)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</a:t>
            </a:r>
            <a:endParaRPr sz="2000">
              <a:latin typeface="Calibri"/>
              <a:cs typeface="Calibri"/>
            </a:endParaRPr>
          </a:p>
          <a:p>
            <a:pPr marL="262255" indent="-250190">
              <a:lnSpc>
                <a:spcPct val="100000"/>
              </a:lnSpc>
              <a:spcBef>
                <a:spcPts val="455"/>
              </a:spcBef>
              <a:buAutoNum type="arabicPeriod" startAt="4"/>
              <a:tabLst>
                <a:tab pos="262890" algn="l"/>
              </a:tabLst>
            </a:pPr>
            <a:r>
              <a:rPr sz="2000" spc="-15" dirty="0">
                <a:latin typeface="Calibri"/>
                <a:cs typeface="Calibri"/>
              </a:rPr>
              <a:t>Standardize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variables: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rename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so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each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quantifier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own</a:t>
            </a:r>
            <a:r>
              <a:rPr sz="2000" spc="-5" dirty="0">
                <a:latin typeface="Calibri"/>
                <a:cs typeface="Calibri"/>
              </a:rPr>
              <a:t> unique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name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042" y="504267"/>
            <a:ext cx="440118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0" dirty="0">
                <a:solidFill>
                  <a:srgbClr val="FF0000"/>
                </a:solidFill>
              </a:rPr>
              <a:t>Conversion</a:t>
            </a:r>
            <a:r>
              <a:rPr sz="3200" spc="10" dirty="0">
                <a:solidFill>
                  <a:srgbClr val="FF0000"/>
                </a:solidFill>
              </a:rPr>
              <a:t> </a:t>
            </a:r>
            <a:r>
              <a:rPr sz="3200" spc="-20" dirty="0">
                <a:solidFill>
                  <a:srgbClr val="FF0000"/>
                </a:solidFill>
              </a:rPr>
              <a:t>to</a:t>
            </a:r>
            <a:r>
              <a:rPr sz="3200" spc="-15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clause</a:t>
            </a:r>
            <a:r>
              <a:rPr sz="3200" spc="-15" dirty="0">
                <a:solidFill>
                  <a:srgbClr val="FF0000"/>
                </a:solidFill>
              </a:rPr>
              <a:t> </a:t>
            </a:r>
            <a:r>
              <a:rPr sz="3200" spc="-20" dirty="0">
                <a:solidFill>
                  <a:srgbClr val="FF0000"/>
                </a:solidFill>
              </a:rPr>
              <a:t>form</a:t>
            </a:r>
            <a:endParaRPr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4" y="1325042"/>
            <a:ext cx="11105515" cy="41893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2816860" indent="-457200">
              <a:lnSpc>
                <a:spcPct val="121000"/>
              </a:lnSpc>
              <a:spcBef>
                <a:spcPts val="100"/>
              </a:spcBef>
            </a:pPr>
            <a:r>
              <a:rPr sz="2000" spc="-5" dirty="0">
                <a:latin typeface="Calibri"/>
                <a:cs typeface="Calibri"/>
              </a:rPr>
              <a:t>5.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Eliminate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existential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quantification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by </a:t>
            </a:r>
            <a:r>
              <a:rPr sz="2000" spc="-10" dirty="0">
                <a:latin typeface="Calibri"/>
                <a:cs typeface="Calibri"/>
              </a:rPr>
              <a:t>introducing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Skolem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constants/functions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</a:t>
            </a:r>
            <a:r>
              <a:rPr sz="2000" spc="-10" dirty="0">
                <a:latin typeface="Calibri"/>
                <a:cs typeface="Calibri"/>
              </a:rPr>
              <a:t>x)P(x)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P(c)</a:t>
            </a:r>
            <a:endParaRPr sz="2000">
              <a:latin typeface="Calibri"/>
              <a:cs typeface="Calibri"/>
            </a:endParaRPr>
          </a:p>
          <a:p>
            <a:pPr marL="697865">
              <a:lnSpc>
                <a:spcPct val="100000"/>
              </a:lnSpc>
              <a:spcBef>
                <a:spcPts val="459"/>
              </a:spcBef>
            </a:pPr>
            <a:r>
              <a:rPr sz="2000" b="1" spc="-5" dirty="0">
                <a:solidFill>
                  <a:srgbClr val="009DD9"/>
                </a:solidFill>
                <a:latin typeface="Calibri"/>
                <a:cs typeface="Calibri"/>
              </a:rPr>
              <a:t>c</a:t>
            </a:r>
            <a:r>
              <a:rPr sz="2000" b="1" dirty="0">
                <a:solidFill>
                  <a:srgbClr val="009DD9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9DD9"/>
                </a:solidFill>
                <a:latin typeface="Calibri"/>
                <a:cs typeface="Calibri"/>
              </a:rPr>
              <a:t>is a</a:t>
            </a:r>
            <a:r>
              <a:rPr sz="2000" b="1" spc="15" dirty="0">
                <a:solidFill>
                  <a:srgbClr val="009DD9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9DD9"/>
                </a:solidFill>
                <a:latin typeface="Calibri"/>
                <a:cs typeface="Calibri"/>
              </a:rPr>
              <a:t>Skolem</a:t>
            </a:r>
            <a:r>
              <a:rPr sz="2000" b="1" spc="20" dirty="0">
                <a:solidFill>
                  <a:srgbClr val="009DD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9DD9"/>
                </a:solidFill>
                <a:latin typeface="Calibri"/>
                <a:cs typeface="Calibri"/>
              </a:rPr>
              <a:t>constant</a:t>
            </a:r>
            <a:r>
              <a:rPr sz="2000" b="1" spc="-20" dirty="0">
                <a:solidFill>
                  <a:srgbClr val="009DD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brand-new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constant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symbol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any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other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sentence)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85"/>
              </a:spcBef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400" spc="-5" dirty="0">
                <a:solidFill>
                  <a:srgbClr val="FF0000"/>
                </a:solidFill>
                <a:latin typeface="Symbol"/>
                <a:cs typeface="Symbol"/>
              </a:rPr>
              <a:t>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x)(</a:t>
            </a:r>
            <a:r>
              <a:rPr sz="2400" spc="-5" dirty="0">
                <a:solidFill>
                  <a:srgbClr val="FF0000"/>
                </a:solidFill>
                <a:latin typeface="Symbol"/>
                <a:cs typeface="Symbol"/>
              </a:rPr>
              <a:t>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y)P(x,y)</a:t>
            </a:r>
            <a:r>
              <a:rPr sz="24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becomes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400" spc="-5" dirty="0">
                <a:solidFill>
                  <a:srgbClr val="FF0000"/>
                </a:solidFill>
                <a:latin typeface="Symbol"/>
                <a:cs typeface="Symbol"/>
              </a:rPr>
              <a:t>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x)P(x,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F(x))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390"/>
              </a:lnSpc>
              <a:spcBef>
                <a:spcPts val="495"/>
              </a:spcBef>
            </a:pPr>
            <a:r>
              <a:rPr sz="2000" spc="-10" dirty="0">
                <a:latin typeface="Calibri"/>
                <a:cs typeface="Calibri"/>
              </a:rPr>
              <a:t>since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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within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scope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universally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quantified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variable,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9DD9"/>
                </a:solidFill>
                <a:latin typeface="Calibri"/>
                <a:cs typeface="Calibri"/>
              </a:rPr>
              <a:t>Skolem</a:t>
            </a:r>
            <a:r>
              <a:rPr sz="2000" b="1" spc="25" dirty="0">
                <a:solidFill>
                  <a:srgbClr val="009DD9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9DD9"/>
                </a:solidFill>
                <a:latin typeface="Calibri"/>
                <a:cs typeface="Calibri"/>
              </a:rPr>
              <a:t>function F</a:t>
            </a:r>
            <a:r>
              <a:rPr sz="2000" b="1" spc="15" dirty="0">
                <a:solidFill>
                  <a:srgbClr val="009DD9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construct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697865">
              <a:lnSpc>
                <a:spcPts val="2390"/>
              </a:lnSpc>
            </a:pPr>
            <a:r>
              <a:rPr sz="2000" spc="-5" dirty="0">
                <a:latin typeface="Calibri"/>
                <a:cs typeface="Calibri"/>
              </a:rPr>
              <a:t>new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9DD9"/>
                </a:solidFill>
                <a:latin typeface="Calibri"/>
                <a:cs typeface="Calibri"/>
              </a:rPr>
              <a:t>depends</a:t>
            </a:r>
            <a:r>
              <a:rPr sz="2000" b="1" spc="-10" dirty="0">
                <a:solidFill>
                  <a:srgbClr val="009DD9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9DD9"/>
                </a:solidFill>
                <a:latin typeface="Calibri"/>
                <a:cs typeface="Calibri"/>
              </a:rPr>
              <a:t>on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universally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quantified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4"/>
              </a:spcBef>
            </a:pPr>
            <a:r>
              <a:rPr sz="2000" spc="-5" dirty="0">
                <a:latin typeface="Calibri"/>
                <a:cs typeface="Calibri"/>
              </a:rPr>
              <a:t>f</a:t>
            </a:r>
            <a:r>
              <a:rPr sz="2000" spc="-15" dirty="0">
                <a:latin typeface="Calibri"/>
                <a:cs typeface="Calibri"/>
              </a:rPr>
              <a:t> must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brand-new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function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name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occurring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any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other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sentence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KB.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Calibri"/>
                <a:cs typeface="Calibri"/>
              </a:rPr>
              <a:t>E.g.,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400" spc="-5" dirty="0">
                <a:solidFill>
                  <a:srgbClr val="FF0000"/>
                </a:solidFill>
                <a:latin typeface="Symbol"/>
                <a:cs typeface="Symbol"/>
              </a:rPr>
              <a:t>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x)(</a:t>
            </a:r>
            <a:r>
              <a:rPr sz="2400" spc="-5" dirty="0">
                <a:solidFill>
                  <a:srgbClr val="FF0000"/>
                </a:solidFill>
                <a:latin typeface="Symbol"/>
                <a:cs typeface="Symbol"/>
              </a:rPr>
              <a:t>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y)loves(x,y)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becomes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400" spc="-5" dirty="0">
                <a:solidFill>
                  <a:srgbClr val="FF0000"/>
                </a:solidFill>
                <a:latin typeface="Symbol"/>
                <a:cs typeface="Symbol"/>
              </a:rPr>
              <a:t>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x)loves(x,F(x))</a:t>
            </a:r>
            <a:endParaRPr sz="2400">
              <a:latin typeface="Calibri"/>
              <a:cs typeface="Calibri"/>
            </a:endParaRPr>
          </a:p>
          <a:p>
            <a:pPr marL="469265" marR="5405120" indent="228600">
              <a:lnSpc>
                <a:spcPts val="2910"/>
              </a:lnSpc>
              <a:spcBef>
                <a:spcPts val="150"/>
              </a:spcBef>
            </a:pP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case,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F(x)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specifies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person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x</a:t>
            </a:r>
            <a:r>
              <a:rPr sz="2000" spc="-15" dirty="0">
                <a:latin typeface="Calibri"/>
                <a:cs typeface="Calibri"/>
              </a:rPr>
              <a:t> loves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E.g.,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x1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x2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x3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Symbol"/>
                <a:cs typeface="Symbol"/>
              </a:rPr>
              <a:t></a:t>
            </a:r>
            <a:r>
              <a:rPr sz="2000" spc="-15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P(…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…)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becomes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295"/>
              </a:spcBef>
            </a:pP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x1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x2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x3</a:t>
            </a:r>
            <a:r>
              <a:rPr sz="2000" spc="-5" dirty="0">
                <a:latin typeface="Calibri"/>
                <a:cs typeface="Calibri"/>
              </a:rPr>
              <a:t> P(…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FF(x1,x2,x3)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…)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(FF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new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name)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4" y="1387221"/>
            <a:ext cx="10658475" cy="38093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AutoNum type="arabicPeriod" startAt="6"/>
              <a:tabLst>
                <a:tab pos="287020" algn="l"/>
              </a:tabLst>
            </a:pPr>
            <a:r>
              <a:rPr sz="2200" spc="-5" dirty="0">
                <a:latin typeface="Calibri"/>
                <a:cs typeface="Calibri"/>
              </a:rPr>
              <a:t>Remove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universal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quantifiers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by </a:t>
            </a:r>
            <a:r>
              <a:rPr sz="2200" dirty="0">
                <a:latin typeface="Calibri"/>
                <a:cs typeface="Calibri"/>
              </a:rPr>
              <a:t>(1)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moving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them all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left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end;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(2)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scope </a:t>
            </a:r>
            <a:r>
              <a:rPr sz="2200" spc="5" dirty="0">
                <a:latin typeface="Calibri"/>
                <a:cs typeface="Calibri"/>
              </a:rPr>
              <a:t>of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spc="5" dirty="0">
                <a:latin typeface="Calibri"/>
                <a:cs typeface="Calibri"/>
              </a:rPr>
              <a:t>each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entire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sentence;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(3)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dropping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“prefix”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</a:t>
            </a:r>
            <a:endParaRPr sz="22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55"/>
              </a:spcBef>
            </a:pPr>
            <a:r>
              <a:rPr sz="2200" b="1" dirty="0">
                <a:latin typeface="Calibri"/>
                <a:cs typeface="Calibri"/>
              </a:rPr>
              <a:t>Ex: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200" dirty="0">
                <a:solidFill>
                  <a:srgbClr val="FF0000"/>
                </a:solidFill>
                <a:latin typeface="Symbol"/>
                <a:cs typeface="Symbol"/>
              </a:rPr>
              <a:t>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x)P(x)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Symbol"/>
                <a:cs typeface="Symbol"/>
              </a:rPr>
              <a:t>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P(x)</a:t>
            </a:r>
            <a:endParaRPr sz="2200">
              <a:latin typeface="Calibri"/>
              <a:cs typeface="Calibri"/>
            </a:endParaRPr>
          </a:p>
          <a:p>
            <a:pPr marL="286385" indent="-274320">
              <a:lnSpc>
                <a:spcPct val="100000"/>
              </a:lnSpc>
              <a:spcBef>
                <a:spcPts val="505"/>
              </a:spcBef>
              <a:buAutoNum type="arabicPeriod" startAt="7"/>
              <a:tabLst>
                <a:tab pos="287020" algn="l"/>
              </a:tabLst>
            </a:pPr>
            <a:r>
              <a:rPr sz="2200" dirty="0">
                <a:latin typeface="Calibri"/>
                <a:cs typeface="Calibri"/>
              </a:rPr>
              <a:t>Put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into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conjunctive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normal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(conjunction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disjunctions)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using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distributive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associative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laws</a:t>
            </a:r>
            <a:endParaRPr sz="22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55"/>
              </a:spcBef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(P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15" dirty="0">
                <a:solidFill>
                  <a:srgbClr val="FF0000"/>
                </a:solidFill>
                <a:latin typeface="Calibri"/>
                <a:cs typeface="Calibri"/>
              </a:rPr>
              <a:t>Q)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10" dirty="0">
                <a:solidFill>
                  <a:srgbClr val="FF0000"/>
                </a:solidFill>
                <a:latin typeface="Symbol"/>
                <a:cs typeface="Symbol"/>
              </a:rPr>
              <a:t>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(P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R) </a:t>
            </a:r>
            <a:r>
              <a:rPr sz="2200" spc="5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(Q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R)</a:t>
            </a:r>
            <a:endParaRPr sz="22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(P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Q)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R </a:t>
            </a:r>
            <a:r>
              <a:rPr sz="2200" spc="5" dirty="0">
                <a:solidFill>
                  <a:srgbClr val="FF0000"/>
                </a:solidFill>
                <a:latin typeface="Symbol"/>
                <a:cs typeface="Symbol"/>
              </a:rPr>
              <a:t>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(P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R)</a:t>
            </a:r>
            <a:endParaRPr sz="2200">
              <a:latin typeface="Calibri"/>
              <a:cs typeface="Calibri"/>
            </a:endParaRPr>
          </a:p>
          <a:p>
            <a:pPr marL="286385" indent="-274320">
              <a:lnSpc>
                <a:spcPct val="100000"/>
              </a:lnSpc>
              <a:spcBef>
                <a:spcPts val="505"/>
              </a:spcBef>
              <a:buAutoNum type="arabicPeriod" startAt="8"/>
              <a:tabLst>
                <a:tab pos="287020" algn="l"/>
              </a:tabLst>
            </a:pPr>
            <a:r>
              <a:rPr sz="2200" spc="-5" dirty="0">
                <a:latin typeface="Calibri"/>
                <a:cs typeface="Calibri"/>
              </a:rPr>
              <a:t>Split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conjuncts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into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separate </a:t>
            </a:r>
            <a:r>
              <a:rPr sz="2200" spc="-5" dirty="0">
                <a:latin typeface="Calibri"/>
                <a:cs typeface="Calibri"/>
              </a:rPr>
              <a:t>clauses</a:t>
            </a:r>
            <a:endParaRPr sz="2200">
              <a:latin typeface="Calibri"/>
              <a:cs typeface="Calibri"/>
            </a:endParaRPr>
          </a:p>
          <a:p>
            <a:pPr marL="286385" indent="-274320">
              <a:lnSpc>
                <a:spcPct val="100000"/>
              </a:lnSpc>
              <a:spcBef>
                <a:spcPts val="530"/>
              </a:spcBef>
              <a:buAutoNum type="arabicPeriod" startAt="8"/>
              <a:tabLst>
                <a:tab pos="287020" algn="l"/>
              </a:tabLst>
            </a:pPr>
            <a:r>
              <a:rPr sz="2200" spc="-15" dirty="0">
                <a:latin typeface="Calibri"/>
                <a:cs typeface="Calibri"/>
              </a:rPr>
              <a:t>Standardize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variables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each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clause</a:t>
            </a:r>
            <a:r>
              <a:rPr sz="2200" spc="-10" dirty="0">
                <a:latin typeface="Calibri"/>
                <a:cs typeface="Calibri"/>
              </a:rPr>
              <a:t> contains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variable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names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that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occur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any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spc="5" dirty="0">
                <a:latin typeface="Calibri"/>
                <a:cs typeface="Calibri"/>
              </a:rPr>
              <a:t>other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clause.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4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42" y="535051"/>
            <a:ext cx="177165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FF0000"/>
                </a:solidFill>
              </a:rPr>
              <a:t>An</a:t>
            </a:r>
            <a:r>
              <a:rPr sz="2800" spc="-7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example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85344" y="1331138"/>
            <a:ext cx="6329045" cy="398907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spc="-5" dirty="0">
                <a:latin typeface="Calibri"/>
                <a:cs typeface="Calibri"/>
              </a:rPr>
              <a:t>(</a:t>
            </a:r>
            <a:r>
              <a:rPr sz="2000" spc="-5" dirty="0">
                <a:latin typeface="Symbol"/>
                <a:cs typeface="Symbol"/>
              </a:rPr>
              <a:t></a:t>
            </a:r>
            <a:r>
              <a:rPr sz="2000" b="1" spc="-5" dirty="0">
                <a:latin typeface="Calibri"/>
                <a:cs typeface="Calibri"/>
              </a:rPr>
              <a:t>x)(P(x)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Calibri"/>
                <a:cs typeface="Calibri"/>
              </a:rPr>
              <a:t>((</a:t>
            </a:r>
            <a:r>
              <a:rPr sz="2000" spc="-5" dirty="0">
                <a:latin typeface="Symbol"/>
                <a:cs typeface="Symbol"/>
              </a:rPr>
              <a:t></a:t>
            </a:r>
            <a:r>
              <a:rPr sz="2000" b="1" spc="-5" dirty="0">
                <a:latin typeface="Calibri"/>
                <a:cs typeface="Calibri"/>
              </a:rPr>
              <a:t>y)(P(y)</a:t>
            </a:r>
            <a:r>
              <a:rPr sz="2000" b="1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P(F(x,y)))</a:t>
            </a:r>
            <a:r>
              <a:rPr sz="2000" b="1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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Symbol"/>
                <a:cs typeface="Symbol"/>
              </a:rPr>
              <a:t></a:t>
            </a:r>
            <a:r>
              <a:rPr sz="2000" b="1" spc="-5" dirty="0">
                <a:latin typeface="Calibri"/>
                <a:cs typeface="Calibri"/>
              </a:rPr>
              <a:t>(</a:t>
            </a:r>
            <a:r>
              <a:rPr sz="2000" spc="-5" dirty="0">
                <a:latin typeface="Symbol"/>
                <a:cs typeface="Symbol"/>
              </a:rPr>
              <a:t></a:t>
            </a:r>
            <a:r>
              <a:rPr sz="2000" b="1" spc="-5" dirty="0">
                <a:latin typeface="Calibri"/>
                <a:cs typeface="Calibri"/>
              </a:rPr>
              <a:t>y)(Q(x,y)</a:t>
            </a:r>
            <a:r>
              <a:rPr sz="2000" b="1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P(y))))</a:t>
            </a:r>
            <a:endParaRPr sz="2000">
              <a:latin typeface="Calibri"/>
              <a:cs typeface="Calibri"/>
            </a:endParaRPr>
          </a:p>
          <a:p>
            <a:pPr marL="262255" indent="-250190">
              <a:lnSpc>
                <a:spcPct val="100000"/>
              </a:lnSpc>
              <a:spcBef>
                <a:spcPts val="480"/>
              </a:spcBef>
              <a:buAutoNum type="arabicPeriod" startAt="2"/>
              <a:tabLst>
                <a:tab pos="262890" algn="l"/>
              </a:tabLst>
            </a:pPr>
            <a:r>
              <a:rPr sz="2000" spc="-10" dirty="0">
                <a:latin typeface="Calibri"/>
                <a:cs typeface="Calibri"/>
              </a:rPr>
              <a:t>Eliminate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endParaRPr sz="2000">
              <a:latin typeface="Symbol"/>
              <a:cs typeface="Symbol"/>
            </a:endParaRPr>
          </a:p>
          <a:p>
            <a:pPr marL="469265">
              <a:lnSpc>
                <a:spcPct val="100000"/>
              </a:lnSpc>
              <a:spcBef>
                <a:spcPts val="445"/>
              </a:spcBef>
            </a:pP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</a:t>
            </a:r>
            <a:r>
              <a:rPr sz="1800" spc="-5" dirty="0">
                <a:latin typeface="Calibri"/>
                <a:cs typeface="Calibri"/>
              </a:rPr>
              <a:t>x)(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P(x)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((</a:t>
            </a:r>
            <a:r>
              <a:rPr sz="1800" dirty="0">
                <a:latin typeface="Symbol"/>
                <a:cs typeface="Symbol"/>
              </a:rPr>
              <a:t></a:t>
            </a:r>
            <a:r>
              <a:rPr sz="1800" dirty="0">
                <a:latin typeface="Calibri"/>
                <a:cs typeface="Calibri"/>
              </a:rPr>
              <a:t>y)(</a:t>
            </a:r>
            <a:r>
              <a:rPr sz="1800" dirty="0">
                <a:latin typeface="Symbol"/>
                <a:cs typeface="Symbol"/>
              </a:rPr>
              <a:t></a:t>
            </a:r>
            <a:r>
              <a:rPr sz="1800" dirty="0">
                <a:latin typeface="Calibri"/>
                <a:cs typeface="Calibri"/>
              </a:rPr>
              <a:t>P(y)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P(F(x,y))) </a:t>
            </a:r>
            <a:r>
              <a:rPr sz="1800" dirty="0">
                <a:latin typeface="Symbol"/>
                <a:cs typeface="Symbol"/>
              </a:rPr>
              <a:t>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</a:t>
            </a:r>
            <a:r>
              <a:rPr sz="1800" spc="-5" dirty="0">
                <a:latin typeface="Calibri"/>
                <a:cs typeface="Calibri"/>
              </a:rPr>
              <a:t>y)(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Q(x,y)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P(y))))</a:t>
            </a:r>
            <a:endParaRPr sz="1800">
              <a:latin typeface="Calibri"/>
              <a:cs typeface="Calibri"/>
            </a:endParaRPr>
          </a:p>
          <a:p>
            <a:pPr marL="262255" indent="-250190">
              <a:lnSpc>
                <a:spcPct val="100000"/>
              </a:lnSpc>
              <a:spcBef>
                <a:spcPts val="445"/>
              </a:spcBef>
              <a:buAutoNum type="arabicPeriod" startAt="3"/>
              <a:tabLst>
                <a:tab pos="262890" algn="l"/>
              </a:tabLst>
            </a:pPr>
            <a:r>
              <a:rPr sz="2000" spc="-10" dirty="0">
                <a:latin typeface="Calibri"/>
                <a:cs typeface="Calibri"/>
              </a:rPr>
              <a:t>Reduce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scope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negation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65"/>
              </a:spcBef>
            </a:pP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</a:t>
            </a:r>
            <a:r>
              <a:rPr sz="1800" spc="-5" dirty="0">
                <a:latin typeface="Calibri"/>
                <a:cs typeface="Calibri"/>
              </a:rPr>
              <a:t>x)(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P(x)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((</a:t>
            </a:r>
            <a:r>
              <a:rPr sz="1800" dirty="0">
                <a:latin typeface="Symbol"/>
                <a:cs typeface="Symbol"/>
              </a:rPr>
              <a:t></a:t>
            </a:r>
            <a:r>
              <a:rPr sz="1800" dirty="0">
                <a:latin typeface="Calibri"/>
                <a:cs typeface="Calibri"/>
              </a:rPr>
              <a:t>y)(</a:t>
            </a:r>
            <a:r>
              <a:rPr sz="1800" dirty="0">
                <a:latin typeface="Symbol"/>
                <a:cs typeface="Symbol"/>
              </a:rPr>
              <a:t></a:t>
            </a:r>
            <a:r>
              <a:rPr sz="1800" dirty="0">
                <a:latin typeface="Calibri"/>
                <a:cs typeface="Calibri"/>
              </a:rPr>
              <a:t>P(y)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P(F(x,y))) </a:t>
            </a:r>
            <a:r>
              <a:rPr sz="1800" spc="-5" dirty="0">
                <a:latin typeface="Symbol"/>
                <a:cs typeface="Symbol"/>
              </a:rPr>
              <a:t></a:t>
            </a: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</a:t>
            </a:r>
            <a:r>
              <a:rPr sz="1800" spc="-5" dirty="0">
                <a:latin typeface="Calibri"/>
                <a:cs typeface="Calibri"/>
              </a:rPr>
              <a:t>y)(Q(x,y)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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</a:t>
            </a:r>
            <a:r>
              <a:rPr sz="1800" dirty="0">
                <a:latin typeface="Calibri"/>
                <a:cs typeface="Calibri"/>
              </a:rPr>
              <a:t>P(y))))</a:t>
            </a:r>
            <a:endParaRPr sz="1800">
              <a:latin typeface="Calibri"/>
              <a:cs typeface="Calibri"/>
            </a:endParaRPr>
          </a:p>
          <a:p>
            <a:pPr marL="261620" indent="-249554">
              <a:lnSpc>
                <a:spcPct val="100000"/>
              </a:lnSpc>
              <a:spcBef>
                <a:spcPts val="450"/>
              </a:spcBef>
              <a:buAutoNum type="arabicPeriod" startAt="4"/>
              <a:tabLst>
                <a:tab pos="262255" algn="l"/>
              </a:tabLst>
            </a:pPr>
            <a:r>
              <a:rPr sz="2000" spc="-10" dirty="0">
                <a:latin typeface="Calibri"/>
                <a:cs typeface="Calibri"/>
              </a:rPr>
              <a:t>Standardize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65"/>
              </a:spcBef>
            </a:pP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</a:t>
            </a:r>
            <a:r>
              <a:rPr sz="1800" spc="-5" dirty="0">
                <a:latin typeface="Calibri"/>
                <a:cs typeface="Calibri"/>
              </a:rPr>
              <a:t>x)(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P(x)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((</a:t>
            </a:r>
            <a:r>
              <a:rPr sz="1800" dirty="0">
                <a:latin typeface="Symbol"/>
                <a:cs typeface="Symbol"/>
              </a:rPr>
              <a:t></a:t>
            </a:r>
            <a:r>
              <a:rPr sz="1800" dirty="0">
                <a:latin typeface="Calibri"/>
                <a:cs typeface="Calibri"/>
              </a:rPr>
              <a:t>y)(</a:t>
            </a:r>
            <a:r>
              <a:rPr sz="1800" dirty="0">
                <a:latin typeface="Symbol"/>
                <a:cs typeface="Symbol"/>
              </a:rPr>
              <a:t></a:t>
            </a:r>
            <a:r>
              <a:rPr sz="1800" dirty="0">
                <a:latin typeface="Calibri"/>
                <a:cs typeface="Calibri"/>
              </a:rPr>
              <a:t>P(y)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P(F(x,y))) </a:t>
            </a:r>
            <a:r>
              <a:rPr sz="1800" spc="-5" dirty="0">
                <a:latin typeface="Symbol"/>
                <a:cs typeface="Symbol"/>
              </a:rPr>
              <a:t></a:t>
            </a: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</a:t>
            </a:r>
            <a:r>
              <a:rPr sz="1800" spc="-5" dirty="0">
                <a:latin typeface="Calibri"/>
                <a:cs typeface="Calibri"/>
              </a:rPr>
              <a:t>z)(Q(x,z)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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</a:t>
            </a:r>
            <a:r>
              <a:rPr sz="1800" dirty="0">
                <a:latin typeface="Calibri"/>
                <a:cs typeface="Calibri"/>
              </a:rPr>
              <a:t>P(z))))</a:t>
            </a:r>
            <a:endParaRPr sz="1800">
              <a:latin typeface="Calibri"/>
              <a:cs typeface="Calibri"/>
            </a:endParaRPr>
          </a:p>
          <a:p>
            <a:pPr marL="261620" indent="-249554">
              <a:lnSpc>
                <a:spcPct val="100000"/>
              </a:lnSpc>
              <a:spcBef>
                <a:spcPts val="450"/>
              </a:spcBef>
              <a:buAutoNum type="arabicPeriod" startAt="5"/>
              <a:tabLst>
                <a:tab pos="262255" algn="l"/>
              </a:tabLst>
            </a:pPr>
            <a:r>
              <a:rPr sz="2000" spc="-10" dirty="0">
                <a:latin typeface="Calibri"/>
                <a:cs typeface="Calibri"/>
              </a:rPr>
              <a:t>Eliminate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existential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quantification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65"/>
              </a:spcBef>
            </a:pP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</a:t>
            </a:r>
            <a:r>
              <a:rPr sz="1800" spc="-5" dirty="0">
                <a:latin typeface="Calibri"/>
                <a:cs typeface="Calibri"/>
              </a:rPr>
              <a:t>x)(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P(x)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Symbol"/>
                <a:cs typeface="Symbol"/>
              </a:rPr>
              <a:t></a:t>
            </a:r>
            <a:r>
              <a:rPr sz="1800" spc="-5" dirty="0">
                <a:latin typeface="Calibri"/>
                <a:cs typeface="Calibri"/>
              </a:rPr>
              <a:t>((</a:t>
            </a:r>
            <a:r>
              <a:rPr sz="1800" spc="-5" dirty="0">
                <a:latin typeface="Symbol"/>
                <a:cs typeface="Symbol"/>
              </a:rPr>
              <a:t></a:t>
            </a:r>
            <a:r>
              <a:rPr sz="1800" spc="-5" dirty="0">
                <a:latin typeface="Calibri"/>
                <a:cs typeface="Calibri"/>
              </a:rPr>
              <a:t>y)(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P(y)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P(F(x,y)))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Symbol"/>
                <a:cs typeface="Symbol"/>
              </a:rPr>
              <a:t></a:t>
            </a:r>
            <a:r>
              <a:rPr sz="1800" spc="-5" dirty="0">
                <a:latin typeface="Calibri"/>
                <a:cs typeface="Calibri"/>
              </a:rPr>
              <a:t>(Q(x,G(x))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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P(G(x)))))</a:t>
            </a:r>
            <a:endParaRPr sz="1800">
              <a:latin typeface="Calibri"/>
              <a:cs typeface="Calibri"/>
            </a:endParaRPr>
          </a:p>
          <a:p>
            <a:pPr marL="261620" indent="-249554">
              <a:lnSpc>
                <a:spcPct val="100000"/>
              </a:lnSpc>
              <a:spcBef>
                <a:spcPts val="450"/>
              </a:spcBef>
              <a:buAutoNum type="arabicPeriod" startAt="6"/>
              <a:tabLst>
                <a:tab pos="262255" algn="l"/>
              </a:tabLst>
            </a:pPr>
            <a:r>
              <a:rPr sz="2000" spc="-15" dirty="0">
                <a:latin typeface="Calibri"/>
                <a:cs typeface="Calibri"/>
              </a:rPr>
              <a:t>Drop universal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quantification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symbols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65"/>
              </a:spcBef>
            </a:pP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P(x)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((</a:t>
            </a:r>
            <a:r>
              <a:rPr sz="1800" dirty="0">
                <a:latin typeface="Symbol"/>
                <a:cs typeface="Symbol"/>
              </a:rPr>
              <a:t></a:t>
            </a:r>
            <a:r>
              <a:rPr sz="1800" dirty="0">
                <a:latin typeface="Calibri"/>
                <a:cs typeface="Calibri"/>
              </a:rPr>
              <a:t>P(y)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P(F(x,y)))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Symbol"/>
                <a:cs typeface="Symbol"/>
              </a:rPr>
              <a:t></a:t>
            </a:r>
            <a:r>
              <a:rPr sz="1800" spc="-5" dirty="0">
                <a:latin typeface="Calibri"/>
                <a:cs typeface="Calibri"/>
              </a:rPr>
              <a:t>(Q(x,G(x))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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</a:t>
            </a:r>
            <a:r>
              <a:rPr sz="1800" dirty="0">
                <a:latin typeface="Calibri"/>
                <a:cs typeface="Calibri"/>
              </a:rPr>
              <a:t>P(G(x)))))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4" y="1325042"/>
            <a:ext cx="8507730" cy="482760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61620" indent="-249554">
              <a:lnSpc>
                <a:spcPct val="100000"/>
              </a:lnSpc>
              <a:spcBef>
                <a:spcPts val="605"/>
              </a:spcBef>
              <a:buAutoNum type="arabicPeriod" startAt="7"/>
              <a:tabLst>
                <a:tab pos="262255" algn="l"/>
              </a:tabLst>
            </a:pPr>
            <a:r>
              <a:rPr sz="2000" spc="-15" dirty="0">
                <a:latin typeface="Calibri"/>
                <a:cs typeface="Calibri"/>
              </a:rPr>
              <a:t>Convert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conjunction 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disjunctions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05"/>
              </a:spcBef>
            </a:pP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P(x)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P(y)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P(F(x,y)))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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P(x)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Q(x,G(x)))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</a:t>
            </a:r>
            <a:endParaRPr sz="2000">
              <a:latin typeface="Symbol"/>
              <a:cs typeface="Symbol"/>
            </a:endParaRPr>
          </a:p>
          <a:p>
            <a:pPr marL="86868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P(x)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P(G(x)))</a:t>
            </a:r>
            <a:endParaRPr sz="2000">
              <a:latin typeface="Calibri"/>
              <a:cs typeface="Calibri"/>
            </a:endParaRPr>
          </a:p>
          <a:p>
            <a:pPr marL="262255" indent="-250190">
              <a:lnSpc>
                <a:spcPct val="100000"/>
              </a:lnSpc>
              <a:spcBef>
                <a:spcPts val="455"/>
              </a:spcBef>
              <a:buAutoNum type="arabicPeriod" startAt="8"/>
              <a:tabLst>
                <a:tab pos="262890" algn="l"/>
              </a:tabLst>
            </a:pPr>
            <a:r>
              <a:rPr sz="2000" spc="-20" dirty="0">
                <a:latin typeface="Calibri"/>
                <a:cs typeface="Calibri"/>
              </a:rPr>
              <a:t>Create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separate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clauses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09"/>
              </a:spcBef>
            </a:pP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P(x)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P(y)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P(F(x,y))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P(x)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Q(x,G(x))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P(x)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P(G(x))</a:t>
            </a:r>
            <a:endParaRPr sz="2000">
              <a:latin typeface="Calibri"/>
              <a:cs typeface="Calibri"/>
            </a:endParaRPr>
          </a:p>
          <a:p>
            <a:pPr marL="262255" indent="-250190">
              <a:lnSpc>
                <a:spcPct val="100000"/>
              </a:lnSpc>
              <a:spcBef>
                <a:spcPts val="455"/>
              </a:spcBef>
              <a:buAutoNum type="arabicPeriod" startAt="9"/>
              <a:tabLst>
                <a:tab pos="262890" algn="l"/>
              </a:tabLst>
            </a:pPr>
            <a:r>
              <a:rPr sz="2000" spc="-10" dirty="0">
                <a:latin typeface="Calibri"/>
                <a:cs typeface="Calibri"/>
              </a:rPr>
              <a:t>Standardize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09"/>
              </a:spcBef>
            </a:pP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P(x)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P(y)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P(F(x,y))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P(z)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Q(z,G(z))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P(w)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P(G(w))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Note: </a:t>
            </a:r>
            <a:r>
              <a:rPr sz="2000" spc="-5" dirty="0">
                <a:latin typeface="Calibri"/>
                <a:cs typeface="Calibri"/>
              </a:rPr>
              <a:t>Now that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quantifiers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gone,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upper/lower-case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distinction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786383"/>
            <a:ext cx="10311383" cy="52151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356360"/>
            <a:ext cx="9012937" cy="50017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" y="1429511"/>
            <a:ext cx="9939756" cy="44701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1" y="1356360"/>
            <a:ext cx="9162386" cy="423707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2" y="1499616"/>
            <a:ext cx="10287001" cy="4572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4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429511"/>
            <a:ext cx="8583168" cy="4572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39" y="1429512"/>
            <a:ext cx="9997675" cy="4209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499616"/>
            <a:ext cx="9573769" cy="42153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4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642872"/>
            <a:ext cx="8598409" cy="42153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5" y="1499617"/>
            <a:ext cx="10234245" cy="44111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79067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86511"/>
            <a:ext cx="10597897" cy="59283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2" y="1499616"/>
            <a:ext cx="9717024" cy="4572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1" y="1572767"/>
            <a:ext cx="9844032" cy="44939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" y="1429511"/>
            <a:ext cx="9073897" cy="47853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4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895" y="1499617"/>
            <a:ext cx="8683753" cy="46299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4" y="1286256"/>
            <a:ext cx="9643872" cy="48585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1" y="1499616"/>
            <a:ext cx="8717280" cy="46451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438400" y="6400800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2" y="1499616"/>
            <a:ext cx="8860537" cy="46451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7" y="1572767"/>
            <a:ext cx="8247038" cy="39837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79067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39" y="213359"/>
            <a:ext cx="10213849" cy="60015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347216"/>
            <a:ext cx="12193524" cy="51297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69333" y="538099"/>
            <a:ext cx="173355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Unification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6120" y="383286"/>
            <a:ext cx="338201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800" spc="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io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spc="-2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lgo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thm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85342" y="1358353"/>
            <a:ext cx="7068185" cy="47914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300" b="1" spc="-15" dirty="0">
                <a:latin typeface="Times New Roman"/>
                <a:cs typeface="Times New Roman"/>
              </a:rPr>
              <a:t>Algorithm</a:t>
            </a:r>
            <a:r>
              <a:rPr sz="1300" spc="-15" dirty="0">
                <a:latin typeface="Times New Roman"/>
                <a:cs typeface="Times New Roman"/>
              </a:rPr>
              <a:t>: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Unify(L1,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L2)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300" spc="-10" dirty="0">
                <a:latin typeface="Times New Roman"/>
                <a:cs typeface="Times New Roman"/>
              </a:rPr>
              <a:t>Step.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1: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If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L1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or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L2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is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variable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or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constant, then:</a:t>
            </a:r>
            <a:endParaRPr sz="1300">
              <a:latin typeface="Times New Roman"/>
              <a:cs typeface="Times New Roman"/>
            </a:endParaRPr>
          </a:p>
          <a:p>
            <a:pPr marL="841375" indent="-168275">
              <a:lnSpc>
                <a:spcPct val="100000"/>
              </a:lnSpc>
              <a:spcBef>
                <a:spcPts val="310"/>
              </a:spcBef>
              <a:buAutoNum type="alphaLcParenR"/>
              <a:tabLst>
                <a:tab pos="842010" algn="l"/>
              </a:tabLst>
            </a:pPr>
            <a:r>
              <a:rPr sz="1300" spc="-15" dirty="0">
                <a:latin typeface="Times New Roman"/>
                <a:cs typeface="Times New Roman"/>
              </a:rPr>
              <a:t>If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L1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or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L2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are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identical, then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NIL.</a:t>
            </a:r>
            <a:endParaRPr sz="1300">
              <a:latin typeface="Times New Roman"/>
              <a:cs typeface="Times New Roman"/>
            </a:endParaRPr>
          </a:p>
          <a:p>
            <a:pPr marL="853440" indent="-18034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854075" algn="l"/>
              </a:tabLst>
            </a:pPr>
            <a:r>
              <a:rPr sz="1300" spc="-5" dirty="0">
                <a:latin typeface="Times New Roman"/>
                <a:cs typeface="Times New Roman"/>
              </a:rPr>
              <a:t>Else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if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L1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variable,</a:t>
            </a:r>
            <a:endParaRPr sz="1300">
              <a:latin typeface="Times New Roman"/>
              <a:cs typeface="Times New Roman"/>
            </a:endParaRPr>
          </a:p>
          <a:p>
            <a:pPr marL="1487805" lvl="1" indent="-156210">
              <a:lnSpc>
                <a:spcPct val="100000"/>
              </a:lnSpc>
              <a:spcBef>
                <a:spcPts val="315"/>
              </a:spcBef>
              <a:buAutoNum type="alphaLcPeriod"/>
              <a:tabLst>
                <a:tab pos="1488440" algn="l"/>
              </a:tabLst>
            </a:pPr>
            <a:r>
              <a:rPr sz="1300" spc="-5" dirty="0">
                <a:latin typeface="Times New Roman"/>
                <a:cs typeface="Times New Roman"/>
              </a:rPr>
              <a:t>then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if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L1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occurs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in</a:t>
            </a:r>
            <a:r>
              <a:rPr sz="1300" spc="-15" dirty="0">
                <a:latin typeface="Times New Roman"/>
                <a:cs typeface="Times New Roman"/>
              </a:rPr>
              <a:t> L2,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30" dirty="0">
                <a:latin typeface="Times New Roman"/>
                <a:cs typeface="Times New Roman"/>
              </a:rPr>
              <a:t>FAILURE</a:t>
            </a:r>
            <a:endParaRPr sz="1300">
              <a:latin typeface="Times New Roman"/>
              <a:cs typeface="Times New Roman"/>
            </a:endParaRPr>
          </a:p>
          <a:p>
            <a:pPr marL="1499870" lvl="1" indent="-168275">
              <a:lnSpc>
                <a:spcPct val="100000"/>
              </a:lnSpc>
              <a:spcBef>
                <a:spcPts val="310"/>
              </a:spcBef>
              <a:buAutoNum type="alphaLcPeriod"/>
              <a:tabLst>
                <a:tab pos="1500505" algn="l"/>
              </a:tabLst>
            </a:pPr>
            <a:r>
              <a:rPr sz="1300" spc="-5" dirty="0">
                <a:latin typeface="Times New Roman"/>
                <a:cs typeface="Times New Roman"/>
              </a:rPr>
              <a:t>Else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{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(L2/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L1)}.</a:t>
            </a:r>
            <a:endParaRPr sz="1300">
              <a:latin typeface="Times New Roman"/>
              <a:cs typeface="Times New Roman"/>
            </a:endParaRPr>
          </a:p>
          <a:p>
            <a:pPr marL="841375" indent="-168275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842010" algn="l"/>
              </a:tabLst>
            </a:pPr>
            <a:r>
              <a:rPr sz="1300" spc="-5" dirty="0">
                <a:latin typeface="Times New Roman"/>
                <a:cs typeface="Times New Roman"/>
              </a:rPr>
              <a:t>Else if </a:t>
            </a:r>
            <a:r>
              <a:rPr sz="1300" spc="-15" dirty="0">
                <a:latin typeface="Times New Roman"/>
                <a:cs typeface="Times New Roman"/>
              </a:rPr>
              <a:t>L2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variable,</a:t>
            </a:r>
            <a:endParaRPr sz="1300">
              <a:latin typeface="Times New Roman"/>
              <a:cs typeface="Times New Roman"/>
            </a:endParaRPr>
          </a:p>
          <a:p>
            <a:pPr marL="1487805" lvl="1" indent="-156210">
              <a:lnSpc>
                <a:spcPct val="100000"/>
              </a:lnSpc>
              <a:spcBef>
                <a:spcPts val="310"/>
              </a:spcBef>
              <a:buAutoNum type="alphaLcPeriod"/>
              <a:tabLst>
                <a:tab pos="1488440" algn="l"/>
              </a:tabLst>
            </a:pPr>
            <a:r>
              <a:rPr sz="1300" spc="-15" dirty="0">
                <a:latin typeface="Times New Roman"/>
                <a:cs typeface="Times New Roman"/>
              </a:rPr>
              <a:t>If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L2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occurs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L1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then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30" dirty="0">
                <a:latin typeface="Times New Roman"/>
                <a:cs typeface="Times New Roman"/>
              </a:rPr>
              <a:t>FAILURE,</a:t>
            </a:r>
            <a:endParaRPr sz="1300">
              <a:latin typeface="Times New Roman"/>
              <a:cs typeface="Times New Roman"/>
            </a:endParaRPr>
          </a:p>
          <a:p>
            <a:pPr marL="1499870" lvl="1" indent="-168275">
              <a:lnSpc>
                <a:spcPct val="100000"/>
              </a:lnSpc>
              <a:spcBef>
                <a:spcPts val="315"/>
              </a:spcBef>
              <a:buAutoNum type="alphaLcPeriod"/>
              <a:tabLst>
                <a:tab pos="1500505" algn="l"/>
              </a:tabLst>
            </a:pPr>
            <a:r>
              <a:rPr sz="1300" spc="-5" dirty="0">
                <a:latin typeface="Times New Roman"/>
                <a:cs typeface="Times New Roman"/>
              </a:rPr>
              <a:t>Else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{(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L1/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L2)}.</a:t>
            </a:r>
            <a:endParaRPr sz="1300">
              <a:latin typeface="Times New Roman"/>
              <a:cs typeface="Times New Roman"/>
            </a:endParaRPr>
          </a:p>
          <a:p>
            <a:pPr marL="853440" indent="-18034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854075" algn="l"/>
              </a:tabLst>
            </a:pPr>
            <a:r>
              <a:rPr sz="1300" spc="-5" dirty="0">
                <a:latin typeface="Times New Roman"/>
                <a:cs typeface="Times New Roman"/>
              </a:rPr>
              <a:t>Else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30" dirty="0">
                <a:latin typeface="Times New Roman"/>
                <a:cs typeface="Times New Roman"/>
              </a:rPr>
              <a:t>FAILURE.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300" spc="-5" dirty="0">
                <a:latin typeface="Times New Roman"/>
                <a:cs typeface="Times New Roman"/>
              </a:rPr>
              <a:t>Step.2: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If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initial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Predicate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symbol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in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L1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and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L2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are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not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same,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then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30" dirty="0">
                <a:latin typeface="Times New Roman"/>
                <a:cs typeface="Times New Roman"/>
              </a:rPr>
              <a:t>FAILURE.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300" spc="-10" dirty="0">
                <a:latin typeface="Times New Roman"/>
                <a:cs typeface="Times New Roman"/>
              </a:rPr>
              <a:t>Step.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3: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IF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L1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and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L2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have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different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number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of</a:t>
            </a:r>
            <a:r>
              <a:rPr sz="1300" spc="-10" dirty="0">
                <a:latin typeface="Times New Roman"/>
                <a:cs typeface="Times New Roman"/>
              </a:rPr>
              <a:t> arguments,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then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30" dirty="0">
                <a:latin typeface="Times New Roman"/>
                <a:cs typeface="Times New Roman"/>
              </a:rPr>
              <a:t>FAILURE.</a:t>
            </a:r>
            <a:endParaRPr sz="1300">
              <a:latin typeface="Times New Roman"/>
              <a:cs typeface="Times New Roman"/>
            </a:endParaRPr>
          </a:p>
          <a:p>
            <a:pPr marL="12700" marR="3801745">
              <a:lnSpc>
                <a:spcPct val="120000"/>
              </a:lnSpc>
              <a:spcBef>
                <a:spcPts val="5"/>
              </a:spcBef>
            </a:pPr>
            <a:r>
              <a:rPr sz="1300" spc="-10" dirty="0">
                <a:latin typeface="Times New Roman"/>
                <a:cs typeface="Times New Roman"/>
              </a:rPr>
              <a:t>Step.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4: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Set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Substitution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set(SUBST)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to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NIL. 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Step.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5: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For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i=1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to the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number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of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elements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in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L1.</a:t>
            </a:r>
            <a:endParaRPr sz="1300">
              <a:latin typeface="Times New Roman"/>
              <a:cs typeface="Times New Roman"/>
            </a:endParaRPr>
          </a:p>
          <a:p>
            <a:pPr marL="841375" indent="-168275">
              <a:lnSpc>
                <a:spcPct val="100000"/>
              </a:lnSpc>
              <a:spcBef>
                <a:spcPts val="310"/>
              </a:spcBef>
              <a:buAutoNum type="alphaLcParenR"/>
              <a:tabLst>
                <a:tab pos="842010" algn="l"/>
              </a:tabLst>
            </a:pPr>
            <a:r>
              <a:rPr sz="1300" spc="-5" dirty="0">
                <a:latin typeface="Times New Roman"/>
                <a:cs typeface="Times New Roman"/>
              </a:rPr>
              <a:t>Call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Unify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function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with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ith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element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of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L1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and ith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element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of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L2,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and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put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result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into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S.</a:t>
            </a:r>
            <a:endParaRPr sz="1300">
              <a:latin typeface="Times New Roman"/>
              <a:cs typeface="Times New Roman"/>
            </a:endParaRPr>
          </a:p>
          <a:p>
            <a:pPr marL="853440" indent="-18034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854075" algn="l"/>
              </a:tabLst>
            </a:pPr>
            <a:r>
              <a:rPr sz="1300" spc="-15" dirty="0">
                <a:latin typeface="Times New Roman"/>
                <a:cs typeface="Times New Roman"/>
              </a:rPr>
              <a:t>If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=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failure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returns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Failure</a:t>
            </a:r>
            <a:endParaRPr sz="1300">
              <a:latin typeface="Times New Roman"/>
              <a:cs typeface="Times New Roman"/>
            </a:endParaRPr>
          </a:p>
          <a:p>
            <a:pPr marL="841375" indent="-168275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842010" algn="l"/>
              </a:tabLst>
            </a:pPr>
            <a:r>
              <a:rPr sz="1300" spc="-15" dirty="0">
                <a:latin typeface="Times New Roman"/>
                <a:cs typeface="Times New Roman"/>
              </a:rPr>
              <a:t>If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S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≠</a:t>
            </a:r>
            <a:r>
              <a:rPr sz="1300" spc="-15" dirty="0">
                <a:latin typeface="Times New Roman"/>
                <a:cs typeface="Times New Roman"/>
              </a:rPr>
              <a:t> NIL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then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do,</a:t>
            </a:r>
            <a:endParaRPr sz="1300">
              <a:latin typeface="Times New Roman"/>
              <a:cs typeface="Times New Roman"/>
            </a:endParaRPr>
          </a:p>
          <a:p>
            <a:pPr marL="1478915" lvl="1" indent="-146685">
              <a:lnSpc>
                <a:spcPct val="100000"/>
              </a:lnSpc>
              <a:spcBef>
                <a:spcPts val="310"/>
              </a:spcBef>
              <a:buAutoNum type="alphaLcPeriod"/>
              <a:tabLst>
                <a:tab pos="1478915" algn="l"/>
              </a:tabLst>
            </a:pPr>
            <a:r>
              <a:rPr sz="1300" spc="-10" dirty="0">
                <a:latin typeface="Times New Roman"/>
                <a:cs typeface="Times New Roman"/>
              </a:rPr>
              <a:t>Apply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S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to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remainder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of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both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L1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and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L2.</a:t>
            </a:r>
            <a:endParaRPr sz="1300">
              <a:latin typeface="Times New Roman"/>
              <a:cs typeface="Times New Roman"/>
            </a:endParaRPr>
          </a:p>
          <a:p>
            <a:pPr marL="12700" marR="3446779" lvl="1" indent="1319530">
              <a:lnSpc>
                <a:spcPct val="120000"/>
              </a:lnSpc>
              <a:buAutoNum type="alphaLcPeriod"/>
              <a:tabLst>
                <a:tab pos="1500505" algn="l"/>
              </a:tabLst>
            </a:pPr>
            <a:r>
              <a:rPr sz="1300" spc="-15" dirty="0">
                <a:latin typeface="Times New Roman"/>
                <a:cs typeface="Times New Roman"/>
              </a:rPr>
              <a:t>SUBST= APPEND(S,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SUBST). </a:t>
            </a:r>
            <a:r>
              <a:rPr sz="1300" spc="-3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Step.6: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30" dirty="0">
                <a:latin typeface="Times New Roman"/>
                <a:cs typeface="Times New Roman"/>
              </a:rPr>
              <a:t>SUBST.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213104"/>
            <a:ext cx="11381232" cy="50749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" y="1286256"/>
            <a:ext cx="9427465" cy="50017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" y="1194816"/>
            <a:ext cx="12184380" cy="52069"/>
          </a:xfrm>
          <a:custGeom>
            <a:avLst/>
            <a:gdLst/>
            <a:ahLst/>
            <a:cxnLst/>
            <a:rect l="l" t="t" r="r" b="b"/>
            <a:pathLst>
              <a:path w="12184380" h="52069">
                <a:moveTo>
                  <a:pt x="12184380" y="34544"/>
                </a:moveTo>
                <a:lnTo>
                  <a:pt x="0" y="34544"/>
                </a:lnTo>
                <a:lnTo>
                  <a:pt x="0" y="51816"/>
                </a:lnTo>
                <a:lnTo>
                  <a:pt x="12184380" y="51816"/>
                </a:lnTo>
                <a:lnTo>
                  <a:pt x="12184380" y="34544"/>
                </a:lnTo>
                <a:close/>
              </a:path>
              <a:path w="12184380" h="52069">
                <a:moveTo>
                  <a:pt x="12184380" y="0"/>
                </a:moveTo>
                <a:lnTo>
                  <a:pt x="0" y="0"/>
                </a:lnTo>
                <a:lnTo>
                  <a:pt x="0" y="17272"/>
                </a:lnTo>
                <a:lnTo>
                  <a:pt x="12184380" y="17272"/>
                </a:lnTo>
                <a:lnTo>
                  <a:pt x="12184380" y="0"/>
                </a:lnTo>
                <a:close/>
              </a:path>
            </a:pathLst>
          </a:custGeom>
          <a:solidFill>
            <a:srgbClr val="096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89629" y="2927427"/>
            <a:ext cx="420941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600" b="0" u="heavy" spc="-10" dirty="0">
                <a:solidFill>
                  <a:srgbClr val="001F5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THANK</a:t>
            </a:r>
            <a:r>
              <a:rPr sz="5600" b="0" u="heavy" spc="-225" dirty="0">
                <a:solidFill>
                  <a:srgbClr val="001F5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600" b="0" u="heavy" spc="-5" dirty="0">
                <a:solidFill>
                  <a:srgbClr val="001F5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YOU</a:t>
            </a:r>
            <a:endParaRPr sz="5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3703282"/>
            <a:ext cx="4506340" cy="16297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</TotalTime>
  <Words>3153</Words>
  <Application>Microsoft Office PowerPoint</Application>
  <PresentationFormat>Custom</PresentationFormat>
  <Paragraphs>330</Paragraphs>
  <Slides>80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1" baseType="lpstr">
      <vt:lpstr>Office Theme</vt:lpstr>
      <vt:lpstr>UNIT – IV:  Knowledge &amp; Reasoning: Knowledge representation issues, representation &amp; mapping, approaches to knowledge representation. Using predicate logic, representing simple fact in logic, representing instant &amp; ISA relationship, computable functions &amp; predicates, resolution, natural deduction. Representing knowledge using rules, Procedural verses declarative knowledge, logic programming, forward verses backward reasoning, matching, control knowledge. </vt:lpstr>
      <vt:lpstr>Slide 2</vt:lpstr>
      <vt:lpstr>Slide 3</vt:lpstr>
      <vt:lpstr>Slide 4</vt:lpstr>
      <vt:lpstr>Slide 5</vt:lpstr>
      <vt:lpstr>Representing facts in logic</vt:lpstr>
      <vt:lpstr>Slide 7</vt:lpstr>
      <vt:lpstr>Slide 8</vt:lpstr>
      <vt:lpstr>Knowledge Representation</vt:lpstr>
      <vt:lpstr>Slide 10</vt:lpstr>
      <vt:lpstr>Types of knowledge</vt:lpstr>
      <vt:lpstr>1. Declarative Knowledge:-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Techniques of Knowledge Representation in AI</vt:lpstr>
      <vt:lpstr>Slide 22</vt:lpstr>
      <vt:lpstr>Slide 23</vt:lpstr>
      <vt:lpstr>Slide 24</vt:lpstr>
      <vt:lpstr>Example Semantic Network Representation</vt:lpstr>
      <vt:lpstr>3. Frame Representation</vt:lpstr>
      <vt:lpstr>Slide 27</vt:lpstr>
      <vt:lpstr>Slide 28</vt:lpstr>
      <vt:lpstr>Approaches to knowledge representation in AI</vt:lpstr>
      <vt:lpstr>2. Inheritable knowledge:</vt:lpstr>
      <vt:lpstr>Slide 31</vt:lpstr>
      <vt:lpstr>Slide 32</vt:lpstr>
      <vt:lpstr>Knowledge Representation Using Predicate logic(First-order logic)</vt:lpstr>
      <vt:lpstr>As a natural language, first-order logic also has two main parts:</vt:lpstr>
      <vt:lpstr>Atomic sentences:</vt:lpstr>
      <vt:lpstr>Slide 36</vt:lpstr>
      <vt:lpstr>Slide 37</vt:lpstr>
      <vt:lpstr>Example for Universal Quantifier</vt:lpstr>
      <vt:lpstr>Slide 39</vt:lpstr>
      <vt:lpstr>Example for Existential Quantifier</vt:lpstr>
      <vt:lpstr>Slide 41</vt:lpstr>
      <vt:lpstr>Examples of Predicate Logic(FOL) using quantifier</vt:lpstr>
      <vt:lpstr>Slide 43</vt:lpstr>
      <vt:lpstr>Slide 44</vt:lpstr>
      <vt:lpstr>Representing facts in logic</vt:lpstr>
      <vt:lpstr>Slide 46</vt:lpstr>
      <vt:lpstr>Representation and Mapping</vt:lpstr>
      <vt:lpstr>Using Propositional Logic</vt:lpstr>
      <vt:lpstr>Slide 49</vt:lpstr>
      <vt:lpstr>Slide 50</vt:lpstr>
      <vt:lpstr>Conversion to clause form</vt:lpstr>
      <vt:lpstr>Slide 52</vt:lpstr>
      <vt:lpstr>Slide 53</vt:lpstr>
      <vt:lpstr>An example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Unification</vt:lpstr>
      <vt:lpstr>Unification Algorithm</vt:lpstr>
      <vt:lpstr>Slide 78</vt:lpstr>
      <vt:lpstr>Slide 79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Vallurupalli Nageswara Rao Vignana Jyothi Institute of Engineering &amp;Technology</dc:title>
  <dc:creator>VNRVJIET</dc:creator>
  <cp:lastModifiedBy>Windows User</cp:lastModifiedBy>
  <cp:revision>43</cp:revision>
  <dcterms:created xsi:type="dcterms:W3CDTF">2023-03-18T06:41:47Z</dcterms:created>
  <dcterms:modified xsi:type="dcterms:W3CDTF">2025-04-25T04:22:14Z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2023-03-18T00:00:00Z</vt:filetime>
  </property>
</Properties>
</file>