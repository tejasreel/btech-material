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8" r:id="rId2"/>
    <p:sldId id="369" r:id="rId3"/>
    <p:sldId id="370" r:id="rId4"/>
    <p:sldId id="371" r:id="rId5"/>
    <p:sldId id="372" r:id="rId6"/>
    <p:sldId id="373" r:id="rId7"/>
    <p:sldId id="374" r:id="rId8"/>
    <p:sldId id="375" r:id="rId9"/>
    <p:sldId id="379" r:id="rId10"/>
    <p:sldId id="272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281" r:id="rId19"/>
    <p:sldId id="320" r:id="rId20"/>
    <p:sldId id="319" r:id="rId21"/>
    <p:sldId id="400" r:id="rId22"/>
    <p:sldId id="376" r:id="rId23"/>
    <p:sldId id="377" r:id="rId24"/>
    <p:sldId id="378" r:id="rId25"/>
    <p:sldId id="380" r:id="rId26"/>
    <p:sldId id="394" r:id="rId27"/>
    <p:sldId id="395" r:id="rId28"/>
    <p:sldId id="397" r:id="rId29"/>
    <p:sldId id="398" r:id="rId30"/>
    <p:sldId id="299" r:id="rId31"/>
    <p:sldId id="300" r:id="rId32"/>
    <p:sldId id="301" r:id="rId33"/>
    <p:sldId id="302" r:id="rId34"/>
    <p:sldId id="304" r:id="rId35"/>
    <p:sldId id="303" r:id="rId36"/>
    <p:sldId id="305" r:id="rId37"/>
    <p:sldId id="381" r:id="rId38"/>
    <p:sldId id="382" r:id="rId39"/>
    <p:sldId id="383" r:id="rId40"/>
    <p:sldId id="384" r:id="rId41"/>
    <p:sldId id="399" r:id="rId42"/>
    <p:sldId id="344" r:id="rId43"/>
    <p:sldId id="345" r:id="rId44"/>
    <p:sldId id="353" r:id="rId45"/>
    <p:sldId id="352" r:id="rId46"/>
    <p:sldId id="35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6341"/>
  </p:normalViewPr>
  <p:slideViewPr>
    <p:cSldViewPr snapToGrid="0">
      <p:cViewPr varScale="1">
        <p:scale>
          <a:sx n="88" d="100"/>
          <a:sy n="88" d="100"/>
        </p:scale>
        <p:origin x="73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A55E7D-3456-734A-BF75-F5B1F6A95D85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8CBF2-B71E-834F-A071-617C4E827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5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F8E701-3E21-4383-A766-FE99F1A1F605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83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870876-5EE7-2B34-BB9C-F342F1B08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D0BEFD8-AD1D-6E41-79B9-0AE837003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C6A997-B038-B1FE-F509-A672CEFC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D635CA-0DEB-5331-C8E5-51BAC234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019BD8-0F23-94BC-F335-16CE0039D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B7F35291-30AA-A583-D76D-9CFF5196D1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8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F29993-840B-389E-63B8-82800F9E9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455212-9DFF-F71C-7265-D382B6DA7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E0FF45-9419-A16E-48DB-6D3EFC73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9D0652-BEAC-2964-1524-090483FC6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5F1CE5A-8E90-01D4-18FE-1A2EBD70C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65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93A175-46BC-4BC9-153E-6D71D4A14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458895-0F28-4A48-DBF8-1EC8E8674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273D436-CC1F-5313-7DF9-3BE779DC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4D0BA51-CE88-D607-CADF-F7527BC89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D3F09E-ED94-CB0E-480B-D19B660D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20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EEF530-3C35-F160-D3A8-6D033226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BCED94-89AD-1D6D-A840-B43119868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2C81EAA-ABCF-5314-AF0A-39553E834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BCA73E-D06E-1DC3-FF9D-A39FEC8E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68F5B5E-2EA6-0DCB-D4EE-3FE327451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2061910-B7AF-FE02-EEEF-922A4132F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3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B38A11-807F-2039-B850-C8032658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9ACE930-1E3D-6ADD-71A7-106A2491C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12BC36E-0B1A-4846-2A7E-2A0E0A869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9B39B6F-DAF9-1A92-60E3-7C4DB18A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D3021DB-5388-7487-2734-4972E9C899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58FB2E3-6AE5-2D19-17E6-EEB32E09A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6DE4148-B1A3-F7BF-CF2E-E8701FE5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820F71A-99E2-520F-42CA-85AF4A78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73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EC8010-B2EE-2073-DC41-A9E324B7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2155DFE-6A72-77FB-D188-8CC2EE1DB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C953162-2AEF-4FF9-EA96-E476667B3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1FE5985-4386-45A5-7EA6-EB1998594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9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B4CAD46-F9EB-B9D4-CB8E-7B8CC02E4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2295006-A973-26C8-F4A5-4F813B53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1282B6B-C05D-8A55-170C-0EB45B42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6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6FC6D7-1DDF-97C9-3C0B-978DF5A3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9216E1-5CF8-DEF9-67AD-B286D37EA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AA9612F-0F46-D9A9-C6B4-9FD1BFEF6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639E445-B590-96B6-E946-635BFDF6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AB20EA0-7CC2-5335-D4F9-C26E39F0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350DBDD-3D97-33AF-AF60-E4CF78283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39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476778-CBFC-CD1C-35E9-A3ACAD32B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5B49C24-37A5-A995-C166-E80D70D95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60436B3-5B69-20E2-26AE-8515C1AE1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3533FBA-6EB9-6FD6-9E4E-9B940A60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C640385-ECF8-C5A6-A02E-F3ACC351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7D1EE31-3C7E-A545-CE71-0FFB2F07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3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0921DB-83F2-4687-1E5D-C155329B7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F53DF97-CC32-29B0-DEFB-AE394018D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8B2916-3AB9-DD88-BB88-82E886A5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BD3697-6B7D-6866-F4E2-CF2C86DD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65C9736-910F-AE88-CD65-029F8B64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61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677A1A8-3A44-750F-B5EE-667123E67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B478C32-BE2A-30CC-8D38-A1A2060A3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1AB17B-760A-DFC1-196E-2BCD53899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43C0C4-62BD-FBA9-1D70-85E605AF0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4C9434-C98E-F150-E755-735241E3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57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339AAAE-EB00-B8D9-51BE-98FE70A9C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D67F7A3-A9DC-0A50-5D20-A9CB0352C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1A13735-8322-8B47-0445-27F10018E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1BA33-BA3E-D546-AFF2-C80F24F6739C}" type="datetimeFigureOut">
              <a:rPr lang="en-US" smtClean="0"/>
              <a:t>1/9/2024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F011880-A337-1E54-81B5-D93E11057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B69E96C-E9C7-1C4A-3082-933267B59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C3B7A-9F75-D348-87BB-A1C960791558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03514ED0-DCC0-3191-E29D-87E066D8B4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" y="12358"/>
            <a:ext cx="12185651" cy="684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13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DA5C09-7F55-3907-4398-91843CD9A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337" y="-26051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Input-Output Organization</a:t>
            </a:r>
            <a:endParaRPr lang="en-US" sz="2800" b="1" dirty="0">
              <a:solidFill>
                <a:srgbClr val="0070C0"/>
              </a:solidFill>
              <a:latin typeface="American Typewriter" panose="02090604020004020304" pitchFamily="18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C7410E-51A3-690A-B40E-0B4C608C6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337" y="1065046"/>
            <a:ext cx="10515600" cy="4351338"/>
          </a:xfrm>
        </p:spPr>
        <p:txBody>
          <a:bodyPr/>
          <a:lstStyle/>
          <a:p>
            <a:r>
              <a:rPr lang="en-IN" sz="2000" b="1" dirty="0">
                <a:latin typeface="Baskerville" panose="02020502070401020303" pitchFamily="18" charset="0"/>
                <a:ea typeface="Baskerville" panose="02020502070401020303" pitchFamily="18" charset="0"/>
              </a:rPr>
              <a:t>Peripheral devices</a:t>
            </a:r>
          </a:p>
          <a:p>
            <a:r>
              <a:rPr lang="en-IN" sz="2000" b="1" dirty="0">
                <a:latin typeface="Baskerville" panose="02020502070401020303" pitchFamily="18" charset="0"/>
                <a:ea typeface="Baskerville" panose="02020502070401020303" pitchFamily="18" charset="0"/>
              </a:rPr>
              <a:t>Input-output interface </a:t>
            </a:r>
          </a:p>
          <a:p>
            <a:r>
              <a:rPr lang="en-IN" sz="2000" b="1" dirty="0">
                <a:latin typeface="Baskerville" panose="02020502070401020303" pitchFamily="18" charset="0"/>
                <a:ea typeface="Baskerville" panose="02020502070401020303" pitchFamily="18" charset="0"/>
              </a:rPr>
              <a:t>Asynchronous data transfer</a:t>
            </a:r>
          </a:p>
          <a:p>
            <a:r>
              <a:rPr lang="en-IN" sz="2000" b="1" dirty="0">
                <a:latin typeface="Baskerville" panose="02020502070401020303" pitchFamily="18" charset="0"/>
                <a:ea typeface="Baskerville" panose="02020502070401020303" pitchFamily="18" charset="0"/>
              </a:rPr>
              <a:t>Modes of transfer</a:t>
            </a:r>
          </a:p>
          <a:p>
            <a:r>
              <a:rPr lang="en-IN" sz="2000" b="1" dirty="0">
                <a:latin typeface="Baskerville" panose="02020502070401020303" pitchFamily="18" charset="0"/>
                <a:ea typeface="Baskerville" panose="02020502070401020303" pitchFamily="18" charset="0"/>
              </a:rPr>
              <a:t>Priority interrupt</a:t>
            </a:r>
          </a:p>
          <a:p>
            <a:r>
              <a:rPr lang="en-IN" sz="2000" b="1" dirty="0">
                <a:latin typeface="Baskerville" panose="02020502070401020303" pitchFamily="18" charset="0"/>
                <a:ea typeface="Baskerville" panose="02020502070401020303" pitchFamily="18" charset="0"/>
              </a:rPr>
              <a:t>Direct Memory Access</a:t>
            </a:r>
          </a:p>
          <a:p>
            <a:r>
              <a:rPr lang="en-IN" sz="2000" b="1" dirty="0">
                <a:latin typeface="Baskerville" panose="02020502070401020303" pitchFamily="18" charset="0"/>
                <a:ea typeface="Baskerville" panose="02020502070401020303" pitchFamily="18" charset="0"/>
              </a:rPr>
              <a:t>Privileged and Non-Privileged Instructions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69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80C592-E613-974D-1BFE-88D36BDB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172" y="-309790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Need for I/O Interface</a:t>
            </a:r>
            <a:r>
              <a:rPr lang="en-IN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endParaRPr lang="en-US" sz="2800" b="1" dirty="0">
              <a:solidFill>
                <a:srgbClr val="0070C0"/>
              </a:solidFill>
              <a:latin typeface="American Typewriter" panose="02090604020004020304" pitchFamily="18" charset="77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4A0AC7-8B1E-9430-8B62-5522DA6FB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972" y="608813"/>
            <a:ext cx="10123714" cy="4884285"/>
          </a:xfrm>
        </p:spPr>
        <p:txBody>
          <a:bodyPr>
            <a:noAutofit/>
          </a:bodyPr>
          <a:lstStyle/>
          <a:p>
            <a:pPr marL="231775" marR="308610" lvl="0" indent="-231775" algn="just">
              <a:lnSpc>
                <a:spcPts val="2800"/>
              </a:lnSpc>
              <a:spcBef>
                <a:spcPts val="65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Input–output</a:t>
            </a:r>
            <a:r>
              <a:rPr lang="en-US" sz="1900" spc="-5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interface</a:t>
            </a:r>
            <a:r>
              <a:rPr lang="en-US" sz="1900" spc="-5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provides</a:t>
            </a:r>
            <a:r>
              <a:rPr lang="en-US" sz="1900" spc="-5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method</a:t>
            </a:r>
            <a:r>
              <a:rPr lang="en-US" sz="1900" spc="-5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for</a:t>
            </a:r>
            <a:r>
              <a:rPr lang="en-US" sz="1900" spc="-5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transferring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information</a:t>
            </a:r>
            <a:r>
              <a:rPr lang="en-US" sz="1900" spc="-5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between</a:t>
            </a:r>
            <a:r>
              <a:rPr lang="en-US" sz="1900" spc="-5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internal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storage</a:t>
            </a:r>
            <a:r>
              <a:rPr lang="en-US" sz="1900" spc="-5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and</a:t>
            </a:r>
            <a:r>
              <a:rPr lang="en-US" sz="1900" spc="1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external I/O</a:t>
            </a:r>
            <a:r>
              <a:rPr lang="en-US" sz="1900" spc="-1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devices.</a:t>
            </a:r>
            <a:endParaRPr lang="en-IN" sz="1900" spc="-35" dirty="0">
              <a:effectLst/>
              <a:latin typeface="Calibri" panose="020F0502020204030204" pitchFamily="34" charset="0"/>
              <a:ea typeface="Baskerville" panose="02020502070401020303" pitchFamily="18" charset="0"/>
              <a:cs typeface="Calibri" panose="020F0502020204030204" pitchFamily="34" charset="0"/>
            </a:endParaRPr>
          </a:p>
          <a:p>
            <a:pPr marL="231775" marR="573405" lvl="0" indent="-231775" algn="just">
              <a:lnSpc>
                <a:spcPts val="28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Peripherals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connected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to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computer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need special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communication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links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for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interfacing them</a:t>
            </a:r>
            <a:r>
              <a:rPr lang="en-US" sz="1900" spc="-40" dirty="0"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with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the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CPU and each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peripheral.</a:t>
            </a:r>
            <a:endParaRPr lang="en-IN" sz="1900" spc="-35" dirty="0">
              <a:effectLst/>
              <a:latin typeface="Calibri" panose="020F0502020204030204" pitchFamily="34" charset="0"/>
              <a:ea typeface="Baskerville" panose="02020502070401020303" pitchFamily="18" charset="0"/>
              <a:cs typeface="Calibri" panose="020F0502020204030204" pitchFamily="34" charset="0"/>
            </a:endParaRPr>
          </a:p>
          <a:p>
            <a:pPr marL="231775" marR="368300" lvl="0" indent="-231775" algn="just">
              <a:lnSpc>
                <a:spcPts val="28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The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purpose of the communication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link is to resolve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the differences that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exist</a:t>
            </a:r>
            <a:r>
              <a:rPr lang="en-US" sz="1900" spc="-4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between the central computer and each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peripheral.</a:t>
            </a:r>
            <a:endParaRPr lang="en-IN" sz="1900" spc="-35" dirty="0">
              <a:effectLst/>
              <a:latin typeface="Calibri" panose="020F0502020204030204" pitchFamily="34" charset="0"/>
              <a:ea typeface="Baskerville" panose="02020502070401020303" pitchFamily="18" charset="0"/>
              <a:cs typeface="Calibri" panose="020F0502020204030204" pitchFamily="34" charset="0"/>
            </a:endParaRPr>
          </a:p>
          <a:p>
            <a:pPr marL="231775" lvl="0" indent="-231775" algn="just">
              <a:lnSpc>
                <a:spcPts val="2800"/>
              </a:lnSpc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The major differences</a:t>
            </a:r>
            <a:r>
              <a:rPr lang="en-US" sz="1900" spc="-2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3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are:</a:t>
            </a:r>
            <a:endParaRPr lang="en-IN" sz="1900" spc="-35" dirty="0">
              <a:effectLst/>
              <a:latin typeface="Calibri" panose="020F0502020204030204" pitchFamily="34" charset="0"/>
              <a:ea typeface="Baskerville" panose="02020502070401020303" pitchFamily="18" charset="0"/>
              <a:cs typeface="Calibri" panose="020F0502020204030204" pitchFamily="34" charset="0"/>
            </a:endParaRPr>
          </a:p>
          <a:p>
            <a:pPr marL="488950" marR="782320" lvl="1" indent="-222250" algn="just">
              <a:lnSpc>
                <a:spcPts val="2800"/>
              </a:lnSpc>
              <a:spcBef>
                <a:spcPts val="240"/>
              </a:spcBef>
              <a:spcAft>
                <a:spcPts val="0"/>
              </a:spcAft>
              <a:buSzPts val="1400"/>
              <a:buFont typeface="Carlito"/>
              <a:buAutoNum type="arabicPeriod"/>
              <a:tabLst>
                <a:tab pos="1031875" algn="l"/>
              </a:tabLst>
            </a:pP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Peripherals</a:t>
            </a:r>
            <a:r>
              <a:rPr lang="en-US" sz="1900" spc="-5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are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electromechanical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and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electromagnetic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devices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and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their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operation</a:t>
            </a:r>
            <a:r>
              <a:rPr lang="en-US" sz="1900" spc="-4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is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different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from the operation of CPU and </a:t>
            </a:r>
            <a:r>
              <a:rPr lang="en-US" sz="1900" spc="-2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memory,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which are electronic devices.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Therefore,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conversion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of signal values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may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be</a:t>
            </a:r>
            <a:r>
              <a:rPr lang="en-US" sz="1900" spc="-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required.</a:t>
            </a:r>
            <a:endParaRPr lang="en-IN" sz="1900" spc="-105" dirty="0">
              <a:effectLst/>
              <a:latin typeface="Calibri" panose="020F0502020204030204" pitchFamily="34" charset="0"/>
              <a:ea typeface="Baskerville" panose="02020502070401020303" pitchFamily="18" charset="0"/>
              <a:cs typeface="Calibri" panose="020F0502020204030204" pitchFamily="34" charset="0"/>
            </a:endParaRPr>
          </a:p>
          <a:p>
            <a:pPr marL="488950" marR="1143000" lvl="1" indent="-222250" algn="just">
              <a:lnSpc>
                <a:spcPts val="2800"/>
              </a:lnSpc>
              <a:spcBef>
                <a:spcPts val="5"/>
              </a:spcBef>
              <a:spcAft>
                <a:spcPts val="0"/>
              </a:spcAft>
              <a:buSzPts val="1400"/>
              <a:buFont typeface="Carlito"/>
              <a:buAutoNum type="arabicPeriod"/>
              <a:tabLst>
                <a:tab pos="1031875" algn="l"/>
              </a:tabLst>
            </a:pP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The data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transfer </a:t>
            </a:r>
            <a:r>
              <a:rPr lang="en-US" sz="1900" spc="-2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rate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of peripherals is usually slower than the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transfer </a:t>
            </a:r>
            <a:r>
              <a:rPr lang="en-US" sz="1900" spc="-2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rate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of CPU, and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consequently,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 synchronization mechanism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may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be</a:t>
            </a:r>
            <a:r>
              <a:rPr lang="en-US" sz="1900" spc="-2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needed.</a:t>
            </a:r>
            <a:endParaRPr lang="en-IN" sz="1900" spc="-105" dirty="0">
              <a:effectLst/>
              <a:latin typeface="Calibri" panose="020F0502020204030204" pitchFamily="34" charset="0"/>
              <a:ea typeface="Baskerville" panose="02020502070401020303" pitchFamily="18" charset="0"/>
              <a:cs typeface="Calibri" panose="020F0502020204030204" pitchFamily="34" charset="0"/>
            </a:endParaRPr>
          </a:p>
          <a:p>
            <a:pPr marL="488950" lvl="1" indent="-222250" algn="just">
              <a:lnSpc>
                <a:spcPts val="2800"/>
              </a:lnSpc>
              <a:spcBef>
                <a:spcPts val="5"/>
              </a:spcBef>
              <a:spcAft>
                <a:spcPts val="0"/>
              </a:spcAft>
              <a:buSzPts val="1400"/>
              <a:buFont typeface="Carlito"/>
              <a:buAutoNum type="arabicPeriod"/>
              <a:tabLst>
                <a:tab pos="1031875" algn="l"/>
              </a:tabLst>
            </a:pP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Data codes and formats in peripherals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differ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from the word format in the CPU and</a:t>
            </a:r>
            <a:r>
              <a:rPr lang="en-US" sz="1900" spc="-17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2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memory.</a:t>
            </a:r>
            <a:endParaRPr lang="en-IN" sz="1900" spc="-105" dirty="0">
              <a:effectLst/>
              <a:latin typeface="Calibri" panose="020F0502020204030204" pitchFamily="34" charset="0"/>
              <a:ea typeface="Baskerville" panose="02020502070401020303" pitchFamily="18" charset="0"/>
              <a:cs typeface="Calibri" panose="020F0502020204030204" pitchFamily="34" charset="0"/>
            </a:endParaRPr>
          </a:p>
          <a:p>
            <a:pPr marL="488950" marR="499110" lvl="1" indent="-222250" algn="just">
              <a:lnSpc>
                <a:spcPts val="2800"/>
              </a:lnSpc>
              <a:spcBef>
                <a:spcPts val="240"/>
              </a:spcBef>
              <a:spcAft>
                <a:spcPts val="0"/>
              </a:spcAft>
              <a:buSzPts val="1400"/>
              <a:buFont typeface="Carlito"/>
              <a:buAutoNum type="arabicPeriod"/>
              <a:tabLst>
                <a:tab pos="1031875" algn="l"/>
              </a:tabLst>
            </a:pP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The</a:t>
            </a:r>
            <a:r>
              <a:rPr lang="en-US" sz="1900" spc="-3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operating</a:t>
            </a:r>
            <a:r>
              <a:rPr lang="en-US" sz="1900" spc="-2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modes</a:t>
            </a:r>
            <a:r>
              <a:rPr lang="en-US" sz="1900" spc="-3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of</a:t>
            </a:r>
            <a:r>
              <a:rPr lang="en-US" sz="1900" spc="-2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peripherals</a:t>
            </a:r>
            <a:r>
              <a:rPr lang="en-US" sz="1900" spc="-3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are</a:t>
            </a:r>
            <a:r>
              <a:rPr lang="en-US" sz="1900" spc="-2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different</a:t>
            </a:r>
            <a:r>
              <a:rPr lang="en-US" sz="1900" spc="-3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from</a:t>
            </a:r>
            <a:r>
              <a:rPr lang="en-US" sz="1900" spc="-2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each</a:t>
            </a:r>
            <a:r>
              <a:rPr lang="en-US" sz="1900" spc="-2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other</a:t>
            </a:r>
            <a:r>
              <a:rPr lang="en-US" sz="1900" spc="-3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and</a:t>
            </a:r>
            <a:r>
              <a:rPr lang="en-US" sz="1900" spc="-2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each</a:t>
            </a:r>
            <a:r>
              <a:rPr lang="en-US" sz="1900" spc="-3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must</a:t>
            </a:r>
            <a:r>
              <a:rPr lang="en-US" sz="1900" spc="-2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be</a:t>
            </a:r>
            <a:r>
              <a:rPr lang="en-US" sz="1900" spc="-3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controlled</a:t>
            </a:r>
            <a:r>
              <a:rPr lang="en-US" sz="1900" spc="-2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so</a:t>
            </a:r>
            <a:r>
              <a:rPr lang="en-US" sz="1900" spc="-3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as not to disturb the operation of other peripherals connected to the</a:t>
            </a:r>
            <a:r>
              <a:rPr lang="en-US" sz="1900" spc="-120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 </a:t>
            </a:r>
            <a:r>
              <a:rPr lang="en-US" sz="1900" spc="-105" dirty="0">
                <a:effectLst/>
                <a:latin typeface="Calibri" panose="020F0502020204030204" pitchFamily="34" charset="0"/>
                <a:ea typeface="Baskerville" panose="02020502070401020303" pitchFamily="18" charset="0"/>
                <a:cs typeface="Calibri" panose="020F0502020204030204" pitchFamily="34" charset="0"/>
              </a:rPr>
              <a:t>CPU.</a:t>
            </a:r>
            <a:endParaRPr lang="en-IN" sz="1900" spc="-105" dirty="0">
              <a:effectLst/>
              <a:latin typeface="Calibri" panose="020F0502020204030204" pitchFamily="34" charset="0"/>
              <a:ea typeface="Baskerville" panose="02020502070401020303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82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55F7F4-14B3-8980-CC8A-ECAD16FCF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972" y="-261257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I/O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B29697-CC27-1B45-F712-DC34B68D7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971" y="835025"/>
            <a:ext cx="10221685" cy="4351338"/>
          </a:xfrm>
        </p:spPr>
        <p:txBody>
          <a:bodyPr>
            <a:normAutofit/>
          </a:bodyPr>
          <a:lstStyle/>
          <a:p>
            <a:pPr marL="342900" marR="387350" lvl="0" indent="-342900" algn="just">
              <a:lnSpc>
                <a:spcPts val="2840"/>
              </a:lnSpc>
              <a:spcBef>
                <a:spcPts val="65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65" dirty="0">
                <a:effectLst/>
                <a:latin typeface="Carlito"/>
                <a:ea typeface="Arial" panose="020B0604020202020204" pitchFamily="34" charset="0"/>
                <a:cs typeface="Carlito"/>
              </a:rPr>
              <a:t>To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resolve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these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differences,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computer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systems</a:t>
            </a:r>
            <a:r>
              <a:rPr lang="en-US" sz="20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include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special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hardware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components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between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40" dirty="0"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CPU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and peripherals to supervise and </a:t>
            </a:r>
            <a:r>
              <a:rPr lang="en-US" sz="2000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synchronize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all input and output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transfers.</a:t>
            </a:r>
            <a:endParaRPr lang="en-IN" sz="2000" spc="-3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342900" marR="707390" lvl="0" indent="-342900" algn="just">
              <a:lnSpc>
                <a:spcPts val="284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These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components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are called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b="1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interface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units because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they interface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between the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processor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bus and</a:t>
            </a:r>
            <a:r>
              <a:rPr lang="en-US" sz="20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the peripheral</a:t>
            </a:r>
            <a:r>
              <a:rPr lang="en-US" sz="2000" spc="-1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device.</a:t>
            </a:r>
            <a:endParaRPr lang="en-IN" sz="2000" spc="-3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342900" marR="281305" lvl="0" indent="-342900" algn="just">
              <a:lnSpc>
                <a:spcPts val="284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65" dirty="0">
                <a:effectLst/>
                <a:latin typeface="Carlito"/>
                <a:ea typeface="Arial" panose="020B0604020202020204" pitchFamily="34" charset="0"/>
                <a:cs typeface="Carlito"/>
              </a:rPr>
              <a:t>To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0" dirty="0">
                <a:effectLst/>
                <a:latin typeface="Carlito"/>
                <a:ea typeface="Arial" panose="020B0604020202020204" pitchFamily="34" charset="0"/>
                <a:cs typeface="Carlito"/>
              </a:rPr>
              <a:t>attach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an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input–output</a:t>
            </a:r>
            <a:r>
              <a:rPr lang="en-US" sz="2000" spc="-2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device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to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CPU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2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input–output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interface,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circuit</a:t>
            </a:r>
            <a:r>
              <a:rPr lang="en-US" sz="2000" spc="-2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is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placed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between</a:t>
            </a:r>
            <a:r>
              <a:rPr lang="en-US" sz="20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device</a:t>
            </a:r>
            <a:r>
              <a:rPr lang="en-US" sz="2000" spc="2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and the </a:t>
            </a:r>
            <a:r>
              <a:rPr lang="en-US" sz="2000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system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bus.</a:t>
            </a:r>
            <a:endParaRPr lang="en-IN" sz="2000" spc="-3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342900" marR="969010" lvl="0" indent="-342900" algn="just">
              <a:lnSpc>
                <a:spcPts val="284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615315" algn="l"/>
                <a:tab pos="615950" algn="l"/>
              </a:tabLst>
            </a:pP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5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main</a:t>
            </a:r>
            <a:r>
              <a:rPr lang="en-US" sz="2000" spc="-5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function</a:t>
            </a:r>
            <a:r>
              <a:rPr lang="en-US" sz="2000" spc="-5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of</a:t>
            </a:r>
            <a:r>
              <a:rPr lang="en-US" sz="2000" spc="-5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input–output</a:t>
            </a:r>
            <a:r>
              <a:rPr lang="en-US" sz="2000" spc="-5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interface</a:t>
            </a:r>
            <a:r>
              <a:rPr lang="en-US" sz="2000" spc="-5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circuit</a:t>
            </a:r>
            <a:r>
              <a:rPr lang="en-US" sz="2000" spc="-5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are</a:t>
            </a:r>
            <a:r>
              <a:rPr lang="en-US" sz="2000" spc="-5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data</a:t>
            </a:r>
            <a:r>
              <a:rPr lang="en-US" sz="2000" spc="-5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conversion,</a:t>
            </a:r>
            <a:r>
              <a:rPr lang="en-US" sz="2000" spc="-5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synchronization</a:t>
            </a:r>
            <a:r>
              <a:rPr lang="en-US" sz="2000" spc="-5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5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device selection.</a:t>
            </a:r>
            <a:endParaRPr lang="en-IN" sz="2000" spc="-3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algn="just">
              <a:lnSpc>
                <a:spcPts val="284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5665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A4CBE-1B1A-2776-CBDE-E8EB9594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28" y="-222703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I/O Bus and Interface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45B638-9A96-955A-9125-4DE373A7A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399" y="819831"/>
            <a:ext cx="9862457" cy="4895169"/>
          </a:xfrm>
        </p:spPr>
        <p:txBody>
          <a:bodyPr>
            <a:normAutofit fontScale="92500"/>
          </a:bodyPr>
          <a:lstStyle/>
          <a:p>
            <a:pPr marL="342900" lvl="0" indent="-342900" algn="just">
              <a:lnSpc>
                <a:spcPts val="2800"/>
              </a:lnSpc>
              <a:spcBef>
                <a:spcPts val="43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81660" algn="l"/>
                <a:tab pos="582295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 I/O bus consists of 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data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lines, 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address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lines, and 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control</a:t>
            </a:r>
            <a:r>
              <a:rPr lang="en-US" sz="2000" b="1" spc="-5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lines.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81660" algn="l"/>
                <a:tab pos="582295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Each peripheral device has associated with it an 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interface</a:t>
            </a:r>
            <a:r>
              <a:rPr lang="en-US" sz="2000" b="1" spc="-5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unit.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marR="285750" lvl="0" indent="-342900" algn="just">
              <a:lnSpc>
                <a:spcPts val="28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81660" algn="l"/>
                <a:tab pos="582295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Each</a:t>
            </a:r>
            <a:r>
              <a:rPr lang="en-US" sz="2000" spc="-4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interface decodes</a:t>
            </a:r>
            <a:r>
              <a:rPr lang="en-US" sz="2000" spc="-4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 address</a:t>
            </a:r>
            <a:r>
              <a:rPr lang="en-US" sz="2000" spc="-4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and control</a:t>
            </a:r>
            <a:r>
              <a:rPr lang="en-US" sz="2000" spc="-4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received from</a:t>
            </a:r>
            <a:r>
              <a:rPr lang="en-US" sz="2000" spc="-4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 I/O</a:t>
            </a:r>
            <a:r>
              <a:rPr lang="en-US" sz="2000" spc="-4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bus, interprets</a:t>
            </a:r>
            <a:r>
              <a:rPr lang="en-US" sz="2000" spc="-4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them 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for</a:t>
            </a:r>
            <a:r>
              <a:rPr lang="en-US" sz="2000" spc="-4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1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peripheral, and provides signals 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for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 peripheral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controller.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81660" algn="l"/>
                <a:tab pos="582295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It also 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synchronizes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 data flow and supervises the 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transfer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between peripheral and</a:t>
            </a:r>
            <a:r>
              <a:rPr lang="en-US" sz="2000" spc="-6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processor.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43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81660" algn="l"/>
                <a:tab pos="582295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Each peripheral has its own controller that 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operates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 particular electromechanical</a:t>
            </a:r>
            <a:r>
              <a:rPr lang="en-US" sz="2000" spc="-1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device.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81660" algn="l"/>
                <a:tab pos="582295" algn="l"/>
              </a:tabLst>
            </a:pPr>
            <a:r>
              <a:rPr lang="en-US" sz="2000" spc="-6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To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communicate with a particular device, the processor places a device address on the address</a:t>
            </a:r>
            <a:r>
              <a:rPr lang="en-US" sz="2000" spc="-17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lines.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81660" algn="l"/>
                <a:tab pos="582295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Each</a:t>
            </a:r>
            <a:r>
              <a:rPr lang="en-US" sz="2000" spc="-2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interface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attached</a:t>
            </a:r>
            <a:r>
              <a:rPr lang="en-US" sz="2000" spc="-2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to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2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I/O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bus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contains</a:t>
            </a:r>
            <a:r>
              <a:rPr lang="en-US" sz="2000" spc="-2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an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address</a:t>
            </a:r>
            <a:r>
              <a:rPr lang="en-US" sz="2000" spc="-2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decoder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that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monitors</a:t>
            </a:r>
            <a:r>
              <a:rPr lang="en-US" sz="2000" spc="-2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address</a:t>
            </a:r>
            <a:r>
              <a:rPr lang="en-US" sz="2000" spc="-2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lines.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marR="318770" lvl="0" indent="-342900" algn="just">
              <a:lnSpc>
                <a:spcPts val="28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81660" algn="l"/>
                <a:tab pos="582295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When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interface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detects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its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own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address,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it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activates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path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between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bus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lines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and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device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that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it controls.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81660" algn="l"/>
                <a:tab pos="582295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All other peripherals are disabled by their</a:t>
            </a:r>
            <a:r>
              <a:rPr lang="en-US" sz="2000" spc="-5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interface.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algn="just">
              <a:lnSpc>
                <a:spcPts val="2800"/>
              </a:lnSpc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282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AEF36C-D504-6FCC-378D-DDA66E0E0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5" y="-233589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I/O Bus and Interface Modules</a:t>
            </a:r>
          </a:p>
        </p:txBody>
      </p:sp>
      <p:pic>
        <p:nvPicPr>
          <p:cNvPr id="4" name="image1.jpeg">
            <a:extLst>
              <a:ext uri="{FF2B5EF4-FFF2-40B4-BE49-F238E27FC236}">
                <a16:creationId xmlns:a16="http://schemas.microsoft.com/office/drawing/2014/main" xmlns="" id="{E7D4F592-3490-51E7-DDE4-473CA04A7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54892" y="1258095"/>
            <a:ext cx="8463344" cy="360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38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42B7FE-BA39-E00A-76ED-B0D78B1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058" y="-255361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I/O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C48F50-E184-74A0-E206-DBFF3744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513" y="852488"/>
            <a:ext cx="10123715" cy="4938712"/>
          </a:xfrm>
        </p:spPr>
        <p:txBody>
          <a:bodyPr>
            <a:normAutofit/>
          </a:bodyPr>
          <a:lstStyle/>
          <a:p>
            <a:pPr marL="342900" marR="497205" lvl="0" indent="-342900" algn="just">
              <a:lnSpc>
                <a:spcPct val="113000"/>
              </a:lnSpc>
              <a:spcBef>
                <a:spcPts val="65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2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At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same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time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that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address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made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available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address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lines,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processor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provides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</a:t>
            </a:r>
            <a:r>
              <a:rPr lang="en-US" sz="2000" spc="4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function code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 the control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lines.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marR="995680" lvl="0" indent="-342900" algn="just">
              <a:lnSpc>
                <a:spcPct val="1130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function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code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(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I/O</a:t>
            </a:r>
            <a:r>
              <a:rPr lang="en-US" sz="2000" b="1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command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)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an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instruction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that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executed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interface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and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its</a:t>
            </a:r>
            <a:r>
              <a:rPr lang="en-US" sz="2000" spc="-3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attached peripheral</a:t>
            </a:r>
            <a:r>
              <a:rPr lang="en-US" sz="2000" spc="-1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unit.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There are four types of commands that an interface 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may</a:t>
            </a:r>
            <a:r>
              <a:rPr lang="en-US" sz="2000" spc="-8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receive.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marL="800100" lvl="1" indent="-342900" algn="just"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b="1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Control command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- issued to activate the peripheral and to inform it what to</a:t>
            </a:r>
            <a:r>
              <a:rPr lang="en-US" sz="2000" spc="-18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do.</a:t>
            </a:r>
            <a:endParaRPr lang="en-IN" sz="2000" spc="-30" dirty="0">
              <a:effectLst/>
              <a:latin typeface="Calibri" panose="020F0502020204030204" pitchFamily="34" charset="0"/>
              <a:ea typeface="Carlito"/>
              <a:cs typeface="Calibri" panose="020F0502020204030204" pitchFamily="34" charset="0"/>
            </a:endParaRPr>
          </a:p>
          <a:p>
            <a:pPr marL="800100" lvl="1" indent="-342900" algn="just"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b="1" spc="-30" dirty="0">
                <a:latin typeface="Calibri" panose="020F0502020204030204" pitchFamily="34" charset="0"/>
                <a:cs typeface="Calibri" panose="020F0502020204030204" pitchFamily="34" charset="0"/>
              </a:rPr>
              <a:t>Status command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- used to </a:t>
            </a:r>
            <a:r>
              <a:rPr lang="en-US" sz="2000" spc="-1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test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various </a:t>
            </a:r>
            <a:r>
              <a:rPr lang="en-US" sz="2000" spc="-1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status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conditions in the interface and peripheral.</a:t>
            </a:r>
            <a:endParaRPr lang="en-IN" sz="2000" spc="-30" dirty="0">
              <a:effectLst/>
              <a:latin typeface="Calibri" panose="020F0502020204030204" pitchFamily="34" charset="0"/>
              <a:ea typeface="Carlito"/>
              <a:cs typeface="Calibri" panose="020F0502020204030204" pitchFamily="34" charset="0"/>
            </a:endParaRPr>
          </a:p>
          <a:p>
            <a:pPr marL="800100" marR="394335" lvl="1" indent="-342900" algn="just">
              <a:lnSpc>
                <a:spcPct val="113000"/>
              </a:lnSpc>
              <a:spcBef>
                <a:spcPts val="245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b="1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Data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b="1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output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b="1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command</a:t>
            </a:r>
            <a:r>
              <a:rPr lang="en-US" sz="2000" b="1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-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causes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the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interface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to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respond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by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transferring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data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from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the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bus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into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one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of its</a:t>
            </a:r>
            <a:r>
              <a:rPr lang="en-US" sz="2000" spc="-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1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registers.</a:t>
            </a:r>
            <a:endParaRPr lang="en-IN" sz="2000" spc="-30" dirty="0">
              <a:effectLst/>
              <a:latin typeface="Calibri" panose="020F0502020204030204" pitchFamily="34" charset="0"/>
              <a:ea typeface="Carlito"/>
              <a:cs typeface="Calibri" panose="020F0502020204030204" pitchFamily="34" charset="0"/>
            </a:endParaRPr>
          </a:p>
          <a:p>
            <a:pPr marL="800100" marR="271780" lvl="1" indent="-342900" algn="just">
              <a:lnSpc>
                <a:spcPct val="113000"/>
              </a:lnSpc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b="1" spc="-30" dirty="0">
                <a:latin typeface="Calibri" panose="020F0502020204030204" pitchFamily="34" charset="0"/>
                <a:cs typeface="Calibri" panose="020F0502020204030204" pitchFamily="34" charset="0"/>
              </a:rPr>
              <a:t>Data input command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allows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the interface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to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receive a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data item from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the peripheral</a:t>
            </a:r>
            <a:r>
              <a:rPr lang="en-US" sz="2000" spc="-3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0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which is placed in its </a:t>
            </a:r>
            <a:r>
              <a:rPr lang="en-US" sz="2000" spc="-1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buffer </a:t>
            </a:r>
            <a:r>
              <a:rPr lang="en-US" sz="2000" spc="-25" dirty="0">
                <a:effectLst/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register.</a:t>
            </a:r>
            <a:r>
              <a:rPr lang="en-US" sz="2000" spc="-35" dirty="0">
                <a:latin typeface="Calibri" panose="020F0502020204030204" pitchFamily="34" charset="0"/>
                <a:ea typeface="Carlito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processor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checks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if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data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are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available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by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means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of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1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status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command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and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then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issues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a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data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input command.</a:t>
            </a:r>
            <a:r>
              <a:rPr lang="en-IN" sz="2000" spc="-35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The interface places the data on the data lines, where they are accepted by the</a:t>
            </a:r>
            <a:r>
              <a:rPr lang="en-US" sz="2000" spc="-160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effectLst/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processor.</a:t>
            </a:r>
            <a:endParaRPr lang="en-IN" sz="2000" spc="-35" dirty="0">
              <a:effectLst/>
              <a:latin typeface="Calibri" panose="020F0502020204030204" pitchFamily="34" charset="0"/>
              <a:ea typeface="Arial" panose="020B0604020202020204" pitchFamily="34" charset="0"/>
              <a:cs typeface="Calibri" panose="020F0502020204030204" pitchFamily="34" charset="0"/>
            </a:endParaRPr>
          </a:p>
          <a:p>
            <a:pPr algn="just"/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697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F0F3BE-043E-3643-6E27-427B5FDD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-244475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I/O versus Memory 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813E80-1A40-2F9B-9EEE-995C717E3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944" y="867682"/>
            <a:ext cx="9786257" cy="4351338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ts val="2800"/>
              </a:lnSpc>
              <a:spcBef>
                <a:spcPts val="65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 addition to communicating with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I/O,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 processor must communicate with the memory</a:t>
            </a:r>
            <a:r>
              <a:rPr lang="en-US" sz="2000" spc="-16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unit.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Like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 I/O bus, the memory bus contains data, address, and read/write control</a:t>
            </a:r>
            <a:r>
              <a:rPr lang="en-US" sz="2000" spc="-1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lines.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There are three 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ways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that computer buses can be used to communicate with memory and</a:t>
            </a:r>
            <a:r>
              <a:rPr lang="en-US" sz="2000" spc="-17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I/O: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800100" lvl="1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spc="-30" dirty="0">
                <a:effectLst/>
                <a:ea typeface="Carlito"/>
                <a:cs typeface="Carlito"/>
              </a:rPr>
              <a:t>Use two </a:t>
            </a:r>
            <a:r>
              <a:rPr lang="en-US" sz="2000" spc="-15" dirty="0">
                <a:effectLst/>
                <a:ea typeface="Carlito"/>
                <a:cs typeface="Carlito"/>
              </a:rPr>
              <a:t>separate </a:t>
            </a:r>
            <a:r>
              <a:rPr lang="en-US" sz="2000" spc="-30" dirty="0">
                <a:effectLst/>
                <a:ea typeface="Carlito"/>
                <a:cs typeface="Carlito"/>
              </a:rPr>
              <a:t>buses, one </a:t>
            </a:r>
            <a:r>
              <a:rPr lang="en-US" sz="2000" spc="-15" dirty="0">
                <a:effectLst/>
                <a:ea typeface="Carlito"/>
                <a:cs typeface="Carlito"/>
              </a:rPr>
              <a:t>for </a:t>
            </a:r>
            <a:r>
              <a:rPr lang="en-US" sz="2000" spc="-30" dirty="0">
                <a:effectLst/>
                <a:ea typeface="Carlito"/>
                <a:cs typeface="Carlito"/>
              </a:rPr>
              <a:t>memory and the other </a:t>
            </a:r>
            <a:r>
              <a:rPr lang="en-US" sz="2000" spc="-15" dirty="0">
                <a:effectLst/>
                <a:ea typeface="Carlito"/>
                <a:cs typeface="Carlito"/>
              </a:rPr>
              <a:t>for </a:t>
            </a:r>
            <a:r>
              <a:rPr lang="en-US" sz="2000" spc="-30" dirty="0">
                <a:effectLst/>
                <a:ea typeface="Carlito"/>
                <a:cs typeface="Carlito"/>
              </a:rPr>
              <a:t>I/O - (IOP)</a:t>
            </a:r>
            <a:endParaRPr lang="en-IN" sz="2000" spc="-30" dirty="0">
              <a:effectLst/>
              <a:ea typeface="Carlito"/>
              <a:cs typeface="Carlito"/>
            </a:endParaRPr>
          </a:p>
          <a:p>
            <a:pPr marL="800100" lvl="1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spc="-30" dirty="0">
                <a:effectLst/>
                <a:ea typeface="Carlito"/>
                <a:cs typeface="Carlito"/>
              </a:rPr>
              <a:t>Use one common bus </a:t>
            </a:r>
            <a:r>
              <a:rPr lang="en-US" sz="2000" spc="-15" dirty="0">
                <a:effectLst/>
                <a:ea typeface="Carlito"/>
                <a:cs typeface="Carlito"/>
              </a:rPr>
              <a:t>for </a:t>
            </a:r>
            <a:r>
              <a:rPr lang="en-US" sz="2000" spc="-30" dirty="0">
                <a:effectLst/>
                <a:ea typeface="Carlito"/>
                <a:cs typeface="Carlito"/>
              </a:rPr>
              <a:t>both memory and I/O but </a:t>
            </a:r>
            <a:r>
              <a:rPr lang="en-US" sz="2000" spc="-15" dirty="0">
                <a:effectLst/>
                <a:ea typeface="Carlito"/>
                <a:cs typeface="Carlito"/>
              </a:rPr>
              <a:t>have separate </a:t>
            </a:r>
            <a:r>
              <a:rPr lang="en-US" sz="2000" spc="-30" dirty="0">
                <a:effectLst/>
                <a:ea typeface="Carlito"/>
                <a:cs typeface="Carlito"/>
              </a:rPr>
              <a:t>control lines </a:t>
            </a:r>
            <a:r>
              <a:rPr lang="en-US" sz="2000" spc="-15" dirty="0">
                <a:effectLst/>
                <a:ea typeface="Carlito"/>
                <a:cs typeface="Carlito"/>
              </a:rPr>
              <a:t>for </a:t>
            </a:r>
            <a:r>
              <a:rPr lang="en-US" sz="2000" spc="-30" dirty="0">
                <a:effectLst/>
                <a:ea typeface="Carlito"/>
                <a:cs typeface="Carlito"/>
              </a:rPr>
              <a:t>each - (Isolated</a:t>
            </a:r>
            <a:r>
              <a:rPr lang="en-US" sz="2000" spc="-170" dirty="0">
                <a:effectLst/>
                <a:ea typeface="Carlito"/>
                <a:cs typeface="Carlito"/>
              </a:rPr>
              <a:t> </a:t>
            </a:r>
            <a:r>
              <a:rPr lang="en-US" sz="2000" spc="-30" dirty="0">
                <a:effectLst/>
                <a:ea typeface="Carlito"/>
                <a:cs typeface="Carlito"/>
              </a:rPr>
              <a:t>I/O)</a:t>
            </a:r>
            <a:endParaRPr lang="en-IN" sz="2000" spc="-30" dirty="0">
              <a:effectLst/>
              <a:ea typeface="Carlito"/>
              <a:cs typeface="Carlito"/>
            </a:endParaRPr>
          </a:p>
          <a:p>
            <a:pPr marL="800100" lvl="1" indent="-342900" algn="just">
              <a:lnSpc>
                <a:spcPts val="2800"/>
              </a:lnSpc>
              <a:spcBef>
                <a:spcPts val="245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spc="-30" dirty="0">
                <a:effectLst/>
                <a:ea typeface="Carlito"/>
                <a:cs typeface="Carlito"/>
              </a:rPr>
              <a:t>Use one common bus </a:t>
            </a:r>
            <a:r>
              <a:rPr lang="en-US" sz="2000" spc="-15" dirty="0">
                <a:effectLst/>
                <a:ea typeface="Carlito"/>
                <a:cs typeface="Carlito"/>
              </a:rPr>
              <a:t>for </a:t>
            </a:r>
            <a:r>
              <a:rPr lang="en-US" sz="2000" spc="-30" dirty="0">
                <a:effectLst/>
                <a:ea typeface="Carlito"/>
                <a:cs typeface="Carlito"/>
              </a:rPr>
              <a:t>memory and I/O with common control lines - (Memory Mapped</a:t>
            </a:r>
            <a:r>
              <a:rPr lang="en-US" sz="2000" spc="-155" dirty="0">
                <a:effectLst/>
                <a:ea typeface="Carlito"/>
                <a:cs typeface="Carlito"/>
              </a:rPr>
              <a:t> </a:t>
            </a:r>
            <a:r>
              <a:rPr lang="en-US" sz="2000" spc="-30" dirty="0">
                <a:effectLst/>
                <a:ea typeface="Carlito"/>
                <a:cs typeface="Carlito"/>
              </a:rPr>
              <a:t>I/O)</a:t>
            </a:r>
            <a:endParaRPr lang="en-IN" sz="2000" spc="-30" dirty="0">
              <a:effectLst/>
              <a:ea typeface="Carlito"/>
              <a:cs typeface="Carlito"/>
            </a:endParaRPr>
          </a:p>
          <a:p>
            <a:pPr algn="just">
              <a:lnSpc>
                <a:spcPts val="28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5465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FFCF44-4768-5BF8-CBD7-B92147D6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4475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Isolated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B3AE2F-735A-F6D2-44E7-5E48E801C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8942" y="889454"/>
            <a:ext cx="9797144" cy="4351338"/>
          </a:xfrm>
        </p:spPr>
        <p:txBody>
          <a:bodyPr>
            <a:normAutofit/>
          </a:bodyPr>
          <a:lstStyle/>
          <a:p>
            <a:pPr marL="342900" lvl="0" indent="-342900" algn="just">
              <a:spcBef>
                <a:spcPts val="65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Isolated I/O uses one common bus to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information between memory or I/O and the</a:t>
            </a:r>
            <a:r>
              <a:rPr lang="en-US" sz="2000" spc="-17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CPU.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 distinction between a memory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 I/O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is made through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separate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read and write</a:t>
            </a:r>
            <a:r>
              <a:rPr lang="en-US" sz="2000" spc="-16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lines.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527685" lvl="0" indent="-342900" algn="just">
              <a:lnSpc>
                <a:spcPct val="113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read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write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control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lines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are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enabled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during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transfer.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memory</a:t>
            </a:r>
            <a:r>
              <a:rPr lang="en-US" sz="2000" spc="-20" dirty="0"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read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memory write control lines are enabled during a memory</a:t>
            </a:r>
            <a:r>
              <a:rPr lang="en-US" sz="2000" spc="-6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transfer.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52425" lvl="0" indent="-342900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This configuration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isolates all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 interface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addresses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from 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addresses assigned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to memory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is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referred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to as the isolated I/O method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for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assigning addresses in a common</a:t>
            </a:r>
            <a:r>
              <a:rPr lang="en-US" sz="2000" spc="-8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64490" lvl="0" indent="-342900" algn="just">
              <a:lnSpc>
                <a:spcPct val="1130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isolated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method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isolates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memory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addresses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so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that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memory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address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values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are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not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affected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by interface address assignment since each has its own address</a:t>
            </a:r>
            <a:r>
              <a:rPr lang="en-US" sz="2000" spc="-8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space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76693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01D70D-8A51-9408-07DB-4CCA4497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-266246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Memory Mapped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C1F2D8-B08E-9A55-BB23-7A19A9842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863374"/>
            <a:ext cx="9851571" cy="4351338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ts val="2840"/>
              </a:lnSpc>
              <a:spcBef>
                <a:spcPts val="65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Memory mapped I/O use the same address space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for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both memory and</a:t>
            </a:r>
            <a:r>
              <a:rPr lang="en-US" sz="2000" spc="-7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4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employ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only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one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set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of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read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write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signals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do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not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distinguish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between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memory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addresses.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4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 computer treats an interface register as being part of the memory</a:t>
            </a:r>
            <a:r>
              <a:rPr lang="en-US" sz="2000" spc="-1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system.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20040" lvl="0" indent="-342900" algn="just">
              <a:lnSpc>
                <a:spcPts val="284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assigned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addresses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for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interface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registers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cannot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be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used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for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memory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words,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which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reduces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memory address range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available.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40"/>
              </a:lnSpc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There are no specific input or output</a:t>
            </a:r>
            <a:r>
              <a:rPr lang="en-US" sz="20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instructions.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518795" lvl="0" indent="-342900" algn="just">
              <a:lnSpc>
                <a:spcPts val="284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CPU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can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manipulate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I/O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residing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interface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registers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with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same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instructions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that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are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used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to manipulate memory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words.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74015" lvl="0" indent="-342900" algn="just">
              <a:lnSpc>
                <a:spcPts val="284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advantage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that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load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store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instructions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used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for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reading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writing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from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memory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can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be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used to input and output data from I/O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registers.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algn="just">
              <a:lnSpc>
                <a:spcPts val="284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41213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524" y="518149"/>
            <a:ext cx="5259891" cy="5551714"/>
          </a:xfrm>
        </p:spPr>
        <p:txBody>
          <a:bodyPr>
            <a:noAutofit/>
          </a:bodyPr>
          <a:lstStyle/>
          <a:p>
            <a:pPr marL="0" indent="0" algn="just">
              <a:lnSpc>
                <a:spcPts val="2020"/>
              </a:lnSpc>
              <a:buNone/>
            </a:pPr>
            <a:endParaRPr lang="en-IN" sz="1700" b="1" dirty="0"/>
          </a:p>
          <a:p>
            <a:pPr algn="just">
              <a:lnSpc>
                <a:spcPts val="2020"/>
              </a:lnSpc>
              <a:spcBef>
                <a:spcPts val="0"/>
              </a:spcBef>
            </a:pPr>
            <a:r>
              <a:rPr lang="en-IN" sz="1700" b="1" dirty="0"/>
              <a:t>I/O interface  </a:t>
            </a:r>
            <a:r>
              <a:rPr lang="en-IN" sz="1700" dirty="0"/>
              <a:t>consists of  - 2 data registers (ports), Control register, Status register, Bus buffers, Timing and control circuits</a:t>
            </a:r>
          </a:p>
          <a:p>
            <a:pPr algn="just">
              <a:lnSpc>
                <a:spcPts val="2020"/>
              </a:lnSpc>
              <a:spcBef>
                <a:spcPts val="0"/>
              </a:spcBef>
            </a:pPr>
            <a:r>
              <a:rPr lang="en-IN" sz="1700" b="1" dirty="0"/>
              <a:t>Interface</a:t>
            </a:r>
            <a:r>
              <a:rPr lang="en-IN" sz="1700" dirty="0"/>
              <a:t> communicates with </a:t>
            </a:r>
            <a:r>
              <a:rPr lang="en-IN" sz="1700" b="1" dirty="0"/>
              <a:t>CPU</a:t>
            </a:r>
            <a:r>
              <a:rPr lang="en-IN" sz="1700" dirty="0"/>
              <a:t> through data bus</a:t>
            </a:r>
            <a:endParaRPr lang="en-IN" sz="1700" b="1" dirty="0"/>
          </a:p>
          <a:p>
            <a:pPr algn="just">
              <a:lnSpc>
                <a:spcPts val="2020"/>
              </a:lnSpc>
              <a:spcBef>
                <a:spcPts val="0"/>
              </a:spcBef>
            </a:pPr>
            <a:r>
              <a:rPr lang="en-IN" sz="1700" b="1" dirty="0"/>
              <a:t>CS </a:t>
            </a:r>
            <a:r>
              <a:rPr lang="en-IN" sz="1700" dirty="0"/>
              <a:t>and </a:t>
            </a:r>
            <a:r>
              <a:rPr lang="en-IN" sz="1700" b="1" dirty="0"/>
              <a:t>RS-0,1 </a:t>
            </a:r>
            <a:r>
              <a:rPr lang="en-IN" sz="1700" dirty="0"/>
              <a:t>inputs determine the ADDRESS assigned to the interface</a:t>
            </a:r>
          </a:p>
          <a:p>
            <a:pPr algn="just">
              <a:lnSpc>
                <a:spcPts val="2020"/>
              </a:lnSpc>
              <a:spcBef>
                <a:spcPts val="0"/>
              </a:spcBef>
            </a:pPr>
            <a:r>
              <a:rPr lang="en-IN" sz="1700" b="1" dirty="0"/>
              <a:t>I/O read </a:t>
            </a:r>
            <a:r>
              <a:rPr lang="en-IN" sz="1700" dirty="0"/>
              <a:t>and </a:t>
            </a:r>
            <a:r>
              <a:rPr lang="en-IN" sz="1700" b="1" dirty="0"/>
              <a:t>write</a:t>
            </a:r>
            <a:r>
              <a:rPr lang="en-IN" sz="1700" dirty="0"/>
              <a:t> - Control lines to specify input or output operation</a:t>
            </a:r>
          </a:p>
          <a:p>
            <a:pPr algn="just">
              <a:lnSpc>
                <a:spcPts val="2020"/>
              </a:lnSpc>
              <a:spcBef>
                <a:spcPts val="0"/>
              </a:spcBef>
            </a:pPr>
            <a:r>
              <a:rPr lang="en-IN" sz="1700" b="1" dirty="0"/>
              <a:t>Four registers </a:t>
            </a:r>
            <a:r>
              <a:rPr lang="en-IN" sz="1700" dirty="0"/>
              <a:t>communicate directly with </a:t>
            </a:r>
            <a:r>
              <a:rPr lang="en-IN" sz="1700" b="1" dirty="0"/>
              <a:t>I/O device attached</a:t>
            </a:r>
            <a:r>
              <a:rPr lang="en-IN" sz="1700" dirty="0"/>
              <a:t> to the </a:t>
            </a:r>
            <a:r>
              <a:rPr lang="en-IN" sz="1700" b="1" dirty="0"/>
              <a:t>interface</a:t>
            </a:r>
          </a:p>
          <a:p>
            <a:pPr algn="just">
              <a:lnSpc>
                <a:spcPts val="2020"/>
              </a:lnSpc>
              <a:spcBef>
                <a:spcPts val="0"/>
              </a:spcBef>
            </a:pPr>
            <a:r>
              <a:rPr lang="en-IN" sz="1700" dirty="0">
                <a:solidFill>
                  <a:srgbClr val="00B050"/>
                </a:solidFill>
              </a:rPr>
              <a:t>ADDRESS BUS selects interface unit using RS0, RS1, CS</a:t>
            </a:r>
            <a:endParaRPr lang="en-IN" sz="1700" dirty="0"/>
          </a:p>
          <a:p>
            <a:pPr algn="just">
              <a:lnSpc>
                <a:spcPts val="2020"/>
              </a:lnSpc>
              <a:spcBef>
                <a:spcPts val="0"/>
              </a:spcBef>
            </a:pPr>
            <a:r>
              <a:rPr lang="en-IN" sz="1700" dirty="0"/>
              <a:t>When a </a:t>
            </a:r>
            <a:r>
              <a:rPr lang="en-IN" sz="1700" b="1" dirty="0"/>
              <a:t>interface unit </a:t>
            </a:r>
            <a:r>
              <a:rPr lang="en-IN" sz="1700" dirty="0"/>
              <a:t>is </a:t>
            </a:r>
            <a:r>
              <a:rPr lang="en-IN" sz="1700" b="1" dirty="0"/>
              <a:t>selected</a:t>
            </a:r>
            <a:r>
              <a:rPr lang="en-IN" sz="1700" dirty="0"/>
              <a:t> by the </a:t>
            </a:r>
            <a:r>
              <a:rPr lang="en-IN" sz="1700" b="1" dirty="0"/>
              <a:t>address bus</a:t>
            </a:r>
            <a:r>
              <a:rPr lang="en-IN" sz="1700" dirty="0"/>
              <a:t>, </a:t>
            </a:r>
          </a:p>
          <a:p>
            <a:pPr marL="444500" lvl="1" indent="-174625" algn="just">
              <a:lnSpc>
                <a:spcPts val="2020"/>
              </a:lnSpc>
              <a:spcBef>
                <a:spcPts val="0"/>
              </a:spcBef>
              <a:buFont typeface="System Font Regular"/>
              <a:buChar char="⁃"/>
            </a:pPr>
            <a:r>
              <a:rPr lang="en-IN" sz="1700" b="1" dirty="0"/>
              <a:t>CS</a:t>
            </a:r>
            <a:r>
              <a:rPr lang="en-IN" sz="1700" dirty="0"/>
              <a:t> is </a:t>
            </a:r>
            <a:r>
              <a:rPr lang="en-IN" sz="1700" b="1" dirty="0"/>
              <a:t>enabled, RS1</a:t>
            </a:r>
            <a:r>
              <a:rPr lang="en-IN" sz="1700" dirty="0"/>
              <a:t> and </a:t>
            </a:r>
            <a:r>
              <a:rPr lang="en-IN" sz="1700" b="1" dirty="0"/>
              <a:t>RS0</a:t>
            </a:r>
            <a:r>
              <a:rPr lang="en-IN" sz="1700" dirty="0"/>
              <a:t> select </a:t>
            </a:r>
            <a:r>
              <a:rPr lang="en-IN" sz="1700" b="1" dirty="0"/>
              <a:t>one of the four registers </a:t>
            </a:r>
            <a:r>
              <a:rPr lang="en-IN" sz="1700" dirty="0"/>
              <a:t>(RS1, RS0 are connected to the </a:t>
            </a:r>
            <a:r>
              <a:rPr lang="en-IN" sz="1700" b="1" dirty="0"/>
              <a:t>two least significant lines </a:t>
            </a:r>
            <a:r>
              <a:rPr lang="en-IN" sz="1700" dirty="0"/>
              <a:t>of </a:t>
            </a:r>
            <a:r>
              <a:rPr lang="en-IN" sz="1700" b="1" dirty="0"/>
              <a:t>address bus</a:t>
            </a:r>
            <a:r>
              <a:rPr lang="en-IN" sz="1700" dirty="0"/>
              <a:t>).</a:t>
            </a:r>
          </a:p>
          <a:p>
            <a:pPr marL="444500" lvl="1" indent="-174625">
              <a:lnSpc>
                <a:spcPts val="2020"/>
              </a:lnSpc>
              <a:spcBef>
                <a:spcPts val="0"/>
              </a:spcBef>
              <a:buFont typeface="System Font Regular"/>
              <a:buChar char="⁃"/>
            </a:pPr>
            <a:r>
              <a:rPr lang="en-IN" sz="1700" b="1" dirty="0"/>
              <a:t>Content</a:t>
            </a:r>
            <a:r>
              <a:rPr lang="en-IN" sz="1700" dirty="0"/>
              <a:t> of </a:t>
            </a:r>
            <a:r>
              <a:rPr lang="en-IN" sz="1700" b="1" dirty="0"/>
              <a:t>selected register </a:t>
            </a:r>
            <a:r>
              <a:rPr lang="en-IN" sz="1700" dirty="0"/>
              <a:t>is </a:t>
            </a:r>
            <a:r>
              <a:rPr lang="en-IN" sz="1700" b="1" dirty="0"/>
              <a:t>transferred </a:t>
            </a:r>
            <a:r>
              <a:rPr lang="en-IN" sz="1700" dirty="0"/>
              <a:t>to </a:t>
            </a:r>
            <a:r>
              <a:rPr lang="en-IN" sz="1700" b="1" dirty="0"/>
              <a:t>CPU</a:t>
            </a:r>
            <a:r>
              <a:rPr lang="en-IN" sz="1700" dirty="0"/>
              <a:t> via </a:t>
            </a:r>
            <a:r>
              <a:rPr lang="en-IN" sz="1700" b="1" dirty="0"/>
              <a:t>data bus </a:t>
            </a:r>
            <a:r>
              <a:rPr lang="en-IN" sz="1700" dirty="0"/>
              <a:t>when </a:t>
            </a:r>
            <a:r>
              <a:rPr lang="en-IN" sz="1700" b="1" dirty="0"/>
              <a:t>I/O </a:t>
            </a:r>
            <a:r>
              <a:rPr lang="en-IN" sz="1700" b="1" dirty="0">
                <a:solidFill>
                  <a:srgbClr val="FF0000"/>
                </a:solidFill>
              </a:rPr>
              <a:t>READ</a:t>
            </a:r>
            <a:r>
              <a:rPr lang="en-IN" sz="1700" b="1" dirty="0"/>
              <a:t> signal </a:t>
            </a:r>
            <a:r>
              <a:rPr lang="en-IN" sz="1700" dirty="0"/>
              <a:t>is</a:t>
            </a:r>
            <a:r>
              <a:rPr lang="en-IN" sz="1700" b="1" dirty="0"/>
              <a:t> enabled.</a:t>
            </a:r>
            <a:endParaRPr lang="en-IN" sz="1700" dirty="0"/>
          </a:p>
          <a:p>
            <a:pPr marL="444500" lvl="1" indent="-174625">
              <a:lnSpc>
                <a:spcPts val="2020"/>
              </a:lnSpc>
              <a:spcBef>
                <a:spcPts val="0"/>
              </a:spcBef>
              <a:buFont typeface="System Font Regular"/>
              <a:buChar char="⁃"/>
            </a:pPr>
            <a:r>
              <a:rPr lang="en-IN" sz="1700" b="1" dirty="0"/>
              <a:t>CPU</a:t>
            </a:r>
            <a:r>
              <a:rPr lang="en-IN" sz="1700" dirty="0"/>
              <a:t> transfers binary </a:t>
            </a:r>
            <a:r>
              <a:rPr lang="en-IN" sz="1700" b="1" dirty="0"/>
              <a:t>information</a:t>
            </a:r>
            <a:r>
              <a:rPr lang="en-IN" sz="1700" dirty="0"/>
              <a:t> to </a:t>
            </a:r>
            <a:r>
              <a:rPr lang="en-IN" sz="1700" b="1" dirty="0"/>
              <a:t>selected register</a:t>
            </a:r>
            <a:r>
              <a:rPr lang="en-IN" sz="1700" dirty="0"/>
              <a:t> via the </a:t>
            </a:r>
            <a:r>
              <a:rPr lang="en-IN" sz="1700" b="1" dirty="0"/>
              <a:t>data bus </a:t>
            </a:r>
            <a:r>
              <a:rPr lang="en-IN" sz="1700" dirty="0"/>
              <a:t>when </a:t>
            </a:r>
            <a:r>
              <a:rPr lang="en-IN" sz="1700" b="1" dirty="0"/>
              <a:t>I/O </a:t>
            </a:r>
            <a:r>
              <a:rPr lang="en-IN" sz="1700" b="1" dirty="0">
                <a:solidFill>
                  <a:srgbClr val="FF0000"/>
                </a:solidFill>
              </a:rPr>
              <a:t>WRITE</a:t>
            </a:r>
            <a:r>
              <a:rPr lang="en-IN" sz="1700" b="1" dirty="0"/>
              <a:t> input</a:t>
            </a:r>
            <a:r>
              <a:rPr lang="en-IN" sz="1700" dirty="0"/>
              <a:t> is </a:t>
            </a:r>
            <a:r>
              <a:rPr lang="en-IN" sz="1700" b="1" dirty="0"/>
              <a:t>enabled.</a:t>
            </a:r>
            <a:endParaRPr lang="en-IN" sz="1700" dirty="0"/>
          </a:p>
          <a:p>
            <a:pPr algn="just">
              <a:lnSpc>
                <a:spcPts val="2020"/>
              </a:lnSpc>
            </a:pPr>
            <a:endParaRPr lang="en-IN" sz="17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t="1299" b="34610"/>
          <a:stretch>
            <a:fillRect/>
          </a:stretch>
        </p:blipFill>
        <p:spPr bwMode="auto">
          <a:xfrm>
            <a:off x="6576646" y="805543"/>
            <a:ext cx="4515896" cy="3427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742" y="4212772"/>
            <a:ext cx="3733800" cy="1763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EC8480F-1351-C0BA-50AB-BD3E53DC06A8}"/>
              </a:ext>
            </a:extLst>
          </p:cNvPr>
          <p:cNvSpPr txBox="1"/>
          <p:nvPr/>
        </p:nvSpPr>
        <p:spPr>
          <a:xfrm>
            <a:off x="3325585" y="164206"/>
            <a:ext cx="75546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Example of I/O INTERFACE UNIT</a:t>
            </a:r>
          </a:p>
          <a:p>
            <a:pPr>
              <a:buNone/>
            </a:pP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0936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D45B29-2DA9-0D8A-929C-A5338E3C9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28" y="-244475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Data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CEFE8F-928D-5F5D-E5AF-75F8A221B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829" y="954768"/>
            <a:ext cx="9731828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ts val="2860"/>
              </a:lnSpc>
              <a:spcBef>
                <a:spcPts val="650"/>
              </a:spcBef>
              <a:buNone/>
            </a:pPr>
            <a:r>
              <a:rPr lang="en-US" sz="2000" b="1" dirty="0">
                <a:effectLst/>
                <a:ea typeface="Carlito"/>
                <a:cs typeface="Carlito"/>
              </a:rPr>
              <a:t>Synchronous Data Transfer</a:t>
            </a:r>
            <a:endParaRPr lang="en-IN" sz="2000" b="1" dirty="0">
              <a:effectLst/>
              <a:ea typeface="Carlito"/>
              <a:cs typeface="Carlito"/>
            </a:endParaRPr>
          </a:p>
          <a:p>
            <a:pPr lvl="0" algn="just">
              <a:lnSpc>
                <a:spcPts val="2860"/>
              </a:lnSpc>
              <a:spcBef>
                <a:spcPts val="220"/>
              </a:spcBef>
              <a:buSzPts val="1400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Internal operations are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synchronized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by means of clock pulses.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lvl="0" algn="just">
              <a:lnSpc>
                <a:spcPts val="2860"/>
              </a:lnSpc>
              <a:spcBef>
                <a:spcPts val="240"/>
              </a:spcBef>
              <a:buSzPts val="1400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All data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transfers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among internal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registers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occur simultaneously during the occurrence of a clock</a:t>
            </a:r>
            <a:r>
              <a:rPr lang="en-US" sz="2000" spc="-15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pulse.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lvl="0" algn="just">
              <a:lnSpc>
                <a:spcPts val="2860"/>
              </a:lnSpc>
              <a:spcBef>
                <a:spcPts val="240"/>
              </a:spcBef>
              <a:buSzPts val="1400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registers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 the interface share a common clock with the CPU</a:t>
            </a:r>
            <a:r>
              <a:rPr lang="en-US" sz="2000" spc="-7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registers.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0" indent="0" algn="just">
              <a:lnSpc>
                <a:spcPts val="2860"/>
              </a:lnSpc>
              <a:buNone/>
            </a:pPr>
            <a:r>
              <a:rPr lang="en-US" sz="2000" b="1" dirty="0">
                <a:effectLst/>
                <a:ea typeface="Carlito"/>
                <a:cs typeface="Carlito"/>
              </a:rPr>
              <a:t>Asynchronous Data Transfer</a:t>
            </a:r>
            <a:endParaRPr lang="en-IN" sz="2000" b="1" dirty="0">
              <a:effectLst/>
              <a:ea typeface="Carlito"/>
              <a:cs typeface="Carlito"/>
            </a:endParaRPr>
          </a:p>
          <a:p>
            <a:pPr marR="289560" lvl="0" algn="just">
              <a:lnSpc>
                <a:spcPts val="2860"/>
              </a:lnSpc>
              <a:spcBef>
                <a:spcPts val="220"/>
              </a:spcBef>
              <a:spcAft>
                <a:spcPts val="0"/>
              </a:spcAft>
              <a:buSzPts val="1400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requires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that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control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signals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be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transmitted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between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communicating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units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indicate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time</a:t>
            </a:r>
            <a:r>
              <a:rPr lang="en-US" sz="20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at</a:t>
            </a:r>
            <a:r>
              <a:rPr lang="en-US" sz="2000" spc="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which data is being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transmitted.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lvl="0" algn="just">
              <a:lnSpc>
                <a:spcPts val="2860"/>
              </a:lnSpc>
              <a:spcBef>
                <a:spcPts val="5"/>
              </a:spcBef>
              <a:buSzPts val="1400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Internal timing of each unit (interface and CPU) is</a:t>
            </a:r>
            <a:r>
              <a:rPr lang="en-US" sz="2000" spc="-7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independent.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lvl="0" algn="just">
              <a:lnSpc>
                <a:spcPts val="2860"/>
              </a:lnSpc>
              <a:spcBef>
                <a:spcPts val="240"/>
              </a:spcBef>
              <a:buSzPts val="1400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Each unit uses its own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private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clock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for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internal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registers.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algn="just">
              <a:lnSpc>
                <a:spcPts val="286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7354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0C2414-208B-0867-E908-69BC525DC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-255360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Strobe Control and Handshaking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9D6491-562F-F12C-5CF6-74361CC3C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157" y="889453"/>
            <a:ext cx="9737272" cy="4923518"/>
          </a:xfrm>
        </p:spPr>
        <p:txBody>
          <a:bodyPr>
            <a:normAutofit/>
          </a:bodyPr>
          <a:lstStyle/>
          <a:p>
            <a:pPr marL="231775" marR="321310" lvl="0" indent="-231775" algn="just">
              <a:lnSpc>
                <a:spcPts val="2840"/>
              </a:lnSpc>
              <a:spcBef>
                <a:spcPts val="65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Asynchronous data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between two independent units requires that control signals be transmitted between the communicating units to indicate the time at which data is being</a:t>
            </a:r>
            <a:r>
              <a:rPr lang="en-US" sz="2000" spc="-19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transmitted.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marR="295910" lvl="0" indent="-231775" algn="just">
              <a:lnSpc>
                <a:spcPts val="284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One 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way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of achieving this is by means of a </a:t>
            </a:r>
            <a:r>
              <a:rPr lang="en-US" sz="2000" b="1" spc="-45" dirty="0">
                <a:effectLst/>
                <a:ea typeface="Arial" panose="020B0604020202020204" pitchFamily="34" charset="0"/>
                <a:cs typeface="Carlito"/>
              </a:rPr>
              <a:t>strobe pulse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supplied by one of the units to indicate to the other unit when the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has to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occur.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marR="312420" lvl="0" indent="-231775" algn="just">
              <a:lnSpc>
                <a:spcPts val="284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Another method commonly used is to accompany each data item being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transferred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with a control signal that indicates the presence of data in the</a:t>
            </a:r>
            <a:r>
              <a:rPr lang="en-US" sz="20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lvl="0" indent="-231775" algn="just">
              <a:lnSpc>
                <a:spcPts val="2840"/>
              </a:lnSpc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unit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receiving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item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responds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with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another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control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signal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acknowledge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receipt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of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data.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lvl="0" indent="-231775" algn="just">
              <a:lnSpc>
                <a:spcPts val="284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This type of agreement between two independent units is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referred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to as</a:t>
            </a:r>
            <a:r>
              <a:rPr lang="en-US" sz="2000" spc="-7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b="1" spc="-45" dirty="0">
                <a:effectLst/>
                <a:ea typeface="Arial" panose="020B0604020202020204" pitchFamily="34" charset="0"/>
                <a:cs typeface="Carlito"/>
              </a:rPr>
              <a:t>handshaking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marR="313690" lvl="0" indent="-231775" algn="just">
              <a:lnSpc>
                <a:spcPts val="284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 strobe pulse method and the handshaking method of asynchronous data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are not restricted to I/O</a:t>
            </a:r>
            <a:r>
              <a:rPr lang="en-US" sz="2000" spc="-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transfers.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algn="just">
              <a:lnSpc>
                <a:spcPts val="284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88278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20B310-834A-8617-99E9-8783C8291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3" y="-277132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Strobe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592000-5013-C9D1-9F42-47009A030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857" y="874212"/>
            <a:ext cx="9982200" cy="4351338"/>
          </a:xfrm>
        </p:spPr>
        <p:txBody>
          <a:bodyPr>
            <a:noAutofit/>
          </a:bodyPr>
          <a:lstStyle/>
          <a:p>
            <a:pPr marL="342900" marR="311150" lvl="0" indent="-342900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400" dirty="0">
                <a:effectLst/>
                <a:ea typeface="Carlito"/>
                <a:cs typeface="Carlito"/>
              </a:rPr>
              <a:t>It employs a </a:t>
            </a:r>
            <a:r>
              <a:rPr lang="en-US" sz="2400" dirty="0">
                <a:solidFill>
                  <a:srgbClr val="0070C0"/>
                </a:solidFill>
                <a:effectLst/>
                <a:ea typeface="Carlito"/>
                <a:cs typeface="Carlito"/>
              </a:rPr>
              <a:t>single control line </a:t>
            </a:r>
            <a:r>
              <a:rPr lang="en-US" sz="2400" dirty="0">
                <a:effectLst/>
                <a:ea typeface="Carlito"/>
                <a:cs typeface="Carlito"/>
              </a:rPr>
              <a:t>to time each</a:t>
            </a:r>
            <a:r>
              <a:rPr lang="en-US" sz="2400" spc="-60" dirty="0">
                <a:effectLst/>
                <a:ea typeface="Carlito"/>
                <a:cs typeface="Carlito"/>
              </a:rPr>
              <a:t> </a:t>
            </a:r>
            <a:r>
              <a:rPr lang="en-US" sz="2400" spc="-30" dirty="0">
                <a:effectLst/>
                <a:ea typeface="Carlito"/>
                <a:cs typeface="Carlito"/>
              </a:rPr>
              <a:t>transfer</a:t>
            </a:r>
            <a:r>
              <a:rPr lang="en-IN" sz="2400" spc="-30" dirty="0">
                <a:ea typeface="Carlito"/>
                <a:cs typeface="Carlito"/>
              </a:rPr>
              <a:t>.</a:t>
            </a:r>
            <a:endParaRPr lang="en-IN" sz="2400" dirty="0">
              <a:effectLst/>
            </a:endParaRPr>
          </a:p>
          <a:p>
            <a:pPr marL="342900" marR="311150" lvl="0" indent="-342900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400" dirty="0">
                <a:effectLst/>
                <a:ea typeface="Carlito"/>
                <a:cs typeface="Carlito"/>
              </a:rPr>
              <a:t>The strobe </a:t>
            </a:r>
            <a:r>
              <a:rPr lang="en-US" sz="2400" spc="-15" dirty="0">
                <a:effectLst/>
                <a:ea typeface="Carlito"/>
                <a:cs typeface="Carlito"/>
              </a:rPr>
              <a:t>may </a:t>
            </a:r>
            <a:r>
              <a:rPr lang="en-US" sz="2400" dirty="0">
                <a:effectLst/>
                <a:ea typeface="Carlito"/>
                <a:cs typeface="Carlito"/>
              </a:rPr>
              <a:t>be </a:t>
            </a:r>
            <a:r>
              <a:rPr lang="en-US" sz="2400" dirty="0">
                <a:solidFill>
                  <a:srgbClr val="0070C0"/>
                </a:solidFill>
              </a:rPr>
              <a:t>activated by either source or destination </a:t>
            </a:r>
            <a:r>
              <a:rPr lang="en-US" sz="2400" dirty="0">
                <a:effectLst/>
                <a:ea typeface="Carlito"/>
                <a:cs typeface="Carlito"/>
              </a:rPr>
              <a:t>unit</a:t>
            </a:r>
            <a:r>
              <a:rPr lang="en-IN" sz="2400" dirty="0">
                <a:ea typeface="Carlito"/>
                <a:cs typeface="Carlito"/>
              </a:rPr>
              <a:t>.</a:t>
            </a:r>
            <a:endParaRPr lang="en-IN" sz="2400" dirty="0"/>
          </a:p>
          <a:p>
            <a:pPr marL="342900" marR="311150" lvl="0" indent="-342900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400" dirty="0">
                <a:effectLst/>
                <a:ea typeface="Carlito"/>
                <a:cs typeface="Carlito"/>
              </a:rPr>
              <a:t>The data bus carries binary information from source to the</a:t>
            </a:r>
            <a:r>
              <a:rPr lang="en-US" sz="2400" spc="-110" dirty="0">
                <a:effectLst/>
                <a:ea typeface="Carlito"/>
                <a:cs typeface="Carlito"/>
              </a:rPr>
              <a:t> </a:t>
            </a:r>
            <a:r>
              <a:rPr lang="en-US" sz="2400" dirty="0">
                <a:effectLst/>
                <a:ea typeface="Carlito"/>
                <a:cs typeface="Carlito"/>
              </a:rPr>
              <a:t>destination</a:t>
            </a:r>
            <a:r>
              <a:rPr lang="en-IN" sz="2400" dirty="0">
                <a:effectLst/>
              </a:rPr>
              <a:t> </a:t>
            </a:r>
          </a:p>
          <a:p>
            <a:pPr marL="342900" marR="311150" indent="-342900" algn="just">
              <a:lnSpc>
                <a:spcPct val="150000"/>
              </a:lnSpc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400" dirty="0">
                <a:effectLst/>
                <a:ea typeface="Carlito"/>
                <a:cs typeface="Carlito"/>
              </a:rPr>
              <a:t>The </a:t>
            </a:r>
            <a:r>
              <a:rPr lang="en-US" sz="2400" b="1" dirty="0">
                <a:effectLst/>
                <a:ea typeface="Carlito"/>
                <a:cs typeface="Carlito"/>
              </a:rPr>
              <a:t>strobe</a:t>
            </a:r>
            <a:r>
              <a:rPr lang="en-US" sz="2400" b="1" dirty="0">
                <a:ea typeface="Carlito"/>
                <a:cs typeface="Carlito"/>
              </a:rPr>
              <a:t> </a:t>
            </a:r>
            <a:r>
              <a:rPr lang="en-US" sz="2400" dirty="0">
                <a:effectLst/>
                <a:ea typeface="Carlito"/>
                <a:cs typeface="Carlito"/>
              </a:rPr>
              <a:t>is a single</a:t>
            </a:r>
            <a:r>
              <a:rPr lang="en-US" sz="2400" dirty="0">
                <a:ea typeface="Carlito"/>
                <a:cs typeface="Carlito"/>
              </a:rPr>
              <a:t> </a:t>
            </a:r>
            <a:r>
              <a:rPr lang="en-US" sz="2400" dirty="0">
                <a:effectLst/>
                <a:ea typeface="Carlito"/>
                <a:cs typeface="Carlito"/>
              </a:rPr>
              <a:t>line</a:t>
            </a:r>
            <a:r>
              <a:rPr lang="en-US" sz="2400" dirty="0">
                <a:ea typeface="Carlito"/>
                <a:cs typeface="Carlito"/>
              </a:rPr>
              <a:t> </a:t>
            </a:r>
            <a:r>
              <a:rPr lang="en-US" sz="2400" dirty="0">
                <a:effectLst/>
                <a:ea typeface="Carlito"/>
                <a:cs typeface="Carlito"/>
              </a:rPr>
              <a:t>that</a:t>
            </a:r>
            <a:r>
              <a:rPr lang="en-US" sz="2400" dirty="0">
                <a:ea typeface="Carlito"/>
                <a:cs typeface="Carlito"/>
              </a:rPr>
              <a:t> </a:t>
            </a:r>
            <a:r>
              <a:rPr lang="en-US" sz="2400" dirty="0">
                <a:solidFill>
                  <a:srgbClr val="0070C0"/>
                </a:solidFill>
              </a:rPr>
              <a:t>informs</a:t>
            </a:r>
            <a:r>
              <a:rPr lang="en-US" sz="2400" dirty="0">
                <a:ea typeface="Carlito"/>
                <a:cs typeface="Carlito"/>
              </a:rPr>
              <a:t> </a:t>
            </a:r>
            <a:r>
              <a:rPr lang="en-US" sz="2400" dirty="0">
                <a:effectLst/>
                <a:ea typeface="Carlito"/>
                <a:cs typeface="Carlito"/>
              </a:rPr>
              <a:t>the </a:t>
            </a:r>
            <a:r>
              <a:rPr lang="en-US" sz="2400" dirty="0">
                <a:solidFill>
                  <a:srgbClr val="0070C0"/>
                </a:solidFill>
              </a:rPr>
              <a:t>destination</a:t>
            </a:r>
            <a:r>
              <a:rPr lang="en-US" sz="2400" dirty="0">
                <a:effectLst/>
                <a:ea typeface="Carlito"/>
                <a:cs typeface="Carlito"/>
              </a:rPr>
              <a:t> unit </a:t>
            </a:r>
            <a:r>
              <a:rPr lang="en-US" sz="2400" dirty="0">
                <a:solidFill>
                  <a:srgbClr val="0070C0"/>
                </a:solidFill>
              </a:rPr>
              <a:t>when a valid data word is available </a:t>
            </a:r>
            <a:r>
              <a:rPr lang="en-US" sz="2400" spc="-45" dirty="0">
                <a:effectLst/>
                <a:ea typeface="Arial" panose="020B0604020202020204" pitchFamily="34" charset="0"/>
                <a:cs typeface="Carlito"/>
              </a:rPr>
              <a:t>in the</a:t>
            </a:r>
            <a:r>
              <a:rPr lang="en-US" sz="24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400" spc="-45" dirty="0"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2400" spc="-45" dirty="0">
              <a:effectLst/>
              <a:ea typeface="Arial" panose="020B0604020202020204" pitchFamily="34" charset="0"/>
              <a:cs typeface="Carlito"/>
            </a:endParaRPr>
          </a:p>
          <a:p>
            <a:pPr algn="just"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7540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283A6E-1EFF-4AB5-6E3B-090A9D5B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5" y="-2771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Source and Destination initiated strobe for data transfer</a:t>
            </a:r>
          </a:p>
        </p:txBody>
      </p:sp>
      <p:pic>
        <p:nvPicPr>
          <p:cNvPr id="4" name="image7.jpeg">
            <a:extLst>
              <a:ext uri="{FF2B5EF4-FFF2-40B4-BE49-F238E27FC236}">
                <a16:creationId xmlns:a16="http://schemas.microsoft.com/office/drawing/2014/main" xmlns="" id="{76FD100B-D03A-0693-21E8-83B8A715F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12153" y="755470"/>
            <a:ext cx="4505174" cy="2497180"/>
          </a:xfrm>
          <a:prstGeom prst="rect">
            <a:avLst/>
          </a:prstGeom>
        </p:spPr>
      </p:pic>
      <p:pic>
        <p:nvPicPr>
          <p:cNvPr id="3074" name="Picture 2" descr="Lecture Notes-Computer Organization">
            <a:extLst>
              <a:ext uri="{FF2B5EF4-FFF2-40B4-BE49-F238E27FC236}">
                <a16:creationId xmlns:a16="http://schemas.microsoft.com/office/drawing/2014/main" xmlns="" id="{55992CBC-44AB-2F6B-23F7-0F03BD711B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31"/>
          <a:stretch/>
        </p:blipFill>
        <p:spPr bwMode="auto">
          <a:xfrm>
            <a:off x="6374674" y="755470"/>
            <a:ext cx="4759233" cy="249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CE286A1-C25B-45F7-134E-5484E8602F00}"/>
              </a:ext>
            </a:extLst>
          </p:cNvPr>
          <p:cNvSpPr txBox="1"/>
          <p:nvPr/>
        </p:nvSpPr>
        <p:spPr>
          <a:xfrm>
            <a:off x="760912" y="3352929"/>
            <a:ext cx="533508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2613" marR="311150" lvl="1" indent="-180975" algn="just">
              <a:spcBef>
                <a:spcPts val="5"/>
              </a:spcBef>
              <a:buSzPts val="1400"/>
              <a:buFont typeface="Arial" panose="020B0604020202020204" pitchFamily="34" charset="0"/>
              <a:buChar char="•"/>
              <a:tabLst>
                <a:tab pos="574675" algn="l"/>
              </a:tabLst>
            </a:pP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The source unit </a:t>
            </a:r>
            <a:r>
              <a:rPr lang="en-US" sz="1800" spc="-1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first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places the data on the data</a:t>
            </a:r>
            <a:r>
              <a:rPr lang="en-US" sz="1800" spc="-5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1800" spc="-45" dirty="0">
              <a:solidFill>
                <a:srgbClr val="0070C0"/>
              </a:solidFill>
              <a:effectLst/>
              <a:ea typeface="Arial" panose="020B0604020202020204" pitchFamily="34" charset="0"/>
              <a:cs typeface="Carlito"/>
            </a:endParaRPr>
          </a:p>
          <a:p>
            <a:pPr marL="582613" marR="311150" lvl="1" indent="-180975" algn="just">
              <a:spcBef>
                <a:spcPts val="5"/>
              </a:spcBef>
              <a:buSzPts val="1400"/>
              <a:buFont typeface="Arial" panose="020B0604020202020204" pitchFamily="34" charset="0"/>
              <a:buChar char="•"/>
              <a:tabLst>
                <a:tab pos="574675" algn="l"/>
              </a:tabLst>
            </a:pPr>
            <a:r>
              <a:rPr lang="en-US" sz="1800" dirty="0">
                <a:solidFill>
                  <a:srgbClr val="0070C0"/>
                </a:solidFill>
                <a:effectLst/>
                <a:ea typeface="Carlito"/>
                <a:cs typeface="Carlito"/>
              </a:rPr>
              <a:t>After brief</a:t>
            </a:r>
            <a:r>
              <a:rPr lang="en-US" sz="1800" dirty="0">
                <a:solidFill>
                  <a:srgbClr val="0070C0"/>
                </a:solidFill>
                <a:ea typeface="Carlito"/>
                <a:cs typeface="Carlito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ea typeface="Carlito"/>
                <a:cs typeface="Carlito"/>
              </a:rPr>
              <a:t>delay,</a:t>
            </a:r>
            <a:r>
              <a:rPr lang="en-US" sz="1800" dirty="0">
                <a:solidFill>
                  <a:srgbClr val="0070C0"/>
                </a:solidFill>
                <a:ea typeface="Carlito"/>
                <a:cs typeface="Carlito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ea typeface="Carlito"/>
                <a:cs typeface="Carlito"/>
              </a:rPr>
              <a:t>to ensure</a:t>
            </a:r>
            <a:r>
              <a:rPr lang="en-US" sz="1800" dirty="0">
                <a:solidFill>
                  <a:srgbClr val="0070C0"/>
                </a:solidFill>
                <a:ea typeface="Carlito"/>
                <a:cs typeface="Carlito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ea typeface="Carlito"/>
                <a:cs typeface="Carlito"/>
              </a:rPr>
              <a:t>that</a:t>
            </a:r>
            <a:r>
              <a:rPr lang="en-US" sz="1800" dirty="0">
                <a:solidFill>
                  <a:srgbClr val="0070C0"/>
                </a:solidFill>
                <a:ea typeface="Carlito"/>
                <a:cs typeface="Carlito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ea typeface="Carlito"/>
                <a:cs typeface="Carlito"/>
              </a:rPr>
              <a:t>data</a:t>
            </a:r>
            <a:r>
              <a:rPr lang="en-US" sz="1800" dirty="0">
                <a:solidFill>
                  <a:srgbClr val="0070C0"/>
                </a:solidFill>
                <a:ea typeface="Carlito"/>
                <a:cs typeface="Carlito"/>
              </a:rPr>
              <a:t> </a:t>
            </a:r>
            <a:r>
              <a:rPr lang="en-US" sz="1800" dirty="0">
                <a:solidFill>
                  <a:srgbClr val="0070C0"/>
                </a:solidFill>
                <a:effectLst/>
                <a:ea typeface="Carlito"/>
                <a:cs typeface="Carlito"/>
              </a:rPr>
              <a:t>settle to a steady state value,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source activates strobe</a:t>
            </a:r>
            <a:r>
              <a:rPr lang="en-US" sz="1800" spc="-30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pulse.</a:t>
            </a:r>
            <a:endParaRPr lang="en-IN" sz="1800" spc="-45" dirty="0">
              <a:solidFill>
                <a:srgbClr val="0070C0"/>
              </a:solidFill>
              <a:ea typeface="Arial" panose="020B0604020202020204" pitchFamily="34" charset="0"/>
              <a:cs typeface="Carlito"/>
            </a:endParaRPr>
          </a:p>
          <a:p>
            <a:pPr marL="582613" marR="311150" lvl="1" indent="-180975" algn="just">
              <a:spcBef>
                <a:spcPts val="5"/>
              </a:spcBef>
              <a:buSzPts val="1400"/>
              <a:buFont typeface="Arial" panose="020B0604020202020204" pitchFamily="34" charset="0"/>
              <a:buChar char="•"/>
              <a:tabLst>
                <a:tab pos="574675" algn="l"/>
              </a:tabLst>
            </a:pP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The information on data bus and the strobe signal remain in active </a:t>
            </a:r>
            <a:r>
              <a:rPr lang="en-US" sz="1800" spc="-1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state for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sufficient time period to allow the destination to receive data.</a:t>
            </a:r>
            <a:endParaRPr lang="en-IN" sz="1800" spc="-45" dirty="0">
              <a:solidFill>
                <a:srgbClr val="0070C0"/>
              </a:solidFill>
              <a:effectLst/>
              <a:ea typeface="Arial" panose="020B0604020202020204" pitchFamily="34" charset="0"/>
              <a:cs typeface="Carlito"/>
            </a:endParaRPr>
          </a:p>
          <a:p>
            <a:pPr marL="582613" lvl="1" indent="-180975" algn="just">
              <a:spcBef>
                <a:spcPts val="5"/>
              </a:spcBef>
              <a:buSzPts val="1400"/>
              <a:buFont typeface="Arial" panose="020B0604020202020204" pitchFamily="34" charset="0"/>
              <a:buChar char="•"/>
              <a:tabLst>
                <a:tab pos="574675" algn="l"/>
              </a:tabLst>
            </a:pP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source</a:t>
            </a:r>
            <a:r>
              <a:rPr lang="en-US" sz="1800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removes</a:t>
            </a:r>
            <a:r>
              <a:rPr lang="en-US" sz="1800" spc="-30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30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from</a:t>
            </a:r>
            <a:r>
              <a:rPr lang="en-US" sz="1800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0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bus</a:t>
            </a:r>
            <a:r>
              <a:rPr lang="en-US" sz="1800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period</a:t>
            </a:r>
            <a:r>
              <a:rPr lang="en-US" sz="1800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after</a:t>
            </a:r>
            <a:r>
              <a:rPr lang="en-US" sz="1800" spc="-30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1800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disables</a:t>
            </a:r>
            <a:r>
              <a:rPr lang="en-US" sz="1800" spc="-30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800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strobe</a:t>
            </a:r>
            <a:r>
              <a:rPr lang="en-US" sz="1800" spc="-30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pulse.</a:t>
            </a:r>
            <a:endParaRPr lang="en-IN" sz="1800" spc="-45" dirty="0">
              <a:solidFill>
                <a:srgbClr val="0070C0"/>
              </a:solidFill>
              <a:effectLst/>
              <a:ea typeface="Arial" panose="020B0604020202020204" pitchFamily="34" charset="0"/>
              <a:cs typeface="Carli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C4CD70B-97D1-685B-0B9C-8D3109F97496}"/>
              </a:ext>
            </a:extLst>
          </p:cNvPr>
          <p:cNvSpPr txBox="1"/>
          <p:nvPr/>
        </p:nvSpPr>
        <p:spPr>
          <a:xfrm>
            <a:off x="5891349" y="3323174"/>
            <a:ext cx="5242559" cy="268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2613" lvl="1" indent="-180975" algn="just">
              <a:spcBef>
                <a:spcPts val="240"/>
              </a:spcBef>
              <a:buSzPts val="1400"/>
              <a:buFont typeface="Arial" panose="020B0604020202020204" pitchFamily="34" charset="0"/>
              <a:buChar char="•"/>
              <a:tabLst>
                <a:tab pos="439738" algn="l"/>
              </a:tabLst>
            </a:pP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The destination unit</a:t>
            </a:r>
            <a:r>
              <a:rPr lang="en-US" sz="1800" spc="-40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activates the strobe</a:t>
            </a:r>
            <a:r>
              <a:rPr lang="en-US" sz="1800" spc="-40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pulse, informing</a:t>
            </a:r>
            <a:r>
              <a:rPr lang="en-US" sz="1800" spc="-40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the source to</a:t>
            </a:r>
            <a:r>
              <a:rPr lang="en-US" sz="1800" spc="-40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provide the</a:t>
            </a:r>
            <a:r>
              <a:rPr lang="en-US" sz="1800" spc="-40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data.</a:t>
            </a:r>
            <a:endParaRPr lang="en-IN" sz="1800" spc="-45" dirty="0">
              <a:solidFill>
                <a:srgbClr val="7030A0"/>
              </a:solidFill>
              <a:effectLst/>
              <a:ea typeface="Arial" panose="020B0604020202020204" pitchFamily="34" charset="0"/>
              <a:cs typeface="Carlito"/>
            </a:endParaRPr>
          </a:p>
          <a:p>
            <a:pPr marL="582613" lvl="1" indent="-180975" algn="just">
              <a:spcBef>
                <a:spcPts val="240"/>
              </a:spcBef>
              <a:buSzPts val="1400"/>
              <a:buFont typeface="Arial" panose="020B0604020202020204" pitchFamily="34" charset="0"/>
              <a:buChar char="•"/>
              <a:tabLst>
                <a:tab pos="439738" algn="l"/>
              </a:tabLst>
            </a:pP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The source unit responds by placing the requested binary information on the data</a:t>
            </a:r>
            <a:r>
              <a:rPr lang="en-US" sz="1800" spc="-15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1800" spc="-45" dirty="0">
              <a:solidFill>
                <a:srgbClr val="7030A0"/>
              </a:solidFill>
              <a:effectLst/>
              <a:ea typeface="Arial" panose="020B0604020202020204" pitchFamily="34" charset="0"/>
              <a:cs typeface="Carlito"/>
            </a:endParaRPr>
          </a:p>
          <a:p>
            <a:pPr marL="582613" lvl="1" indent="-180975" algn="just">
              <a:spcBef>
                <a:spcPts val="240"/>
              </a:spcBef>
              <a:buSzPts val="1400"/>
              <a:buFont typeface="Arial" panose="020B0604020202020204" pitchFamily="34" charset="0"/>
              <a:buChar char="•"/>
              <a:tabLst>
                <a:tab pos="439738" algn="l"/>
              </a:tabLst>
            </a:pP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The data must be valid and remain in the bus long enough </a:t>
            </a:r>
            <a:r>
              <a:rPr lang="en-US" sz="1800" spc="-1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for </a:t>
            </a: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the destination unit to accept</a:t>
            </a:r>
            <a:r>
              <a:rPr lang="en-US" sz="1800" spc="-19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it.</a:t>
            </a:r>
            <a:endParaRPr lang="en-IN" sz="1800" spc="-45" dirty="0">
              <a:solidFill>
                <a:srgbClr val="7030A0"/>
              </a:solidFill>
              <a:effectLst/>
              <a:ea typeface="Arial" panose="020B0604020202020204" pitchFamily="34" charset="0"/>
              <a:cs typeface="Carlito"/>
            </a:endParaRPr>
          </a:p>
          <a:p>
            <a:pPr marL="582613" lvl="1" indent="-180975" algn="just">
              <a:spcBef>
                <a:spcPts val="240"/>
              </a:spcBef>
              <a:buSzPts val="1400"/>
              <a:buFont typeface="Arial" panose="020B0604020202020204" pitchFamily="34" charset="0"/>
              <a:buChar char="•"/>
              <a:tabLst>
                <a:tab pos="439738" algn="l"/>
              </a:tabLst>
            </a:pP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The destination unit then disables the strobe.</a:t>
            </a:r>
            <a:endParaRPr lang="en-IN" sz="1800" spc="-45" dirty="0">
              <a:solidFill>
                <a:srgbClr val="7030A0"/>
              </a:solidFill>
              <a:effectLst/>
              <a:ea typeface="Arial" panose="020B0604020202020204" pitchFamily="34" charset="0"/>
              <a:cs typeface="Carlito"/>
            </a:endParaRPr>
          </a:p>
          <a:p>
            <a:pPr marL="582613" lvl="1" indent="-180975" algn="just">
              <a:spcBef>
                <a:spcPts val="245"/>
              </a:spcBef>
              <a:buSzPts val="1400"/>
              <a:buFont typeface="Arial" panose="020B0604020202020204" pitchFamily="34" charset="0"/>
              <a:buChar char="•"/>
              <a:tabLst>
                <a:tab pos="439738" algn="l"/>
              </a:tabLst>
            </a:pP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The source removes the data from the bus after a predetermined time</a:t>
            </a:r>
            <a:r>
              <a:rPr lang="en-US" sz="1800" spc="-130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solidFill>
                  <a:srgbClr val="7030A0"/>
                </a:solidFill>
                <a:effectLst/>
                <a:ea typeface="Arial" panose="020B0604020202020204" pitchFamily="34" charset="0"/>
                <a:cs typeface="Carlito"/>
              </a:rPr>
              <a:t>interval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18103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D12D8E-5060-9E57-5DFA-1A23F152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4475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Handshaking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CB4650-E1A3-B91A-D4F9-9FFD3D3AE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28" y="900340"/>
            <a:ext cx="9895115" cy="4351338"/>
          </a:xfrm>
        </p:spPr>
        <p:txBody>
          <a:bodyPr>
            <a:noAutofit/>
          </a:bodyPr>
          <a:lstStyle/>
          <a:p>
            <a:pPr marL="117475" algn="just">
              <a:spcBef>
                <a:spcPts val="50"/>
              </a:spcBef>
              <a:buSzPct val="75000"/>
            </a:pPr>
            <a:r>
              <a:rPr lang="en-US" sz="1800" b="1" dirty="0">
                <a:effectLst/>
                <a:ea typeface="Carlito"/>
                <a:cs typeface="Carlito"/>
              </a:rPr>
              <a:t>The disadvantage of the strobe method</a:t>
            </a:r>
            <a:endParaRPr lang="en-IN" sz="1800" b="1" dirty="0">
              <a:effectLst/>
              <a:ea typeface="Carlito"/>
              <a:cs typeface="Carlito"/>
            </a:endParaRPr>
          </a:p>
          <a:p>
            <a:pPr marL="498475" marR="308610" lvl="0" algn="just">
              <a:lnSpc>
                <a:spcPct val="113000"/>
              </a:lnSpc>
              <a:spcBef>
                <a:spcPts val="240"/>
              </a:spcBef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source unit that initiates the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has no 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way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of knowing whether the destination unit has actually received the data item that was placed in the</a:t>
            </a:r>
            <a:r>
              <a:rPr lang="en-US" sz="1800" spc="-6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498475" marR="307975" lvl="0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 destination unit that initiates the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has no 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way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of knowing whether the source unit has actually placed the data on the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117475" algn="just">
              <a:buSzPct val="75000"/>
            </a:pPr>
            <a:r>
              <a:rPr lang="en-US" sz="1800" b="1" dirty="0">
                <a:effectLst/>
                <a:ea typeface="Carlito"/>
                <a:cs typeface="Carlito"/>
              </a:rPr>
              <a:t>Two-wire control</a:t>
            </a:r>
            <a:endParaRPr lang="en-IN" sz="1800" b="1" dirty="0">
              <a:effectLst/>
              <a:ea typeface="Carlito"/>
              <a:cs typeface="Carlito"/>
            </a:endParaRPr>
          </a:p>
          <a:p>
            <a:pPr marL="498475" marR="311785" lvl="0" algn="just">
              <a:lnSpc>
                <a:spcPct val="113000"/>
              </a:lnSpc>
              <a:spcBef>
                <a:spcPts val="240"/>
              </a:spcBef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handshake method introduced a second control signal that provides a reply to the unit that initiates the 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transfer.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498475" lvl="0" algn="just">
              <a:spcBef>
                <a:spcPts val="5"/>
              </a:spcBef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One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control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line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same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direction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as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flow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bus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from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source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destination.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498475" lvl="0" algn="just">
              <a:spcBef>
                <a:spcPts val="240"/>
              </a:spcBef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used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by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source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inform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destination</a:t>
            </a:r>
            <a:r>
              <a:rPr lang="en-US" sz="1800" spc="-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whether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there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valid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498475" lvl="0" algn="just">
              <a:spcBef>
                <a:spcPts val="245"/>
              </a:spcBef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other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control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line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other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direction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from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destination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source.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498475" lvl="0" algn="just">
              <a:spcBef>
                <a:spcPts val="240"/>
              </a:spcBef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used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by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destination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inform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source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whether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can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accept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498475" lvl="0" algn="just">
              <a:spcBef>
                <a:spcPts val="240"/>
              </a:spcBef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sequence of control during the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depends on the unit that initiates the</a:t>
            </a:r>
            <a:r>
              <a:rPr lang="en-US" sz="1800" spc="-1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transfer.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498475" marR="307340" lvl="0" algn="just">
              <a:lnSpc>
                <a:spcPct val="113000"/>
              </a:lnSpc>
              <a:spcBef>
                <a:spcPts val="240"/>
              </a:spcBef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This provides a high degree of flexibility and reliability because the successful completion of a data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relies on active participation by both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units.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498475" lvl="0" algn="just">
              <a:spcBef>
                <a:spcPts val="5"/>
              </a:spcBef>
              <a:buSzPct val="75000"/>
              <a:buFont typeface="System Font Regular"/>
              <a:buChar char="⁃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If one unit is 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faulty,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data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will not be completed.(Detected by a time-out</a:t>
            </a:r>
            <a:r>
              <a:rPr lang="en-US" sz="1800" spc="-14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mechanism)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algn="just">
              <a:buSzPct val="75000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09827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6EB80F-F745-31B9-A86D-EBD0F2BE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771" y="-23358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Source-initiated transfer using handshaking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ABC9F8DA-7CBF-94DC-18A7-4346E1671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5463" y="760868"/>
            <a:ext cx="4534445" cy="5457052"/>
          </a:xfrm>
        </p:spPr>
        <p:txBody>
          <a:bodyPr>
            <a:normAutofit fontScale="92500" lnSpcReduction="10000"/>
          </a:bodyPr>
          <a:lstStyle/>
          <a:p>
            <a:pPr marL="231775" lvl="0" indent="-231775" algn="just">
              <a:lnSpc>
                <a:spcPct val="100000"/>
              </a:lnSpc>
              <a:spcBef>
                <a:spcPts val="43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two handshaking lines are </a:t>
            </a:r>
            <a:r>
              <a:rPr lang="en-US" sz="1800" b="1" spc="-45" dirty="0">
                <a:effectLst/>
                <a:ea typeface="Arial" panose="020B0604020202020204" pitchFamily="34" charset="0"/>
                <a:cs typeface="Carlito"/>
              </a:rPr>
              <a:t>data valid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(source unit) and </a:t>
            </a:r>
            <a:r>
              <a:rPr lang="en-US" sz="1800" b="1" spc="-45" dirty="0">
                <a:effectLst/>
                <a:ea typeface="Arial" panose="020B0604020202020204" pitchFamily="34" charset="0"/>
                <a:cs typeface="Carlito"/>
              </a:rPr>
              <a:t>data accepted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(destination</a:t>
            </a:r>
            <a:r>
              <a:rPr lang="en-US" sz="1800" spc="-1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unit).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lvl="0" indent="-231775" algn="just">
              <a:lnSpc>
                <a:spcPct val="100000"/>
              </a:lnSpc>
              <a:spcBef>
                <a:spcPts val="24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source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unit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initiates</a:t>
            </a:r>
            <a:r>
              <a:rPr lang="en-US" sz="1800" spc="-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transfer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by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placing</a:t>
            </a:r>
            <a:r>
              <a:rPr lang="en-US" sz="1800" spc="-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on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bus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enabling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800" spc="-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valid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signal.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lvl="0" indent="-231775" algn="just">
              <a:lnSpc>
                <a:spcPct val="100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accepted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signal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activated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by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destination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unit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after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accepts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from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lvl="0" indent="-231775" algn="just">
              <a:lnSpc>
                <a:spcPct val="100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source unit then disables its data valid signal, which invalidates the data on the</a:t>
            </a:r>
            <a:r>
              <a:rPr lang="en-US" sz="1800" spc="-18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bus.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lvl="0" indent="-231775" algn="just">
              <a:lnSpc>
                <a:spcPct val="100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destination unit then disables its data accepted signal and the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system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goes into its initial</a:t>
            </a:r>
            <a:r>
              <a:rPr lang="en-US" sz="1800" spc="-20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state.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marR="605155" lvl="0" indent="-231775" algn="just">
              <a:lnSpc>
                <a:spcPct val="100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source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does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not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send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next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30" dirty="0"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item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until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destination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unit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shows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readiness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accept new data by disabling its data accepted</a:t>
            </a:r>
            <a:r>
              <a:rPr lang="en-US" sz="18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signal.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marR="815975" lvl="0" indent="-231775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This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scheme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allows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delays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from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one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state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next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permits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each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unit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respond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own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</a:t>
            </a:r>
            <a:r>
              <a:rPr lang="en-US" sz="1800" spc="-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rate.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</p:txBody>
      </p:sp>
      <p:pic>
        <p:nvPicPr>
          <p:cNvPr id="2050" name="Picture 2" descr="Input-Output Organization 1 INPUT-OUTPUT ORGANIZATION Peripheral Devices">
            <a:extLst>
              <a:ext uri="{FF2B5EF4-FFF2-40B4-BE49-F238E27FC236}">
                <a16:creationId xmlns:a16="http://schemas.microsoft.com/office/drawing/2014/main" xmlns="" id="{2514E963-D9E7-437D-B6AD-4A29BC4D56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5" t="13424" r="9952" b="17510"/>
          <a:stretch/>
        </p:blipFill>
        <p:spPr bwMode="auto">
          <a:xfrm>
            <a:off x="5900600" y="760868"/>
            <a:ext cx="5135336" cy="4976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223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D18027-CF7E-DDCE-D97F-1809A5A35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44" y="-2948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Destination-initiated transfer using handshaking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A05B0C41-23FC-AC09-CD6B-105BD3C30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8663" y="695688"/>
            <a:ext cx="4661873" cy="5065032"/>
          </a:xfrm>
        </p:spPr>
        <p:txBody>
          <a:bodyPr>
            <a:normAutofit/>
          </a:bodyPr>
          <a:lstStyle/>
          <a:p>
            <a:pPr marL="342900" marR="649605" lvl="0" indent="-342900" algn="just">
              <a:lnSpc>
                <a:spcPct val="113000"/>
              </a:lnSpc>
              <a:spcBef>
                <a:spcPts val="43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source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unit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this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case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does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not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place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bus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until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receives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ready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for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signal from the destination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unit.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From there on, the handshaking procedure follows the same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pattern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as in the source-initiated</a:t>
            </a:r>
            <a:r>
              <a:rPr lang="en-US" sz="1800" spc="-20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case.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812165" lvl="0" indent="-342900" algn="just">
              <a:lnSpc>
                <a:spcPct val="113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sequence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of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events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both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cases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would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identical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if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we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consider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ready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for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signal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complement of data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accepted.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546100" lvl="0" indent="-342900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only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difference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between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source-initiated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destination-initiated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their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choice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of initial</a:t>
            </a:r>
            <a:r>
              <a:rPr lang="en-US" sz="1800" spc="-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state.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algn="just"/>
            <a:endParaRPr lang="en-US" dirty="0"/>
          </a:p>
        </p:txBody>
      </p:sp>
      <p:pic>
        <p:nvPicPr>
          <p:cNvPr id="1026" name="Picture 2" descr="PPT - INPUT-OUTPUT ORGANIZATION PowerPoint Presentation - ID:2967368">
            <a:extLst>
              <a:ext uri="{FF2B5EF4-FFF2-40B4-BE49-F238E27FC236}">
                <a16:creationId xmlns:a16="http://schemas.microsoft.com/office/drawing/2014/main" xmlns="" id="{28E44B0E-6100-CD02-C52A-FF443666AF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4" t="13099" r="9612" b="19027"/>
          <a:stretch/>
        </p:blipFill>
        <p:spPr bwMode="auto">
          <a:xfrm>
            <a:off x="6096000" y="875212"/>
            <a:ext cx="4827335" cy="488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872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8171" y="145198"/>
            <a:ext cx="9144000" cy="762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Asynchronous Communication Interface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496" b="40000"/>
          <a:stretch>
            <a:fillRect/>
          </a:stretch>
        </p:blipFill>
        <p:spPr bwMode="auto">
          <a:xfrm>
            <a:off x="6781800" y="751114"/>
            <a:ext cx="4397829" cy="3407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21140" t="68750" r="21660"/>
          <a:stretch>
            <a:fillRect/>
          </a:stretch>
        </p:blipFill>
        <p:spPr bwMode="auto">
          <a:xfrm>
            <a:off x="6781800" y="4158343"/>
            <a:ext cx="4397829" cy="1872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1230086" y="729342"/>
            <a:ext cx="5551714" cy="5468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762000">
              <a:lnSpc>
                <a:spcPts val="1960"/>
              </a:lnSpc>
            </a:pPr>
            <a:r>
              <a:rPr lang="en-US" altLang="ko-KR" sz="1600" b="1" dirty="0"/>
              <a:t>Transmitter Register : a</a:t>
            </a:r>
            <a:r>
              <a:rPr lang="en-US" altLang="ko-KR" sz="1600" dirty="0"/>
              <a:t>ccepts a data byte(from CPU) through the data bus. Transferred to a shift register for serial transmission</a:t>
            </a:r>
            <a:endParaRPr lang="en-US" altLang="ko-KR" sz="1600" b="1" dirty="0"/>
          </a:p>
          <a:p>
            <a:pPr algn="just" defTabSz="762000">
              <a:lnSpc>
                <a:spcPts val="1960"/>
              </a:lnSpc>
            </a:pPr>
            <a:r>
              <a:rPr lang="en-US" altLang="ko-KR" sz="1600" b="1" dirty="0"/>
              <a:t>Receiver Register: r</a:t>
            </a:r>
            <a:r>
              <a:rPr lang="en-US" altLang="ko-KR" sz="1600" dirty="0"/>
              <a:t>eceives serial information into shift register. Complete data byte is sent to receiver register</a:t>
            </a:r>
          </a:p>
          <a:p>
            <a:pPr algn="just" defTabSz="762000">
              <a:lnSpc>
                <a:spcPts val="1960"/>
              </a:lnSpc>
            </a:pPr>
            <a:r>
              <a:rPr lang="en-US" altLang="ko-KR" sz="1600" b="1" dirty="0"/>
              <a:t>Status Register Bits : </a:t>
            </a:r>
            <a:r>
              <a:rPr lang="en-US" altLang="ko-KR" sz="1600" dirty="0"/>
              <a:t>Used for I/O flags (Tx reg. is Empty? / Rx Reg. is Full?) and for recording errors</a:t>
            </a:r>
            <a:endParaRPr lang="en-US" altLang="ko-KR" sz="1600" b="1" dirty="0"/>
          </a:p>
          <a:p>
            <a:pPr algn="just" defTabSz="762000">
              <a:lnSpc>
                <a:spcPts val="1960"/>
              </a:lnSpc>
            </a:pPr>
            <a:r>
              <a:rPr lang="en-US" altLang="ko-KR" sz="1600" b="1" dirty="0"/>
              <a:t>Control Register Bits : </a:t>
            </a:r>
            <a:r>
              <a:rPr lang="en-US" altLang="ko-KR" sz="1600" dirty="0"/>
              <a:t>Define baud rate, no. of bits in each character, whether  to generate and check parity, and no. of stop bits </a:t>
            </a:r>
          </a:p>
          <a:p>
            <a:pPr algn="just">
              <a:lnSpc>
                <a:spcPts val="1960"/>
              </a:lnSpc>
            </a:pPr>
            <a:r>
              <a:rPr lang="en-IN" sz="1600" dirty="0"/>
              <a:t>Interface is said to be </a:t>
            </a:r>
            <a:r>
              <a:rPr lang="en-IN" sz="1600" b="1" dirty="0"/>
              <a:t>double buffered </a:t>
            </a:r>
            <a:r>
              <a:rPr lang="en-IN" sz="1600" dirty="0"/>
              <a:t>because a new character can be loaded as soon as the previous one starts transmission</a:t>
            </a:r>
            <a:endParaRPr lang="en-IN" sz="1600" b="1" dirty="0"/>
          </a:p>
          <a:p>
            <a:pPr algn="just">
              <a:lnSpc>
                <a:spcPts val="1960"/>
              </a:lnSpc>
            </a:pPr>
            <a:r>
              <a:rPr lang="en-IN" sz="1600" dirty="0"/>
              <a:t>Interface checks three possible errors during transmission</a:t>
            </a:r>
          </a:p>
          <a:p>
            <a:pPr marL="9525" lvl="1" algn="just">
              <a:lnSpc>
                <a:spcPts val="1960"/>
              </a:lnSpc>
            </a:pPr>
            <a:r>
              <a:rPr lang="en-IN" sz="1600" b="1" dirty="0"/>
              <a:t>Parity Error - </a:t>
            </a:r>
            <a:r>
              <a:rPr lang="en-IN" sz="1600" dirty="0"/>
              <a:t>number of 1's in the received data is not the correct parity</a:t>
            </a:r>
          </a:p>
          <a:p>
            <a:pPr marL="9525" lvl="1" algn="just">
              <a:lnSpc>
                <a:spcPts val="1960"/>
              </a:lnSpc>
            </a:pPr>
            <a:r>
              <a:rPr lang="en-IN" sz="1600" b="1" dirty="0"/>
              <a:t>Framing Error</a:t>
            </a:r>
            <a:r>
              <a:rPr lang="en-IN" sz="1600" dirty="0"/>
              <a:t> - occurs if right no. of stop bits is not detected at the end of the received character</a:t>
            </a:r>
          </a:p>
          <a:p>
            <a:pPr marL="9525" lvl="1" algn="just">
              <a:lnSpc>
                <a:spcPts val="1960"/>
              </a:lnSpc>
            </a:pPr>
            <a:r>
              <a:rPr lang="en-IN" sz="1600" b="1" dirty="0"/>
              <a:t>Overrun Error - </a:t>
            </a:r>
            <a:r>
              <a:rPr lang="en-IN" sz="1600" dirty="0"/>
              <a:t>occurs if CPU does not read the character from receiver register before next one becomes available in the shift register and results in loss of characters</a:t>
            </a:r>
          </a:p>
          <a:p>
            <a:pPr algn="just">
              <a:lnSpc>
                <a:spcPts val="1960"/>
              </a:lnSpc>
            </a:pP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683557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3372" y="399953"/>
            <a:ext cx="9949542" cy="6705600"/>
          </a:xfrm>
        </p:spPr>
        <p:txBody>
          <a:bodyPr>
            <a:normAutofit/>
          </a:bodyPr>
          <a:lstStyle/>
          <a:p>
            <a:pPr defTabSz="762000">
              <a:lnSpc>
                <a:spcPct val="97000"/>
              </a:lnSpc>
              <a:buFont typeface="Arial" charset="0"/>
              <a:buChar char="•"/>
            </a:pPr>
            <a:endParaRPr lang="en-US" altLang="ko-KR" sz="1800" dirty="0">
              <a:cs typeface="Times New Roman" pitchFamily="18" charset="0"/>
            </a:endParaRPr>
          </a:p>
          <a:p>
            <a:pPr defTabSz="762000">
              <a:lnSpc>
                <a:spcPct val="97000"/>
              </a:lnSpc>
              <a:buFont typeface="Arial" charset="0"/>
              <a:buChar char="•"/>
            </a:pPr>
            <a:r>
              <a:rPr lang="en-US" altLang="ko-KR" sz="1800" dirty="0">
                <a:cs typeface="Times New Roman" pitchFamily="18" charset="0"/>
              </a:rPr>
              <a:t>It </a:t>
            </a:r>
            <a:r>
              <a:rPr lang="en-US" altLang="ko-KR" sz="1800" b="1" dirty="0">
                <a:cs typeface="Times New Roman" pitchFamily="18" charset="0"/>
              </a:rPr>
              <a:t>Input</a:t>
            </a:r>
            <a:r>
              <a:rPr lang="en-US" altLang="ko-KR" sz="1800" dirty="0">
                <a:cs typeface="Times New Roman" pitchFamily="18" charset="0"/>
              </a:rPr>
              <a:t> </a:t>
            </a:r>
            <a:r>
              <a:rPr lang="en-US" altLang="ko-KR" sz="1800" b="1" dirty="0">
                <a:cs typeface="Times New Roman" pitchFamily="18" charset="0"/>
              </a:rPr>
              <a:t>data</a:t>
            </a:r>
            <a:r>
              <a:rPr lang="en-US" altLang="ko-KR" sz="1800" dirty="0">
                <a:cs typeface="Times New Roman" pitchFamily="18" charset="0"/>
              </a:rPr>
              <a:t> and </a:t>
            </a:r>
            <a:r>
              <a:rPr lang="en-US" altLang="ko-KR" sz="1800" b="1" dirty="0">
                <a:cs typeface="Times New Roman" pitchFamily="18" charset="0"/>
              </a:rPr>
              <a:t>output</a:t>
            </a:r>
            <a:r>
              <a:rPr lang="en-US" altLang="ko-KR" sz="1800" dirty="0">
                <a:cs typeface="Times New Roman" pitchFamily="18" charset="0"/>
              </a:rPr>
              <a:t> </a:t>
            </a:r>
            <a:r>
              <a:rPr lang="en-US" altLang="ko-KR" sz="1800" b="1" dirty="0">
                <a:cs typeface="Times New Roman" pitchFamily="18" charset="0"/>
              </a:rPr>
              <a:t>data</a:t>
            </a:r>
            <a:r>
              <a:rPr lang="en-US" altLang="ko-KR" sz="1800" dirty="0">
                <a:cs typeface="Times New Roman" pitchFamily="18" charset="0"/>
              </a:rPr>
              <a:t> at </a:t>
            </a:r>
            <a:r>
              <a:rPr lang="en-US" altLang="ko-KR" sz="1800" b="1" dirty="0">
                <a:cs typeface="Times New Roman" pitchFamily="18" charset="0"/>
              </a:rPr>
              <a:t>two DIFFERENT RATES </a:t>
            </a:r>
          </a:p>
          <a:p>
            <a:pPr defTabSz="762000">
              <a:lnSpc>
                <a:spcPct val="97000"/>
              </a:lnSpc>
              <a:buFont typeface="Arial" charset="0"/>
              <a:buChar char="•"/>
            </a:pPr>
            <a:r>
              <a:rPr lang="en-US" altLang="ko-KR" sz="1800" b="1" dirty="0">
                <a:cs typeface="Times New Roman" pitchFamily="18" charset="0"/>
              </a:rPr>
              <a:t>Output data </a:t>
            </a:r>
            <a:r>
              <a:rPr lang="en-US" altLang="ko-KR" sz="1800" dirty="0">
                <a:cs typeface="Times New Roman" pitchFamily="18" charset="0"/>
              </a:rPr>
              <a:t>are always in the </a:t>
            </a:r>
            <a:r>
              <a:rPr lang="en-US" altLang="ko-KR" sz="1800" b="1" dirty="0">
                <a:cs typeface="Times New Roman" pitchFamily="18" charset="0"/>
              </a:rPr>
              <a:t>SAME ORDER</a:t>
            </a:r>
            <a:r>
              <a:rPr lang="en-US" altLang="ko-KR" sz="1800" dirty="0">
                <a:cs typeface="Times New Roman" pitchFamily="18" charset="0"/>
              </a:rPr>
              <a:t> in which the </a:t>
            </a:r>
            <a:r>
              <a:rPr lang="en-US" altLang="ko-KR" sz="1800" b="1" dirty="0">
                <a:cs typeface="Times New Roman" pitchFamily="18" charset="0"/>
              </a:rPr>
              <a:t>data entered the buffer</a:t>
            </a:r>
            <a:endParaRPr lang="en-IN" sz="1800" b="1" dirty="0">
              <a:cs typeface="Times New Roman" pitchFamily="18" charset="0"/>
            </a:endParaRPr>
          </a:p>
          <a:p>
            <a:r>
              <a:rPr lang="en-IN" sz="1800" b="1" dirty="0">
                <a:cs typeface="Times New Roman" pitchFamily="18" charset="0"/>
              </a:rPr>
              <a:t>FIFO buffer </a:t>
            </a:r>
            <a:r>
              <a:rPr lang="en-IN" sz="1800" dirty="0">
                <a:cs typeface="Times New Roman" pitchFamily="18" charset="0"/>
              </a:rPr>
              <a:t>can be useful in applications when data are </a:t>
            </a:r>
            <a:r>
              <a:rPr lang="en-IN" sz="1800" b="1" dirty="0">
                <a:cs typeface="Times New Roman" pitchFamily="18" charset="0"/>
              </a:rPr>
              <a:t>transferred</a:t>
            </a:r>
            <a:r>
              <a:rPr lang="en-IN" sz="1800" dirty="0">
                <a:cs typeface="Times New Roman" pitchFamily="18" charset="0"/>
              </a:rPr>
              <a:t> </a:t>
            </a:r>
            <a:r>
              <a:rPr lang="en-IN" sz="1800" b="1" dirty="0">
                <a:cs typeface="Times New Roman" pitchFamily="18" charset="0"/>
              </a:rPr>
              <a:t>ASYNCHRONOUSLY</a:t>
            </a:r>
          </a:p>
          <a:p>
            <a:r>
              <a:rPr lang="en-IN" sz="1800" b="1" dirty="0">
                <a:cs typeface="Times New Roman" pitchFamily="18" charset="0"/>
              </a:rPr>
              <a:t>Logic Diagram </a:t>
            </a:r>
            <a:r>
              <a:rPr lang="en-IN" sz="1800" dirty="0">
                <a:cs typeface="Times New Roman" pitchFamily="18" charset="0"/>
              </a:rPr>
              <a:t>of a typical </a:t>
            </a:r>
            <a:r>
              <a:rPr lang="en-IN" sz="1800" b="1" dirty="0">
                <a:cs typeface="Times New Roman" pitchFamily="18" charset="0"/>
              </a:rPr>
              <a:t>4 x 4 FIFO buffer </a:t>
            </a:r>
            <a:r>
              <a:rPr lang="en-IN" sz="1800" dirty="0">
                <a:cs typeface="Times New Roman" pitchFamily="18" charset="0"/>
              </a:rPr>
              <a:t>is shown in below Fig. </a:t>
            </a:r>
          </a:p>
          <a:p>
            <a:r>
              <a:rPr lang="en-IN" sz="1800" dirty="0">
                <a:cs typeface="Times New Roman" pitchFamily="18" charset="0"/>
              </a:rPr>
              <a:t>It consists of</a:t>
            </a:r>
          </a:p>
          <a:p>
            <a:pPr lvl="1"/>
            <a:r>
              <a:rPr lang="en-IN" sz="1800" b="1" dirty="0">
                <a:cs typeface="Times New Roman" pitchFamily="18" charset="0"/>
              </a:rPr>
              <a:t>Four 4-bit registers </a:t>
            </a:r>
            <a:r>
              <a:rPr lang="en-IN" sz="1800" dirty="0">
                <a:cs typeface="Times New Roman" pitchFamily="18" charset="0"/>
              </a:rPr>
              <a:t>RI, I = 1, 2, 3, 4</a:t>
            </a:r>
          </a:p>
          <a:p>
            <a:pPr lvl="1"/>
            <a:r>
              <a:rPr lang="en-IN" sz="1800" b="1" dirty="0">
                <a:cs typeface="Times New Roman" pitchFamily="18" charset="0"/>
              </a:rPr>
              <a:t>Control Register </a:t>
            </a:r>
            <a:r>
              <a:rPr lang="en-IN" sz="1800" dirty="0">
                <a:cs typeface="Times New Roman" pitchFamily="18" charset="0"/>
              </a:rPr>
              <a:t>with </a:t>
            </a:r>
            <a:r>
              <a:rPr lang="en-IN" sz="1800" b="1" dirty="0">
                <a:cs typeface="Times New Roman" pitchFamily="18" charset="0"/>
              </a:rPr>
              <a:t>Flip-Flops Fi</a:t>
            </a:r>
            <a:r>
              <a:rPr lang="en-IN" sz="1800" dirty="0">
                <a:cs typeface="Times New Roman" pitchFamily="18" charset="0"/>
              </a:rPr>
              <a:t>, </a:t>
            </a:r>
            <a:r>
              <a:rPr lang="en-IN" sz="1800" dirty="0" err="1">
                <a:cs typeface="Times New Roman" pitchFamily="18" charset="0"/>
              </a:rPr>
              <a:t>i</a:t>
            </a:r>
            <a:r>
              <a:rPr lang="en-IN" sz="1800" dirty="0">
                <a:cs typeface="Times New Roman" pitchFamily="18" charset="0"/>
              </a:rPr>
              <a:t> = 1, 2, 3, 4, </a:t>
            </a:r>
            <a:r>
              <a:rPr lang="en-IN" sz="1800" b="1" dirty="0">
                <a:cs typeface="Times New Roman" pitchFamily="18" charset="0"/>
              </a:rPr>
              <a:t>one </a:t>
            </a:r>
            <a:r>
              <a:rPr lang="en-IN" sz="1800" dirty="0">
                <a:cs typeface="Times New Roman" pitchFamily="18" charset="0"/>
              </a:rPr>
              <a:t>for</a:t>
            </a:r>
            <a:r>
              <a:rPr lang="en-IN" sz="1800" b="1" dirty="0">
                <a:cs typeface="Times New Roman" pitchFamily="18" charset="0"/>
              </a:rPr>
              <a:t> each register</a:t>
            </a:r>
          </a:p>
          <a:p>
            <a:r>
              <a:rPr lang="en-IN" sz="1800" b="1" dirty="0">
                <a:cs typeface="Times New Roman" pitchFamily="18" charset="0"/>
              </a:rPr>
              <a:t>FIFO</a:t>
            </a:r>
            <a:r>
              <a:rPr lang="en-IN" sz="1800" dirty="0">
                <a:cs typeface="Times New Roman" pitchFamily="18" charset="0"/>
              </a:rPr>
              <a:t> can </a:t>
            </a:r>
            <a:r>
              <a:rPr lang="en-IN" sz="1800" b="1" dirty="0">
                <a:cs typeface="Times New Roman" pitchFamily="18" charset="0"/>
              </a:rPr>
              <a:t>store</a:t>
            </a:r>
            <a:r>
              <a:rPr lang="en-IN" sz="1800" dirty="0">
                <a:cs typeface="Times New Roman" pitchFamily="18" charset="0"/>
              </a:rPr>
              <a:t> </a:t>
            </a:r>
            <a:r>
              <a:rPr lang="en-IN" sz="1800" b="1" dirty="0">
                <a:cs typeface="Times New Roman" pitchFamily="18" charset="0"/>
              </a:rPr>
              <a:t>Four Words </a:t>
            </a:r>
            <a:r>
              <a:rPr lang="en-IN" sz="1800" dirty="0">
                <a:cs typeface="Times New Roman" pitchFamily="18" charset="0"/>
              </a:rPr>
              <a:t>of </a:t>
            </a:r>
            <a:r>
              <a:rPr lang="en-IN" sz="1800" b="1" dirty="0">
                <a:cs typeface="Times New Roman" pitchFamily="18" charset="0"/>
              </a:rPr>
              <a:t>Four Bits </a:t>
            </a:r>
            <a:r>
              <a:rPr lang="en-IN" sz="1800" dirty="0">
                <a:cs typeface="Times New Roman" pitchFamily="18" charset="0"/>
              </a:rPr>
              <a:t>each</a:t>
            </a:r>
          </a:p>
          <a:p>
            <a:r>
              <a:rPr lang="en-IN" sz="1800" dirty="0">
                <a:cs typeface="Times New Roman" pitchFamily="18" charset="0"/>
              </a:rPr>
              <a:t>A </a:t>
            </a:r>
            <a:r>
              <a:rPr lang="en-IN" sz="1800" b="1" dirty="0">
                <a:cs typeface="Times New Roman" pitchFamily="18" charset="0"/>
              </a:rPr>
              <a:t>Flip-flop</a:t>
            </a:r>
            <a:r>
              <a:rPr lang="en-IN" sz="1800" dirty="0">
                <a:cs typeface="Times New Roman" pitchFamily="18" charset="0"/>
              </a:rPr>
              <a:t> </a:t>
            </a:r>
          </a:p>
          <a:p>
            <a:pPr lvl="1"/>
            <a:r>
              <a:rPr lang="en-IN" sz="1800" b="1" dirty="0">
                <a:cs typeface="Times New Roman" pitchFamily="18" charset="0"/>
              </a:rPr>
              <a:t>Fi</a:t>
            </a:r>
            <a:r>
              <a:rPr lang="en-IN" sz="1800" dirty="0">
                <a:cs typeface="Times New Roman" pitchFamily="18" charset="0"/>
              </a:rPr>
              <a:t> </a:t>
            </a:r>
            <a:r>
              <a:rPr lang="en-IN" sz="1800" b="1" dirty="0">
                <a:cs typeface="Times New Roman" pitchFamily="18" charset="0"/>
              </a:rPr>
              <a:t>=</a:t>
            </a:r>
            <a:r>
              <a:rPr lang="en-IN" sz="1800" dirty="0">
                <a:cs typeface="Times New Roman" pitchFamily="18" charset="0"/>
              </a:rPr>
              <a:t> </a:t>
            </a:r>
            <a:r>
              <a:rPr lang="en-IN" sz="1800" b="1" dirty="0">
                <a:cs typeface="Times New Roman" pitchFamily="18" charset="0"/>
              </a:rPr>
              <a:t>1 </a:t>
            </a:r>
            <a:r>
              <a:rPr lang="en-IN" sz="1800" dirty="0">
                <a:cs typeface="Times New Roman" pitchFamily="18" charset="0"/>
              </a:rPr>
              <a:t>indicates that a </a:t>
            </a:r>
            <a:r>
              <a:rPr lang="en-IN" sz="1800" b="1" dirty="0">
                <a:cs typeface="Times New Roman" pitchFamily="18" charset="0"/>
              </a:rPr>
              <a:t>4-bit data word </a:t>
            </a:r>
            <a:r>
              <a:rPr lang="en-IN" sz="1800" dirty="0">
                <a:cs typeface="Times New Roman" pitchFamily="18" charset="0"/>
              </a:rPr>
              <a:t>is </a:t>
            </a:r>
            <a:r>
              <a:rPr lang="en-IN" sz="1800" b="1" dirty="0">
                <a:cs typeface="Times New Roman" pitchFamily="18" charset="0"/>
              </a:rPr>
              <a:t>stored</a:t>
            </a:r>
            <a:r>
              <a:rPr lang="en-IN" sz="1800" dirty="0">
                <a:cs typeface="Times New Roman" pitchFamily="18" charset="0"/>
              </a:rPr>
              <a:t> in the corresponding </a:t>
            </a:r>
            <a:r>
              <a:rPr lang="en-IN" sz="1800" b="1" dirty="0">
                <a:cs typeface="Times New Roman" pitchFamily="18" charset="0"/>
              </a:rPr>
              <a:t>register</a:t>
            </a:r>
            <a:r>
              <a:rPr lang="en-IN" sz="1800" dirty="0">
                <a:cs typeface="Times New Roman" pitchFamily="18" charset="0"/>
              </a:rPr>
              <a:t> </a:t>
            </a:r>
            <a:r>
              <a:rPr lang="en-IN" sz="1800" b="1" dirty="0">
                <a:cs typeface="Times New Roman" pitchFamily="18" charset="0"/>
              </a:rPr>
              <a:t>Ri</a:t>
            </a:r>
            <a:endParaRPr lang="en-IN" sz="1800" dirty="0">
              <a:cs typeface="Times New Roman" pitchFamily="18" charset="0"/>
            </a:endParaRPr>
          </a:p>
          <a:p>
            <a:pPr lvl="1"/>
            <a:r>
              <a:rPr lang="en-IN" sz="1800" b="1" dirty="0">
                <a:cs typeface="Times New Roman" pitchFamily="18" charset="0"/>
              </a:rPr>
              <a:t>Fi = 0 </a:t>
            </a:r>
            <a:r>
              <a:rPr lang="en-IN" sz="1800" dirty="0">
                <a:cs typeface="Times New Roman" pitchFamily="18" charset="0"/>
              </a:rPr>
              <a:t>indicates that the corresponding register </a:t>
            </a:r>
            <a:r>
              <a:rPr lang="en-IN" sz="1800" b="1" dirty="0">
                <a:cs typeface="Times New Roman" pitchFamily="18" charset="0"/>
              </a:rPr>
              <a:t>does NOT contain valid data</a:t>
            </a:r>
            <a:endParaRPr lang="en-IN" sz="1800" dirty="0">
              <a:cs typeface="Times New Roman" pitchFamily="18" charset="0"/>
            </a:endParaRPr>
          </a:p>
          <a:p>
            <a:r>
              <a:rPr lang="en-IN" sz="1800" dirty="0">
                <a:cs typeface="Times New Roman" pitchFamily="18" charset="0"/>
              </a:rPr>
              <a:t>If  </a:t>
            </a:r>
            <a:r>
              <a:rPr lang="en-IN" sz="1800" b="1" dirty="0">
                <a:cs typeface="Times New Roman" pitchFamily="18" charset="0"/>
              </a:rPr>
              <a:t>Fi = 1 </a:t>
            </a:r>
            <a:r>
              <a:rPr lang="en-IN" sz="1800" dirty="0">
                <a:cs typeface="Times New Roman" pitchFamily="18" charset="0"/>
              </a:rPr>
              <a:t> &amp; </a:t>
            </a:r>
            <a:r>
              <a:rPr lang="en-IN" sz="1800" b="1" dirty="0">
                <a:cs typeface="Times New Roman" pitchFamily="18" charset="0"/>
              </a:rPr>
              <a:t>Fi+1 = 0 </a:t>
            </a:r>
            <a:r>
              <a:rPr lang="en-IN" sz="1800" dirty="0">
                <a:cs typeface="Times New Roman" pitchFamily="18" charset="0"/>
              </a:rPr>
              <a:t>(</a:t>
            </a:r>
            <a:r>
              <a:rPr lang="en-IN" sz="1800" b="1" dirty="0">
                <a:cs typeface="Times New Roman" pitchFamily="18" charset="0"/>
              </a:rPr>
              <a:t>F’i+1 = 1 </a:t>
            </a:r>
            <a:r>
              <a:rPr lang="en-IN" sz="1800" dirty="0">
                <a:cs typeface="Times New Roman" pitchFamily="18" charset="0"/>
              </a:rPr>
              <a:t>)</a:t>
            </a:r>
          </a:p>
          <a:p>
            <a:pPr lvl="1"/>
            <a:r>
              <a:rPr lang="en-IN" sz="1800" dirty="0">
                <a:cs typeface="Times New Roman" pitchFamily="18" charset="0"/>
              </a:rPr>
              <a:t>a </a:t>
            </a:r>
            <a:r>
              <a:rPr lang="en-IN" sz="1800" b="1" dirty="0">
                <a:cs typeface="Times New Roman" pitchFamily="18" charset="0"/>
              </a:rPr>
              <a:t>Clock</a:t>
            </a:r>
            <a:r>
              <a:rPr lang="en-IN" sz="1800" dirty="0">
                <a:cs typeface="Times New Roman" pitchFamily="18" charset="0"/>
              </a:rPr>
              <a:t> is </a:t>
            </a:r>
            <a:r>
              <a:rPr lang="en-IN" sz="1800" b="1" dirty="0">
                <a:cs typeface="Times New Roman" pitchFamily="18" charset="0"/>
              </a:rPr>
              <a:t>generated</a:t>
            </a:r>
            <a:r>
              <a:rPr lang="en-IN" sz="1800" dirty="0">
                <a:cs typeface="Times New Roman" pitchFamily="18" charset="0"/>
              </a:rPr>
              <a:t> causing </a:t>
            </a:r>
            <a:r>
              <a:rPr lang="en-IN" sz="1800" b="1" dirty="0">
                <a:cs typeface="Times New Roman" pitchFamily="18" charset="0"/>
              </a:rPr>
              <a:t>register R(I + 1) </a:t>
            </a:r>
            <a:r>
              <a:rPr lang="en-IN" sz="1800" dirty="0">
                <a:cs typeface="Times New Roman" pitchFamily="18" charset="0"/>
              </a:rPr>
              <a:t>to </a:t>
            </a:r>
            <a:r>
              <a:rPr lang="en-IN" sz="1800" b="1" dirty="0">
                <a:cs typeface="Times New Roman" pitchFamily="18" charset="0"/>
              </a:rPr>
              <a:t>accept data from  RI</a:t>
            </a:r>
          </a:p>
          <a:p>
            <a:pPr lvl="1"/>
            <a:r>
              <a:rPr lang="en-IN" sz="1800" b="1" dirty="0">
                <a:cs typeface="Times New Roman" pitchFamily="18" charset="0"/>
              </a:rPr>
              <a:t>Same Clock </a:t>
            </a:r>
            <a:r>
              <a:rPr lang="en-IN" sz="1800" dirty="0">
                <a:cs typeface="Times New Roman" pitchFamily="18" charset="0"/>
              </a:rPr>
              <a:t>transition </a:t>
            </a:r>
            <a:r>
              <a:rPr lang="en-IN" sz="1800" b="1" dirty="0">
                <a:cs typeface="Times New Roman" pitchFamily="18" charset="0"/>
              </a:rPr>
              <a:t>sets</a:t>
            </a:r>
            <a:r>
              <a:rPr lang="en-IN" sz="1800" dirty="0">
                <a:cs typeface="Times New Roman" pitchFamily="18" charset="0"/>
              </a:rPr>
              <a:t> </a:t>
            </a:r>
            <a:r>
              <a:rPr lang="en-IN" sz="1800" b="1" dirty="0">
                <a:cs typeface="Times New Roman" pitchFamily="18" charset="0"/>
              </a:rPr>
              <a:t>Fi+1 = 1</a:t>
            </a:r>
            <a:r>
              <a:rPr lang="en-IN" sz="1800" dirty="0">
                <a:cs typeface="Times New Roman" pitchFamily="18" charset="0"/>
              </a:rPr>
              <a:t> and </a:t>
            </a:r>
            <a:r>
              <a:rPr lang="en-IN" sz="1800" b="1" dirty="0">
                <a:cs typeface="Times New Roman" pitchFamily="18" charset="0"/>
              </a:rPr>
              <a:t>resets</a:t>
            </a:r>
            <a:r>
              <a:rPr lang="en-IN" sz="1800" dirty="0">
                <a:cs typeface="Times New Roman" pitchFamily="18" charset="0"/>
              </a:rPr>
              <a:t> </a:t>
            </a:r>
            <a:r>
              <a:rPr lang="en-IN" sz="1800" b="1" dirty="0">
                <a:cs typeface="Times New Roman" pitchFamily="18" charset="0"/>
              </a:rPr>
              <a:t>Fi = 0</a:t>
            </a:r>
            <a:endParaRPr lang="en-IN" sz="1800" dirty="0">
              <a:cs typeface="Times New Roman" pitchFamily="18" charset="0"/>
            </a:endParaRPr>
          </a:p>
          <a:p>
            <a:pPr lvl="1"/>
            <a:r>
              <a:rPr lang="en-IN" sz="1800" dirty="0">
                <a:cs typeface="Times New Roman" pitchFamily="18" charset="0"/>
              </a:rPr>
              <a:t>This causes the </a:t>
            </a:r>
            <a:r>
              <a:rPr lang="en-IN" sz="1800" b="1" dirty="0">
                <a:cs typeface="Times New Roman" pitchFamily="18" charset="0"/>
              </a:rPr>
              <a:t>control flag</a:t>
            </a:r>
            <a:r>
              <a:rPr lang="en-IN" sz="1800" dirty="0">
                <a:cs typeface="Times New Roman" pitchFamily="18" charset="0"/>
              </a:rPr>
              <a:t> to </a:t>
            </a:r>
            <a:r>
              <a:rPr lang="en-IN" sz="1800" b="1" dirty="0">
                <a:cs typeface="Times New Roman" pitchFamily="18" charset="0"/>
              </a:rPr>
              <a:t>move one position to </a:t>
            </a:r>
            <a:r>
              <a:rPr lang="en-IN" sz="1800" dirty="0">
                <a:cs typeface="Times New Roman" pitchFamily="18" charset="0"/>
              </a:rPr>
              <a:t>the</a:t>
            </a:r>
            <a:r>
              <a:rPr lang="en-IN" sz="1800" b="1" dirty="0">
                <a:cs typeface="Times New Roman" pitchFamily="18" charset="0"/>
              </a:rPr>
              <a:t> right together with </a:t>
            </a:r>
            <a:r>
              <a:rPr lang="en-IN" sz="1800" dirty="0">
                <a:cs typeface="Times New Roman" pitchFamily="18" charset="0"/>
              </a:rPr>
              <a:t>the</a:t>
            </a:r>
            <a:r>
              <a:rPr lang="en-IN" sz="1800" b="1" dirty="0">
                <a:cs typeface="Times New Roman" pitchFamily="18" charset="0"/>
              </a:rPr>
              <a:t> data</a:t>
            </a:r>
            <a:endParaRPr lang="en-IN" sz="1800" dirty="0">
              <a:cs typeface="Times New Roman" pitchFamily="18" charset="0"/>
            </a:endParaRPr>
          </a:p>
          <a:p>
            <a:endParaRPr lang="en-IN" sz="1800" dirty="0">
              <a:cs typeface="Times New Roman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7A7DF6-5DC1-8281-0298-D35A0AE64A1F}"/>
              </a:ext>
            </a:extLst>
          </p:cNvPr>
          <p:cNvSpPr txBox="1"/>
          <p:nvPr/>
        </p:nvSpPr>
        <p:spPr>
          <a:xfrm>
            <a:off x="3537857" y="1691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First-In First-Out (FIFO) Buffer</a:t>
            </a:r>
          </a:p>
        </p:txBody>
      </p:sp>
    </p:spTree>
    <p:extLst>
      <p:ext uri="{BB962C8B-B14F-4D97-AF65-F5344CB8AC3E}">
        <p14:creationId xmlns:p14="http://schemas.microsoft.com/office/powerpoint/2010/main" val="1987924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229"/>
          <p:cNvSpPr/>
          <p:nvPr/>
        </p:nvSpPr>
        <p:spPr>
          <a:xfrm>
            <a:off x="5181600" y="6488668"/>
            <a:ext cx="441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Fig: Circuit diagram of 4 X 4 FIFO buffer</a:t>
            </a:r>
          </a:p>
        </p:txBody>
      </p:sp>
      <p:grpSp>
        <p:nvGrpSpPr>
          <p:cNvPr id="232" name="Group 231"/>
          <p:cNvGrpSpPr/>
          <p:nvPr/>
        </p:nvGrpSpPr>
        <p:grpSpPr>
          <a:xfrm>
            <a:off x="6096000" y="968828"/>
            <a:ext cx="5041140" cy="4609590"/>
            <a:chOff x="620713" y="2392363"/>
            <a:chExt cx="6920875" cy="4041061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247900" y="2605088"/>
              <a:ext cx="625475" cy="6334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319338" y="2733675"/>
              <a:ext cx="507158" cy="4024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4-bit</a:t>
              </a:r>
            </a:p>
            <a:p>
              <a:pPr defTabSz="762000" latinLnBrk="1"/>
              <a:endParaRPr lang="en-US" altLang="ko-KR" sz="1200" b="1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198688" y="2865438"/>
              <a:ext cx="700383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register</a:t>
              </a:r>
            </a:p>
          </p:txBody>
        </p:sp>
        <p:sp>
          <p:nvSpPr>
            <p:cNvPr id="10" name="Arc 8"/>
            <p:cNvSpPr>
              <a:spLocks/>
            </p:cNvSpPr>
            <p:nvPr/>
          </p:nvSpPr>
          <p:spPr bwMode="auto">
            <a:xfrm>
              <a:off x="2125663" y="2652713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1925638" y="2693988"/>
              <a:ext cx="2174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2" name="Arc 10"/>
            <p:cNvSpPr>
              <a:spLocks/>
            </p:cNvSpPr>
            <p:nvPr/>
          </p:nvSpPr>
          <p:spPr bwMode="auto">
            <a:xfrm>
              <a:off x="2125663" y="2803525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925638" y="2836863"/>
              <a:ext cx="217487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4" name="Arc 12"/>
            <p:cNvSpPr>
              <a:spLocks/>
            </p:cNvSpPr>
            <p:nvPr/>
          </p:nvSpPr>
          <p:spPr bwMode="auto">
            <a:xfrm>
              <a:off x="2125663" y="2954338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925638" y="2998788"/>
              <a:ext cx="2174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6" name="Arc 14"/>
            <p:cNvSpPr>
              <a:spLocks/>
            </p:cNvSpPr>
            <p:nvPr/>
          </p:nvSpPr>
          <p:spPr bwMode="auto">
            <a:xfrm>
              <a:off x="2125663" y="3105150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1930400" y="3146425"/>
              <a:ext cx="2206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8" name="Arc 21"/>
            <p:cNvSpPr>
              <a:spLocks/>
            </p:cNvSpPr>
            <p:nvPr/>
          </p:nvSpPr>
          <p:spPr bwMode="auto">
            <a:xfrm>
              <a:off x="2503488" y="3243263"/>
              <a:ext cx="95250" cy="96837"/>
            </a:xfrm>
            <a:custGeom>
              <a:avLst/>
              <a:gdLst>
                <a:gd name="T0" fmla="*/ 459696453 w 17464"/>
                <a:gd name="T1" fmla="*/ 160838524 h 21600"/>
                <a:gd name="T2" fmla="*/ 0 w 17464"/>
                <a:gd name="T3" fmla="*/ 159976459 h 21600"/>
                <a:gd name="T4" fmla="*/ 233004085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 flipV="1">
              <a:off x="2551113" y="3321050"/>
              <a:ext cx="0" cy="492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0" name="Rectangle 23"/>
            <p:cNvSpPr>
              <a:spLocks noChangeArrowheads="1"/>
            </p:cNvSpPr>
            <p:nvPr/>
          </p:nvSpPr>
          <p:spPr bwMode="auto">
            <a:xfrm>
              <a:off x="2247900" y="4970463"/>
              <a:ext cx="579438" cy="6429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>
              <a:off x="2000250" y="5114925"/>
              <a:ext cx="250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2000250" y="5478463"/>
              <a:ext cx="250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3" name="Rectangle 26"/>
            <p:cNvSpPr>
              <a:spLocks noChangeArrowheads="1"/>
            </p:cNvSpPr>
            <p:nvPr/>
          </p:nvSpPr>
          <p:spPr bwMode="auto">
            <a:xfrm>
              <a:off x="2209800" y="4997450"/>
              <a:ext cx="267902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S</a:t>
              </a:r>
            </a:p>
          </p:txBody>
        </p:sp>
        <p:sp>
          <p:nvSpPr>
            <p:cNvPr id="24" name="Rectangle 27"/>
            <p:cNvSpPr>
              <a:spLocks noChangeArrowheads="1"/>
            </p:cNvSpPr>
            <p:nvPr/>
          </p:nvSpPr>
          <p:spPr bwMode="auto">
            <a:xfrm>
              <a:off x="2209800" y="5408613"/>
              <a:ext cx="2830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</a:t>
              </a:r>
            </a:p>
          </p:txBody>
        </p:sp>
        <p:sp>
          <p:nvSpPr>
            <p:cNvPr id="25" name="Rectangle 28"/>
            <p:cNvSpPr>
              <a:spLocks noChangeArrowheads="1"/>
            </p:cNvSpPr>
            <p:nvPr/>
          </p:nvSpPr>
          <p:spPr bwMode="auto">
            <a:xfrm>
              <a:off x="2568575" y="4997450"/>
              <a:ext cx="26621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</a:t>
              </a:r>
            </a:p>
          </p:txBody>
        </p:sp>
        <p:sp>
          <p:nvSpPr>
            <p:cNvPr id="26" name="Rectangle 29"/>
            <p:cNvSpPr>
              <a:spLocks noChangeArrowheads="1"/>
            </p:cNvSpPr>
            <p:nvPr/>
          </p:nvSpPr>
          <p:spPr bwMode="auto">
            <a:xfrm>
              <a:off x="2568575" y="5370513"/>
              <a:ext cx="303285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F'</a:t>
              </a:r>
            </a:p>
          </p:txBody>
        </p:sp>
        <p:sp>
          <p:nvSpPr>
            <p:cNvPr id="27" name="Line 30"/>
            <p:cNvSpPr>
              <a:spLocks noChangeShapeType="1"/>
            </p:cNvSpPr>
            <p:nvPr/>
          </p:nvSpPr>
          <p:spPr bwMode="auto">
            <a:xfrm>
              <a:off x="2836863" y="5114925"/>
              <a:ext cx="2651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8" name="Line 31"/>
            <p:cNvSpPr>
              <a:spLocks noChangeShapeType="1"/>
            </p:cNvSpPr>
            <p:nvPr/>
          </p:nvSpPr>
          <p:spPr bwMode="auto">
            <a:xfrm flipV="1">
              <a:off x="2836863" y="5478463"/>
              <a:ext cx="144462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>
              <a:off x="2427288" y="4165600"/>
              <a:ext cx="0" cy="200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30" name="Line 33"/>
            <p:cNvSpPr>
              <a:spLocks noChangeShapeType="1"/>
            </p:cNvSpPr>
            <p:nvPr/>
          </p:nvSpPr>
          <p:spPr bwMode="auto">
            <a:xfrm flipH="1">
              <a:off x="2673350" y="4165600"/>
              <a:ext cx="0" cy="203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31" name="Line 34"/>
            <p:cNvSpPr>
              <a:spLocks noChangeShapeType="1"/>
            </p:cNvSpPr>
            <p:nvPr/>
          </p:nvSpPr>
          <p:spPr bwMode="auto">
            <a:xfrm>
              <a:off x="1925638" y="4360863"/>
              <a:ext cx="514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>
              <a:off x="2679700" y="4360863"/>
              <a:ext cx="2984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33" name="Rectangle 36"/>
            <p:cNvSpPr>
              <a:spLocks noChangeArrowheads="1"/>
            </p:cNvSpPr>
            <p:nvPr/>
          </p:nvSpPr>
          <p:spPr bwMode="auto">
            <a:xfrm>
              <a:off x="2652713" y="5040313"/>
              <a:ext cx="274641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1</a:t>
              </a:r>
            </a:p>
          </p:txBody>
        </p:sp>
        <p:sp>
          <p:nvSpPr>
            <p:cNvPr id="34" name="Rectangle 37"/>
            <p:cNvSpPr>
              <a:spLocks noChangeArrowheads="1"/>
            </p:cNvSpPr>
            <p:nvPr/>
          </p:nvSpPr>
          <p:spPr bwMode="auto">
            <a:xfrm>
              <a:off x="2652713" y="5434013"/>
              <a:ext cx="274641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1</a:t>
              </a:r>
            </a:p>
          </p:txBody>
        </p:sp>
        <p:sp>
          <p:nvSpPr>
            <p:cNvPr id="35" name="Rectangle 38"/>
            <p:cNvSpPr>
              <a:spLocks noChangeArrowheads="1"/>
            </p:cNvSpPr>
            <p:nvPr/>
          </p:nvSpPr>
          <p:spPr bwMode="auto">
            <a:xfrm>
              <a:off x="3482975" y="2605088"/>
              <a:ext cx="628650" cy="6334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36" name="Rectangle 39"/>
            <p:cNvSpPr>
              <a:spLocks noChangeArrowheads="1"/>
            </p:cNvSpPr>
            <p:nvPr/>
          </p:nvSpPr>
          <p:spPr bwMode="auto">
            <a:xfrm>
              <a:off x="3554413" y="2733675"/>
              <a:ext cx="507158" cy="4024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4-bit</a:t>
              </a:r>
            </a:p>
            <a:p>
              <a:pPr defTabSz="762000"/>
              <a:endParaRPr lang="en-US" altLang="ko-KR" sz="1200" b="1"/>
            </a:p>
          </p:txBody>
        </p:sp>
        <p:sp>
          <p:nvSpPr>
            <p:cNvPr id="37" name="Rectangle 40"/>
            <p:cNvSpPr>
              <a:spLocks noChangeArrowheads="1"/>
            </p:cNvSpPr>
            <p:nvPr/>
          </p:nvSpPr>
          <p:spPr bwMode="auto">
            <a:xfrm>
              <a:off x="3436938" y="2874963"/>
              <a:ext cx="700383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register</a:t>
              </a:r>
            </a:p>
          </p:txBody>
        </p:sp>
        <p:sp>
          <p:nvSpPr>
            <p:cNvPr id="38" name="Arc 41"/>
            <p:cNvSpPr>
              <a:spLocks/>
            </p:cNvSpPr>
            <p:nvPr/>
          </p:nvSpPr>
          <p:spPr bwMode="auto">
            <a:xfrm>
              <a:off x="3360738" y="2652713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39" name="Line 42"/>
            <p:cNvSpPr>
              <a:spLocks noChangeShapeType="1"/>
            </p:cNvSpPr>
            <p:nvPr/>
          </p:nvSpPr>
          <p:spPr bwMode="auto">
            <a:xfrm>
              <a:off x="2873375" y="2693988"/>
              <a:ext cx="495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40" name="Arc 43"/>
            <p:cNvSpPr>
              <a:spLocks/>
            </p:cNvSpPr>
            <p:nvPr/>
          </p:nvSpPr>
          <p:spPr bwMode="auto">
            <a:xfrm>
              <a:off x="3360738" y="2803525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41" name="Line 44"/>
            <p:cNvSpPr>
              <a:spLocks noChangeShapeType="1"/>
            </p:cNvSpPr>
            <p:nvPr/>
          </p:nvSpPr>
          <p:spPr bwMode="auto">
            <a:xfrm>
              <a:off x="2873375" y="2847975"/>
              <a:ext cx="495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42" name="Arc 45"/>
            <p:cNvSpPr>
              <a:spLocks/>
            </p:cNvSpPr>
            <p:nvPr/>
          </p:nvSpPr>
          <p:spPr bwMode="auto">
            <a:xfrm>
              <a:off x="3360738" y="2954338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43" name="Line 46"/>
            <p:cNvSpPr>
              <a:spLocks noChangeShapeType="1"/>
            </p:cNvSpPr>
            <p:nvPr/>
          </p:nvSpPr>
          <p:spPr bwMode="auto">
            <a:xfrm>
              <a:off x="2873375" y="2995613"/>
              <a:ext cx="495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44" name="Arc 47"/>
            <p:cNvSpPr>
              <a:spLocks/>
            </p:cNvSpPr>
            <p:nvPr/>
          </p:nvSpPr>
          <p:spPr bwMode="auto">
            <a:xfrm>
              <a:off x="3360738" y="3105150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45" name="Line 48"/>
            <p:cNvSpPr>
              <a:spLocks noChangeShapeType="1"/>
            </p:cNvSpPr>
            <p:nvPr/>
          </p:nvSpPr>
          <p:spPr bwMode="auto">
            <a:xfrm>
              <a:off x="2879725" y="3149600"/>
              <a:ext cx="4937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46" name="Arc 54"/>
            <p:cNvSpPr>
              <a:spLocks/>
            </p:cNvSpPr>
            <p:nvPr/>
          </p:nvSpPr>
          <p:spPr bwMode="auto">
            <a:xfrm>
              <a:off x="3738563" y="3243263"/>
              <a:ext cx="93662" cy="96837"/>
            </a:xfrm>
            <a:custGeom>
              <a:avLst/>
              <a:gdLst>
                <a:gd name="T0" fmla="*/ 415586732 w 17464"/>
                <a:gd name="T1" fmla="*/ 160838524 h 21600"/>
                <a:gd name="T2" fmla="*/ 0 w 17464"/>
                <a:gd name="T3" fmla="*/ 159976459 h 21600"/>
                <a:gd name="T4" fmla="*/ 210650335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47" name="Line 55"/>
            <p:cNvSpPr>
              <a:spLocks noChangeShapeType="1"/>
            </p:cNvSpPr>
            <p:nvPr/>
          </p:nvSpPr>
          <p:spPr bwMode="auto">
            <a:xfrm flipV="1">
              <a:off x="3784600" y="3321050"/>
              <a:ext cx="0" cy="492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48" name="Rectangle 56"/>
            <p:cNvSpPr>
              <a:spLocks noChangeArrowheads="1"/>
            </p:cNvSpPr>
            <p:nvPr/>
          </p:nvSpPr>
          <p:spPr bwMode="auto">
            <a:xfrm>
              <a:off x="3482975" y="4970463"/>
              <a:ext cx="604838" cy="6429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49" name="Line 57"/>
            <p:cNvSpPr>
              <a:spLocks noChangeShapeType="1"/>
            </p:cNvSpPr>
            <p:nvPr/>
          </p:nvSpPr>
          <p:spPr bwMode="auto">
            <a:xfrm>
              <a:off x="3297238" y="5114925"/>
              <a:ext cx="1889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50" name="Line 58"/>
            <p:cNvSpPr>
              <a:spLocks noChangeShapeType="1"/>
            </p:cNvSpPr>
            <p:nvPr/>
          </p:nvSpPr>
          <p:spPr bwMode="auto">
            <a:xfrm>
              <a:off x="3113088" y="5478463"/>
              <a:ext cx="358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51" name="Rectangle 59"/>
            <p:cNvSpPr>
              <a:spLocks noChangeArrowheads="1"/>
            </p:cNvSpPr>
            <p:nvPr/>
          </p:nvSpPr>
          <p:spPr bwMode="auto">
            <a:xfrm>
              <a:off x="3443288" y="4997450"/>
              <a:ext cx="267902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S</a:t>
              </a:r>
            </a:p>
          </p:txBody>
        </p:sp>
        <p:sp>
          <p:nvSpPr>
            <p:cNvPr id="52" name="Rectangle 60"/>
            <p:cNvSpPr>
              <a:spLocks noChangeArrowheads="1"/>
            </p:cNvSpPr>
            <p:nvPr/>
          </p:nvSpPr>
          <p:spPr bwMode="auto">
            <a:xfrm>
              <a:off x="3443288" y="5408613"/>
              <a:ext cx="2830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</a:t>
              </a:r>
            </a:p>
          </p:txBody>
        </p:sp>
        <p:sp>
          <p:nvSpPr>
            <p:cNvPr id="53" name="Rectangle 61"/>
            <p:cNvSpPr>
              <a:spLocks noChangeArrowheads="1"/>
            </p:cNvSpPr>
            <p:nvPr/>
          </p:nvSpPr>
          <p:spPr bwMode="auto">
            <a:xfrm>
              <a:off x="3814763" y="4997450"/>
              <a:ext cx="26621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</a:t>
              </a:r>
            </a:p>
          </p:txBody>
        </p:sp>
        <p:sp>
          <p:nvSpPr>
            <p:cNvPr id="54" name="Rectangle 62"/>
            <p:cNvSpPr>
              <a:spLocks noChangeArrowheads="1"/>
            </p:cNvSpPr>
            <p:nvPr/>
          </p:nvSpPr>
          <p:spPr bwMode="auto">
            <a:xfrm>
              <a:off x="3795712" y="5370513"/>
              <a:ext cx="303285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F'</a:t>
              </a:r>
            </a:p>
          </p:txBody>
        </p:sp>
        <p:sp>
          <p:nvSpPr>
            <p:cNvPr id="55" name="Line 64"/>
            <p:cNvSpPr>
              <a:spLocks noChangeShapeType="1"/>
            </p:cNvSpPr>
            <p:nvPr/>
          </p:nvSpPr>
          <p:spPr bwMode="auto">
            <a:xfrm>
              <a:off x="3921125" y="4165600"/>
              <a:ext cx="0" cy="180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56" name="Line 65"/>
            <p:cNvSpPr>
              <a:spLocks noChangeShapeType="1"/>
            </p:cNvSpPr>
            <p:nvPr/>
          </p:nvSpPr>
          <p:spPr bwMode="auto">
            <a:xfrm>
              <a:off x="3113088" y="4360863"/>
              <a:ext cx="5667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57" name="Line 66"/>
            <p:cNvSpPr>
              <a:spLocks noChangeShapeType="1"/>
            </p:cNvSpPr>
            <p:nvPr/>
          </p:nvSpPr>
          <p:spPr bwMode="auto">
            <a:xfrm>
              <a:off x="3927475" y="4360863"/>
              <a:ext cx="2936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58" name="Rectangle 67"/>
            <p:cNvSpPr>
              <a:spLocks noChangeArrowheads="1"/>
            </p:cNvSpPr>
            <p:nvPr/>
          </p:nvSpPr>
          <p:spPr bwMode="auto">
            <a:xfrm>
              <a:off x="3887788" y="5040313"/>
              <a:ext cx="274641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2</a:t>
              </a:r>
            </a:p>
          </p:txBody>
        </p:sp>
        <p:sp>
          <p:nvSpPr>
            <p:cNvPr id="59" name="Rectangle 68"/>
            <p:cNvSpPr>
              <a:spLocks noChangeArrowheads="1"/>
            </p:cNvSpPr>
            <p:nvPr/>
          </p:nvSpPr>
          <p:spPr bwMode="auto">
            <a:xfrm>
              <a:off x="3898901" y="5434013"/>
              <a:ext cx="274641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2</a:t>
              </a:r>
            </a:p>
          </p:txBody>
        </p:sp>
        <p:sp>
          <p:nvSpPr>
            <p:cNvPr id="60" name="Rectangle 69"/>
            <p:cNvSpPr>
              <a:spLocks noChangeArrowheads="1"/>
            </p:cNvSpPr>
            <p:nvPr/>
          </p:nvSpPr>
          <p:spPr bwMode="auto">
            <a:xfrm>
              <a:off x="4718050" y="2605088"/>
              <a:ext cx="631825" cy="6334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61" name="Rectangle 70"/>
            <p:cNvSpPr>
              <a:spLocks noChangeArrowheads="1"/>
            </p:cNvSpPr>
            <p:nvPr/>
          </p:nvSpPr>
          <p:spPr bwMode="auto">
            <a:xfrm>
              <a:off x="4787900" y="2733675"/>
              <a:ext cx="507158" cy="4024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4-bit</a:t>
              </a:r>
            </a:p>
            <a:p>
              <a:pPr defTabSz="762000"/>
              <a:endParaRPr lang="en-US" altLang="ko-KR" sz="1200" b="1"/>
            </a:p>
          </p:txBody>
        </p:sp>
        <p:sp>
          <p:nvSpPr>
            <p:cNvPr id="62" name="Rectangle 71"/>
            <p:cNvSpPr>
              <a:spLocks noChangeArrowheads="1"/>
            </p:cNvSpPr>
            <p:nvPr/>
          </p:nvSpPr>
          <p:spPr bwMode="auto">
            <a:xfrm>
              <a:off x="4672013" y="2874963"/>
              <a:ext cx="700383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register</a:t>
              </a:r>
            </a:p>
          </p:txBody>
        </p:sp>
        <p:sp>
          <p:nvSpPr>
            <p:cNvPr id="63" name="Arc 72"/>
            <p:cNvSpPr>
              <a:spLocks/>
            </p:cNvSpPr>
            <p:nvPr/>
          </p:nvSpPr>
          <p:spPr bwMode="auto">
            <a:xfrm>
              <a:off x="4595813" y="2652713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64" name="Line 73"/>
            <p:cNvSpPr>
              <a:spLocks noChangeShapeType="1"/>
            </p:cNvSpPr>
            <p:nvPr/>
          </p:nvSpPr>
          <p:spPr bwMode="auto">
            <a:xfrm>
              <a:off x="4121150" y="2697163"/>
              <a:ext cx="482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65" name="Arc 74"/>
            <p:cNvSpPr>
              <a:spLocks/>
            </p:cNvSpPr>
            <p:nvPr/>
          </p:nvSpPr>
          <p:spPr bwMode="auto">
            <a:xfrm>
              <a:off x="4595813" y="2803525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66" name="Line 75"/>
            <p:cNvSpPr>
              <a:spLocks noChangeShapeType="1"/>
            </p:cNvSpPr>
            <p:nvPr/>
          </p:nvSpPr>
          <p:spPr bwMode="auto">
            <a:xfrm>
              <a:off x="4121150" y="2847975"/>
              <a:ext cx="482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67" name="Arc 76"/>
            <p:cNvSpPr>
              <a:spLocks/>
            </p:cNvSpPr>
            <p:nvPr/>
          </p:nvSpPr>
          <p:spPr bwMode="auto">
            <a:xfrm>
              <a:off x="4595813" y="2963863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68" name="Line 77"/>
            <p:cNvSpPr>
              <a:spLocks noChangeShapeType="1"/>
            </p:cNvSpPr>
            <p:nvPr/>
          </p:nvSpPr>
          <p:spPr bwMode="auto">
            <a:xfrm>
              <a:off x="4121150" y="2995613"/>
              <a:ext cx="482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69" name="Arc 78"/>
            <p:cNvSpPr>
              <a:spLocks/>
            </p:cNvSpPr>
            <p:nvPr/>
          </p:nvSpPr>
          <p:spPr bwMode="auto">
            <a:xfrm>
              <a:off x="4595813" y="3114675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70" name="Line 79"/>
            <p:cNvSpPr>
              <a:spLocks noChangeShapeType="1"/>
            </p:cNvSpPr>
            <p:nvPr/>
          </p:nvSpPr>
          <p:spPr bwMode="auto">
            <a:xfrm>
              <a:off x="4121150" y="3149600"/>
              <a:ext cx="4826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71" name="Arc 85"/>
            <p:cNvSpPr>
              <a:spLocks/>
            </p:cNvSpPr>
            <p:nvPr/>
          </p:nvSpPr>
          <p:spPr bwMode="auto">
            <a:xfrm>
              <a:off x="4986338" y="3243263"/>
              <a:ext cx="93662" cy="96837"/>
            </a:xfrm>
            <a:custGeom>
              <a:avLst/>
              <a:gdLst>
                <a:gd name="T0" fmla="*/ 415586732 w 17464"/>
                <a:gd name="T1" fmla="*/ 160838524 h 21600"/>
                <a:gd name="T2" fmla="*/ 0 w 17464"/>
                <a:gd name="T3" fmla="*/ 159976459 h 21600"/>
                <a:gd name="T4" fmla="*/ 210650335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72" name="Line 86"/>
            <p:cNvSpPr>
              <a:spLocks noChangeShapeType="1"/>
            </p:cNvSpPr>
            <p:nvPr/>
          </p:nvSpPr>
          <p:spPr bwMode="auto">
            <a:xfrm flipV="1">
              <a:off x="5032375" y="3321050"/>
              <a:ext cx="0" cy="492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73" name="Rectangle 87"/>
            <p:cNvSpPr>
              <a:spLocks noChangeArrowheads="1"/>
            </p:cNvSpPr>
            <p:nvPr/>
          </p:nvSpPr>
          <p:spPr bwMode="auto">
            <a:xfrm>
              <a:off x="4718050" y="4970463"/>
              <a:ext cx="603250" cy="6429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74" name="Line 88"/>
            <p:cNvSpPr>
              <a:spLocks noChangeShapeType="1"/>
            </p:cNvSpPr>
            <p:nvPr/>
          </p:nvSpPr>
          <p:spPr bwMode="auto">
            <a:xfrm>
              <a:off x="4408488" y="5478463"/>
              <a:ext cx="2841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75" name="Rectangle 89"/>
            <p:cNvSpPr>
              <a:spLocks noChangeArrowheads="1"/>
            </p:cNvSpPr>
            <p:nvPr/>
          </p:nvSpPr>
          <p:spPr bwMode="auto">
            <a:xfrm>
              <a:off x="4678363" y="4997450"/>
              <a:ext cx="267902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S</a:t>
              </a:r>
            </a:p>
          </p:txBody>
        </p:sp>
        <p:sp>
          <p:nvSpPr>
            <p:cNvPr id="76" name="Rectangle 90"/>
            <p:cNvSpPr>
              <a:spLocks noChangeArrowheads="1"/>
            </p:cNvSpPr>
            <p:nvPr/>
          </p:nvSpPr>
          <p:spPr bwMode="auto">
            <a:xfrm>
              <a:off x="4678363" y="5408613"/>
              <a:ext cx="2830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</a:t>
              </a:r>
            </a:p>
          </p:txBody>
        </p:sp>
        <p:sp>
          <p:nvSpPr>
            <p:cNvPr id="77" name="Rectangle 91"/>
            <p:cNvSpPr>
              <a:spLocks noChangeArrowheads="1"/>
            </p:cNvSpPr>
            <p:nvPr/>
          </p:nvSpPr>
          <p:spPr bwMode="auto">
            <a:xfrm>
              <a:off x="5048250" y="4997450"/>
              <a:ext cx="26621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</a:t>
              </a:r>
            </a:p>
          </p:txBody>
        </p:sp>
        <p:sp>
          <p:nvSpPr>
            <p:cNvPr id="78" name="Rectangle 92"/>
            <p:cNvSpPr>
              <a:spLocks noChangeArrowheads="1"/>
            </p:cNvSpPr>
            <p:nvPr/>
          </p:nvSpPr>
          <p:spPr bwMode="auto">
            <a:xfrm>
              <a:off x="5041900" y="5370513"/>
              <a:ext cx="303285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F'</a:t>
              </a:r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auto">
            <a:xfrm>
              <a:off x="5337175" y="5114925"/>
              <a:ext cx="250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80" name="Line 94"/>
            <p:cNvSpPr>
              <a:spLocks noChangeShapeType="1"/>
            </p:cNvSpPr>
            <p:nvPr/>
          </p:nvSpPr>
          <p:spPr bwMode="auto">
            <a:xfrm>
              <a:off x="4908550" y="4165600"/>
              <a:ext cx="0" cy="180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81" name="Rectangle 96"/>
            <p:cNvSpPr>
              <a:spLocks noChangeArrowheads="1"/>
            </p:cNvSpPr>
            <p:nvPr/>
          </p:nvSpPr>
          <p:spPr bwMode="auto">
            <a:xfrm>
              <a:off x="5121275" y="5040313"/>
              <a:ext cx="274641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3</a:t>
              </a:r>
            </a:p>
          </p:txBody>
        </p:sp>
        <p:sp>
          <p:nvSpPr>
            <p:cNvPr id="82" name="Rectangle 97"/>
            <p:cNvSpPr>
              <a:spLocks noChangeArrowheads="1"/>
            </p:cNvSpPr>
            <p:nvPr/>
          </p:nvSpPr>
          <p:spPr bwMode="auto">
            <a:xfrm>
              <a:off x="5126038" y="5434013"/>
              <a:ext cx="274641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3</a:t>
              </a:r>
            </a:p>
          </p:txBody>
        </p:sp>
        <p:sp>
          <p:nvSpPr>
            <p:cNvPr id="83" name="Rectangle 98"/>
            <p:cNvSpPr>
              <a:spLocks noChangeArrowheads="1"/>
            </p:cNvSpPr>
            <p:nvPr/>
          </p:nvSpPr>
          <p:spPr bwMode="auto">
            <a:xfrm>
              <a:off x="5964238" y="2605088"/>
              <a:ext cx="633412" cy="6334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84" name="Rectangle 99"/>
            <p:cNvSpPr>
              <a:spLocks noChangeArrowheads="1"/>
            </p:cNvSpPr>
            <p:nvPr/>
          </p:nvSpPr>
          <p:spPr bwMode="auto">
            <a:xfrm>
              <a:off x="6037264" y="2733675"/>
              <a:ext cx="507158" cy="4024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4-bit</a:t>
              </a:r>
            </a:p>
            <a:p>
              <a:pPr defTabSz="762000"/>
              <a:endParaRPr lang="en-US" altLang="ko-KR" sz="1200" b="1"/>
            </a:p>
          </p:txBody>
        </p:sp>
        <p:sp>
          <p:nvSpPr>
            <p:cNvPr id="85" name="Rectangle 100"/>
            <p:cNvSpPr>
              <a:spLocks noChangeArrowheads="1"/>
            </p:cNvSpPr>
            <p:nvPr/>
          </p:nvSpPr>
          <p:spPr bwMode="auto">
            <a:xfrm>
              <a:off x="5938838" y="2874963"/>
              <a:ext cx="700383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register</a:t>
              </a:r>
            </a:p>
          </p:txBody>
        </p:sp>
        <p:sp>
          <p:nvSpPr>
            <p:cNvPr id="86" name="Arc 101"/>
            <p:cNvSpPr>
              <a:spLocks/>
            </p:cNvSpPr>
            <p:nvPr/>
          </p:nvSpPr>
          <p:spPr bwMode="auto">
            <a:xfrm>
              <a:off x="5842000" y="2652713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87" name="Line 102"/>
            <p:cNvSpPr>
              <a:spLocks noChangeShapeType="1"/>
            </p:cNvSpPr>
            <p:nvPr/>
          </p:nvSpPr>
          <p:spPr bwMode="auto">
            <a:xfrm>
              <a:off x="5351463" y="2693988"/>
              <a:ext cx="495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88" name="Arc 103"/>
            <p:cNvSpPr>
              <a:spLocks/>
            </p:cNvSpPr>
            <p:nvPr/>
          </p:nvSpPr>
          <p:spPr bwMode="auto">
            <a:xfrm>
              <a:off x="5842000" y="2813050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89" name="Line 104"/>
            <p:cNvSpPr>
              <a:spLocks noChangeShapeType="1"/>
            </p:cNvSpPr>
            <p:nvPr/>
          </p:nvSpPr>
          <p:spPr bwMode="auto">
            <a:xfrm>
              <a:off x="5360988" y="2844800"/>
              <a:ext cx="493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90" name="Arc 105"/>
            <p:cNvSpPr>
              <a:spLocks/>
            </p:cNvSpPr>
            <p:nvPr/>
          </p:nvSpPr>
          <p:spPr bwMode="auto">
            <a:xfrm>
              <a:off x="5842000" y="2963863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91" name="Line 106"/>
            <p:cNvSpPr>
              <a:spLocks noChangeShapeType="1"/>
            </p:cNvSpPr>
            <p:nvPr/>
          </p:nvSpPr>
          <p:spPr bwMode="auto">
            <a:xfrm>
              <a:off x="5351463" y="2995613"/>
              <a:ext cx="495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92" name="Arc 107"/>
            <p:cNvSpPr>
              <a:spLocks/>
            </p:cNvSpPr>
            <p:nvPr/>
          </p:nvSpPr>
          <p:spPr bwMode="auto">
            <a:xfrm>
              <a:off x="5842000" y="3105150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93" name="Line 108"/>
            <p:cNvSpPr>
              <a:spLocks noChangeShapeType="1"/>
            </p:cNvSpPr>
            <p:nvPr/>
          </p:nvSpPr>
          <p:spPr bwMode="auto">
            <a:xfrm>
              <a:off x="5365750" y="3146425"/>
              <a:ext cx="4937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grpSp>
          <p:nvGrpSpPr>
            <p:cNvPr id="94" name="Group 245"/>
            <p:cNvGrpSpPr>
              <a:grpSpLocks/>
            </p:cNvGrpSpPr>
            <p:nvPr/>
          </p:nvGrpSpPr>
          <p:grpSpPr bwMode="auto">
            <a:xfrm>
              <a:off x="6075363" y="3806825"/>
              <a:ext cx="373062" cy="360363"/>
              <a:chOff x="3136" y="3651"/>
              <a:chExt cx="241" cy="287"/>
            </a:xfrm>
          </p:grpSpPr>
          <p:sp>
            <p:nvSpPr>
              <p:cNvPr id="95" name="Arc 109"/>
              <p:cNvSpPr>
                <a:spLocks/>
              </p:cNvSpPr>
              <p:nvPr/>
            </p:nvSpPr>
            <p:spPr bwMode="auto">
              <a:xfrm>
                <a:off x="3136" y="3651"/>
                <a:ext cx="124" cy="147"/>
              </a:xfrm>
              <a:custGeom>
                <a:avLst/>
                <a:gdLst>
                  <a:gd name="T0" fmla="*/ 0 w 21600"/>
                  <a:gd name="T1" fmla="*/ 0 h 21599"/>
                  <a:gd name="T2" fmla="*/ 0 w 21600"/>
                  <a:gd name="T3" fmla="*/ 0 h 21599"/>
                  <a:gd name="T4" fmla="*/ 0 w 21600"/>
                  <a:gd name="T5" fmla="*/ 0 h 215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99"/>
                  <a:gd name="T11" fmla="*/ 21600 w 21600"/>
                  <a:gd name="T12" fmla="*/ 21599 h 215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99" fill="none" extrusionOk="0">
                    <a:moveTo>
                      <a:pt x="0" y="21599"/>
                    </a:moveTo>
                    <a:cubicBezTo>
                      <a:pt x="0" y="9744"/>
                      <a:pt x="9553" y="105"/>
                      <a:pt x="21406" y="-1"/>
                    </a:cubicBezTo>
                  </a:path>
                  <a:path w="21600" h="21599" stroke="0" extrusionOk="0">
                    <a:moveTo>
                      <a:pt x="0" y="21599"/>
                    </a:moveTo>
                    <a:cubicBezTo>
                      <a:pt x="0" y="9744"/>
                      <a:pt x="9553" y="105"/>
                      <a:pt x="21406" y="-1"/>
                    </a:cubicBezTo>
                    <a:lnTo>
                      <a:pt x="21600" y="21599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  <p:sp>
            <p:nvSpPr>
              <p:cNvPr id="96" name="Arc 110"/>
              <p:cNvSpPr>
                <a:spLocks/>
              </p:cNvSpPr>
              <p:nvPr/>
            </p:nvSpPr>
            <p:spPr bwMode="auto">
              <a:xfrm>
                <a:off x="3252" y="3653"/>
                <a:ext cx="125" cy="144"/>
              </a:xfrm>
              <a:custGeom>
                <a:avLst/>
                <a:gdLst>
                  <a:gd name="T0" fmla="*/ 0 w 21773"/>
                  <a:gd name="T1" fmla="*/ 0 h 21600"/>
                  <a:gd name="T2" fmla="*/ 0 w 21773"/>
                  <a:gd name="T3" fmla="*/ 0 h 21600"/>
                  <a:gd name="T4" fmla="*/ 0 w 2177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3"/>
                  <a:gd name="T10" fmla="*/ 0 h 21600"/>
                  <a:gd name="T11" fmla="*/ 21773 w 2177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3" h="21600" fill="none" extrusionOk="0">
                    <a:moveTo>
                      <a:pt x="-1" y="0"/>
                    </a:moveTo>
                    <a:cubicBezTo>
                      <a:pt x="64" y="0"/>
                      <a:pt x="128" y="-1"/>
                      <a:pt x="193" y="0"/>
                    </a:cubicBezTo>
                    <a:cubicBezTo>
                      <a:pt x="11760" y="0"/>
                      <a:pt x="21274" y="9113"/>
                      <a:pt x="21772" y="20670"/>
                    </a:cubicBezTo>
                  </a:path>
                  <a:path w="21773" h="21600" stroke="0" extrusionOk="0">
                    <a:moveTo>
                      <a:pt x="-1" y="0"/>
                    </a:moveTo>
                    <a:cubicBezTo>
                      <a:pt x="64" y="0"/>
                      <a:pt x="128" y="-1"/>
                      <a:pt x="193" y="0"/>
                    </a:cubicBezTo>
                    <a:cubicBezTo>
                      <a:pt x="11760" y="0"/>
                      <a:pt x="21274" y="9113"/>
                      <a:pt x="21772" y="20670"/>
                    </a:cubicBezTo>
                    <a:lnTo>
                      <a:pt x="193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  <p:sp>
            <p:nvSpPr>
              <p:cNvPr id="97" name="Freeform 111"/>
              <p:cNvSpPr>
                <a:spLocks/>
              </p:cNvSpPr>
              <p:nvPr/>
            </p:nvSpPr>
            <p:spPr bwMode="auto">
              <a:xfrm>
                <a:off x="3136" y="3791"/>
                <a:ext cx="241" cy="144"/>
              </a:xfrm>
              <a:custGeom>
                <a:avLst/>
                <a:gdLst>
                  <a:gd name="T0" fmla="*/ 0 w 241"/>
                  <a:gd name="T1" fmla="*/ 0 h 153"/>
                  <a:gd name="T2" fmla="*/ 0 w 241"/>
                  <a:gd name="T3" fmla="*/ 113 h 153"/>
                  <a:gd name="T4" fmla="*/ 240 w 241"/>
                  <a:gd name="T5" fmla="*/ 113 h 153"/>
                  <a:gd name="T6" fmla="*/ 0 60000 65536"/>
                  <a:gd name="T7" fmla="*/ 0 60000 65536"/>
                  <a:gd name="T8" fmla="*/ 0 60000 65536"/>
                  <a:gd name="T9" fmla="*/ 0 w 241"/>
                  <a:gd name="T10" fmla="*/ 0 h 153"/>
                  <a:gd name="T11" fmla="*/ 241 w 241"/>
                  <a:gd name="T12" fmla="*/ 153 h 1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1" h="153">
                    <a:moveTo>
                      <a:pt x="0" y="0"/>
                    </a:moveTo>
                    <a:lnTo>
                      <a:pt x="0" y="152"/>
                    </a:lnTo>
                    <a:lnTo>
                      <a:pt x="240" y="152"/>
                    </a:lnTo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 sz="1200" b="1"/>
              </a:p>
            </p:txBody>
          </p:sp>
          <p:sp>
            <p:nvSpPr>
              <p:cNvPr id="98" name="Line 112"/>
              <p:cNvSpPr>
                <a:spLocks noChangeShapeType="1"/>
              </p:cNvSpPr>
              <p:nvPr/>
            </p:nvSpPr>
            <p:spPr bwMode="auto">
              <a:xfrm>
                <a:off x="3377" y="3790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</p:grpSp>
        <p:sp>
          <p:nvSpPr>
            <p:cNvPr id="99" name="Arc 114"/>
            <p:cNvSpPr>
              <a:spLocks/>
            </p:cNvSpPr>
            <p:nvPr/>
          </p:nvSpPr>
          <p:spPr bwMode="auto">
            <a:xfrm>
              <a:off x="6221413" y="3243263"/>
              <a:ext cx="93662" cy="96837"/>
            </a:xfrm>
            <a:custGeom>
              <a:avLst/>
              <a:gdLst>
                <a:gd name="T0" fmla="*/ 415586732 w 17464"/>
                <a:gd name="T1" fmla="*/ 160838524 h 21600"/>
                <a:gd name="T2" fmla="*/ 0 w 17464"/>
                <a:gd name="T3" fmla="*/ 159976459 h 21600"/>
                <a:gd name="T4" fmla="*/ 210650335 w 17464"/>
                <a:gd name="T5" fmla="*/ 0 h 21600"/>
                <a:gd name="T6" fmla="*/ 0 60000 65536"/>
                <a:gd name="T7" fmla="*/ 0 60000 65536"/>
                <a:gd name="T8" fmla="*/ 0 60000 65536"/>
                <a:gd name="T9" fmla="*/ 0 w 17464"/>
                <a:gd name="T10" fmla="*/ 0 h 21600"/>
                <a:gd name="T11" fmla="*/ 17464 w 174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00" name="Line 115"/>
            <p:cNvSpPr>
              <a:spLocks noChangeShapeType="1"/>
            </p:cNvSpPr>
            <p:nvPr/>
          </p:nvSpPr>
          <p:spPr bwMode="auto">
            <a:xfrm flipV="1">
              <a:off x="6267450" y="3321050"/>
              <a:ext cx="0" cy="492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01" name="Rectangle 116"/>
            <p:cNvSpPr>
              <a:spLocks noChangeArrowheads="1"/>
            </p:cNvSpPr>
            <p:nvPr/>
          </p:nvSpPr>
          <p:spPr bwMode="auto">
            <a:xfrm>
              <a:off x="5964238" y="4970463"/>
              <a:ext cx="604837" cy="6429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102" name="Line 117"/>
            <p:cNvSpPr>
              <a:spLocks noChangeShapeType="1"/>
            </p:cNvSpPr>
            <p:nvPr/>
          </p:nvSpPr>
          <p:spPr bwMode="auto">
            <a:xfrm>
              <a:off x="5668963" y="5478463"/>
              <a:ext cx="2714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03" name="Rectangle 118"/>
            <p:cNvSpPr>
              <a:spLocks noChangeArrowheads="1"/>
            </p:cNvSpPr>
            <p:nvPr/>
          </p:nvSpPr>
          <p:spPr bwMode="auto">
            <a:xfrm>
              <a:off x="5938838" y="4997450"/>
              <a:ext cx="267902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S</a:t>
              </a:r>
            </a:p>
          </p:txBody>
        </p:sp>
        <p:sp>
          <p:nvSpPr>
            <p:cNvPr id="104" name="Rectangle 119"/>
            <p:cNvSpPr>
              <a:spLocks noChangeArrowheads="1"/>
            </p:cNvSpPr>
            <p:nvPr/>
          </p:nvSpPr>
          <p:spPr bwMode="auto">
            <a:xfrm>
              <a:off x="5938838" y="5408613"/>
              <a:ext cx="2830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</a:t>
              </a:r>
            </a:p>
          </p:txBody>
        </p:sp>
        <p:sp>
          <p:nvSpPr>
            <p:cNvPr id="105" name="Rectangle 120"/>
            <p:cNvSpPr>
              <a:spLocks noChangeArrowheads="1"/>
            </p:cNvSpPr>
            <p:nvPr/>
          </p:nvSpPr>
          <p:spPr bwMode="auto">
            <a:xfrm>
              <a:off x="6299200" y="4997450"/>
              <a:ext cx="26621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</a:t>
              </a:r>
            </a:p>
          </p:txBody>
        </p:sp>
        <p:sp>
          <p:nvSpPr>
            <p:cNvPr id="106" name="Rectangle 121"/>
            <p:cNvSpPr>
              <a:spLocks noChangeArrowheads="1"/>
            </p:cNvSpPr>
            <p:nvPr/>
          </p:nvSpPr>
          <p:spPr bwMode="auto">
            <a:xfrm>
              <a:off x="6289675" y="5360988"/>
              <a:ext cx="303285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F'</a:t>
              </a:r>
            </a:p>
          </p:txBody>
        </p:sp>
        <p:sp>
          <p:nvSpPr>
            <p:cNvPr id="107" name="Arc 122"/>
            <p:cNvSpPr>
              <a:spLocks/>
            </p:cNvSpPr>
            <p:nvPr/>
          </p:nvSpPr>
          <p:spPr bwMode="auto">
            <a:xfrm>
              <a:off x="7027863" y="5083175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08" name="Line 123"/>
            <p:cNvSpPr>
              <a:spLocks noChangeShapeType="1"/>
            </p:cNvSpPr>
            <p:nvPr/>
          </p:nvSpPr>
          <p:spPr bwMode="auto">
            <a:xfrm>
              <a:off x="6577013" y="5114925"/>
              <a:ext cx="463550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09" name="Line 124"/>
            <p:cNvSpPr>
              <a:spLocks noChangeShapeType="1"/>
            </p:cNvSpPr>
            <p:nvPr/>
          </p:nvSpPr>
          <p:spPr bwMode="auto">
            <a:xfrm>
              <a:off x="6570663" y="5468938"/>
              <a:ext cx="131762" cy="15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10" name="Line 125"/>
            <p:cNvSpPr>
              <a:spLocks noChangeShapeType="1"/>
            </p:cNvSpPr>
            <p:nvPr/>
          </p:nvSpPr>
          <p:spPr bwMode="auto">
            <a:xfrm>
              <a:off x="6143625" y="4165600"/>
              <a:ext cx="0" cy="180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11" name="Line 126"/>
            <p:cNvSpPr>
              <a:spLocks noChangeShapeType="1"/>
            </p:cNvSpPr>
            <p:nvPr/>
          </p:nvSpPr>
          <p:spPr bwMode="auto">
            <a:xfrm>
              <a:off x="6403975" y="4165600"/>
              <a:ext cx="0" cy="203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12" name="Line 127"/>
            <p:cNvSpPr>
              <a:spLocks noChangeShapeType="1"/>
            </p:cNvSpPr>
            <p:nvPr/>
          </p:nvSpPr>
          <p:spPr bwMode="auto">
            <a:xfrm flipV="1">
              <a:off x="5594350" y="4357688"/>
              <a:ext cx="568325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13" name="Line 128"/>
            <p:cNvSpPr>
              <a:spLocks noChangeShapeType="1"/>
            </p:cNvSpPr>
            <p:nvPr/>
          </p:nvSpPr>
          <p:spPr bwMode="auto">
            <a:xfrm>
              <a:off x="6408738" y="4360863"/>
              <a:ext cx="322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14" name="Rectangle 129"/>
            <p:cNvSpPr>
              <a:spLocks noChangeArrowheads="1"/>
            </p:cNvSpPr>
            <p:nvPr/>
          </p:nvSpPr>
          <p:spPr bwMode="auto">
            <a:xfrm>
              <a:off x="6370638" y="5040313"/>
              <a:ext cx="274641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4</a:t>
              </a:r>
            </a:p>
          </p:txBody>
        </p:sp>
        <p:sp>
          <p:nvSpPr>
            <p:cNvPr id="115" name="Rectangle 130"/>
            <p:cNvSpPr>
              <a:spLocks noChangeArrowheads="1"/>
            </p:cNvSpPr>
            <p:nvPr/>
          </p:nvSpPr>
          <p:spPr bwMode="auto">
            <a:xfrm>
              <a:off x="6373813" y="5424488"/>
              <a:ext cx="274641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4</a:t>
              </a:r>
            </a:p>
          </p:txBody>
        </p:sp>
        <p:sp>
          <p:nvSpPr>
            <p:cNvPr id="116" name="Line 131"/>
            <p:cNvSpPr>
              <a:spLocks noChangeShapeType="1"/>
            </p:cNvSpPr>
            <p:nvPr/>
          </p:nvSpPr>
          <p:spPr bwMode="auto">
            <a:xfrm flipV="1">
              <a:off x="3105150" y="4354513"/>
              <a:ext cx="0" cy="7667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17" name="Line 132"/>
            <p:cNvSpPr>
              <a:spLocks noChangeShapeType="1"/>
            </p:cNvSpPr>
            <p:nvPr/>
          </p:nvSpPr>
          <p:spPr bwMode="auto">
            <a:xfrm>
              <a:off x="2981325" y="4367213"/>
              <a:ext cx="0" cy="1654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18" name="Freeform 133"/>
            <p:cNvSpPr>
              <a:spLocks/>
            </p:cNvSpPr>
            <p:nvPr/>
          </p:nvSpPr>
          <p:spPr bwMode="auto">
            <a:xfrm>
              <a:off x="1989138" y="3451225"/>
              <a:ext cx="557212" cy="1660525"/>
            </a:xfrm>
            <a:custGeom>
              <a:avLst/>
              <a:gdLst>
                <a:gd name="T0" fmla="*/ 0 w 361"/>
                <a:gd name="T1" fmla="*/ 2147483647 h 1321"/>
                <a:gd name="T2" fmla="*/ 0 w 361"/>
                <a:gd name="T3" fmla="*/ 0 h 1321"/>
                <a:gd name="T4" fmla="*/ 2147483647 w 361"/>
                <a:gd name="T5" fmla="*/ 0 h 1321"/>
                <a:gd name="T6" fmla="*/ 0 60000 65536"/>
                <a:gd name="T7" fmla="*/ 0 60000 65536"/>
                <a:gd name="T8" fmla="*/ 0 60000 65536"/>
                <a:gd name="T9" fmla="*/ 0 w 361"/>
                <a:gd name="T10" fmla="*/ 0 h 1321"/>
                <a:gd name="T11" fmla="*/ 361 w 361"/>
                <a:gd name="T12" fmla="*/ 1321 h 13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1321">
                  <a:moveTo>
                    <a:pt x="0" y="1320"/>
                  </a:moveTo>
                  <a:lnTo>
                    <a:pt x="0" y="0"/>
                  </a:lnTo>
                  <a:lnTo>
                    <a:pt x="360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200" b="1"/>
            </a:p>
          </p:txBody>
        </p:sp>
        <p:sp>
          <p:nvSpPr>
            <p:cNvPr id="119" name="Freeform 134"/>
            <p:cNvSpPr>
              <a:spLocks/>
            </p:cNvSpPr>
            <p:nvPr/>
          </p:nvSpPr>
          <p:spPr bwMode="auto">
            <a:xfrm>
              <a:off x="1989138" y="5473700"/>
              <a:ext cx="1296987" cy="352425"/>
            </a:xfrm>
            <a:custGeom>
              <a:avLst/>
              <a:gdLst>
                <a:gd name="T0" fmla="*/ 0 w 841"/>
                <a:gd name="T1" fmla="*/ 0 h 281"/>
                <a:gd name="T2" fmla="*/ 0 w 841"/>
                <a:gd name="T3" fmla="*/ 2147483647 h 281"/>
                <a:gd name="T4" fmla="*/ 2147483647 w 841"/>
                <a:gd name="T5" fmla="*/ 2147483647 h 281"/>
                <a:gd name="T6" fmla="*/ 0 60000 65536"/>
                <a:gd name="T7" fmla="*/ 0 60000 65536"/>
                <a:gd name="T8" fmla="*/ 0 60000 65536"/>
                <a:gd name="T9" fmla="*/ 0 w 841"/>
                <a:gd name="T10" fmla="*/ 0 h 281"/>
                <a:gd name="T11" fmla="*/ 841 w 841"/>
                <a:gd name="T12" fmla="*/ 281 h 2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41" h="281">
                  <a:moveTo>
                    <a:pt x="0" y="0"/>
                  </a:moveTo>
                  <a:lnTo>
                    <a:pt x="0" y="280"/>
                  </a:lnTo>
                  <a:lnTo>
                    <a:pt x="840" y="28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200" b="1"/>
            </a:p>
          </p:txBody>
        </p:sp>
        <p:sp>
          <p:nvSpPr>
            <p:cNvPr id="120" name="Arc 135"/>
            <p:cNvSpPr>
              <a:spLocks/>
            </p:cNvSpPr>
            <p:nvPr/>
          </p:nvSpPr>
          <p:spPr bwMode="auto">
            <a:xfrm>
              <a:off x="1685925" y="5983288"/>
              <a:ext cx="117475" cy="76200"/>
            </a:xfrm>
            <a:custGeom>
              <a:avLst/>
              <a:gdLst>
                <a:gd name="T0" fmla="*/ 509897878 w 21600"/>
                <a:gd name="T1" fmla="*/ 0 h 17464"/>
                <a:gd name="T2" fmla="*/ 512637916 w 21600"/>
                <a:gd name="T3" fmla="*/ 120506703 h 17464"/>
                <a:gd name="T4" fmla="*/ 0 w 21600"/>
                <a:gd name="T5" fmla="*/ 61082092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21" name="Line 136"/>
            <p:cNvSpPr>
              <a:spLocks noChangeShapeType="1"/>
            </p:cNvSpPr>
            <p:nvPr/>
          </p:nvSpPr>
          <p:spPr bwMode="auto">
            <a:xfrm flipH="1" flipV="1">
              <a:off x="1765300" y="6019800"/>
              <a:ext cx="1223963" cy="15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22" name="Freeform 137"/>
            <p:cNvSpPr>
              <a:spLocks/>
            </p:cNvSpPr>
            <p:nvPr/>
          </p:nvSpPr>
          <p:spPr bwMode="auto">
            <a:xfrm>
              <a:off x="3284538" y="3451225"/>
              <a:ext cx="495300" cy="2374900"/>
            </a:xfrm>
            <a:custGeom>
              <a:avLst/>
              <a:gdLst>
                <a:gd name="T0" fmla="*/ 0 w 321"/>
                <a:gd name="T1" fmla="*/ 2147483647 h 1889"/>
                <a:gd name="T2" fmla="*/ 0 w 321"/>
                <a:gd name="T3" fmla="*/ 0 h 1889"/>
                <a:gd name="T4" fmla="*/ 2147483647 w 321"/>
                <a:gd name="T5" fmla="*/ 0 h 1889"/>
                <a:gd name="T6" fmla="*/ 0 60000 65536"/>
                <a:gd name="T7" fmla="*/ 0 60000 65536"/>
                <a:gd name="T8" fmla="*/ 0 60000 65536"/>
                <a:gd name="T9" fmla="*/ 0 w 321"/>
                <a:gd name="T10" fmla="*/ 0 h 1889"/>
                <a:gd name="T11" fmla="*/ 321 w 321"/>
                <a:gd name="T12" fmla="*/ 1889 h 18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" h="1889">
                  <a:moveTo>
                    <a:pt x="0" y="1888"/>
                  </a:moveTo>
                  <a:lnTo>
                    <a:pt x="0" y="0"/>
                  </a:lnTo>
                  <a:lnTo>
                    <a:pt x="320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200" b="1"/>
            </a:p>
          </p:txBody>
        </p:sp>
        <p:sp>
          <p:nvSpPr>
            <p:cNvPr id="123" name="Freeform 138"/>
            <p:cNvSpPr>
              <a:spLocks/>
            </p:cNvSpPr>
            <p:nvPr/>
          </p:nvSpPr>
          <p:spPr bwMode="auto">
            <a:xfrm>
              <a:off x="3100388" y="5476875"/>
              <a:ext cx="1420812" cy="541338"/>
            </a:xfrm>
            <a:custGeom>
              <a:avLst/>
              <a:gdLst>
                <a:gd name="T0" fmla="*/ 0 w 921"/>
                <a:gd name="T1" fmla="*/ 0 h 433"/>
                <a:gd name="T2" fmla="*/ 0 w 921"/>
                <a:gd name="T3" fmla="*/ 2147483647 h 433"/>
                <a:gd name="T4" fmla="*/ 2147483647 w 921"/>
                <a:gd name="T5" fmla="*/ 2147483647 h 433"/>
                <a:gd name="T6" fmla="*/ 0 60000 65536"/>
                <a:gd name="T7" fmla="*/ 0 60000 65536"/>
                <a:gd name="T8" fmla="*/ 0 60000 65536"/>
                <a:gd name="T9" fmla="*/ 0 w 921"/>
                <a:gd name="T10" fmla="*/ 0 h 433"/>
                <a:gd name="T11" fmla="*/ 921 w 921"/>
                <a:gd name="T12" fmla="*/ 433 h 4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1" h="433">
                  <a:moveTo>
                    <a:pt x="0" y="0"/>
                  </a:moveTo>
                  <a:lnTo>
                    <a:pt x="0" y="432"/>
                  </a:lnTo>
                  <a:lnTo>
                    <a:pt x="920" y="432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200" b="1"/>
            </a:p>
          </p:txBody>
        </p:sp>
        <p:sp>
          <p:nvSpPr>
            <p:cNvPr id="124" name="Rectangle 139"/>
            <p:cNvSpPr>
              <a:spLocks noChangeArrowheads="1"/>
            </p:cNvSpPr>
            <p:nvPr/>
          </p:nvSpPr>
          <p:spPr bwMode="auto">
            <a:xfrm>
              <a:off x="3814763" y="4997450"/>
              <a:ext cx="26621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</a:t>
              </a:r>
            </a:p>
          </p:txBody>
        </p:sp>
        <p:sp>
          <p:nvSpPr>
            <p:cNvPr id="125" name="Rectangle 140"/>
            <p:cNvSpPr>
              <a:spLocks noChangeArrowheads="1"/>
            </p:cNvSpPr>
            <p:nvPr/>
          </p:nvSpPr>
          <p:spPr bwMode="auto">
            <a:xfrm>
              <a:off x="3795712" y="5370513"/>
              <a:ext cx="26621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</a:t>
              </a:r>
            </a:p>
          </p:txBody>
        </p:sp>
        <p:sp>
          <p:nvSpPr>
            <p:cNvPr id="126" name="Line 141"/>
            <p:cNvSpPr>
              <a:spLocks noChangeShapeType="1"/>
            </p:cNvSpPr>
            <p:nvPr/>
          </p:nvSpPr>
          <p:spPr bwMode="auto">
            <a:xfrm>
              <a:off x="4078288" y="5459413"/>
              <a:ext cx="133350" cy="15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27" name="Line 142"/>
            <p:cNvSpPr>
              <a:spLocks noChangeShapeType="1"/>
            </p:cNvSpPr>
            <p:nvPr/>
          </p:nvSpPr>
          <p:spPr bwMode="auto">
            <a:xfrm>
              <a:off x="3921125" y="4165600"/>
              <a:ext cx="0" cy="200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28" name="Line 143"/>
            <p:cNvSpPr>
              <a:spLocks noChangeShapeType="1"/>
            </p:cNvSpPr>
            <p:nvPr/>
          </p:nvSpPr>
          <p:spPr bwMode="auto">
            <a:xfrm>
              <a:off x="4346575" y="5478463"/>
              <a:ext cx="3730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29" name="Rectangle 144"/>
            <p:cNvSpPr>
              <a:spLocks noChangeArrowheads="1"/>
            </p:cNvSpPr>
            <p:nvPr/>
          </p:nvSpPr>
          <p:spPr bwMode="auto">
            <a:xfrm>
              <a:off x="4678363" y="4997450"/>
              <a:ext cx="267902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S</a:t>
              </a:r>
            </a:p>
          </p:txBody>
        </p:sp>
        <p:sp>
          <p:nvSpPr>
            <p:cNvPr id="130" name="Rectangle 145"/>
            <p:cNvSpPr>
              <a:spLocks noChangeArrowheads="1"/>
            </p:cNvSpPr>
            <p:nvPr/>
          </p:nvSpPr>
          <p:spPr bwMode="auto">
            <a:xfrm>
              <a:off x="4678363" y="5408613"/>
              <a:ext cx="2830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</a:t>
              </a:r>
            </a:p>
          </p:txBody>
        </p:sp>
        <p:sp>
          <p:nvSpPr>
            <p:cNvPr id="131" name="Line 146"/>
            <p:cNvSpPr>
              <a:spLocks noChangeShapeType="1"/>
            </p:cNvSpPr>
            <p:nvPr/>
          </p:nvSpPr>
          <p:spPr bwMode="auto">
            <a:xfrm>
              <a:off x="4908550" y="4165600"/>
              <a:ext cx="0" cy="203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32" name="Line 148"/>
            <p:cNvSpPr>
              <a:spLocks noChangeShapeType="1"/>
            </p:cNvSpPr>
            <p:nvPr/>
          </p:nvSpPr>
          <p:spPr bwMode="auto">
            <a:xfrm flipV="1">
              <a:off x="4346575" y="4357688"/>
              <a:ext cx="571500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33" name="Line 149"/>
            <p:cNvSpPr>
              <a:spLocks noChangeShapeType="1"/>
            </p:cNvSpPr>
            <p:nvPr/>
          </p:nvSpPr>
          <p:spPr bwMode="auto">
            <a:xfrm flipV="1">
              <a:off x="4340225" y="4360863"/>
              <a:ext cx="0" cy="7604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34" name="Line 150"/>
            <p:cNvSpPr>
              <a:spLocks noChangeShapeType="1"/>
            </p:cNvSpPr>
            <p:nvPr/>
          </p:nvSpPr>
          <p:spPr bwMode="auto">
            <a:xfrm>
              <a:off x="4217988" y="4367213"/>
              <a:ext cx="0" cy="1114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35" name="Freeform 151"/>
            <p:cNvSpPr>
              <a:spLocks/>
            </p:cNvSpPr>
            <p:nvPr/>
          </p:nvSpPr>
          <p:spPr bwMode="auto">
            <a:xfrm>
              <a:off x="4519613" y="3451225"/>
              <a:ext cx="508000" cy="2566988"/>
            </a:xfrm>
            <a:custGeom>
              <a:avLst/>
              <a:gdLst>
                <a:gd name="T0" fmla="*/ 0 w 329"/>
                <a:gd name="T1" fmla="*/ 2147483647 h 2041"/>
                <a:gd name="T2" fmla="*/ 0 w 329"/>
                <a:gd name="T3" fmla="*/ 0 h 2041"/>
                <a:gd name="T4" fmla="*/ 2147483647 w 329"/>
                <a:gd name="T5" fmla="*/ 0 h 2041"/>
                <a:gd name="T6" fmla="*/ 0 60000 65536"/>
                <a:gd name="T7" fmla="*/ 0 60000 65536"/>
                <a:gd name="T8" fmla="*/ 0 60000 65536"/>
                <a:gd name="T9" fmla="*/ 0 w 329"/>
                <a:gd name="T10" fmla="*/ 0 h 2041"/>
                <a:gd name="T11" fmla="*/ 329 w 329"/>
                <a:gd name="T12" fmla="*/ 2041 h 20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9" h="2041">
                  <a:moveTo>
                    <a:pt x="0" y="2040"/>
                  </a:moveTo>
                  <a:lnTo>
                    <a:pt x="0" y="0"/>
                  </a:lnTo>
                  <a:lnTo>
                    <a:pt x="328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200" b="1"/>
            </a:p>
          </p:txBody>
        </p:sp>
        <p:sp>
          <p:nvSpPr>
            <p:cNvPr id="136" name="Line 152"/>
            <p:cNvSpPr>
              <a:spLocks noChangeShapeType="1"/>
            </p:cNvSpPr>
            <p:nvPr/>
          </p:nvSpPr>
          <p:spPr bwMode="auto">
            <a:xfrm>
              <a:off x="4340225" y="5475288"/>
              <a:ext cx="0" cy="3587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37" name="Rectangle 153"/>
            <p:cNvSpPr>
              <a:spLocks noChangeArrowheads="1"/>
            </p:cNvSpPr>
            <p:nvPr/>
          </p:nvSpPr>
          <p:spPr bwMode="auto">
            <a:xfrm>
              <a:off x="5048250" y="4997450"/>
              <a:ext cx="26621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</a:t>
              </a:r>
            </a:p>
          </p:txBody>
        </p:sp>
        <p:sp>
          <p:nvSpPr>
            <p:cNvPr id="138" name="Rectangle 154"/>
            <p:cNvSpPr>
              <a:spLocks noChangeArrowheads="1"/>
            </p:cNvSpPr>
            <p:nvPr/>
          </p:nvSpPr>
          <p:spPr bwMode="auto">
            <a:xfrm>
              <a:off x="5041900" y="5370513"/>
              <a:ext cx="303285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F'</a:t>
              </a:r>
            </a:p>
          </p:txBody>
        </p:sp>
        <p:sp>
          <p:nvSpPr>
            <p:cNvPr id="139" name="Line 155"/>
            <p:cNvSpPr>
              <a:spLocks noChangeShapeType="1"/>
            </p:cNvSpPr>
            <p:nvPr/>
          </p:nvSpPr>
          <p:spPr bwMode="auto">
            <a:xfrm>
              <a:off x="5329238" y="5478463"/>
              <a:ext cx="1444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40" name="Freeform 156"/>
            <p:cNvSpPr>
              <a:spLocks/>
            </p:cNvSpPr>
            <p:nvPr/>
          </p:nvSpPr>
          <p:spPr bwMode="auto">
            <a:xfrm>
              <a:off x="5116513" y="4167188"/>
              <a:ext cx="344487" cy="198437"/>
            </a:xfrm>
            <a:custGeom>
              <a:avLst/>
              <a:gdLst>
                <a:gd name="T0" fmla="*/ 0 w 201"/>
                <a:gd name="T1" fmla="*/ 0 h 161"/>
                <a:gd name="T2" fmla="*/ 0 w 201"/>
                <a:gd name="T3" fmla="*/ 2147483647 h 161"/>
                <a:gd name="T4" fmla="*/ 2147483647 w 201"/>
                <a:gd name="T5" fmla="*/ 2147483647 h 161"/>
                <a:gd name="T6" fmla="*/ 0 60000 65536"/>
                <a:gd name="T7" fmla="*/ 0 60000 65536"/>
                <a:gd name="T8" fmla="*/ 0 60000 65536"/>
                <a:gd name="T9" fmla="*/ 0 w 201"/>
                <a:gd name="T10" fmla="*/ 0 h 161"/>
                <a:gd name="T11" fmla="*/ 201 w 201"/>
                <a:gd name="T12" fmla="*/ 161 h 1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" h="161">
                  <a:moveTo>
                    <a:pt x="0" y="0"/>
                  </a:moveTo>
                  <a:lnTo>
                    <a:pt x="0" y="160"/>
                  </a:lnTo>
                  <a:lnTo>
                    <a:pt x="200" y="16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200" b="1"/>
            </a:p>
          </p:txBody>
        </p:sp>
        <p:sp>
          <p:nvSpPr>
            <p:cNvPr id="141" name="Line 157"/>
            <p:cNvSpPr>
              <a:spLocks noChangeShapeType="1"/>
            </p:cNvSpPr>
            <p:nvPr/>
          </p:nvSpPr>
          <p:spPr bwMode="auto">
            <a:xfrm>
              <a:off x="5770563" y="5114925"/>
              <a:ext cx="1889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42" name="Line 158"/>
            <p:cNvSpPr>
              <a:spLocks noChangeShapeType="1"/>
            </p:cNvSpPr>
            <p:nvPr/>
          </p:nvSpPr>
          <p:spPr bwMode="auto">
            <a:xfrm>
              <a:off x="5580063" y="5478463"/>
              <a:ext cx="387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43" name="Rectangle 159"/>
            <p:cNvSpPr>
              <a:spLocks noChangeArrowheads="1"/>
            </p:cNvSpPr>
            <p:nvPr/>
          </p:nvSpPr>
          <p:spPr bwMode="auto">
            <a:xfrm>
              <a:off x="5938838" y="4997450"/>
              <a:ext cx="267902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S</a:t>
              </a:r>
            </a:p>
          </p:txBody>
        </p:sp>
        <p:sp>
          <p:nvSpPr>
            <p:cNvPr id="144" name="Rectangle 160"/>
            <p:cNvSpPr>
              <a:spLocks noChangeArrowheads="1"/>
            </p:cNvSpPr>
            <p:nvPr/>
          </p:nvSpPr>
          <p:spPr bwMode="auto">
            <a:xfrm>
              <a:off x="5938838" y="5408613"/>
              <a:ext cx="2830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</a:t>
              </a:r>
            </a:p>
          </p:txBody>
        </p:sp>
        <p:sp>
          <p:nvSpPr>
            <p:cNvPr id="145" name="Line 161"/>
            <p:cNvSpPr>
              <a:spLocks noChangeShapeType="1"/>
            </p:cNvSpPr>
            <p:nvPr/>
          </p:nvSpPr>
          <p:spPr bwMode="auto">
            <a:xfrm>
              <a:off x="6143625" y="4165600"/>
              <a:ext cx="0" cy="1952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46" name="Line 163"/>
            <p:cNvSpPr>
              <a:spLocks noChangeShapeType="1"/>
            </p:cNvSpPr>
            <p:nvPr/>
          </p:nvSpPr>
          <p:spPr bwMode="auto">
            <a:xfrm flipV="1">
              <a:off x="5588000" y="4360863"/>
              <a:ext cx="0" cy="7604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47" name="Line 164"/>
            <p:cNvSpPr>
              <a:spLocks noChangeShapeType="1"/>
            </p:cNvSpPr>
            <p:nvPr/>
          </p:nvSpPr>
          <p:spPr bwMode="auto">
            <a:xfrm>
              <a:off x="5464175" y="4367213"/>
              <a:ext cx="0" cy="1114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48" name="Freeform 165"/>
            <p:cNvSpPr>
              <a:spLocks/>
            </p:cNvSpPr>
            <p:nvPr/>
          </p:nvSpPr>
          <p:spPr bwMode="auto">
            <a:xfrm>
              <a:off x="5767388" y="3451225"/>
              <a:ext cx="495300" cy="2374900"/>
            </a:xfrm>
            <a:custGeom>
              <a:avLst/>
              <a:gdLst>
                <a:gd name="T0" fmla="*/ 0 w 321"/>
                <a:gd name="T1" fmla="*/ 2147483647 h 1889"/>
                <a:gd name="T2" fmla="*/ 0 w 321"/>
                <a:gd name="T3" fmla="*/ 0 h 1889"/>
                <a:gd name="T4" fmla="*/ 2147483647 w 321"/>
                <a:gd name="T5" fmla="*/ 0 h 1889"/>
                <a:gd name="T6" fmla="*/ 0 60000 65536"/>
                <a:gd name="T7" fmla="*/ 0 60000 65536"/>
                <a:gd name="T8" fmla="*/ 0 60000 65536"/>
                <a:gd name="T9" fmla="*/ 0 w 321"/>
                <a:gd name="T10" fmla="*/ 0 h 1889"/>
                <a:gd name="T11" fmla="*/ 321 w 321"/>
                <a:gd name="T12" fmla="*/ 1889 h 18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1" h="1889">
                  <a:moveTo>
                    <a:pt x="0" y="1888"/>
                  </a:moveTo>
                  <a:lnTo>
                    <a:pt x="0" y="0"/>
                  </a:lnTo>
                  <a:lnTo>
                    <a:pt x="320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200" b="1"/>
            </a:p>
          </p:txBody>
        </p:sp>
        <p:sp>
          <p:nvSpPr>
            <p:cNvPr id="149" name="Line 166"/>
            <p:cNvSpPr>
              <a:spLocks noChangeShapeType="1"/>
            </p:cNvSpPr>
            <p:nvPr/>
          </p:nvSpPr>
          <p:spPr bwMode="auto">
            <a:xfrm>
              <a:off x="5588000" y="5481638"/>
              <a:ext cx="0" cy="533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0" name="Line 167"/>
            <p:cNvSpPr>
              <a:spLocks noChangeShapeType="1"/>
            </p:cNvSpPr>
            <p:nvPr/>
          </p:nvSpPr>
          <p:spPr bwMode="auto">
            <a:xfrm>
              <a:off x="4094163" y="5114925"/>
              <a:ext cx="260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1" name="Line 168"/>
            <p:cNvSpPr>
              <a:spLocks noChangeShapeType="1"/>
            </p:cNvSpPr>
            <p:nvPr/>
          </p:nvSpPr>
          <p:spPr bwMode="auto">
            <a:xfrm>
              <a:off x="4532313" y="5114925"/>
              <a:ext cx="1793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2" name="Line 169"/>
            <p:cNvSpPr>
              <a:spLocks noChangeShapeType="1"/>
            </p:cNvSpPr>
            <p:nvPr/>
          </p:nvSpPr>
          <p:spPr bwMode="auto">
            <a:xfrm>
              <a:off x="4346575" y="5830888"/>
              <a:ext cx="14081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3" name="Line 170"/>
            <p:cNvSpPr>
              <a:spLocks noChangeShapeType="1"/>
            </p:cNvSpPr>
            <p:nvPr/>
          </p:nvSpPr>
          <p:spPr bwMode="auto">
            <a:xfrm>
              <a:off x="5594350" y="6021388"/>
              <a:ext cx="13636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4" name="Line 171"/>
            <p:cNvSpPr>
              <a:spLocks noChangeShapeType="1"/>
            </p:cNvSpPr>
            <p:nvPr/>
          </p:nvSpPr>
          <p:spPr bwMode="auto">
            <a:xfrm>
              <a:off x="1803400" y="6332538"/>
              <a:ext cx="44815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5" name="Line 172"/>
            <p:cNvSpPr>
              <a:spLocks noChangeShapeType="1"/>
            </p:cNvSpPr>
            <p:nvPr/>
          </p:nvSpPr>
          <p:spPr bwMode="auto">
            <a:xfrm>
              <a:off x="2551113" y="5618163"/>
              <a:ext cx="0" cy="711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6" name="Line 173"/>
            <p:cNvSpPr>
              <a:spLocks noChangeShapeType="1"/>
            </p:cNvSpPr>
            <p:nvPr/>
          </p:nvSpPr>
          <p:spPr bwMode="auto">
            <a:xfrm>
              <a:off x="3784600" y="5618163"/>
              <a:ext cx="0" cy="714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7" name="Line 174"/>
            <p:cNvSpPr>
              <a:spLocks noChangeShapeType="1"/>
            </p:cNvSpPr>
            <p:nvPr/>
          </p:nvSpPr>
          <p:spPr bwMode="auto">
            <a:xfrm>
              <a:off x="5032375" y="5611813"/>
              <a:ext cx="0" cy="717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8" name="Line 175"/>
            <p:cNvSpPr>
              <a:spLocks noChangeShapeType="1"/>
            </p:cNvSpPr>
            <p:nvPr/>
          </p:nvSpPr>
          <p:spPr bwMode="auto">
            <a:xfrm>
              <a:off x="6267450" y="5614988"/>
              <a:ext cx="0" cy="733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59" name="Line 176"/>
            <p:cNvSpPr>
              <a:spLocks noChangeShapeType="1"/>
            </p:cNvSpPr>
            <p:nvPr/>
          </p:nvSpPr>
          <p:spPr bwMode="auto">
            <a:xfrm flipH="1">
              <a:off x="6153150" y="4481513"/>
              <a:ext cx="131763" cy="1730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60" name="Line 177"/>
            <p:cNvSpPr>
              <a:spLocks noChangeShapeType="1"/>
            </p:cNvSpPr>
            <p:nvPr/>
          </p:nvSpPr>
          <p:spPr bwMode="auto">
            <a:xfrm>
              <a:off x="6273800" y="4481513"/>
              <a:ext cx="123825" cy="1619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61" name="Line 178"/>
            <p:cNvSpPr>
              <a:spLocks noChangeShapeType="1"/>
            </p:cNvSpPr>
            <p:nvPr/>
          </p:nvSpPr>
          <p:spPr bwMode="auto">
            <a:xfrm>
              <a:off x="6149975" y="4648200"/>
              <a:ext cx="2587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62" name="Oval 179"/>
            <p:cNvSpPr>
              <a:spLocks noChangeArrowheads="1"/>
            </p:cNvSpPr>
            <p:nvPr/>
          </p:nvSpPr>
          <p:spPr bwMode="auto">
            <a:xfrm>
              <a:off x="6245225" y="4440238"/>
              <a:ext cx="61913" cy="50800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163" name="Line 181"/>
            <p:cNvSpPr>
              <a:spLocks noChangeShapeType="1"/>
            </p:cNvSpPr>
            <p:nvPr/>
          </p:nvSpPr>
          <p:spPr bwMode="auto">
            <a:xfrm>
              <a:off x="6267450" y="4165600"/>
              <a:ext cx="0" cy="2714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64" name="Freeform 182"/>
            <p:cNvSpPr>
              <a:spLocks/>
            </p:cNvSpPr>
            <p:nvPr/>
          </p:nvSpPr>
          <p:spPr bwMode="auto">
            <a:xfrm>
              <a:off x="6284913" y="4657725"/>
              <a:ext cx="542925" cy="101600"/>
            </a:xfrm>
            <a:custGeom>
              <a:avLst/>
              <a:gdLst>
                <a:gd name="T0" fmla="*/ 0 w 361"/>
                <a:gd name="T1" fmla="*/ 0 h 81"/>
                <a:gd name="T2" fmla="*/ 0 w 361"/>
                <a:gd name="T3" fmla="*/ 2147483647 h 81"/>
                <a:gd name="T4" fmla="*/ 2147483647 w 361"/>
                <a:gd name="T5" fmla="*/ 2147483647 h 81"/>
                <a:gd name="T6" fmla="*/ 0 60000 65536"/>
                <a:gd name="T7" fmla="*/ 0 60000 65536"/>
                <a:gd name="T8" fmla="*/ 0 60000 65536"/>
                <a:gd name="T9" fmla="*/ 0 w 361"/>
                <a:gd name="T10" fmla="*/ 0 h 81"/>
                <a:gd name="T11" fmla="*/ 361 w 361"/>
                <a:gd name="T12" fmla="*/ 81 h 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1" h="81">
                  <a:moveTo>
                    <a:pt x="0" y="0"/>
                  </a:moveTo>
                  <a:lnTo>
                    <a:pt x="0" y="80"/>
                  </a:lnTo>
                  <a:lnTo>
                    <a:pt x="360" y="8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200" b="1"/>
            </a:p>
          </p:txBody>
        </p:sp>
        <p:sp>
          <p:nvSpPr>
            <p:cNvPr id="165" name="Line 183"/>
            <p:cNvSpPr>
              <a:spLocks noChangeShapeType="1"/>
            </p:cNvSpPr>
            <p:nvPr/>
          </p:nvSpPr>
          <p:spPr bwMode="auto">
            <a:xfrm>
              <a:off x="6711950" y="4367213"/>
              <a:ext cx="0" cy="1114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66" name="Line 184"/>
            <p:cNvSpPr>
              <a:spLocks noChangeShapeType="1"/>
            </p:cNvSpPr>
            <p:nvPr/>
          </p:nvSpPr>
          <p:spPr bwMode="auto">
            <a:xfrm>
              <a:off x="6823075" y="4768850"/>
              <a:ext cx="0" cy="12366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67" name="Rectangle 185"/>
            <p:cNvSpPr>
              <a:spLocks noChangeArrowheads="1"/>
            </p:cNvSpPr>
            <p:nvPr/>
          </p:nvSpPr>
          <p:spPr bwMode="auto">
            <a:xfrm>
              <a:off x="2519363" y="3225800"/>
              <a:ext cx="5509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Clock</a:t>
              </a:r>
            </a:p>
          </p:txBody>
        </p:sp>
        <p:sp>
          <p:nvSpPr>
            <p:cNvPr id="168" name="Rectangle 186"/>
            <p:cNvSpPr>
              <a:spLocks noChangeArrowheads="1"/>
            </p:cNvSpPr>
            <p:nvPr/>
          </p:nvSpPr>
          <p:spPr bwMode="auto">
            <a:xfrm>
              <a:off x="3752850" y="3225800"/>
              <a:ext cx="5509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Clock</a:t>
              </a:r>
            </a:p>
          </p:txBody>
        </p:sp>
        <p:sp>
          <p:nvSpPr>
            <p:cNvPr id="169" name="Rectangle 187"/>
            <p:cNvSpPr>
              <a:spLocks noChangeArrowheads="1"/>
            </p:cNvSpPr>
            <p:nvPr/>
          </p:nvSpPr>
          <p:spPr bwMode="auto">
            <a:xfrm>
              <a:off x="5000625" y="3225800"/>
              <a:ext cx="5509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Clock</a:t>
              </a:r>
            </a:p>
          </p:txBody>
        </p:sp>
        <p:sp>
          <p:nvSpPr>
            <p:cNvPr id="170" name="Rectangle 188"/>
            <p:cNvSpPr>
              <a:spLocks noChangeArrowheads="1"/>
            </p:cNvSpPr>
            <p:nvPr/>
          </p:nvSpPr>
          <p:spPr bwMode="auto">
            <a:xfrm>
              <a:off x="6234114" y="3225800"/>
              <a:ext cx="5509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Clock</a:t>
              </a:r>
            </a:p>
          </p:txBody>
        </p:sp>
        <p:sp>
          <p:nvSpPr>
            <p:cNvPr id="171" name="Arc 189"/>
            <p:cNvSpPr>
              <a:spLocks/>
            </p:cNvSpPr>
            <p:nvPr/>
          </p:nvSpPr>
          <p:spPr bwMode="auto">
            <a:xfrm>
              <a:off x="6781800" y="2652713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72" name="Line 190"/>
            <p:cNvSpPr>
              <a:spLocks noChangeShapeType="1"/>
            </p:cNvSpPr>
            <p:nvPr/>
          </p:nvSpPr>
          <p:spPr bwMode="auto">
            <a:xfrm>
              <a:off x="6613525" y="2689225"/>
              <a:ext cx="1841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73" name="Arc 191"/>
            <p:cNvSpPr>
              <a:spLocks/>
            </p:cNvSpPr>
            <p:nvPr/>
          </p:nvSpPr>
          <p:spPr bwMode="auto">
            <a:xfrm>
              <a:off x="6781800" y="2813050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74" name="Line 192"/>
            <p:cNvSpPr>
              <a:spLocks noChangeShapeType="1"/>
            </p:cNvSpPr>
            <p:nvPr/>
          </p:nvSpPr>
          <p:spPr bwMode="auto">
            <a:xfrm>
              <a:off x="6604000" y="2847975"/>
              <a:ext cx="1857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75" name="Arc 193"/>
            <p:cNvSpPr>
              <a:spLocks/>
            </p:cNvSpPr>
            <p:nvPr/>
          </p:nvSpPr>
          <p:spPr bwMode="auto">
            <a:xfrm>
              <a:off x="6781800" y="2954338"/>
              <a:ext cx="117475" cy="77787"/>
            </a:xfrm>
            <a:custGeom>
              <a:avLst/>
              <a:gdLst>
                <a:gd name="T0" fmla="*/ 45185013 w 21600"/>
                <a:gd name="T1" fmla="*/ 144832684 h 17255"/>
                <a:gd name="T2" fmla="*/ 47878942 w 21600"/>
                <a:gd name="T3" fmla="*/ 0 h 17255"/>
                <a:gd name="T4" fmla="*/ 558988835 w 21600"/>
                <a:gd name="T5" fmla="*/ 73411654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76" name="Line 194"/>
            <p:cNvSpPr>
              <a:spLocks noChangeShapeType="1"/>
            </p:cNvSpPr>
            <p:nvPr/>
          </p:nvSpPr>
          <p:spPr bwMode="auto">
            <a:xfrm>
              <a:off x="6604000" y="2995613"/>
              <a:ext cx="1857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77" name="Arc 195"/>
            <p:cNvSpPr>
              <a:spLocks/>
            </p:cNvSpPr>
            <p:nvPr/>
          </p:nvSpPr>
          <p:spPr bwMode="auto">
            <a:xfrm>
              <a:off x="6791325" y="3114675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78" name="Line 196"/>
            <p:cNvSpPr>
              <a:spLocks noChangeShapeType="1"/>
            </p:cNvSpPr>
            <p:nvPr/>
          </p:nvSpPr>
          <p:spPr bwMode="auto">
            <a:xfrm>
              <a:off x="6608763" y="3149600"/>
              <a:ext cx="1857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79" name="Rectangle 197"/>
            <p:cNvSpPr>
              <a:spLocks noChangeArrowheads="1"/>
            </p:cNvSpPr>
            <p:nvPr/>
          </p:nvSpPr>
          <p:spPr bwMode="auto">
            <a:xfrm>
              <a:off x="6880225" y="2733675"/>
              <a:ext cx="505811" cy="4024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Data</a:t>
              </a:r>
            </a:p>
            <a:p>
              <a:pPr defTabSz="762000"/>
              <a:endParaRPr lang="en-US" altLang="ko-KR" sz="1200" b="1"/>
            </a:p>
          </p:txBody>
        </p:sp>
        <p:sp>
          <p:nvSpPr>
            <p:cNvPr id="180" name="Rectangle 198"/>
            <p:cNvSpPr>
              <a:spLocks noChangeArrowheads="1"/>
            </p:cNvSpPr>
            <p:nvPr/>
          </p:nvSpPr>
          <p:spPr bwMode="auto">
            <a:xfrm>
              <a:off x="6837363" y="2884488"/>
              <a:ext cx="653745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output</a:t>
              </a:r>
            </a:p>
          </p:txBody>
        </p:sp>
        <p:sp>
          <p:nvSpPr>
            <p:cNvPr id="181" name="Rectangle 199"/>
            <p:cNvSpPr>
              <a:spLocks noChangeArrowheads="1"/>
            </p:cNvSpPr>
            <p:nvPr/>
          </p:nvSpPr>
          <p:spPr bwMode="auto">
            <a:xfrm>
              <a:off x="6865938" y="5148263"/>
              <a:ext cx="675650" cy="4024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Output</a:t>
              </a:r>
            </a:p>
            <a:p>
              <a:pPr defTabSz="762000"/>
              <a:endParaRPr lang="en-US" altLang="ko-KR" sz="1200" b="1"/>
            </a:p>
          </p:txBody>
        </p:sp>
        <p:sp>
          <p:nvSpPr>
            <p:cNvPr id="182" name="Rectangle 200"/>
            <p:cNvSpPr>
              <a:spLocks noChangeArrowheads="1"/>
            </p:cNvSpPr>
            <p:nvPr/>
          </p:nvSpPr>
          <p:spPr bwMode="auto">
            <a:xfrm>
              <a:off x="6865938" y="5289550"/>
              <a:ext cx="571050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ready</a:t>
              </a:r>
            </a:p>
          </p:txBody>
        </p:sp>
        <p:sp>
          <p:nvSpPr>
            <p:cNvPr id="183" name="Rectangle 201"/>
            <p:cNvSpPr>
              <a:spLocks noChangeArrowheads="1"/>
            </p:cNvSpPr>
            <p:nvPr/>
          </p:nvSpPr>
          <p:spPr bwMode="auto">
            <a:xfrm>
              <a:off x="6854825" y="5800725"/>
              <a:ext cx="630494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Delete</a:t>
              </a:r>
            </a:p>
          </p:txBody>
        </p:sp>
        <p:sp>
          <p:nvSpPr>
            <p:cNvPr id="184" name="Rectangle 202"/>
            <p:cNvSpPr>
              <a:spLocks noChangeArrowheads="1"/>
            </p:cNvSpPr>
            <p:nvPr/>
          </p:nvSpPr>
          <p:spPr bwMode="auto">
            <a:xfrm>
              <a:off x="1406525" y="2733675"/>
              <a:ext cx="505811" cy="4024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Data</a:t>
              </a:r>
            </a:p>
            <a:p>
              <a:pPr defTabSz="762000"/>
              <a:endParaRPr lang="en-US" altLang="ko-KR" sz="1200" b="1"/>
            </a:p>
          </p:txBody>
        </p:sp>
        <p:sp>
          <p:nvSpPr>
            <p:cNvPr id="185" name="Rectangle 203"/>
            <p:cNvSpPr>
              <a:spLocks noChangeArrowheads="1"/>
            </p:cNvSpPr>
            <p:nvPr/>
          </p:nvSpPr>
          <p:spPr bwMode="auto">
            <a:xfrm>
              <a:off x="1406525" y="2874963"/>
              <a:ext cx="55096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input</a:t>
              </a:r>
            </a:p>
          </p:txBody>
        </p:sp>
        <p:sp>
          <p:nvSpPr>
            <p:cNvPr id="186" name="Line 205"/>
            <p:cNvSpPr>
              <a:spLocks noChangeShapeType="1"/>
            </p:cNvSpPr>
            <p:nvPr/>
          </p:nvSpPr>
          <p:spPr bwMode="auto">
            <a:xfrm>
              <a:off x="1692275" y="4360863"/>
              <a:ext cx="257175" cy="79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87" name="Rectangle 206"/>
            <p:cNvSpPr>
              <a:spLocks noChangeArrowheads="1"/>
            </p:cNvSpPr>
            <p:nvPr/>
          </p:nvSpPr>
          <p:spPr bwMode="auto">
            <a:xfrm>
              <a:off x="1204913" y="4124325"/>
              <a:ext cx="581295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Insert</a:t>
              </a:r>
            </a:p>
          </p:txBody>
        </p:sp>
        <p:sp>
          <p:nvSpPr>
            <p:cNvPr id="188" name="Rectangle 207"/>
            <p:cNvSpPr>
              <a:spLocks noChangeArrowheads="1"/>
            </p:cNvSpPr>
            <p:nvPr/>
          </p:nvSpPr>
          <p:spPr bwMode="auto">
            <a:xfrm>
              <a:off x="677863" y="5864225"/>
              <a:ext cx="970372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Input ready</a:t>
              </a:r>
            </a:p>
          </p:txBody>
        </p:sp>
        <p:sp>
          <p:nvSpPr>
            <p:cNvPr id="189" name="Arc 208"/>
            <p:cNvSpPr>
              <a:spLocks/>
            </p:cNvSpPr>
            <p:nvPr/>
          </p:nvSpPr>
          <p:spPr bwMode="auto">
            <a:xfrm>
              <a:off x="1755775" y="6296025"/>
              <a:ext cx="117475" cy="77788"/>
            </a:xfrm>
            <a:custGeom>
              <a:avLst/>
              <a:gdLst>
                <a:gd name="T0" fmla="*/ 45185013 w 21600"/>
                <a:gd name="T1" fmla="*/ 144843778 h 17255"/>
                <a:gd name="T2" fmla="*/ 47878942 w 21600"/>
                <a:gd name="T3" fmla="*/ 0 h 17255"/>
                <a:gd name="T4" fmla="*/ 558988835 w 21600"/>
                <a:gd name="T5" fmla="*/ 73416313 h 172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255"/>
                <a:gd name="T11" fmla="*/ 21600 w 21600"/>
                <a:gd name="T12" fmla="*/ 17255 h 172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90" name="Rectangle 210"/>
            <p:cNvSpPr>
              <a:spLocks noChangeArrowheads="1"/>
            </p:cNvSpPr>
            <p:nvPr/>
          </p:nvSpPr>
          <p:spPr bwMode="auto">
            <a:xfrm>
              <a:off x="620713" y="6192838"/>
              <a:ext cx="102907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Master clear</a:t>
              </a:r>
            </a:p>
          </p:txBody>
        </p:sp>
        <p:sp>
          <p:nvSpPr>
            <p:cNvPr id="191" name="Rectangle 211"/>
            <p:cNvSpPr>
              <a:spLocks noChangeArrowheads="1"/>
            </p:cNvSpPr>
            <p:nvPr/>
          </p:nvSpPr>
          <p:spPr bwMode="auto">
            <a:xfrm>
              <a:off x="2381250" y="2392363"/>
              <a:ext cx="36562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R1</a:t>
              </a:r>
            </a:p>
          </p:txBody>
        </p:sp>
        <p:sp>
          <p:nvSpPr>
            <p:cNvPr id="192" name="Rectangle 212"/>
            <p:cNvSpPr>
              <a:spLocks noChangeArrowheads="1"/>
            </p:cNvSpPr>
            <p:nvPr/>
          </p:nvSpPr>
          <p:spPr bwMode="auto">
            <a:xfrm>
              <a:off x="3614738" y="2392363"/>
              <a:ext cx="36562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R2</a:t>
              </a:r>
            </a:p>
          </p:txBody>
        </p:sp>
        <p:sp>
          <p:nvSpPr>
            <p:cNvPr id="193" name="Rectangle 213"/>
            <p:cNvSpPr>
              <a:spLocks noChangeArrowheads="1"/>
            </p:cNvSpPr>
            <p:nvPr/>
          </p:nvSpPr>
          <p:spPr bwMode="auto">
            <a:xfrm>
              <a:off x="4876800" y="2392363"/>
              <a:ext cx="36562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R3</a:t>
              </a:r>
            </a:p>
          </p:txBody>
        </p:sp>
        <p:sp>
          <p:nvSpPr>
            <p:cNvPr id="194" name="Rectangle 214"/>
            <p:cNvSpPr>
              <a:spLocks noChangeArrowheads="1"/>
            </p:cNvSpPr>
            <p:nvPr/>
          </p:nvSpPr>
          <p:spPr bwMode="auto">
            <a:xfrm>
              <a:off x="6113463" y="2392363"/>
              <a:ext cx="365626" cy="2405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defTabSz="762000"/>
              <a:r>
                <a:rPr lang="en-US" altLang="ko-KR" sz="1200" b="1"/>
                <a:t>R4</a:t>
              </a:r>
            </a:p>
          </p:txBody>
        </p:sp>
        <p:sp>
          <p:nvSpPr>
            <p:cNvPr id="195" name="Line 215"/>
            <p:cNvSpPr>
              <a:spLocks noChangeShapeType="1"/>
            </p:cNvSpPr>
            <p:nvPr/>
          </p:nvSpPr>
          <p:spPr bwMode="auto">
            <a:xfrm flipH="1">
              <a:off x="3714750" y="3159125"/>
              <a:ext cx="88900" cy="825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96" name="Line 216"/>
            <p:cNvSpPr>
              <a:spLocks noChangeShapeType="1"/>
            </p:cNvSpPr>
            <p:nvPr/>
          </p:nvSpPr>
          <p:spPr bwMode="auto">
            <a:xfrm>
              <a:off x="3790950" y="3159125"/>
              <a:ext cx="49213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97" name="Line 217"/>
            <p:cNvSpPr>
              <a:spLocks noChangeShapeType="1"/>
            </p:cNvSpPr>
            <p:nvPr/>
          </p:nvSpPr>
          <p:spPr bwMode="auto">
            <a:xfrm flipH="1">
              <a:off x="4960938" y="3159125"/>
              <a:ext cx="90487" cy="79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98" name="Line 218"/>
            <p:cNvSpPr>
              <a:spLocks noChangeShapeType="1"/>
            </p:cNvSpPr>
            <p:nvPr/>
          </p:nvSpPr>
          <p:spPr bwMode="auto">
            <a:xfrm>
              <a:off x="5038725" y="3159125"/>
              <a:ext cx="49213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199" name="Line 219"/>
            <p:cNvSpPr>
              <a:spLocks noChangeShapeType="1"/>
            </p:cNvSpPr>
            <p:nvPr/>
          </p:nvSpPr>
          <p:spPr bwMode="auto">
            <a:xfrm flipH="1">
              <a:off x="6205538" y="3159125"/>
              <a:ext cx="74612" cy="79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00" name="Line 220"/>
            <p:cNvSpPr>
              <a:spLocks noChangeShapeType="1"/>
            </p:cNvSpPr>
            <p:nvPr/>
          </p:nvSpPr>
          <p:spPr bwMode="auto">
            <a:xfrm>
              <a:off x="6273800" y="3159125"/>
              <a:ext cx="49213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01" name="Line 221"/>
            <p:cNvSpPr>
              <a:spLocks noChangeShapeType="1"/>
            </p:cNvSpPr>
            <p:nvPr/>
          </p:nvSpPr>
          <p:spPr bwMode="auto">
            <a:xfrm flipH="1">
              <a:off x="2471738" y="3159125"/>
              <a:ext cx="96837" cy="873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02" name="Line 222"/>
            <p:cNvSpPr>
              <a:spLocks noChangeShapeType="1"/>
            </p:cNvSpPr>
            <p:nvPr/>
          </p:nvSpPr>
          <p:spPr bwMode="auto">
            <a:xfrm>
              <a:off x="2555875" y="3159125"/>
              <a:ext cx="50800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03" name="Oval 223"/>
            <p:cNvSpPr>
              <a:spLocks noChangeArrowheads="1"/>
            </p:cNvSpPr>
            <p:nvPr/>
          </p:nvSpPr>
          <p:spPr bwMode="auto">
            <a:xfrm flipH="1">
              <a:off x="2511425" y="3422650"/>
              <a:ext cx="73025" cy="58738"/>
            </a:xfrm>
            <a:prstGeom prst="ellipse">
              <a:avLst/>
            </a:prstGeom>
            <a:solidFill>
              <a:srgbClr val="000000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204" name="Arc 235"/>
            <p:cNvSpPr>
              <a:spLocks/>
            </p:cNvSpPr>
            <p:nvPr/>
          </p:nvSpPr>
          <p:spPr bwMode="auto">
            <a:xfrm>
              <a:off x="6946900" y="5981700"/>
              <a:ext cx="115888" cy="76200"/>
            </a:xfrm>
            <a:custGeom>
              <a:avLst/>
              <a:gdLst>
                <a:gd name="T0" fmla="*/ 469936658 w 21600"/>
                <a:gd name="T1" fmla="*/ 0 h 17464"/>
                <a:gd name="T2" fmla="*/ 472465591 w 21600"/>
                <a:gd name="T3" fmla="*/ 120506703 h 17464"/>
                <a:gd name="T4" fmla="*/ 0 w 21600"/>
                <a:gd name="T5" fmla="*/ 61082092 h 17464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464"/>
                <a:gd name="T11" fmla="*/ 21600 w 21600"/>
                <a:gd name="T12" fmla="*/ 17464 h 174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05" name="Line 236"/>
            <p:cNvSpPr>
              <a:spLocks noChangeShapeType="1"/>
            </p:cNvSpPr>
            <p:nvPr/>
          </p:nvSpPr>
          <p:spPr bwMode="auto">
            <a:xfrm>
              <a:off x="7051675" y="6021388"/>
              <a:ext cx="1603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06" name="Oval 238"/>
            <p:cNvSpPr>
              <a:spLocks noChangeArrowheads="1"/>
            </p:cNvSpPr>
            <p:nvPr/>
          </p:nvSpPr>
          <p:spPr bwMode="auto">
            <a:xfrm flipH="1">
              <a:off x="3748088" y="3422650"/>
              <a:ext cx="71437" cy="58738"/>
            </a:xfrm>
            <a:prstGeom prst="ellipse">
              <a:avLst/>
            </a:prstGeom>
            <a:solidFill>
              <a:srgbClr val="000000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207" name="Oval 239"/>
            <p:cNvSpPr>
              <a:spLocks noChangeArrowheads="1"/>
            </p:cNvSpPr>
            <p:nvPr/>
          </p:nvSpPr>
          <p:spPr bwMode="auto">
            <a:xfrm flipH="1">
              <a:off x="4994275" y="3422650"/>
              <a:ext cx="73025" cy="58738"/>
            </a:xfrm>
            <a:prstGeom prst="ellipse">
              <a:avLst/>
            </a:prstGeom>
            <a:solidFill>
              <a:srgbClr val="000000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208" name="Oval 240"/>
            <p:cNvSpPr>
              <a:spLocks noChangeArrowheads="1"/>
            </p:cNvSpPr>
            <p:nvPr/>
          </p:nvSpPr>
          <p:spPr bwMode="auto">
            <a:xfrm flipH="1">
              <a:off x="2941638" y="5449888"/>
              <a:ext cx="73025" cy="57150"/>
            </a:xfrm>
            <a:prstGeom prst="ellipse">
              <a:avLst/>
            </a:prstGeom>
            <a:solidFill>
              <a:srgbClr val="000000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209" name="Oval 241"/>
            <p:cNvSpPr>
              <a:spLocks noChangeArrowheads="1"/>
            </p:cNvSpPr>
            <p:nvPr/>
          </p:nvSpPr>
          <p:spPr bwMode="auto">
            <a:xfrm flipH="1">
              <a:off x="3248025" y="5086350"/>
              <a:ext cx="73025" cy="60325"/>
            </a:xfrm>
            <a:prstGeom prst="ellipse">
              <a:avLst/>
            </a:prstGeom>
            <a:solidFill>
              <a:srgbClr val="000000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210" name="Oval 242"/>
            <p:cNvSpPr>
              <a:spLocks noChangeArrowheads="1"/>
            </p:cNvSpPr>
            <p:nvPr/>
          </p:nvSpPr>
          <p:spPr bwMode="auto">
            <a:xfrm flipH="1">
              <a:off x="4475163" y="5089525"/>
              <a:ext cx="73025" cy="60325"/>
            </a:xfrm>
            <a:prstGeom prst="ellipse">
              <a:avLst/>
            </a:prstGeom>
            <a:solidFill>
              <a:srgbClr val="000000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211" name="Oval 243"/>
            <p:cNvSpPr>
              <a:spLocks noChangeArrowheads="1"/>
            </p:cNvSpPr>
            <p:nvPr/>
          </p:nvSpPr>
          <p:spPr bwMode="auto">
            <a:xfrm flipH="1">
              <a:off x="5730875" y="5086350"/>
              <a:ext cx="71438" cy="60325"/>
            </a:xfrm>
            <a:prstGeom prst="ellipse">
              <a:avLst/>
            </a:prstGeom>
            <a:solidFill>
              <a:srgbClr val="000000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212" name="Oval 244"/>
            <p:cNvSpPr>
              <a:spLocks noChangeArrowheads="1"/>
            </p:cNvSpPr>
            <p:nvPr/>
          </p:nvSpPr>
          <p:spPr bwMode="auto">
            <a:xfrm flipH="1">
              <a:off x="6794500" y="5989638"/>
              <a:ext cx="73025" cy="57150"/>
            </a:xfrm>
            <a:prstGeom prst="ellipse">
              <a:avLst/>
            </a:prstGeom>
            <a:solidFill>
              <a:srgbClr val="000000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grpSp>
          <p:nvGrpSpPr>
            <p:cNvPr id="213" name="Group 246"/>
            <p:cNvGrpSpPr>
              <a:grpSpLocks/>
            </p:cNvGrpSpPr>
            <p:nvPr/>
          </p:nvGrpSpPr>
          <p:grpSpPr bwMode="auto">
            <a:xfrm>
              <a:off x="3598863" y="3806825"/>
              <a:ext cx="371475" cy="360363"/>
              <a:chOff x="3136" y="3651"/>
              <a:chExt cx="241" cy="287"/>
            </a:xfrm>
          </p:grpSpPr>
          <p:sp>
            <p:nvSpPr>
              <p:cNvPr id="214" name="Arc 247"/>
              <p:cNvSpPr>
                <a:spLocks/>
              </p:cNvSpPr>
              <p:nvPr/>
            </p:nvSpPr>
            <p:spPr bwMode="auto">
              <a:xfrm>
                <a:off x="3136" y="3651"/>
                <a:ext cx="124" cy="147"/>
              </a:xfrm>
              <a:custGeom>
                <a:avLst/>
                <a:gdLst>
                  <a:gd name="T0" fmla="*/ 0 w 21600"/>
                  <a:gd name="T1" fmla="*/ 0 h 21599"/>
                  <a:gd name="T2" fmla="*/ 0 w 21600"/>
                  <a:gd name="T3" fmla="*/ 0 h 21599"/>
                  <a:gd name="T4" fmla="*/ 0 w 21600"/>
                  <a:gd name="T5" fmla="*/ 0 h 215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99"/>
                  <a:gd name="T11" fmla="*/ 21600 w 21600"/>
                  <a:gd name="T12" fmla="*/ 21599 h 215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99" fill="none" extrusionOk="0">
                    <a:moveTo>
                      <a:pt x="0" y="21599"/>
                    </a:moveTo>
                    <a:cubicBezTo>
                      <a:pt x="0" y="9744"/>
                      <a:pt x="9553" y="105"/>
                      <a:pt x="21406" y="-1"/>
                    </a:cubicBezTo>
                  </a:path>
                  <a:path w="21600" h="21599" stroke="0" extrusionOk="0">
                    <a:moveTo>
                      <a:pt x="0" y="21599"/>
                    </a:moveTo>
                    <a:cubicBezTo>
                      <a:pt x="0" y="9744"/>
                      <a:pt x="9553" y="105"/>
                      <a:pt x="21406" y="-1"/>
                    </a:cubicBezTo>
                    <a:lnTo>
                      <a:pt x="21600" y="21599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  <p:sp>
            <p:nvSpPr>
              <p:cNvPr id="215" name="Arc 248"/>
              <p:cNvSpPr>
                <a:spLocks/>
              </p:cNvSpPr>
              <p:nvPr/>
            </p:nvSpPr>
            <p:spPr bwMode="auto">
              <a:xfrm>
                <a:off x="3252" y="3653"/>
                <a:ext cx="125" cy="144"/>
              </a:xfrm>
              <a:custGeom>
                <a:avLst/>
                <a:gdLst>
                  <a:gd name="T0" fmla="*/ 0 w 21773"/>
                  <a:gd name="T1" fmla="*/ 0 h 21600"/>
                  <a:gd name="T2" fmla="*/ 0 w 21773"/>
                  <a:gd name="T3" fmla="*/ 0 h 21600"/>
                  <a:gd name="T4" fmla="*/ 0 w 2177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3"/>
                  <a:gd name="T10" fmla="*/ 0 h 21600"/>
                  <a:gd name="T11" fmla="*/ 21773 w 2177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3" h="21600" fill="none" extrusionOk="0">
                    <a:moveTo>
                      <a:pt x="-1" y="0"/>
                    </a:moveTo>
                    <a:cubicBezTo>
                      <a:pt x="64" y="0"/>
                      <a:pt x="128" y="-1"/>
                      <a:pt x="193" y="0"/>
                    </a:cubicBezTo>
                    <a:cubicBezTo>
                      <a:pt x="11760" y="0"/>
                      <a:pt x="21274" y="9113"/>
                      <a:pt x="21772" y="20670"/>
                    </a:cubicBezTo>
                  </a:path>
                  <a:path w="21773" h="21600" stroke="0" extrusionOk="0">
                    <a:moveTo>
                      <a:pt x="-1" y="0"/>
                    </a:moveTo>
                    <a:cubicBezTo>
                      <a:pt x="64" y="0"/>
                      <a:pt x="128" y="-1"/>
                      <a:pt x="193" y="0"/>
                    </a:cubicBezTo>
                    <a:cubicBezTo>
                      <a:pt x="11760" y="0"/>
                      <a:pt x="21274" y="9113"/>
                      <a:pt x="21772" y="20670"/>
                    </a:cubicBezTo>
                    <a:lnTo>
                      <a:pt x="193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  <p:sp>
            <p:nvSpPr>
              <p:cNvPr id="216" name="Freeform 249"/>
              <p:cNvSpPr>
                <a:spLocks/>
              </p:cNvSpPr>
              <p:nvPr/>
            </p:nvSpPr>
            <p:spPr bwMode="auto">
              <a:xfrm>
                <a:off x="3136" y="3791"/>
                <a:ext cx="241" cy="144"/>
              </a:xfrm>
              <a:custGeom>
                <a:avLst/>
                <a:gdLst>
                  <a:gd name="T0" fmla="*/ 0 w 241"/>
                  <a:gd name="T1" fmla="*/ 0 h 153"/>
                  <a:gd name="T2" fmla="*/ 0 w 241"/>
                  <a:gd name="T3" fmla="*/ 113 h 153"/>
                  <a:gd name="T4" fmla="*/ 240 w 241"/>
                  <a:gd name="T5" fmla="*/ 113 h 153"/>
                  <a:gd name="T6" fmla="*/ 0 60000 65536"/>
                  <a:gd name="T7" fmla="*/ 0 60000 65536"/>
                  <a:gd name="T8" fmla="*/ 0 60000 65536"/>
                  <a:gd name="T9" fmla="*/ 0 w 241"/>
                  <a:gd name="T10" fmla="*/ 0 h 153"/>
                  <a:gd name="T11" fmla="*/ 241 w 241"/>
                  <a:gd name="T12" fmla="*/ 153 h 1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1" h="153">
                    <a:moveTo>
                      <a:pt x="0" y="0"/>
                    </a:moveTo>
                    <a:lnTo>
                      <a:pt x="0" y="152"/>
                    </a:lnTo>
                    <a:lnTo>
                      <a:pt x="240" y="152"/>
                    </a:lnTo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 sz="1200" b="1"/>
              </a:p>
            </p:txBody>
          </p:sp>
          <p:sp>
            <p:nvSpPr>
              <p:cNvPr id="217" name="Line 250"/>
              <p:cNvSpPr>
                <a:spLocks noChangeShapeType="1"/>
              </p:cNvSpPr>
              <p:nvPr/>
            </p:nvSpPr>
            <p:spPr bwMode="auto">
              <a:xfrm>
                <a:off x="3377" y="3790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</p:grpSp>
        <p:grpSp>
          <p:nvGrpSpPr>
            <p:cNvPr id="218" name="Group 251"/>
            <p:cNvGrpSpPr>
              <a:grpSpLocks/>
            </p:cNvGrpSpPr>
            <p:nvPr/>
          </p:nvGrpSpPr>
          <p:grpSpPr bwMode="auto">
            <a:xfrm>
              <a:off x="4848225" y="3806825"/>
              <a:ext cx="373063" cy="360363"/>
              <a:chOff x="3136" y="3651"/>
              <a:chExt cx="241" cy="287"/>
            </a:xfrm>
          </p:grpSpPr>
          <p:sp>
            <p:nvSpPr>
              <p:cNvPr id="219" name="Arc 252"/>
              <p:cNvSpPr>
                <a:spLocks/>
              </p:cNvSpPr>
              <p:nvPr/>
            </p:nvSpPr>
            <p:spPr bwMode="auto">
              <a:xfrm>
                <a:off x="3136" y="3651"/>
                <a:ext cx="124" cy="147"/>
              </a:xfrm>
              <a:custGeom>
                <a:avLst/>
                <a:gdLst>
                  <a:gd name="T0" fmla="*/ 0 w 21600"/>
                  <a:gd name="T1" fmla="*/ 0 h 21599"/>
                  <a:gd name="T2" fmla="*/ 0 w 21600"/>
                  <a:gd name="T3" fmla="*/ 0 h 21599"/>
                  <a:gd name="T4" fmla="*/ 0 w 21600"/>
                  <a:gd name="T5" fmla="*/ 0 h 215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99"/>
                  <a:gd name="T11" fmla="*/ 21600 w 21600"/>
                  <a:gd name="T12" fmla="*/ 21599 h 215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99" fill="none" extrusionOk="0">
                    <a:moveTo>
                      <a:pt x="0" y="21599"/>
                    </a:moveTo>
                    <a:cubicBezTo>
                      <a:pt x="0" y="9744"/>
                      <a:pt x="9553" y="105"/>
                      <a:pt x="21406" y="-1"/>
                    </a:cubicBezTo>
                  </a:path>
                  <a:path w="21600" h="21599" stroke="0" extrusionOk="0">
                    <a:moveTo>
                      <a:pt x="0" y="21599"/>
                    </a:moveTo>
                    <a:cubicBezTo>
                      <a:pt x="0" y="9744"/>
                      <a:pt x="9553" y="105"/>
                      <a:pt x="21406" y="-1"/>
                    </a:cubicBezTo>
                    <a:lnTo>
                      <a:pt x="21600" y="21599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  <p:sp>
            <p:nvSpPr>
              <p:cNvPr id="220" name="Arc 253"/>
              <p:cNvSpPr>
                <a:spLocks/>
              </p:cNvSpPr>
              <p:nvPr/>
            </p:nvSpPr>
            <p:spPr bwMode="auto">
              <a:xfrm>
                <a:off x="3252" y="3653"/>
                <a:ext cx="125" cy="144"/>
              </a:xfrm>
              <a:custGeom>
                <a:avLst/>
                <a:gdLst>
                  <a:gd name="T0" fmla="*/ 0 w 21773"/>
                  <a:gd name="T1" fmla="*/ 0 h 21600"/>
                  <a:gd name="T2" fmla="*/ 0 w 21773"/>
                  <a:gd name="T3" fmla="*/ 0 h 21600"/>
                  <a:gd name="T4" fmla="*/ 0 w 2177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3"/>
                  <a:gd name="T10" fmla="*/ 0 h 21600"/>
                  <a:gd name="T11" fmla="*/ 21773 w 2177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3" h="21600" fill="none" extrusionOk="0">
                    <a:moveTo>
                      <a:pt x="-1" y="0"/>
                    </a:moveTo>
                    <a:cubicBezTo>
                      <a:pt x="64" y="0"/>
                      <a:pt x="128" y="-1"/>
                      <a:pt x="193" y="0"/>
                    </a:cubicBezTo>
                    <a:cubicBezTo>
                      <a:pt x="11760" y="0"/>
                      <a:pt x="21274" y="9113"/>
                      <a:pt x="21772" y="20670"/>
                    </a:cubicBezTo>
                  </a:path>
                  <a:path w="21773" h="21600" stroke="0" extrusionOk="0">
                    <a:moveTo>
                      <a:pt x="-1" y="0"/>
                    </a:moveTo>
                    <a:cubicBezTo>
                      <a:pt x="64" y="0"/>
                      <a:pt x="128" y="-1"/>
                      <a:pt x="193" y="0"/>
                    </a:cubicBezTo>
                    <a:cubicBezTo>
                      <a:pt x="11760" y="0"/>
                      <a:pt x="21274" y="9113"/>
                      <a:pt x="21772" y="20670"/>
                    </a:cubicBezTo>
                    <a:lnTo>
                      <a:pt x="193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  <p:sp>
            <p:nvSpPr>
              <p:cNvPr id="221" name="Freeform 254"/>
              <p:cNvSpPr>
                <a:spLocks/>
              </p:cNvSpPr>
              <p:nvPr/>
            </p:nvSpPr>
            <p:spPr bwMode="auto">
              <a:xfrm>
                <a:off x="3136" y="3791"/>
                <a:ext cx="241" cy="144"/>
              </a:xfrm>
              <a:custGeom>
                <a:avLst/>
                <a:gdLst>
                  <a:gd name="T0" fmla="*/ 0 w 241"/>
                  <a:gd name="T1" fmla="*/ 0 h 153"/>
                  <a:gd name="T2" fmla="*/ 0 w 241"/>
                  <a:gd name="T3" fmla="*/ 113 h 153"/>
                  <a:gd name="T4" fmla="*/ 240 w 241"/>
                  <a:gd name="T5" fmla="*/ 113 h 153"/>
                  <a:gd name="T6" fmla="*/ 0 60000 65536"/>
                  <a:gd name="T7" fmla="*/ 0 60000 65536"/>
                  <a:gd name="T8" fmla="*/ 0 60000 65536"/>
                  <a:gd name="T9" fmla="*/ 0 w 241"/>
                  <a:gd name="T10" fmla="*/ 0 h 153"/>
                  <a:gd name="T11" fmla="*/ 241 w 241"/>
                  <a:gd name="T12" fmla="*/ 153 h 1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1" h="153">
                    <a:moveTo>
                      <a:pt x="0" y="0"/>
                    </a:moveTo>
                    <a:lnTo>
                      <a:pt x="0" y="152"/>
                    </a:lnTo>
                    <a:lnTo>
                      <a:pt x="240" y="152"/>
                    </a:lnTo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 sz="1200" b="1"/>
              </a:p>
            </p:txBody>
          </p:sp>
          <p:sp>
            <p:nvSpPr>
              <p:cNvPr id="222" name="Line 255"/>
              <p:cNvSpPr>
                <a:spLocks noChangeShapeType="1"/>
              </p:cNvSpPr>
              <p:nvPr/>
            </p:nvSpPr>
            <p:spPr bwMode="auto">
              <a:xfrm>
                <a:off x="3377" y="3790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</p:grpSp>
        <p:grpSp>
          <p:nvGrpSpPr>
            <p:cNvPr id="223" name="Group 256"/>
            <p:cNvGrpSpPr>
              <a:grpSpLocks/>
            </p:cNvGrpSpPr>
            <p:nvPr/>
          </p:nvGrpSpPr>
          <p:grpSpPr bwMode="auto">
            <a:xfrm>
              <a:off x="2366963" y="3806825"/>
              <a:ext cx="371475" cy="360363"/>
              <a:chOff x="3136" y="3651"/>
              <a:chExt cx="241" cy="287"/>
            </a:xfrm>
          </p:grpSpPr>
          <p:sp>
            <p:nvSpPr>
              <p:cNvPr id="224" name="Arc 257"/>
              <p:cNvSpPr>
                <a:spLocks/>
              </p:cNvSpPr>
              <p:nvPr/>
            </p:nvSpPr>
            <p:spPr bwMode="auto">
              <a:xfrm>
                <a:off x="3136" y="3651"/>
                <a:ext cx="124" cy="147"/>
              </a:xfrm>
              <a:custGeom>
                <a:avLst/>
                <a:gdLst>
                  <a:gd name="T0" fmla="*/ 0 w 21600"/>
                  <a:gd name="T1" fmla="*/ 0 h 21599"/>
                  <a:gd name="T2" fmla="*/ 0 w 21600"/>
                  <a:gd name="T3" fmla="*/ 0 h 21599"/>
                  <a:gd name="T4" fmla="*/ 0 w 21600"/>
                  <a:gd name="T5" fmla="*/ 0 h 215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99"/>
                  <a:gd name="T11" fmla="*/ 21600 w 21600"/>
                  <a:gd name="T12" fmla="*/ 21599 h 215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99" fill="none" extrusionOk="0">
                    <a:moveTo>
                      <a:pt x="0" y="21599"/>
                    </a:moveTo>
                    <a:cubicBezTo>
                      <a:pt x="0" y="9744"/>
                      <a:pt x="9553" y="105"/>
                      <a:pt x="21406" y="-1"/>
                    </a:cubicBezTo>
                  </a:path>
                  <a:path w="21600" h="21599" stroke="0" extrusionOk="0">
                    <a:moveTo>
                      <a:pt x="0" y="21599"/>
                    </a:moveTo>
                    <a:cubicBezTo>
                      <a:pt x="0" y="9744"/>
                      <a:pt x="9553" y="105"/>
                      <a:pt x="21406" y="-1"/>
                    </a:cubicBezTo>
                    <a:lnTo>
                      <a:pt x="21600" y="21599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  <p:sp>
            <p:nvSpPr>
              <p:cNvPr id="225" name="Arc 258"/>
              <p:cNvSpPr>
                <a:spLocks/>
              </p:cNvSpPr>
              <p:nvPr/>
            </p:nvSpPr>
            <p:spPr bwMode="auto">
              <a:xfrm>
                <a:off x="3252" y="3653"/>
                <a:ext cx="125" cy="144"/>
              </a:xfrm>
              <a:custGeom>
                <a:avLst/>
                <a:gdLst>
                  <a:gd name="T0" fmla="*/ 0 w 21773"/>
                  <a:gd name="T1" fmla="*/ 0 h 21600"/>
                  <a:gd name="T2" fmla="*/ 0 w 21773"/>
                  <a:gd name="T3" fmla="*/ 0 h 21600"/>
                  <a:gd name="T4" fmla="*/ 0 w 2177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3"/>
                  <a:gd name="T10" fmla="*/ 0 h 21600"/>
                  <a:gd name="T11" fmla="*/ 21773 w 2177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3" h="21600" fill="none" extrusionOk="0">
                    <a:moveTo>
                      <a:pt x="-1" y="0"/>
                    </a:moveTo>
                    <a:cubicBezTo>
                      <a:pt x="64" y="0"/>
                      <a:pt x="128" y="-1"/>
                      <a:pt x="193" y="0"/>
                    </a:cubicBezTo>
                    <a:cubicBezTo>
                      <a:pt x="11760" y="0"/>
                      <a:pt x="21274" y="9113"/>
                      <a:pt x="21772" y="20670"/>
                    </a:cubicBezTo>
                  </a:path>
                  <a:path w="21773" h="21600" stroke="0" extrusionOk="0">
                    <a:moveTo>
                      <a:pt x="-1" y="0"/>
                    </a:moveTo>
                    <a:cubicBezTo>
                      <a:pt x="64" y="0"/>
                      <a:pt x="128" y="-1"/>
                      <a:pt x="193" y="0"/>
                    </a:cubicBezTo>
                    <a:cubicBezTo>
                      <a:pt x="11760" y="0"/>
                      <a:pt x="21274" y="9113"/>
                      <a:pt x="21772" y="20670"/>
                    </a:cubicBezTo>
                    <a:lnTo>
                      <a:pt x="193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  <p:sp>
            <p:nvSpPr>
              <p:cNvPr id="226" name="Freeform 259"/>
              <p:cNvSpPr>
                <a:spLocks/>
              </p:cNvSpPr>
              <p:nvPr/>
            </p:nvSpPr>
            <p:spPr bwMode="auto">
              <a:xfrm>
                <a:off x="3136" y="3791"/>
                <a:ext cx="241" cy="144"/>
              </a:xfrm>
              <a:custGeom>
                <a:avLst/>
                <a:gdLst>
                  <a:gd name="T0" fmla="*/ 0 w 241"/>
                  <a:gd name="T1" fmla="*/ 0 h 153"/>
                  <a:gd name="T2" fmla="*/ 0 w 241"/>
                  <a:gd name="T3" fmla="*/ 113 h 153"/>
                  <a:gd name="T4" fmla="*/ 240 w 241"/>
                  <a:gd name="T5" fmla="*/ 113 h 153"/>
                  <a:gd name="T6" fmla="*/ 0 60000 65536"/>
                  <a:gd name="T7" fmla="*/ 0 60000 65536"/>
                  <a:gd name="T8" fmla="*/ 0 60000 65536"/>
                  <a:gd name="T9" fmla="*/ 0 w 241"/>
                  <a:gd name="T10" fmla="*/ 0 h 153"/>
                  <a:gd name="T11" fmla="*/ 241 w 241"/>
                  <a:gd name="T12" fmla="*/ 153 h 1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1" h="153">
                    <a:moveTo>
                      <a:pt x="0" y="0"/>
                    </a:moveTo>
                    <a:lnTo>
                      <a:pt x="0" y="152"/>
                    </a:lnTo>
                    <a:lnTo>
                      <a:pt x="240" y="152"/>
                    </a:lnTo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 sz="1200" b="1"/>
              </a:p>
            </p:txBody>
          </p:sp>
          <p:sp>
            <p:nvSpPr>
              <p:cNvPr id="227" name="Line 260"/>
              <p:cNvSpPr>
                <a:spLocks noChangeShapeType="1"/>
              </p:cNvSpPr>
              <p:nvPr/>
            </p:nvSpPr>
            <p:spPr bwMode="auto">
              <a:xfrm>
                <a:off x="3377" y="3790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200" b="1"/>
              </a:p>
            </p:txBody>
          </p:sp>
        </p:grpSp>
        <p:sp>
          <p:nvSpPr>
            <p:cNvPr id="228" name="Line 262"/>
            <p:cNvSpPr>
              <a:spLocks noChangeShapeType="1"/>
            </p:cNvSpPr>
            <p:nvPr/>
          </p:nvSpPr>
          <p:spPr bwMode="auto">
            <a:xfrm>
              <a:off x="3663950" y="4184650"/>
              <a:ext cx="0" cy="2000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  <p:sp>
          <p:nvSpPr>
            <p:cNvPr id="229" name="Oval 263"/>
            <p:cNvSpPr>
              <a:spLocks noChangeArrowheads="1"/>
            </p:cNvSpPr>
            <p:nvPr/>
          </p:nvSpPr>
          <p:spPr bwMode="auto">
            <a:xfrm flipH="1">
              <a:off x="6232525" y="3432175"/>
              <a:ext cx="73025" cy="58738"/>
            </a:xfrm>
            <a:prstGeom prst="ellipse">
              <a:avLst/>
            </a:prstGeom>
            <a:solidFill>
              <a:srgbClr val="000000"/>
            </a:solidFill>
            <a:ln w="254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200" b="1"/>
            </a:p>
          </p:txBody>
        </p:sp>
        <p:sp>
          <p:nvSpPr>
            <p:cNvPr id="231" name="Line 264"/>
            <p:cNvSpPr>
              <a:spLocks noChangeShapeType="1"/>
            </p:cNvSpPr>
            <p:nvPr/>
          </p:nvSpPr>
          <p:spPr bwMode="auto">
            <a:xfrm>
              <a:off x="1639888" y="6332538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200" b="1"/>
            </a:p>
          </p:txBody>
        </p:sp>
      </p:grpSp>
      <p:sp>
        <p:nvSpPr>
          <p:cNvPr id="233" name="Rectangle 232"/>
          <p:cNvSpPr/>
          <p:nvPr/>
        </p:nvSpPr>
        <p:spPr>
          <a:xfrm>
            <a:off x="1294920" y="775179"/>
            <a:ext cx="4899367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cs typeface="Times New Roman" pitchFamily="18" charset="0"/>
              </a:rPr>
              <a:t>Data in registers move as long as there are </a:t>
            </a:r>
            <a:r>
              <a:rPr lang="en-IN" b="1" dirty="0">
                <a:cs typeface="Times New Roman" pitchFamily="18" charset="0"/>
              </a:rPr>
              <a:t>empty locations. </a:t>
            </a:r>
            <a:r>
              <a:rPr lang="en-IN" dirty="0">
                <a:cs typeface="Times New Roman" pitchFamily="18" charset="0"/>
              </a:rPr>
              <a:t>It stops at the </a:t>
            </a:r>
            <a:r>
              <a:rPr lang="en-IN" b="1" dirty="0">
                <a:cs typeface="Times New Roman" pitchFamily="18" charset="0"/>
              </a:rPr>
              <a:t>last register R4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cs typeface="Times New Roman" pitchFamily="18" charset="0"/>
              </a:rPr>
              <a:t>Master Clear</a:t>
            </a:r>
            <a:r>
              <a:rPr lang="en-IN" dirty="0">
                <a:cs typeface="Times New Roman" pitchFamily="18" charset="0"/>
              </a:rPr>
              <a:t> is used to </a:t>
            </a:r>
            <a:r>
              <a:rPr lang="en-IN" b="1" dirty="0">
                <a:cs typeface="Times New Roman" pitchFamily="18" charset="0"/>
              </a:rPr>
              <a:t>initialize</a:t>
            </a:r>
            <a:r>
              <a:rPr lang="en-IN" dirty="0">
                <a:cs typeface="Times New Roman" pitchFamily="18" charset="0"/>
              </a:rPr>
              <a:t> </a:t>
            </a:r>
            <a:r>
              <a:rPr lang="en-IN" b="1" dirty="0">
                <a:cs typeface="Times New Roman" pitchFamily="18" charset="0"/>
              </a:rPr>
              <a:t>all control register flip-flops to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 </a:t>
            </a:r>
            <a:r>
              <a:rPr lang="en-IN" b="1" dirty="0"/>
              <a:t>F1=0</a:t>
            </a:r>
            <a:r>
              <a:rPr lang="en-IN" dirty="0"/>
              <a:t> (</a:t>
            </a:r>
            <a:r>
              <a:rPr lang="en-IN" b="1" dirty="0"/>
              <a:t>reset</a:t>
            </a:r>
            <a:r>
              <a:rPr lang="en-IN" dirty="0"/>
              <a:t>)</a:t>
            </a:r>
            <a:r>
              <a:rPr lang="en-IN" b="1" dirty="0"/>
              <a:t> </a:t>
            </a:r>
          </a:p>
          <a:p>
            <a:pPr marL="469900" lvl="1" indent="-155575" algn="just">
              <a:buFont typeface="Arial" panose="020B0604020202020204" pitchFamily="34" charset="0"/>
              <a:buChar char="•"/>
            </a:pPr>
            <a:r>
              <a:rPr lang="en-IN" dirty="0"/>
              <a:t>indicate register </a:t>
            </a:r>
            <a:r>
              <a:rPr lang="en-IN" b="1" dirty="0"/>
              <a:t>R1 is empty</a:t>
            </a:r>
            <a:r>
              <a:rPr lang="en-IN" dirty="0"/>
              <a:t> and </a:t>
            </a:r>
            <a:r>
              <a:rPr lang="en-IN" b="1" dirty="0"/>
              <a:t>Input</a:t>
            </a:r>
            <a:r>
              <a:rPr lang="en-IN" dirty="0"/>
              <a:t> </a:t>
            </a:r>
            <a:r>
              <a:rPr lang="en-IN" b="1" dirty="0"/>
              <a:t>Ready Signal </a:t>
            </a:r>
            <a:r>
              <a:rPr lang="en-IN" dirty="0"/>
              <a:t>is </a:t>
            </a:r>
            <a:r>
              <a:rPr lang="en-IN" b="1" dirty="0"/>
              <a:t>enabled</a:t>
            </a:r>
            <a:r>
              <a:rPr lang="en-IN" dirty="0"/>
              <a:t> </a:t>
            </a:r>
          </a:p>
          <a:p>
            <a:pPr marL="469900" lvl="1" indent="-155575" algn="just">
              <a:buFont typeface="Arial" panose="020B0604020202020204" pitchFamily="34" charset="0"/>
              <a:buChar char="•"/>
            </a:pPr>
            <a:r>
              <a:rPr lang="en-IN" dirty="0"/>
              <a:t>If </a:t>
            </a:r>
            <a:r>
              <a:rPr lang="en-IN" b="1" dirty="0"/>
              <a:t>clock </a:t>
            </a:r>
            <a:r>
              <a:rPr lang="en-IN" dirty="0"/>
              <a:t>is</a:t>
            </a:r>
            <a:r>
              <a:rPr lang="en-IN" b="1" dirty="0"/>
              <a:t> enabled  </a:t>
            </a:r>
            <a:r>
              <a:rPr lang="en-IN" dirty="0"/>
              <a:t>through </a:t>
            </a:r>
            <a:r>
              <a:rPr lang="en-IN" b="1" dirty="0"/>
              <a:t>INSERT control line</a:t>
            </a:r>
            <a:r>
              <a:rPr lang="en-IN" dirty="0"/>
              <a:t>, </a:t>
            </a:r>
            <a:r>
              <a:rPr lang="en-IN" b="1" dirty="0"/>
              <a:t>Data</a:t>
            </a:r>
            <a:r>
              <a:rPr lang="en-IN" dirty="0"/>
              <a:t> is </a:t>
            </a:r>
            <a:r>
              <a:rPr lang="en-IN" b="1" dirty="0"/>
              <a:t>loaded</a:t>
            </a:r>
            <a:r>
              <a:rPr lang="en-IN" dirty="0"/>
              <a:t> in </a:t>
            </a:r>
            <a:r>
              <a:rPr lang="en-IN" b="1" dirty="0"/>
              <a:t>R1</a:t>
            </a:r>
          </a:p>
          <a:p>
            <a:pPr marL="469900" lvl="1" indent="-155575" algn="just">
              <a:buFont typeface="Arial" panose="020B0604020202020204" pitchFamily="34" charset="0"/>
              <a:buChar char="•"/>
            </a:pPr>
            <a:r>
              <a:rPr lang="en-IN" b="1" dirty="0"/>
              <a:t>Same Clock </a:t>
            </a:r>
            <a:r>
              <a:rPr lang="en-IN" dirty="0"/>
              <a:t>sets </a:t>
            </a:r>
            <a:r>
              <a:rPr lang="en-IN" b="1" dirty="0"/>
              <a:t>F1=1</a:t>
            </a:r>
            <a:r>
              <a:rPr lang="en-IN" dirty="0"/>
              <a:t> which </a:t>
            </a:r>
            <a:r>
              <a:rPr lang="en-IN" b="1" dirty="0"/>
              <a:t>disables</a:t>
            </a:r>
            <a:r>
              <a:rPr lang="en-IN" dirty="0"/>
              <a:t> the </a:t>
            </a:r>
            <a:r>
              <a:rPr lang="en-IN" b="1" dirty="0"/>
              <a:t>input ready control </a:t>
            </a:r>
            <a:r>
              <a:rPr lang="en-IN" dirty="0"/>
              <a:t>(indicating that the </a:t>
            </a:r>
            <a:r>
              <a:rPr lang="en-IN" b="1" dirty="0"/>
              <a:t>FIFO is now busy </a:t>
            </a:r>
            <a:r>
              <a:rPr lang="en-IN" dirty="0"/>
              <a:t>and unable to accept more data)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Ripple-through Process </a:t>
            </a:r>
            <a:r>
              <a:rPr lang="en-IN" dirty="0"/>
              <a:t>begins provided that </a:t>
            </a:r>
            <a:r>
              <a:rPr lang="en-IN" b="1" dirty="0"/>
              <a:t>R2 is empty</a:t>
            </a:r>
          </a:p>
          <a:p>
            <a:pPr marL="498475" lvl="1" indent="-184150" algn="just">
              <a:buFont typeface="Arial" panose="020B0604020202020204" pitchFamily="34" charset="0"/>
              <a:buChar char="•"/>
              <a:tabLst>
                <a:tab pos="531813" algn="l"/>
              </a:tabLst>
            </a:pPr>
            <a:r>
              <a:rPr lang="en-IN" dirty="0"/>
              <a:t>Data in </a:t>
            </a:r>
            <a:r>
              <a:rPr lang="en-IN" b="1" dirty="0"/>
              <a:t>R1 are transferred into R2 </a:t>
            </a:r>
            <a:r>
              <a:rPr lang="en-IN" dirty="0"/>
              <a:t>and </a:t>
            </a:r>
            <a:r>
              <a:rPr lang="en-IN" b="1" dirty="0"/>
              <a:t>F1 is cleared</a:t>
            </a:r>
          </a:p>
          <a:p>
            <a:pPr marL="498475" lvl="1" indent="-184150" algn="just">
              <a:buFont typeface="Arial" panose="020B0604020202020204" pitchFamily="34" charset="0"/>
              <a:buChar char="•"/>
              <a:tabLst>
                <a:tab pos="531813" algn="l"/>
              </a:tabLst>
            </a:pPr>
            <a:r>
              <a:rPr lang="en-IN" dirty="0"/>
              <a:t>This </a:t>
            </a:r>
            <a:r>
              <a:rPr lang="en-IN" b="1" dirty="0"/>
              <a:t>enables</a:t>
            </a:r>
            <a:r>
              <a:rPr lang="en-IN" dirty="0"/>
              <a:t> the </a:t>
            </a:r>
            <a:r>
              <a:rPr lang="en-IN" b="1" dirty="0"/>
              <a:t>INPUT READY LINE</a:t>
            </a:r>
            <a:endParaRPr lang="en-IN" dirty="0"/>
          </a:p>
          <a:p>
            <a:pPr marL="498475" lvl="1" indent="-184150" algn="just">
              <a:buFont typeface="Arial" panose="020B0604020202020204" pitchFamily="34" charset="0"/>
              <a:buChar char="•"/>
              <a:tabLst>
                <a:tab pos="531813" algn="l"/>
              </a:tabLst>
            </a:pPr>
            <a:r>
              <a:rPr lang="en-IN" dirty="0"/>
              <a:t>then </a:t>
            </a:r>
            <a:r>
              <a:rPr lang="en-IN" b="1" dirty="0"/>
              <a:t>inputs</a:t>
            </a:r>
            <a:r>
              <a:rPr lang="en-IN" dirty="0"/>
              <a:t> are now </a:t>
            </a:r>
            <a:r>
              <a:rPr lang="en-IN" b="1" dirty="0"/>
              <a:t>available </a:t>
            </a:r>
            <a:r>
              <a:rPr lang="en-IN" dirty="0"/>
              <a:t>for</a:t>
            </a:r>
            <a:r>
              <a:rPr lang="en-IN" b="1" dirty="0"/>
              <a:t> another data word</a:t>
            </a:r>
            <a:endParaRPr lang="en-IN" dirty="0"/>
          </a:p>
          <a:p>
            <a:pPr marL="498475" indent="-249238">
              <a:buFont typeface="Arial" panose="020B0604020202020204" pitchFamily="34" charset="0"/>
              <a:buChar char="•"/>
              <a:tabLst>
                <a:tab pos="531813" algn="l"/>
              </a:tabLst>
            </a:pPr>
            <a:endParaRPr lang="en-IN" sz="1600" dirty="0"/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endParaRPr lang="en-IN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142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A48321-D4DC-7B79-6C48-42954069B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399" y="780596"/>
            <a:ext cx="9927773" cy="4351338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IN" sz="1800" dirty="0"/>
              <a:t>If </a:t>
            </a:r>
            <a:r>
              <a:rPr lang="en-IN" sz="1800" b="1" dirty="0"/>
              <a:t>FIFO</a:t>
            </a:r>
            <a:r>
              <a:rPr lang="en-IN" sz="1800" dirty="0"/>
              <a:t> is </a:t>
            </a:r>
            <a:r>
              <a:rPr lang="en-IN" sz="1800" b="1" dirty="0"/>
              <a:t>Full</a:t>
            </a:r>
            <a:r>
              <a:rPr lang="en-IN" sz="1800" dirty="0"/>
              <a:t>,  </a:t>
            </a:r>
            <a:r>
              <a:rPr lang="en-IN" sz="1800" b="1" dirty="0"/>
              <a:t>F1</a:t>
            </a:r>
            <a:r>
              <a:rPr lang="en-IN" sz="1800" dirty="0"/>
              <a:t> remains </a:t>
            </a:r>
            <a:r>
              <a:rPr lang="en-IN" sz="1800" b="1" dirty="0"/>
              <a:t>set</a:t>
            </a:r>
            <a:r>
              <a:rPr lang="en-IN" sz="1800" dirty="0"/>
              <a:t> and  </a:t>
            </a:r>
            <a:r>
              <a:rPr lang="en-IN" sz="1800" b="1" dirty="0"/>
              <a:t>INPUT READY LINE</a:t>
            </a:r>
            <a:r>
              <a:rPr lang="en-IN" sz="1800" dirty="0"/>
              <a:t> is </a:t>
            </a:r>
            <a:r>
              <a:rPr lang="en-IN" sz="1800" b="1" dirty="0"/>
              <a:t>Disabled</a:t>
            </a:r>
            <a:endParaRPr lang="en-IN" sz="1800" dirty="0"/>
          </a:p>
          <a:p>
            <a:pPr>
              <a:buFont typeface="Arial" pitchFamily="34" charset="0"/>
              <a:buChar char="•"/>
            </a:pPr>
            <a:r>
              <a:rPr lang="en-IN" sz="1800" dirty="0"/>
              <a:t>Control lines </a:t>
            </a:r>
            <a:r>
              <a:rPr lang="en-IN" sz="1800" b="1" dirty="0"/>
              <a:t>INPUT READY </a:t>
            </a:r>
            <a:r>
              <a:rPr lang="en-IN" sz="1800" dirty="0"/>
              <a:t>and </a:t>
            </a:r>
            <a:r>
              <a:rPr lang="en-IN" sz="1800" b="1" dirty="0"/>
              <a:t>INSERT </a:t>
            </a:r>
            <a:r>
              <a:rPr lang="en-IN" sz="1800" dirty="0"/>
              <a:t>constitute (part of) a </a:t>
            </a:r>
            <a:r>
              <a:rPr lang="en-IN" sz="1800" b="1" dirty="0"/>
              <a:t>Destination - Initiated pair </a:t>
            </a:r>
            <a:r>
              <a:rPr lang="en-IN" sz="1800" dirty="0"/>
              <a:t>of</a:t>
            </a:r>
            <a:r>
              <a:rPr lang="en-IN" sz="1800" b="1" dirty="0"/>
              <a:t> Handshake Lines</a:t>
            </a:r>
            <a:endParaRPr lang="en-IN" sz="1800" dirty="0">
              <a:cs typeface="Times New Roman" pitchFamily="18" charset="0"/>
            </a:endParaRPr>
          </a:p>
          <a:p>
            <a:r>
              <a:rPr lang="en-IN" sz="1800" dirty="0"/>
              <a:t>When  </a:t>
            </a:r>
            <a:r>
              <a:rPr lang="en-IN" sz="1800" b="1" dirty="0"/>
              <a:t>last</a:t>
            </a:r>
            <a:r>
              <a:rPr lang="en-IN" sz="1800" dirty="0"/>
              <a:t> control flip-flop</a:t>
            </a:r>
            <a:r>
              <a:rPr lang="en-IN" sz="1800" b="1" dirty="0"/>
              <a:t> F4 = 1</a:t>
            </a:r>
            <a:r>
              <a:rPr lang="en-IN" sz="1800" dirty="0"/>
              <a:t>,</a:t>
            </a:r>
          </a:p>
          <a:p>
            <a:pPr lvl="1">
              <a:buFont typeface="System Font Regular"/>
              <a:buChar char="⁃"/>
            </a:pPr>
            <a:r>
              <a:rPr lang="en-IN" sz="1800" b="1" dirty="0"/>
              <a:t>OUTPUT READY</a:t>
            </a:r>
            <a:r>
              <a:rPr lang="en-IN" sz="1800" dirty="0"/>
              <a:t> </a:t>
            </a:r>
            <a:r>
              <a:rPr lang="en-IN" sz="1800" b="1" dirty="0"/>
              <a:t>control line </a:t>
            </a:r>
            <a:r>
              <a:rPr lang="en-IN" sz="1800" dirty="0"/>
              <a:t>is </a:t>
            </a:r>
            <a:r>
              <a:rPr lang="en-IN" sz="1800" b="1" dirty="0"/>
              <a:t>enabled </a:t>
            </a:r>
          </a:p>
          <a:p>
            <a:pPr lvl="1">
              <a:buFont typeface="System Font Regular"/>
              <a:buChar char="⁃"/>
            </a:pPr>
            <a:r>
              <a:rPr lang="en-IN" sz="1800" dirty="0"/>
              <a:t>indicates that there are </a:t>
            </a:r>
            <a:r>
              <a:rPr lang="en-IN" sz="1800" b="1" dirty="0"/>
              <a:t>valid data in R4</a:t>
            </a:r>
          </a:p>
          <a:p>
            <a:pPr lvl="1">
              <a:buFont typeface="System Font Regular"/>
              <a:buChar char="⁃"/>
            </a:pPr>
            <a:r>
              <a:rPr lang="en-IN" sz="1800" b="1" dirty="0"/>
              <a:t>DESTINATION UNIT accepts data</a:t>
            </a:r>
            <a:r>
              <a:rPr lang="en-IN" sz="1800" dirty="0"/>
              <a:t> form </a:t>
            </a:r>
            <a:r>
              <a:rPr lang="en-IN" sz="1800" b="1" dirty="0"/>
              <a:t>R4 </a:t>
            </a:r>
            <a:r>
              <a:rPr lang="en-IN" sz="1800" dirty="0"/>
              <a:t>then </a:t>
            </a:r>
            <a:r>
              <a:rPr lang="en-IN" sz="1800" b="1" dirty="0"/>
              <a:t>enables</a:t>
            </a:r>
            <a:r>
              <a:rPr lang="en-IN" sz="1800" dirty="0"/>
              <a:t> the </a:t>
            </a:r>
            <a:r>
              <a:rPr lang="en-IN" sz="1800" b="1" dirty="0"/>
              <a:t>DELETE control signal</a:t>
            </a:r>
          </a:p>
          <a:p>
            <a:pPr>
              <a:buFont typeface="Arial" pitchFamily="34" charset="0"/>
              <a:buChar char="•"/>
            </a:pPr>
            <a:r>
              <a:rPr lang="en-IN" sz="1800" b="1" dirty="0"/>
              <a:t>DELETE </a:t>
            </a:r>
            <a:r>
              <a:rPr lang="en-IN" sz="1800" dirty="0"/>
              <a:t>control signal </a:t>
            </a:r>
            <a:r>
              <a:rPr lang="en-IN" sz="1800" b="1" dirty="0"/>
              <a:t>resets</a:t>
            </a:r>
            <a:r>
              <a:rPr lang="en-IN" sz="1800" dirty="0"/>
              <a:t> </a:t>
            </a:r>
            <a:r>
              <a:rPr lang="en-IN" sz="1800" b="1" dirty="0"/>
              <a:t>F4=0</a:t>
            </a:r>
          </a:p>
          <a:p>
            <a:pPr lvl="1">
              <a:buFont typeface="System Font Regular"/>
              <a:buChar char="⁃"/>
            </a:pPr>
            <a:r>
              <a:rPr lang="en-IN" sz="1800" b="1" dirty="0"/>
              <a:t>Disables</a:t>
            </a:r>
            <a:r>
              <a:rPr lang="en-IN" sz="1800" dirty="0"/>
              <a:t> </a:t>
            </a:r>
            <a:r>
              <a:rPr lang="en-IN" sz="1800" b="1" dirty="0"/>
              <a:t>OUTPUT READY </a:t>
            </a:r>
            <a:r>
              <a:rPr lang="en-IN" sz="1800" dirty="0"/>
              <a:t>means </a:t>
            </a:r>
            <a:r>
              <a:rPr lang="en-IN" sz="1800" b="1" dirty="0"/>
              <a:t>data</a:t>
            </a:r>
            <a:r>
              <a:rPr lang="en-IN" sz="1800" dirty="0"/>
              <a:t> on the output are </a:t>
            </a:r>
            <a:r>
              <a:rPr lang="en-IN" sz="1800" b="1" dirty="0"/>
              <a:t>no longer valid</a:t>
            </a:r>
            <a:endParaRPr lang="en-IN" sz="1800" dirty="0"/>
          </a:p>
          <a:p>
            <a:pPr>
              <a:buFont typeface="Arial" pitchFamily="34" charset="0"/>
              <a:buChar char="•"/>
            </a:pPr>
            <a:r>
              <a:rPr lang="en-IN" sz="1800" dirty="0"/>
              <a:t>After the </a:t>
            </a:r>
            <a:r>
              <a:rPr lang="en-IN" sz="1800" b="1" dirty="0"/>
              <a:t>DELETE</a:t>
            </a:r>
            <a:r>
              <a:rPr lang="en-IN" sz="1800" dirty="0"/>
              <a:t> </a:t>
            </a:r>
            <a:r>
              <a:rPr lang="en-IN" sz="1800" b="1" dirty="0"/>
              <a:t>signal</a:t>
            </a:r>
            <a:r>
              <a:rPr lang="en-IN" sz="1800" dirty="0"/>
              <a:t> </a:t>
            </a:r>
            <a:r>
              <a:rPr lang="en-IN" sz="1800" b="1" dirty="0"/>
              <a:t>= 0</a:t>
            </a:r>
            <a:r>
              <a:rPr lang="en-IN" sz="1800" dirty="0"/>
              <a:t>, </a:t>
            </a:r>
            <a:r>
              <a:rPr lang="en-IN" sz="1800" b="1" dirty="0"/>
              <a:t>R3 data </a:t>
            </a:r>
            <a:r>
              <a:rPr lang="en-IN" sz="1800" dirty="0"/>
              <a:t>move to </a:t>
            </a:r>
            <a:r>
              <a:rPr lang="en-IN" sz="1800" b="1" dirty="0"/>
              <a:t>R4</a:t>
            </a:r>
          </a:p>
          <a:p>
            <a:pPr>
              <a:buFont typeface="Arial" pitchFamily="34" charset="0"/>
              <a:buChar char="•"/>
            </a:pPr>
            <a:r>
              <a:rPr lang="en-IN" sz="1800" dirty="0"/>
              <a:t>If the </a:t>
            </a:r>
            <a:r>
              <a:rPr lang="en-IN" sz="1800" b="1" dirty="0"/>
              <a:t>FIFO</a:t>
            </a:r>
            <a:r>
              <a:rPr lang="en-IN" sz="1800" dirty="0"/>
              <a:t> is </a:t>
            </a:r>
            <a:r>
              <a:rPr lang="en-IN" sz="1800" b="1" dirty="0"/>
              <a:t>EMPTY</a:t>
            </a:r>
            <a:r>
              <a:rPr lang="en-IN" sz="1800" dirty="0"/>
              <a:t>, </a:t>
            </a:r>
            <a:r>
              <a:rPr lang="en-IN" sz="1800" b="1" dirty="0"/>
              <a:t>No data </a:t>
            </a:r>
            <a:r>
              <a:rPr lang="en-IN" sz="1800" dirty="0"/>
              <a:t>in </a:t>
            </a:r>
            <a:r>
              <a:rPr lang="en-IN" sz="1800" b="1" dirty="0"/>
              <a:t>R3 &amp; F4 = 0 </a:t>
            </a:r>
          </a:p>
          <a:p>
            <a:pPr>
              <a:buFont typeface="Arial" pitchFamily="34" charset="0"/>
              <a:buChar char="•"/>
            </a:pPr>
            <a:r>
              <a:rPr lang="en-IN" sz="1800" dirty="0"/>
              <a:t>Control lines </a:t>
            </a:r>
            <a:r>
              <a:rPr lang="en-IN" sz="1800" b="1" dirty="0"/>
              <a:t>OUTPUT READY </a:t>
            </a:r>
            <a:r>
              <a:rPr lang="en-IN" sz="1800" dirty="0"/>
              <a:t>and </a:t>
            </a:r>
            <a:r>
              <a:rPr lang="en-IN" sz="1800" b="1" dirty="0"/>
              <a:t>DELETE</a:t>
            </a:r>
            <a:r>
              <a:rPr lang="en-IN" sz="1800" dirty="0"/>
              <a:t> constitute a </a:t>
            </a:r>
            <a:r>
              <a:rPr lang="en-IN" sz="1800" b="1" dirty="0"/>
              <a:t>Source -Initiated pair </a:t>
            </a:r>
            <a:r>
              <a:rPr lang="en-IN" sz="1800" dirty="0"/>
              <a:t>of</a:t>
            </a:r>
            <a:r>
              <a:rPr lang="en-IN" sz="1800" b="1" dirty="0"/>
              <a:t> Handshake Lines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20826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254957-3CFE-6327-39E7-D54A59D85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3590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Modes Of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459C59-BA32-1428-69E8-30AD5B5E5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628" y="889454"/>
            <a:ext cx="9622972" cy="4351338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50000"/>
              </a:lnSpc>
              <a:spcBef>
                <a:spcPts val="65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615315" algn="l"/>
                <a:tab pos="61595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Data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between the central computer and I/O devices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may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be handled in a variety of</a:t>
            </a:r>
            <a:r>
              <a:rPr lang="en-US" sz="2000" spc="-18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modes.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>
              <a:lnSpc>
                <a:spcPct val="150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615315" algn="l"/>
                <a:tab pos="61595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Data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to and from peripherals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may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be handled in one of the three possible</a:t>
            </a:r>
            <a:r>
              <a:rPr lang="en-US" sz="2000" spc="-10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modes: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800100" lvl="1" indent="-342900">
              <a:lnSpc>
                <a:spcPct val="150000"/>
              </a:lnSpc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spc="-30" dirty="0">
                <a:effectLst/>
                <a:ea typeface="Carlito"/>
                <a:cs typeface="Carlito"/>
              </a:rPr>
              <a:t>Programmed</a:t>
            </a:r>
            <a:r>
              <a:rPr lang="en-US" sz="2000" spc="-10" dirty="0">
                <a:effectLst/>
                <a:ea typeface="Carlito"/>
                <a:cs typeface="Carlito"/>
              </a:rPr>
              <a:t> </a:t>
            </a:r>
            <a:r>
              <a:rPr lang="en-US" sz="2000" spc="-30" dirty="0">
                <a:effectLst/>
                <a:ea typeface="Carlito"/>
                <a:cs typeface="Carlito"/>
              </a:rPr>
              <a:t>I/O</a:t>
            </a:r>
            <a:endParaRPr lang="en-IN" sz="2000" spc="-30" dirty="0">
              <a:effectLst/>
              <a:ea typeface="Carlito"/>
              <a:cs typeface="Carlito"/>
            </a:endParaRPr>
          </a:p>
          <a:p>
            <a:pPr marL="800100" lvl="1" indent="-342900">
              <a:lnSpc>
                <a:spcPct val="150000"/>
              </a:lnSpc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spc="-30" dirty="0">
                <a:effectLst/>
                <a:ea typeface="Carlito"/>
                <a:cs typeface="Carlito"/>
              </a:rPr>
              <a:t>Interrupt-initiated</a:t>
            </a:r>
            <a:r>
              <a:rPr lang="en-US" sz="2000" spc="-10" dirty="0">
                <a:effectLst/>
                <a:ea typeface="Carlito"/>
                <a:cs typeface="Carlito"/>
              </a:rPr>
              <a:t> </a:t>
            </a:r>
            <a:r>
              <a:rPr lang="en-US" sz="2000" spc="-30" dirty="0">
                <a:effectLst/>
                <a:ea typeface="Carlito"/>
                <a:cs typeface="Carlito"/>
              </a:rPr>
              <a:t>I/O</a:t>
            </a:r>
            <a:endParaRPr lang="en-IN" sz="2000" spc="-30" dirty="0">
              <a:effectLst/>
              <a:ea typeface="Carlito"/>
              <a:cs typeface="Carlito"/>
            </a:endParaRPr>
          </a:p>
          <a:p>
            <a:pPr marL="800100" lvl="1" indent="-342900">
              <a:lnSpc>
                <a:spcPct val="150000"/>
              </a:lnSpc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  <a:tab pos="1032510" algn="l"/>
              </a:tabLst>
            </a:pPr>
            <a:r>
              <a:rPr lang="en-US" sz="2000" spc="-30" dirty="0">
                <a:effectLst/>
                <a:ea typeface="Carlito"/>
                <a:cs typeface="Carlito"/>
              </a:rPr>
              <a:t>Direct memory access</a:t>
            </a:r>
            <a:r>
              <a:rPr lang="en-US" sz="2000" spc="-20" dirty="0">
                <a:effectLst/>
                <a:ea typeface="Carlito"/>
                <a:cs typeface="Carlito"/>
              </a:rPr>
              <a:t> </a:t>
            </a:r>
            <a:r>
              <a:rPr lang="en-US" sz="2000" spc="-30" dirty="0">
                <a:effectLst/>
                <a:ea typeface="Carlito"/>
                <a:cs typeface="Carlito"/>
              </a:rPr>
              <a:t>(DMA)</a:t>
            </a:r>
            <a:endParaRPr lang="en-IN" sz="2000" spc="-30" dirty="0">
              <a:effectLst/>
              <a:ea typeface="Carlito"/>
              <a:cs typeface="Carlito"/>
            </a:endParaRP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8517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01B9E9-A796-8A41-0AF7-0C21C7FC9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44475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Programmed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1C7462-F8BB-2681-49F3-C5E69877A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516" y="791481"/>
            <a:ext cx="9873342" cy="4351338"/>
          </a:xfrm>
        </p:spPr>
        <p:txBody>
          <a:bodyPr/>
          <a:lstStyle/>
          <a:p>
            <a:pPr marL="342900" lvl="0" indent="-342900" algn="just">
              <a:lnSpc>
                <a:spcPts val="2800"/>
              </a:lnSpc>
              <a:spcBef>
                <a:spcPts val="65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Programmed I/O operations are the result of </a:t>
            </a:r>
            <a:r>
              <a:rPr lang="en-US" sz="1800" b="1" spc="-35" dirty="0">
                <a:effectLst/>
                <a:ea typeface="Arial" panose="020B0604020202020204" pitchFamily="34" charset="0"/>
                <a:cs typeface="Carlito"/>
              </a:rPr>
              <a:t>I/O instructions(program)</a:t>
            </a:r>
            <a:r>
              <a:rPr lang="en-IN" sz="1800" b="1" spc="-35" dirty="0">
                <a:ea typeface="Arial" panose="020B0604020202020204" pitchFamily="34" charset="0"/>
                <a:cs typeface="Carlito"/>
              </a:rPr>
              <a:t> </a:t>
            </a:r>
            <a:r>
              <a:rPr lang="en-US" sz="1800" dirty="0">
                <a:effectLst/>
                <a:ea typeface="Carlito"/>
                <a:cs typeface="Carlito"/>
              </a:rPr>
              <a:t>written in the computer program.</a:t>
            </a:r>
            <a:endParaRPr lang="en-IN" sz="1800" dirty="0">
              <a:effectLst/>
              <a:ea typeface="Carlito"/>
              <a:cs typeface="Carlito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Each data item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is initiated by an instruction in the</a:t>
            </a:r>
            <a:r>
              <a:rPr lang="en-US" sz="1800" spc="-7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program.</a:t>
            </a:r>
            <a:endParaRPr lang="en-IN" sz="18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969385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Transferring</a:t>
            </a:r>
            <a:r>
              <a:rPr lang="en-US" sz="1800" spc="-5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under</a:t>
            </a:r>
            <a:r>
              <a:rPr lang="en-US" sz="18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program</a:t>
            </a:r>
            <a:r>
              <a:rPr lang="en-US" sz="18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control</a:t>
            </a:r>
            <a:r>
              <a:rPr lang="en-US" sz="18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requires</a:t>
            </a:r>
            <a:r>
              <a:rPr lang="en-US" sz="1800" spc="-5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constant monitoring of the peripheral by the</a:t>
            </a:r>
            <a:r>
              <a:rPr lang="en-US" sz="1800" spc="-6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CPU.</a:t>
            </a:r>
            <a:endParaRPr lang="en-IN" sz="18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57188" marR="3342005" indent="-347663" algn="just">
              <a:lnSpc>
                <a:spcPts val="2800"/>
              </a:lnSpc>
              <a:spcBef>
                <a:spcPts val="0"/>
              </a:spcBef>
              <a:buSzPts val="1400"/>
              <a:buFont typeface="Arial" panose="020B0604020202020204" pitchFamily="34" charset="0"/>
              <a:buChar char="●"/>
              <a:tabLst>
                <a:tab pos="1106488" algn="l"/>
              </a:tabLst>
            </a:pP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Once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initiated,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CPU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required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monitor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        interface to see when a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can again be</a:t>
            </a:r>
            <a:r>
              <a:rPr lang="en-US" sz="1800" spc="-7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made.</a:t>
            </a:r>
            <a:endParaRPr lang="en-IN" sz="1800" spc="-35" dirty="0">
              <a:effectLst/>
              <a:ea typeface="Arial" panose="020B0604020202020204" pitchFamily="34" charset="0"/>
              <a:cs typeface="Carlito"/>
            </a:endParaRPr>
          </a:p>
          <a:p>
            <a:pPr algn="just">
              <a:lnSpc>
                <a:spcPts val="2800"/>
              </a:lnSpc>
            </a:pPr>
            <a:r>
              <a:rPr lang="en-US" sz="1800" b="1" spc="-35" dirty="0">
                <a:effectLst/>
                <a:ea typeface="Arial" panose="020B0604020202020204" pitchFamily="34" charset="0"/>
                <a:cs typeface="Carlito"/>
              </a:rPr>
              <a:t>Disadvantage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: CPU 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stays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in the program loop until the I/O unit indicates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that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ready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for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transfer.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This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time-consuming process since it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keeps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 processor busy</a:t>
            </a:r>
            <a:r>
              <a:rPr lang="en-US" sz="1800" spc="-5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needlessly.</a:t>
            </a:r>
            <a:endParaRPr lang="en-IN" sz="1800" spc="-35" dirty="0">
              <a:effectLst/>
              <a:ea typeface="Arial" panose="020B0604020202020204" pitchFamily="34" charset="0"/>
              <a:cs typeface="Carlito"/>
            </a:endParaRPr>
          </a:p>
          <a:p>
            <a:pPr>
              <a:lnSpc>
                <a:spcPts val="2800"/>
              </a:lnSpc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6D1BA65-0498-7015-21F3-3A1615375DCC}"/>
              </a:ext>
            </a:extLst>
          </p:cNvPr>
          <p:cNvSpPr txBox="1"/>
          <p:nvPr/>
        </p:nvSpPr>
        <p:spPr>
          <a:xfrm>
            <a:off x="6346371" y="5697187"/>
            <a:ext cx="3962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Data transfer from I/O device to CPU</a:t>
            </a:r>
          </a:p>
        </p:txBody>
      </p:sp>
      <p:pic>
        <p:nvPicPr>
          <p:cNvPr id="1026" name="Picture 2" descr="Computer Organization and Architecture (Modes of Transfer) - UPSC FEVER">
            <a:extLst>
              <a:ext uri="{FF2B5EF4-FFF2-40B4-BE49-F238E27FC236}">
                <a16:creationId xmlns:a16="http://schemas.microsoft.com/office/drawing/2014/main" xmlns="" id="{0024B9BC-07F4-E081-F8B1-2DDBC504E5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17"/>
          <a:stretch/>
        </p:blipFill>
        <p:spPr bwMode="auto">
          <a:xfrm>
            <a:off x="3231620" y="4295942"/>
            <a:ext cx="6934200" cy="188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668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2.jpeg">
            <a:extLst>
              <a:ext uri="{FF2B5EF4-FFF2-40B4-BE49-F238E27FC236}">
                <a16:creationId xmlns:a16="http://schemas.microsoft.com/office/drawing/2014/main" xmlns="" id="{0C1DF810-11E3-8F4B-27DF-9368A7AECB8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19702" y="744583"/>
            <a:ext cx="3740331" cy="5116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66872DC-C4C6-5B4D-BE39-0B26DB19D97A}"/>
              </a:ext>
            </a:extLst>
          </p:cNvPr>
          <p:cNvSpPr txBox="1"/>
          <p:nvPr/>
        </p:nvSpPr>
        <p:spPr>
          <a:xfrm>
            <a:off x="7151048" y="5928751"/>
            <a:ext cx="4397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Fig. Flowchart for CPU program to input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B14EEEA-8974-75BD-F36D-4842A5F3E685}"/>
              </a:ext>
            </a:extLst>
          </p:cNvPr>
          <p:cNvSpPr txBox="1"/>
          <p:nvPr/>
        </p:nvSpPr>
        <p:spPr>
          <a:xfrm>
            <a:off x="779209" y="790324"/>
            <a:ext cx="664049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3888" lvl="1" indent="-173038" algn="just">
              <a:buFont typeface="Arial" panose="020B0604020202020204" pitchFamily="34" charset="0"/>
              <a:buChar char="•"/>
            </a:pPr>
            <a:r>
              <a:rPr lang="en-IN" sz="1800" b="1" dirty="0"/>
              <a:t>Device</a:t>
            </a:r>
            <a:r>
              <a:rPr lang="en-IN" sz="1800" dirty="0"/>
              <a:t> places </a:t>
            </a:r>
            <a:r>
              <a:rPr lang="en-IN" sz="1800" b="1" dirty="0"/>
              <a:t>byte</a:t>
            </a:r>
            <a:r>
              <a:rPr lang="en-IN" sz="1800" dirty="0"/>
              <a:t> in </a:t>
            </a:r>
            <a:r>
              <a:rPr lang="en-IN" sz="1800" b="1" dirty="0"/>
              <a:t>I/O BUS </a:t>
            </a:r>
            <a:r>
              <a:rPr lang="en-IN" sz="1800" dirty="0"/>
              <a:t>and </a:t>
            </a:r>
            <a:r>
              <a:rPr lang="en-IN" sz="1800" b="1" dirty="0"/>
              <a:t>enables</a:t>
            </a:r>
            <a:r>
              <a:rPr lang="en-IN" sz="1800" dirty="0"/>
              <a:t> its </a:t>
            </a:r>
            <a:r>
              <a:rPr lang="en-IN" sz="1800" b="1" dirty="0"/>
              <a:t>DATA VALID line</a:t>
            </a:r>
          </a:p>
          <a:p>
            <a:pPr marL="623888" lvl="1" indent="-173038" algn="just">
              <a:buFont typeface="Arial" panose="020B0604020202020204" pitchFamily="34" charset="0"/>
              <a:buChar char="•"/>
            </a:pPr>
            <a:r>
              <a:rPr lang="en-IN" sz="1800" b="1" dirty="0"/>
              <a:t>Interface</a:t>
            </a:r>
            <a:r>
              <a:rPr lang="en-IN" sz="1800" dirty="0"/>
              <a:t> </a:t>
            </a:r>
            <a:r>
              <a:rPr lang="en-IN" sz="1800" b="1" dirty="0"/>
              <a:t>accepts</a:t>
            </a:r>
            <a:r>
              <a:rPr lang="en-IN" sz="1800" dirty="0"/>
              <a:t> the byte into its </a:t>
            </a:r>
            <a:r>
              <a:rPr lang="en-IN" sz="1800" b="1" dirty="0"/>
              <a:t>data register </a:t>
            </a:r>
            <a:r>
              <a:rPr lang="en-IN" sz="1800" dirty="0"/>
              <a:t>and </a:t>
            </a:r>
            <a:r>
              <a:rPr lang="en-IN" sz="1800" b="1" dirty="0"/>
              <a:t>enables</a:t>
            </a:r>
            <a:r>
              <a:rPr lang="en-IN" sz="1800" dirty="0"/>
              <a:t> the </a:t>
            </a:r>
            <a:r>
              <a:rPr lang="en-IN" sz="1800" b="1" dirty="0"/>
              <a:t>DATA ACCEPTED line</a:t>
            </a:r>
          </a:p>
          <a:p>
            <a:pPr marL="623888" lvl="1" indent="-173038" algn="just">
              <a:buFont typeface="Arial" panose="020B0604020202020204" pitchFamily="34" charset="0"/>
              <a:buChar char="•"/>
            </a:pPr>
            <a:r>
              <a:rPr lang="en-IN" sz="1800" b="1" dirty="0"/>
              <a:t>Interface</a:t>
            </a:r>
            <a:r>
              <a:rPr lang="en-IN" sz="1800" dirty="0"/>
              <a:t> sets </a:t>
            </a:r>
            <a:r>
              <a:rPr lang="en-IN" b="1" dirty="0"/>
              <a:t>“</a:t>
            </a:r>
            <a:r>
              <a:rPr lang="en-IN" sz="1800" b="1" dirty="0"/>
              <a:t>flag” (F) bit </a:t>
            </a:r>
            <a:r>
              <a:rPr lang="en-IN" sz="1800" dirty="0"/>
              <a:t>in the </a:t>
            </a:r>
            <a:r>
              <a:rPr lang="en-IN" sz="1800" b="1" dirty="0"/>
              <a:t>status register</a:t>
            </a:r>
          </a:p>
          <a:p>
            <a:pPr marL="623888" lvl="1" indent="-173038" algn="just">
              <a:buFont typeface="Arial" panose="020B0604020202020204" pitchFamily="34" charset="0"/>
              <a:buChar char="•"/>
            </a:pPr>
            <a:r>
              <a:rPr lang="en-IN" sz="1800" b="1" dirty="0"/>
              <a:t>Device</a:t>
            </a:r>
            <a:r>
              <a:rPr lang="en-IN" sz="1800" dirty="0"/>
              <a:t> can now </a:t>
            </a:r>
            <a:r>
              <a:rPr lang="en-IN" sz="1800" b="1" dirty="0"/>
              <a:t>disable</a:t>
            </a:r>
            <a:r>
              <a:rPr lang="en-IN" sz="1800" dirty="0"/>
              <a:t> the </a:t>
            </a:r>
            <a:r>
              <a:rPr lang="en-IN" sz="1800" b="1" dirty="0"/>
              <a:t>data valid line</a:t>
            </a:r>
            <a:endParaRPr lang="en-IN" sz="1800" dirty="0"/>
          </a:p>
          <a:p>
            <a:pPr marL="623888" lvl="1" indent="-173038" algn="just">
              <a:buFont typeface="Arial" panose="020B0604020202020204" pitchFamily="34" charset="0"/>
              <a:buChar char="•"/>
            </a:pPr>
            <a:r>
              <a:rPr lang="en-IN" sz="1800" b="1" dirty="0"/>
              <a:t>Device</a:t>
            </a:r>
            <a:r>
              <a:rPr lang="en-IN" sz="1800" dirty="0"/>
              <a:t> will </a:t>
            </a:r>
            <a:r>
              <a:rPr lang="en-IN" sz="1800" b="1" dirty="0"/>
              <a:t>NOT</a:t>
            </a:r>
            <a:r>
              <a:rPr lang="en-IN" sz="1800" dirty="0"/>
              <a:t> transfer </a:t>
            </a:r>
            <a:r>
              <a:rPr lang="en-IN" sz="1800" b="1" dirty="0"/>
              <a:t>another byte </a:t>
            </a:r>
            <a:r>
              <a:rPr lang="en-IN" sz="1800" dirty="0"/>
              <a:t>until the </a:t>
            </a:r>
            <a:r>
              <a:rPr lang="en-IN" sz="1800" b="1" dirty="0"/>
              <a:t>data accepted line </a:t>
            </a:r>
            <a:r>
              <a:rPr lang="en-IN" sz="1800" dirty="0"/>
              <a:t>is</a:t>
            </a:r>
            <a:r>
              <a:rPr lang="en-IN" sz="1800" b="1" dirty="0"/>
              <a:t> disabled </a:t>
            </a:r>
            <a:r>
              <a:rPr lang="en-IN" sz="1800" dirty="0"/>
              <a:t>by the </a:t>
            </a:r>
            <a:r>
              <a:rPr lang="en-IN" sz="1800" b="1" dirty="0"/>
              <a:t>interface</a:t>
            </a:r>
            <a:r>
              <a:rPr lang="en-IN" sz="1800" dirty="0"/>
              <a:t>. </a:t>
            </a:r>
          </a:p>
          <a:p>
            <a:pPr marL="623888" lvl="1" indent="-173038" algn="just">
              <a:buFont typeface="Arial" panose="020B0604020202020204" pitchFamily="34" charset="0"/>
              <a:buChar char="•"/>
            </a:pPr>
            <a:r>
              <a:rPr lang="en-IN" sz="1800" dirty="0"/>
              <a:t>This is according to the </a:t>
            </a:r>
            <a:r>
              <a:rPr lang="en-IN" sz="1800" b="1" dirty="0"/>
              <a:t>handshaking procedure</a:t>
            </a:r>
          </a:p>
          <a:p>
            <a:pPr marL="623888" lvl="1" indent="-173038" algn="just">
              <a:buFont typeface="Arial" panose="020B0604020202020204" pitchFamily="34" charset="0"/>
              <a:buChar char="•"/>
            </a:pPr>
            <a:endParaRPr lang="en-IN" b="1" dirty="0"/>
          </a:p>
          <a:p>
            <a:pPr marL="623888" indent="-173038" algn="just"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PROGRAM</a:t>
            </a:r>
            <a:r>
              <a:rPr lang="en-IN" dirty="0"/>
              <a:t> is written for the </a:t>
            </a:r>
            <a:r>
              <a:rPr lang="en-IN" b="1" dirty="0"/>
              <a:t>computer </a:t>
            </a:r>
            <a:r>
              <a:rPr lang="en-IN" dirty="0"/>
              <a:t>to </a:t>
            </a:r>
            <a:r>
              <a:rPr lang="en-IN" b="1" dirty="0"/>
              <a:t>check the flag</a:t>
            </a:r>
            <a:r>
              <a:rPr lang="en-IN" dirty="0"/>
              <a:t> in the </a:t>
            </a:r>
            <a:r>
              <a:rPr lang="en-IN" b="1" dirty="0"/>
              <a:t>status register </a:t>
            </a:r>
            <a:r>
              <a:rPr lang="en-IN" dirty="0"/>
              <a:t>and </a:t>
            </a:r>
            <a:r>
              <a:rPr lang="en-IN" b="1" dirty="0"/>
              <a:t>to determine </a:t>
            </a:r>
            <a:r>
              <a:rPr lang="en-IN" dirty="0"/>
              <a:t>if a </a:t>
            </a:r>
            <a:r>
              <a:rPr lang="en-IN" b="1" dirty="0"/>
              <a:t>byte</a:t>
            </a:r>
            <a:r>
              <a:rPr lang="en-IN" dirty="0"/>
              <a:t> has been </a:t>
            </a:r>
            <a:r>
              <a:rPr lang="en-IN" b="1" dirty="0"/>
              <a:t>placed</a:t>
            </a:r>
            <a:r>
              <a:rPr lang="en-IN" dirty="0"/>
              <a:t> in the </a:t>
            </a:r>
            <a:r>
              <a:rPr lang="en-IN" b="1" dirty="0"/>
              <a:t>data register </a:t>
            </a:r>
            <a:r>
              <a:rPr lang="en-IN" dirty="0"/>
              <a:t>by the </a:t>
            </a:r>
            <a:r>
              <a:rPr lang="en-IN" b="1" dirty="0"/>
              <a:t>I/O device</a:t>
            </a:r>
          </a:p>
          <a:p>
            <a:pPr marL="623888" indent="-173038" algn="just">
              <a:buFont typeface="Arial" panose="020B0604020202020204" pitchFamily="34" charset="0"/>
              <a:buChar char="•"/>
            </a:pPr>
            <a:r>
              <a:rPr lang="en-IN" dirty="0"/>
              <a:t>This is done by </a:t>
            </a:r>
            <a:r>
              <a:rPr lang="en-IN" b="1" dirty="0"/>
              <a:t>reading</a:t>
            </a:r>
            <a:r>
              <a:rPr lang="en-IN" dirty="0"/>
              <a:t> the </a:t>
            </a:r>
            <a:r>
              <a:rPr lang="en-IN" b="1" dirty="0"/>
              <a:t>status register</a:t>
            </a:r>
            <a:r>
              <a:rPr lang="en-IN" dirty="0"/>
              <a:t> into a </a:t>
            </a:r>
            <a:r>
              <a:rPr lang="en-IN" b="1" dirty="0"/>
              <a:t>CPU register </a:t>
            </a:r>
            <a:r>
              <a:rPr lang="en-IN" dirty="0"/>
              <a:t>and </a:t>
            </a:r>
            <a:r>
              <a:rPr lang="en-IN" b="1" dirty="0"/>
              <a:t>checking</a:t>
            </a:r>
            <a:r>
              <a:rPr lang="en-IN" dirty="0"/>
              <a:t> the value of the </a:t>
            </a:r>
            <a:r>
              <a:rPr lang="en-IN" b="1" dirty="0"/>
              <a:t>flag bit (F)</a:t>
            </a:r>
          </a:p>
          <a:p>
            <a:pPr marL="623888" indent="-173038" algn="just">
              <a:buFont typeface="Arial" panose="020B0604020202020204" pitchFamily="34" charset="0"/>
              <a:buChar char="•"/>
            </a:pPr>
            <a:r>
              <a:rPr lang="en-IN" dirty="0"/>
              <a:t>If </a:t>
            </a:r>
            <a:r>
              <a:rPr lang="en-IN" b="1" dirty="0"/>
              <a:t>F=1</a:t>
            </a:r>
            <a:r>
              <a:rPr lang="en-IN" dirty="0"/>
              <a:t>, the </a:t>
            </a:r>
            <a:r>
              <a:rPr lang="en-IN" b="1" dirty="0"/>
              <a:t>CPU reads </a:t>
            </a:r>
            <a:r>
              <a:rPr lang="en-IN" dirty="0"/>
              <a:t>the </a:t>
            </a:r>
            <a:r>
              <a:rPr lang="en-IN" b="1" dirty="0"/>
              <a:t>data</a:t>
            </a:r>
            <a:r>
              <a:rPr lang="en-IN" dirty="0"/>
              <a:t> from </a:t>
            </a:r>
            <a:r>
              <a:rPr lang="en-IN" b="1" dirty="0"/>
              <a:t>data register. </a:t>
            </a:r>
            <a:r>
              <a:rPr lang="en-IN" dirty="0"/>
              <a:t>F</a:t>
            </a:r>
            <a:r>
              <a:rPr lang="en-IN" b="1" dirty="0"/>
              <a:t>lag bit </a:t>
            </a:r>
            <a:r>
              <a:rPr lang="en-IN" dirty="0"/>
              <a:t>is then  </a:t>
            </a:r>
            <a:r>
              <a:rPr lang="en-IN" b="1" dirty="0"/>
              <a:t>cleared </a:t>
            </a:r>
            <a:r>
              <a:rPr lang="en-IN" dirty="0"/>
              <a:t>to</a:t>
            </a:r>
            <a:r>
              <a:rPr lang="en-IN" b="1" dirty="0"/>
              <a:t> 0 </a:t>
            </a:r>
            <a:r>
              <a:rPr lang="en-IN" dirty="0"/>
              <a:t>by either the </a:t>
            </a:r>
            <a:r>
              <a:rPr lang="en-IN" b="1" dirty="0"/>
              <a:t>CPU</a:t>
            </a:r>
            <a:r>
              <a:rPr lang="en-IN" dirty="0"/>
              <a:t> </a:t>
            </a:r>
            <a:r>
              <a:rPr lang="en-IN" b="1" dirty="0"/>
              <a:t>or</a:t>
            </a:r>
            <a:r>
              <a:rPr lang="en-IN" dirty="0"/>
              <a:t> the </a:t>
            </a:r>
            <a:r>
              <a:rPr lang="en-IN" b="1" dirty="0"/>
              <a:t>interface</a:t>
            </a:r>
            <a:r>
              <a:rPr lang="en-IN" dirty="0"/>
              <a:t> </a:t>
            </a:r>
          </a:p>
          <a:p>
            <a:pPr marL="623888" indent="-173038" algn="just">
              <a:buFont typeface="Arial" panose="020B0604020202020204" pitchFamily="34" charset="0"/>
              <a:buChar char="•"/>
            </a:pPr>
            <a:r>
              <a:rPr lang="en-IN" dirty="0"/>
              <a:t> Once </a:t>
            </a:r>
            <a:r>
              <a:rPr lang="en-IN" b="1" dirty="0"/>
              <a:t>F=0</a:t>
            </a:r>
            <a:r>
              <a:rPr lang="en-IN" dirty="0"/>
              <a:t>, </a:t>
            </a:r>
            <a:r>
              <a:rPr lang="en-IN" b="1" dirty="0"/>
              <a:t>interface</a:t>
            </a:r>
            <a:r>
              <a:rPr lang="en-IN" dirty="0"/>
              <a:t> </a:t>
            </a:r>
            <a:r>
              <a:rPr lang="en-IN" b="1" dirty="0"/>
              <a:t>disables</a:t>
            </a:r>
            <a:r>
              <a:rPr lang="en-IN" dirty="0"/>
              <a:t> the </a:t>
            </a:r>
            <a:r>
              <a:rPr lang="en-IN" b="1" dirty="0"/>
              <a:t>data accepted line</a:t>
            </a:r>
            <a:r>
              <a:rPr lang="en-IN" dirty="0"/>
              <a:t> and </a:t>
            </a:r>
            <a:r>
              <a:rPr lang="en-IN" b="1" dirty="0"/>
              <a:t>device </a:t>
            </a:r>
            <a:r>
              <a:rPr lang="en-IN" dirty="0"/>
              <a:t>can then </a:t>
            </a:r>
            <a:r>
              <a:rPr lang="en-IN" b="1" dirty="0"/>
              <a:t>transfer</a:t>
            </a:r>
            <a:r>
              <a:rPr lang="en-IN" dirty="0"/>
              <a:t> the </a:t>
            </a:r>
            <a:r>
              <a:rPr lang="en-IN" b="1" dirty="0"/>
              <a:t>next data byte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32925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950EA6-C247-45F5-BA18-EE11A40D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857" y="-244475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Interrupt-Initiated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400D64-7F7C-2BE5-B05E-5C699CEB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904" y="737052"/>
            <a:ext cx="9927772" cy="5729061"/>
          </a:xfrm>
        </p:spPr>
        <p:txBody>
          <a:bodyPr>
            <a:normAutofit/>
          </a:bodyPr>
          <a:lstStyle/>
          <a:p>
            <a:pPr marL="342900" marR="319405" lvl="0" indent="-342900" algn="just">
              <a:lnSpc>
                <a:spcPts val="2800"/>
              </a:lnSpc>
              <a:spcBef>
                <a:spcPts val="65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An alternative to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 CPU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constantly monitoring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 flag is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to let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 </a:t>
            </a:r>
            <a:r>
              <a:rPr lang="en-US" sz="1800" i="1" spc="-35" dirty="0">
                <a:effectLst/>
                <a:ea typeface="Arial" panose="020B0604020202020204" pitchFamily="34" charset="0"/>
                <a:cs typeface="Carlito"/>
              </a:rPr>
              <a:t>interface</a:t>
            </a:r>
            <a:r>
              <a:rPr lang="en-US" sz="1800" i="1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i="1" spc="-35" dirty="0">
                <a:effectLst/>
                <a:ea typeface="Arial" panose="020B0604020202020204" pitchFamily="34" charset="0"/>
                <a:cs typeface="Carlito"/>
              </a:rPr>
              <a:t>inform the computer</a:t>
            </a:r>
            <a:r>
              <a:rPr lang="en-US" sz="1800" i="1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i="1" spc="-35" dirty="0">
                <a:effectLst/>
                <a:ea typeface="Arial" panose="020B0604020202020204" pitchFamily="34" charset="0"/>
                <a:cs typeface="Carlito"/>
              </a:rPr>
              <a:t>when it</a:t>
            </a:r>
            <a:r>
              <a:rPr lang="en-US" sz="1800" i="1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i="1" spc="-35" dirty="0">
                <a:effectLst/>
                <a:ea typeface="Arial" panose="020B0604020202020204" pitchFamily="34" charset="0"/>
                <a:cs typeface="Carlito"/>
              </a:rPr>
              <a:t>is ready to </a:t>
            </a:r>
            <a:r>
              <a:rPr lang="en-US" sz="1800" i="1" spc="-15" dirty="0">
                <a:effectLst/>
                <a:ea typeface="Arial" panose="020B0604020202020204" pitchFamily="34" charset="0"/>
                <a:cs typeface="Carlito"/>
              </a:rPr>
              <a:t>transfer</a:t>
            </a:r>
            <a:r>
              <a:rPr lang="en-US" sz="1800" i="1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i="1" spc="-3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.</a:t>
            </a:r>
            <a:r>
              <a:rPr lang="en-IN" sz="1800" spc="-35" dirty="0"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This mode of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uses the </a:t>
            </a:r>
            <a:r>
              <a:rPr lang="en-US" sz="2000" b="1" i="1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2000" b="1" i="1" spc="-2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b="1" i="1" spc="-1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facility.</a:t>
            </a:r>
            <a:endParaRPr lang="en-IN" sz="2000" b="1" i="1" spc="-35" dirty="0">
              <a:solidFill>
                <a:srgbClr val="0070C0"/>
              </a:solidFill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CPU does not check the</a:t>
            </a:r>
            <a:r>
              <a:rPr lang="en-US" sz="1800" spc="-9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flag while executing a program.</a:t>
            </a:r>
            <a:r>
              <a:rPr lang="en-IN" sz="1800" spc="-35" dirty="0"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However,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when flag is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set, it is momentarily interrupted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from proceeding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with current program and is informed of the fact that the flag has been</a:t>
            </a:r>
            <a:r>
              <a:rPr lang="en-US" sz="1800" spc="-10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set.</a:t>
            </a:r>
            <a:endParaRPr lang="en-IN" sz="18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CPU then deviates from what it is doing to 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take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care of the input/output</a:t>
            </a:r>
            <a:r>
              <a:rPr lang="en-US" sz="1800" spc="-1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transfer.</a:t>
            </a:r>
            <a:endParaRPr lang="en-IN" sz="18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61315" lvl="0" indent="-342900" algn="just">
              <a:lnSpc>
                <a:spcPts val="2800"/>
              </a:lnSpc>
              <a:spcBef>
                <a:spcPts val="24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After the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transfer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is completed,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CPU returns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previous program to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continue what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it was doing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before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interrupt.</a:t>
            </a:r>
            <a:endParaRPr lang="en-IN" sz="18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739140" lvl="0" indent="-342900" algn="just">
              <a:lnSpc>
                <a:spcPts val="28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CPU responds to the interrupt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signal by storing the return</a:t>
            </a:r>
            <a:r>
              <a:rPr lang="en-US" sz="1800" spc="-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address from PC into stack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control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branches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service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routine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that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processes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required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I/O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transfer.</a:t>
            </a:r>
            <a:endParaRPr lang="en-IN" sz="18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There are two methods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for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getting the branch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address.</a:t>
            </a:r>
            <a:r>
              <a:rPr lang="en-IN" sz="1800" spc="-35" dirty="0">
                <a:ea typeface="Arial" panose="020B0604020202020204" pitchFamily="34" charset="0"/>
                <a:cs typeface="Carlito"/>
              </a:rPr>
              <a:t> </a:t>
            </a:r>
          </a:p>
          <a:p>
            <a:pPr lvl="1" algn="just">
              <a:buFont typeface="System Font Regular"/>
              <a:buChar char="⁃"/>
            </a:pPr>
            <a:r>
              <a:rPr lang="en-IN" sz="1800" b="1" dirty="0"/>
              <a:t>Non-Vectored Interrupt:</a:t>
            </a:r>
            <a:r>
              <a:rPr lang="en-IN" sz="1800" dirty="0"/>
              <a:t>  the </a:t>
            </a:r>
            <a:r>
              <a:rPr lang="en-IN" sz="1800" b="1" dirty="0"/>
              <a:t>branch address </a:t>
            </a:r>
            <a:r>
              <a:rPr lang="en-IN" sz="1800" dirty="0"/>
              <a:t>is assigned to a </a:t>
            </a:r>
            <a:r>
              <a:rPr lang="en-IN" sz="1800" b="1" dirty="0"/>
              <a:t>FIXED LOCATION in memory.</a:t>
            </a:r>
          </a:p>
          <a:p>
            <a:pPr lvl="1" algn="just">
              <a:buFont typeface="System Font Regular"/>
              <a:buChar char="⁃"/>
            </a:pPr>
            <a:r>
              <a:rPr lang="en-IN" sz="1800" b="1" dirty="0"/>
              <a:t>Vectored Interrupt:</a:t>
            </a:r>
            <a:r>
              <a:rPr lang="en-IN" sz="1800" dirty="0"/>
              <a:t> the </a:t>
            </a:r>
            <a:r>
              <a:rPr lang="en-IN" sz="1800" b="1" dirty="0"/>
              <a:t>SOURCE </a:t>
            </a:r>
            <a:r>
              <a:rPr lang="en-IN" sz="1800" dirty="0"/>
              <a:t>(that interrupts) </a:t>
            </a:r>
            <a:r>
              <a:rPr lang="en-IN" sz="1800" b="1" dirty="0"/>
              <a:t>SUPPLIES</a:t>
            </a:r>
            <a:r>
              <a:rPr lang="en-IN" sz="1800" dirty="0"/>
              <a:t> the </a:t>
            </a:r>
            <a:r>
              <a:rPr lang="en-IN" sz="1800" b="1" dirty="0"/>
              <a:t>branch information </a:t>
            </a:r>
            <a:r>
              <a:rPr lang="en-IN" sz="1800" dirty="0"/>
              <a:t>to the computer. This information is called the </a:t>
            </a:r>
            <a:r>
              <a:rPr lang="en-IN" sz="1800" b="1" dirty="0"/>
              <a:t>INTERRUPT VECTOR. </a:t>
            </a:r>
            <a:r>
              <a:rPr lang="en-IN" sz="1800" dirty="0"/>
              <a:t>It is </a:t>
            </a:r>
            <a:r>
              <a:rPr lang="en-IN" sz="1800" b="1" dirty="0"/>
              <a:t>First address </a:t>
            </a:r>
            <a:r>
              <a:rPr lang="en-IN" sz="1800" dirty="0"/>
              <a:t>of the </a:t>
            </a:r>
            <a:r>
              <a:rPr lang="en-IN" sz="1800" b="1" dirty="0"/>
              <a:t>I/O service routine.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9076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BEA951-6266-CAAE-41BF-F4103521C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5360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Priority Interrupt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8BCB13-CBAF-F9F8-B451-5FB5DF9A0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905" y="806552"/>
            <a:ext cx="9886742" cy="4351338"/>
          </a:xfrm>
        </p:spPr>
        <p:txBody>
          <a:bodyPr>
            <a:noAutofit/>
          </a:bodyPr>
          <a:lstStyle/>
          <a:p>
            <a:pPr marL="231775" marR="359410" lvl="0" indent="-231775" algn="just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typical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application,</a:t>
            </a:r>
            <a:r>
              <a:rPr lang="en-US" sz="2000" spc="-25" dirty="0">
                <a:ea typeface="Arial" panose="020B0604020202020204" pitchFamily="34" charset="0"/>
                <a:cs typeface="Carlito"/>
              </a:rPr>
              <a:t> with multiple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I/O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devices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attached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CPU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,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each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originates an interrupt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request.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lvl="0" indent="-231775" algn="just">
              <a:lnSpc>
                <a:spcPct val="100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 Interrupt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system </a:t>
            </a:r>
            <a:r>
              <a:rPr lang="en-US" sz="2000" spc="-45" dirty="0">
                <a:ea typeface="Arial" panose="020B0604020202020204" pitchFamily="34" charset="0"/>
                <a:cs typeface="Carlito"/>
              </a:rPr>
              <a:t>ha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 to first identify the source of interrupt</a:t>
            </a:r>
            <a:r>
              <a:rPr lang="en-US" sz="2000" spc="-45" dirty="0">
                <a:ea typeface="Arial" panose="020B0604020202020204" pitchFamily="34" charset="0"/>
                <a:cs typeface="Carlito"/>
              </a:rPr>
              <a:t> a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nd also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decide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which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to service</a:t>
            </a:r>
            <a:r>
              <a:rPr lang="en-US" sz="2000" spc="-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first.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marR="833755" lvl="0" indent="-231775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b="1" spc="-45" dirty="0">
                <a:ea typeface="Arial" panose="020B0604020202020204" pitchFamily="34" charset="0"/>
                <a:cs typeface="Carlito"/>
              </a:rPr>
              <a:t>P</a:t>
            </a:r>
            <a:r>
              <a:rPr lang="en-US" sz="2000" b="1" spc="-45" dirty="0">
                <a:effectLst/>
                <a:ea typeface="Arial" panose="020B0604020202020204" pitchFamily="34" charset="0"/>
                <a:cs typeface="Carlito"/>
              </a:rPr>
              <a:t>riority</a:t>
            </a:r>
            <a:r>
              <a:rPr lang="en-US" sz="2000" b="1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b="1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2000" b="1" spc="-20" dirty="0">
                <a:effectLst/>
                <a:ea typeface="Arial" panose="020B0604020202020204" pitchFamily="34" charset="0"/>
                <a:cs typeface="Carlito"/>
              </a:rPr>
              <a:t> -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system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that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establishes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priority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over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various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sources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determine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which condition is to be serviced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first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when two or more requests arrive</a:t>
            </a:r>
            <a:r>
              <a:rPr lang="en-US" sz="2000" spc="-1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simultaneously.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marR="641350" lvl="0" indent="-231775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It also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determines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which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conditions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are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permitted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CPU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while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another interrupt is being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serviced.</a:t>
            </a:r>
          </a:p>
          <a:p>
            <a:pPr marL="231775" marR="641350" lvl="0" indent="-231775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marR="614680" lvl="0" indent="-231775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Devices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with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high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speed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transfers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such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as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magnetic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disks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are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given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high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priority,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slow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devices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such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as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keyboards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receive low</a:t>
            </a:r>
            <a:r>
              <a:rPr lang="en-US" sz="2000" spc="-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priority.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marR="711200" lvl="0" indent="-231775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When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two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devices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CPU at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same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time,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CPU services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with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 higher priority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 first.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231775" lvl="0" indent="-231775" algn="just">
              <a:lnSpc>
                <a:spcPct val="100000"/>
              </a:lnSpc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Methods: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715963" lvl="0" indent="-358775" algn="just">
              <a:lnSpc>
                <a:spcPct val="100000"/>
              </a:lnSpc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</a:tabLst>
            </a:pPr>
            <a:r>
              <a:rPr lang="en-US" sz="2000" b="1" i="1" spc="-30" dirty="0">
                <a:effectLst/>
                <a:ea typeface="Carlito"/>
                <a:cs typeface="Carlito"/>
              </a:rPr>
              <a:t>Software –</a:t>
            </a:r>
            <a:r>
              <a:rPr lang="en-US" sz="2000" b="1" i="1" spc="-15" dirty="0">
                <a:effectLst/>
                <a:ea typeface="Carlito"/>
                <a:cs typeface="Carlito"/>
              </a:rPr>
              <a:t> </a:t>
            </a:r>
            <a:r>
              <a:rPr lang="en-US" sz="2000" b="1" spc="-30" dirty="0">
                <a:effectLst/>
                <a:ea typeface="Carlito"/>
                <a:cs typeface="Carlito"/>
              </a:rPr>
              <a:t>Polling</a:t>
            </a:r>
            <a:endParaRPr lang="en-IN" sz="2000" b="1" spc="-30" dirty="0">
              <a:ea typeface="Carlito"/>
              <a:cs typeface="Carlito"/>
            </a:endParaRPr>
          </a:p>
          <a:p>
            <a:pPr marL="715963" lvl="0" indent="-358775" algn="just">
              <a:lnSpc>
                <a:spcPct val="100000"/>
              </a:lnSpc>
              <a:spcBef>
                <a:spcPts val="240"/>
              </a:spcBef>
              <a:buSzPts val="1400"/>
              <a:buFont typeface="Carlito"/>
              <a:buAutoNum type="arabicPeriod"/>
              <a:tabLst>
                <a:tab pos="1031875" algn="l"/>
              </a:tabLst>
            </a:pPr>
            <a:r>
              <a:rPr lang="en-US" sz="2000" b="1" i="1" dirty="0">
                <a:effectLst/>
                <a:ea typeface="Carlito"/>
                <a:cs typeface="Carlito"/>
              </a:rPr>
              <a:t>Hardware - </a:t>
            </a:r>
            <a:r>
              <a:rPr lang="en-US" sz="2000" b="1" dirty="0">
                <a:effectLst/>
                <a:ea typeface="Carlito"/>
                <a:cs typeface="Carlito"/>
              </a:rPr>
              <a:t>Daisy chaining, Parallel </a:t>
            </a:r>
            <a:r>
              <a:rPr lang="en-US" sz="2000" b="1" spc="-15" dirty="0">
                <a:effectLst/>
                <a:ea typeface="Carlito"/>
                <a:cs typeface="Carlito"/>
              </a:rPr>
              <a:t>Priority.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70230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514EAA-DE9C-72F5-8513-DCAB6E2F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6246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Polling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FEC8E0-89F2-818D-EA69-6FC61D283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713705"/>
            <a:ext cx="10145486" cy="5455739"/>
          </a:xfrm>
        </p:spPr>
        <p:txBody>
          <a:bodyPr>
            <a:noAutofit/>
          </a:bodyPr>
          <a:lstStyle/>
          <a:p>
            <a:pPr marL="342900" lvl="0" indent="-342900" algn="just">
              <a:spcBef>
                <a:spcPts val="65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615315" algn="l"/>
                <a:tab pos="615950" algn="l"/>
              </a:tabLst>
            </a:pPr>
            <a:r>
              <a:rPr lang="en-US" sz="1900" spc="-45" dirty="0">
                <a:ea typeface="Arial" panose="020B0604020202020204" pitchFamily="34" charset="0"/>
                <a:cs typeface="Carlito"/>
              </a:rPr>
              <a:t>Polling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identifies the highest-priority source by software</a:t>
            </a:r>
            <a:r>
              <a:rPr lang="en-US" sz="1900" spc="-14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means.</a:t>
            </a:r>
            <a:endParaRPr lang="en-IN" sz="19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 this method, there is one common branch address </a:t>
            </a:r>
            <a:r>
              <a:rPr lang="en-US" sz="1900" spc="-15" dirty="0">
                <a:effectLst/>
                <a:ea typeface="Arial" panose="020B0604020202020204" pitchFamily="34" charset="0"/>
                <a:cs typeface="Carlito"/>
              </a:rPr>
              <a:t>for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all</a:t>
            </a:r>
            <a:r>
              <a:rPr lang="en-US" sz="1900" spc="-7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interrupts.</a:t>
            </a:r>
            <a:endParaRPr lang="en-IN" sz="19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664210" lvl="0" indent="-342900" algn="just">
              <a:lnSpc>
                <a:spcPct val="113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program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that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15" dirty="0">
                <a:effectLst/>
                <a:ea typeface="Arial" panose="020B0604020202020204" pitchFamily="34" charset="0"/>
                <a:cs typeface="Carlito"/>
              </a:rPr>
              <a:t>takes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care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of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interrupts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begins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at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branch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address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polls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interrupt sources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 sequence.</a:t>
            </a:r>
            <a:endParaRPr lang="en-IN" sz="1900" spc="-45" dirty="0">
              <a:ea typeface="Arial" panose="020B0604020202020204" pitchFamily="34" charset="0"/>
              <a:cs typeface="Carlito"/>
            </a:endParaRPr>
          </a:p>
          <a:p>
            <a:pPr marL="342900" marR="664210" lvl="0" indent="-342900" algn="just">
              <a:lnSpc>
                <a:spcPct val="113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The order in which they are </a:t>
            </a:r>
            <a:r>
              <a:rPr lang="en-US" sz="1900" spc="-15" dirty="0">
                <a:effectLst/>
                <a:ea typeface="Arial" panose="020B0604020202020204" pitchFamily="34" charset="0"/>
                <a:cs typeface="Carlito"/>
              </a:rPr>
              <a:t>tested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determines the priority of each</a:t>
            </a:r>
            <a:r>
              <a:rPr lang="en-US" sz="1900" spc="-9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interrupt.</a:t>
            </a:r>
            <a:endParaRPr lang="en-IN" sz="19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28930" lvl="0" indent="-342900" algn="just">
              <a:lnSpc>
                <a:spcPct val="113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highest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priority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source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15" dirty="0">
                <a:effectLst/>
                <a:ea typeface="Arial" panose="020B0604020202020204" pitchFamily="34" charset="0"/>
                <a:cs typeface="Carlito"/>
              </a:rPr>
              <a:t>tested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10" dirty="0">
                <a:effectLst/>
                <a:ea typeface="Arial" panose="020B0604020202020204" pitchFamily="34" charset="0"/>
                <a:cs typeface="Carlito"/>
              </a:rPr>
              <a:t>first,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if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signal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ON,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control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branches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service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routine </a:t>
            </a:r>
            <a:r>
              <a:rPr lang="en-US" sz="1900" spc="-15" dirty="0">
                <a:effectLst/>
                <a:ea typeface="Arial" panose="020B0604020202020204" pitchFamily="34" charset="0"/>
                <a:cs typeface="Carlito"/>
              </a:rPr>
              <a:t>for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this source else </a:t>
            </a:r>
            <a:r>
              <a:rPr lang="en-US" sz="1900" spc="-15" dirty="0">
                <a:effectLst/>
                <a:ea typeface="Arial" panose="020B0604020202020204" pitchFamily="34" charset="0"/>
                <a:cs typeface="Carlito"/>
              </a:rPr>
              <a:t>next-lower-priority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source is </a:t>
            </a:r>
            <a:r>
              <a:rPr lang="en-US" sz="1900" spc="-15" dirty="0">
                <a:effectLst/>
                <a:ea typeface="Arial" panose="020B0604020202020204" pitchFamily="34" charset="0"/>
                <a:cs typeface="Carlito"/>
              </a:rPr>
              <a:t>tested,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and so</a:t>
            </a:r>
            <a:r>
              <a:rPr lang="en-US" sz="1900" spc="-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on.</a:t>
            </a:r>
            <a:endParaRPr lang="en-IN" sz="19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60363" marR="461010" lvl="0" indent="-42863" algn="just">
              <a:lnSpc>
                <a:spcPct val="113000"/>
              </a:lnSpc>
              <a:spcBef>
                <a:spcPts val="240"/>
              </a:spcBef>
              <a:buSzPts val="1400"/>
              <a:buNone/>
              <a:tabLst>
                <a:tab pos="346075" algn="l"/>
                <a:tab pos="574675" algn="l"/>
              </a:tabLst>
            </a:pPr>
            <a:r>
              <a:rPr lang="en-US" sz="1900" b="1" spc="-45" dirty="0">
                <a:effectLst/>
                <a:ea typeface="Arial" panose="020B0604020202020204" pitchFamily="34" charset="0"/>
                <a:cs typeface="Carlito"/>
              </a:rPr>
              <a:t>	Disadvantage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: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If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there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are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many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interrupts,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9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time</a:t>
            </a:r>
            <a:r>
              <a:rPr lang="en-US" sz="1900" b="1" i="1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required</a:t>
            </a:r>
            <a:r>
              <a:rPr lang="en-US" sz="1900" b="1" i="1" spc="-30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900" b="1" i="1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poll</a:t>
            </a:r>
            <a:r>
              <a:rPr lang="en-US" sz="1900" b="1" i="1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them</a:t>
            </a:r>
            <a:r>
              <a:rPr lang="en-US" sz="1900" b="1" i="1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can</a:t>
            </a:r>
            <a:r>
              <a:rPr lang="en-US" sz="1900" b="1" i="1" spc="-30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1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exceed</a:t>
            </a:r>
            <a:r>
              <a:rPr lang="en-US" sz="1900" b="1" i="1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900" b="1" i="1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time</a:t>
            </a:r>
            <a:r>
              <a:rPr lang="en-US" sz="1900" b="1" i="1" spc="-3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i="1" spc="-45" dirty="0">
                <a:solidFill>
                  <a:srgbClr val="0070C0"/>
                </a:solidFill>
                <a:effectLst/>
                <a:ea typeface="Arial" panose="020B0604020202020204" pitchFamily="34" charset="0"/>
                <a:cs typeface="Carlito"/>
              </a:rPr>
              <a:t>to service the I/O device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. To avoid this a hardware priority-interrupt unit can be used to speed up the operation.</a:t>
            </a:r>
            <a:endParaRPr lang="en-IN" sz="19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481965" lvl="0" indent="-342900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endParaRPr lang="en-US" sz="1900" b="1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481965" lvl="0" indent="-342900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900" b="1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1900" b="1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spc="-45" dirty="0">
                <a:effectLst/>
                <a:ea typeface="Arial" panose="020B0604020202020204" pitchFamily="34" charset="0"/>
                <a:cs typeface="Carlito"/>
              </a:rPr>
              <a:t>hardware</a:t>
            </a:r>
            <a:r>
              <a:rPr lang="en-US" sz="1900" b="1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b="1" spc="-45" dirty="0">
                <a:effectLst/>
                <a:ea typeface="Arial" panose="020B0604020202020204" pitchFamily="34" charset="0"/>
                <a:cs typeface="Carlito"/>
              </a:rPr>
              <a:t>priority-interrupt</a:t>
            </a:r>
            <a:r>
              <a:rPr lang="en-US" sz="1900" b="1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unit</a:t>
            </a:r>
            <a:r>
              <a:rPr lang="en-US" sz="19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accepts</a:t>
            </a:r>
            <a:r>
              <a:rPr lang="en-US" sz="19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interrupt requests</a:t>
            </a:r>
            <a:r>
              <a:rPr lang="en-US" sz="19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from many</a:t>
            </a:r>
            <a:r>
              <a:rPr lang="en-US" sz="19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sources, determines</a:t>
            </a:r>
            <a:r>
              <a:rPr lang="en-US" sz="19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which of</a:t>
            </a:r>
            <a:r>
              <a:rPr lang="en-US" sz="1900" spc="-5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the incoming requests has the highest </a:t>
            </a:r>
            <a:r>
              <a:rPr lang="en-US" sz="1900" spc="-15" dirty="0">
                <a:effectLst/>
                <a:ea typeface="Arial" panose="020B0604020202020204" pitchFamily="34" charset="0"/>
                <a:cs typeface="Carlito"/>
              </a:rPr>
              <a:t>priority,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and issues an interrupt request to the computer based on this determination.</a:t>
            </a:r>
            <a:endParaRPr lang="en-IN" sz="19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802640" lvl="0" indent="-342900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900" spc="-6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speed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up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operation,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each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source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has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own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vector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9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access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own</a:t>
            </a:r>
            <a:r>
              <a:rPr lang="en-US" sz="19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service routine </a:t>
            </a:r>
            <a:r>
              <a:rPr lang="en-US" sz="1900" spc="-20" dirty="0">
                <a:effectLst/>
                <a:ea typeface="Arial" panose="020B0604020202020204" pitchFamily="34" charset="0"/>
                <a:cs typeface="Carlito"/>
              </a:rPr>
              <a:t>directly.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Thus, no polling is</a:t>
            </a:r>
            <a:r>
              <a:rPr lang="en-US" sz="19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900" spc="-45" dirty="0">
                <a:effectLst/>
                <a:ea typeface="Arial" panose="020B0604020202020204" pitchFamily="34" charset="0"/>
                <a:cs typeface="Carlito"/>
              </a:rPr>
              <a:t>required.</a:t>
            </a:r>
            <a:endParaRPr lang="en-IN" sz="1900" spc="-45" dirty="0">
              <a:effectLst/>
              <a:ea typeface="Arial" panose="020B0604020202020204" pitchFamily="34" charset="0"/>
              <a:cs typeface="Carlito"/>
            </a:endParaRPr>
          </a:p>
          <a:p>
            <a:pPr algn="just"/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476044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47F4E0-AB67-29D4-6235-645984D4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36310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Daisy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D3057C-75B3-860B-7AD7-AB58A1F88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85" y="823745"/>
            <a:ext cx="9808030" cy="4351338"/>
          </a:xfrm>
        </p:spPr>
        <p:txBody>
          <a:bodyPr>
            <a:normAutofit/>
          </a:bodyPr>
          <a:lstStyle/>
          <a:p>
            <a:pPr marL="342900" lvl="0" indent="-342900" algn="just">
              <a:spcBef>
                <a:spcPts val="65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hardware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priority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function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can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be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established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by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either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serial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or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parallel</a:t>
            </a:r>
            <a:r>
              <a:rPr lang="en-US" sz="2000" spc="-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connection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of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lines.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 serial connection is also known as the </a:t>
            </a:r>
            <a:r>
              <a:rPr lang="en-US" sz="2000" b="1" spc="-45" dirty="0">
                <a:effectLst/>
                <a:ea typeface="Arial" panose="020B0604020202020204" pitchFamily="34" charset="0"/>
                <a:cs typeface="Carlito"/>
              </a:rPr>
              <a:t>daisy chaining</a:t>
            </a:r>
            <a:r>
              <a:rPr lang="en-US" sz="2000" b="1" spc="-5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method.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It consists of a serial connection of all devices that request an</a:t>
            </a:r>
            <a:r>
              <a:rPr lang="en-US" sz="2000" spc="-1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interrupt.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14960" lvl="0" indent="-342900" algn="just">
              <a:lnSpc>
                <a:spcPct val="113000"/>
              </a:lnSpc>
              <a:spcBef>
                <a:spcPts val="24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with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highest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priority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placed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first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position,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followed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by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lower-priority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devices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up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the device with the lowest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priority,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which is placed last in the</a:t>
            </a:r>
            <a:r>
              <a:rPr lang="en-US" sz="2000" spc="-7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chain.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algn="just"/>
            <a:endParaRPr lang="en-US" sz="3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B19C139E-01A3-7039-A102-4D6860E12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4503" y="2796040"/>
            <a:ext cx="774382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9474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4302E5-AD4C-31B4-A439-CAD53D165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0577" y="725382"/>
            <a:ext cx="10221685" cy="435133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43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interrupt request line</a:t>
            </a:r>
            <a:r>
              <a:rPr lang="en-US" sz="1800" b="1" i="1" spc="-45" dirty="0">
                <a:effectLst/>
                <a:ea typeface="Arial" panose="020B0604020202020204" pitchFamily="34" charset="0"/>
                <a:cs typeface="Carlito"/>
              </a:rPr>
              <a:t>(INT)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 common to all devices and forms a wired logic</a:t>
            </a:r>
            <a:r>
              <a:rPr lang="en-US" sz="1800" spc="-16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connection.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530225" lvl="0" indent="-342900" algn="just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If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any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has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signal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low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state,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line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goes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low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state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and enables the interrupt input in CPU.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986155" lvl="0" indent="-34290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When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no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interrupts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are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pending,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line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stays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high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state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no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interrupts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are recognized by the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CPU.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CPU responds to an interrupt request by enabling the interrupt acknowledge</a:t>
            </a:r>
            <a:r>
              <a:rPr lang="en-US" sz="1800" spc="-14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line</a:t>
            </a:r>
            <a:r>
              <a:rPr lang="en-US" sz="1800" b="1" i="1" spc="-45" dirty="0">
                <a:effectLst/>
                <a:ea typeface="Arial" panose="020B0604020202020204" pitchFamily="34" charset="0"/>
                <a:cs typeface="Carlito"/>
              </a:rPr>
              <a:t>(INT ACK).</a:t>
            </a:r>
            <a:endParaRPr lang="en-IN" sz="1800" b="1" i="1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This signal is received by device 1 at its </a:t>
            </a:r>
            <a:r>
              <a:rPr lang="en-US" sz="1800" b="1" i="1" spc="-45" dirty="0">
                <a:effectLst/>
                <a:ea typeface="Arial" panose="020B0604020202020204" pitchFamily="34" charset="0"/>
                <a:cs typeface="Carlito"/>
              </a:rPr>
              <a:t>PI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(priority in)</a:t>
            </a:r>
            <a:r>
              <a:rPr lang="en-US" sz="1800" spc="-9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input.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463550" lvl="0" indent="-342900" algn="just">
              <a:lnSpc>
                <a:spcPct val="100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acknowledge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signal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passes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next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through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b="1" i="1" spc="-45" dirty="0">
                <a:effectLst/>
                <a:ea typeface="Arial" panose="020B0604020202020204" pitchFamily="34" charset="0"/>
                <a:cs typeface="Carlito"/>
              </a:rPr>
              <a:t>PO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(priority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out)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output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only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if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1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 not requesting an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interrupt.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297815" lvl="0" indent="-342900" algn="just">
              <a:lnSpc>
                <a:spcPct val="100000"/>
              </a:lnSpc>
              <a:spcBef>
                <a:spcPts val="43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If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1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has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pending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interrupt,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blocks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acknowledge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signal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from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next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by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placing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0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 PO</a:t>
            </a:r>
            <a:r>
              <a:rPr lang="en-US" sz="1800" spc="-1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output.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424815" lvl="0" indent="-34290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proceeds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insert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own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vector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address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20" dirty="0">
                <a:effectLst/>
                <a:ea typeface="Arial" panose="020B0604020202020204" pitchFamily="34" charset="0"/>
                <a:cs typeface="Carlito"/>
              </a:rPr>
              <a:t>(VAD)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data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bus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for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CPU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use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during the interrupt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cycle.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556895" lvl="0" indent="-34290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 device with a 0 in its PI input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generates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 0 in its PO output to inform the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next-lower-priority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device that the acknowledge signal has been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blocked.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602615" lvl="0" indent="-342900" algn="just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device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that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is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requesting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interrupt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and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has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1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its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PI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input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will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intercept</a:t>
            </a:r>
            <a:r>
              <a:rPr lang="en-US" sz="1800" spc="-3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the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acknowledge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signal</a:t>
            </a:r>
            <a:r>
              <a:rPr lang="en-US" sz="1800" spc="-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by placing a 0 in its PO</a:t>
            </a:r>
            <a:r>
              <a:rPr lang="en-US" sz="1800" spc="-3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output.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If the device does not </a:t>
            </a:r>
            <a:r>
              <a:rPr lang="en-US" sz="1800" spc="-15" dirty="0">
                <a:effectLst/>
                <a:ea typeface="Arial" panose="020B0604020202020204" pitchFamily="34" charset="0"/>
                <a:cs typeface="Carlito"/>
              </a:rPr>
              <a:t>have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pending interrupts, it transmits the acknowledge signal to the next</a:t>
            </a:r>
            <a:r>
              <a:rPr lang="en-US" sz="1800" spc="-22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ea typeface="Arial" panose="020B0604020202020204" pitchFamily="34" charset="0"/>
                <a:cs typeface="Carlito"/>
              </a:rPr>
              <a:t>device.</a:t>
            </a:r>
            <a:endParaRPr lang="en-IN" sz="1800" spc="-45" dirty="0">
              <a:effectLst/>
              <a:ea typeface="Arial" panose="020B0604020202020204" pitchFamily="34" charset="0"/>
              <a:cs typeface="Carlito"/>
            </a:endParaRPr>
          </a:p>
          <a:p>
            <a:pPr algn="just">
              <a:lnSpc>
                <a:spcPct val="10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85498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461" y="693033"/>
            <a:ext cx="9918926" cy="216816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1800" dirty="0"/>
              <a:t>This method uses a register whose </a:t>
            </a:r>
            <a:r>
              <a:rPr lang="en-IN" sz="1800" b="1" dirty="0"/>
              <a:t>bits are set SEPARATELY </a:t>
            </a:r>
            <a:r>
              <a:rPr lang="en-IN" sz="1800" dirty="0"/>
              <a:t>by the </a:t>
            </a:r>
            <a:r>
              <a:rPr lang="en-IN" sz="1800" b="1" dirty="0"/>
              <a:t>interrupt signal </a:t>
            </a:r>
            <a:r>
              <a:rPr lang="en-IN" sz="1800" dirty="0"/>
              <a:t>from each device.</a:t>
            </a:r>
          </a:p>
          <a:p>
            <a:pPr algn="just">
              <a:lnSpc>
                <a:spcPct val="100000"/>
              </a:lnSpc>
            </a:pPr>
            <a:r>
              <a:rPr lang="en-IN" sz="1800" b="1" dirty="0"/>
              <a:t>Priority logic </a:t>
            </a:r>
            <a:r>
              <a:rPr lang="en-IN" sz="1800" dirty="0"/>
              <a:t>for a system of </a:t>
            </a:r>
            <a:r>
              <a:rPr lang="en-IN" sz="1800" b="1" dirty="0"/>
              <a:t>four interrupt sources </a:t>
            </a:r>
            <a:r>
              <a:rPr lang="en-IN" sz="1800" dirty="0"/>
              <a:t>is shown in Fig. </a:t>
            </a:r>
          </a:p>
          <a:p>
            <a:pPr algn="just">
              <a:lnSpc>
                <a:spcPct val="100000"/>
              </a:lnSpc>
            </a:pPr>
            <a:r>
              <a:rPr lang="en-IN" sz="1800" b="1" dirty="0"/>
              <a:t>INTERRUPT REGISTER : </a:t>
            </a:r>
            <a:r>
              <a:rPr lang="en-IN" sz="1800" dirty="0"/>
              <a:t>individual bits are </a:t>
            </a:r>
            <a:r>
              <a:rPr lang="en-IN" sz="1800" b="1" dirty="0"/>
              <a:t>set</a:t>
            </a:r>
            <a:r>
              <a:rPr lang="en-IN" sz="1800" dirty="0"/>
              <a:t> by </a:t>
            </a:r>
            <a:r>
              <a:rPr lang="en-IN" sz="1800" b="1" dirty="0"/>
              <a:t>external conditions </a:t>
            </a:r>
            <a:r>
              <a:rPr lang="en-IN" sz="1800" dirty="0"/>
              <a:t>and </a:t>
            </a:r>
            <a:r>
              <a:rPr lang="en-IN" sz="1800" b="1" dirty="0"/>
              <a:t>cleared</a:t>
            </a:r>
            <a:r>
              <a:rPr lang="en-IN" sz="1800" dirty="0"/>
              <a:t> by </a:t>
            </a:r>
            <a:r>
              <a:rPr lang="en-IN" sz="1800" b="1" dirty="0"/>
              <a:t>PROGRAM instructions</a:t>
            </a:r>
            <a:endParaRPr lang="en-IN" sz="1800" dirty="0"/>
          </a:p>
          <a:p>
            <a:pPr marL="447675" lvl="1" indent="-174625" algn="just">
              <a:lnSpc>
                <a:spcPct val="100000"/>
              </a:lnSpc>
              <a:spcBef>
                <a:spcPts val="0"/>
              </a:spcBef>
            </a:pPr>
            <a:r>
              <a:rPr lang="en-IN" sz="1800" b="1" dirty="0"/>
              <a:t>Priority  order High to Low  </a:t>
            </a:r>
            <a:r>
              <a:rPr lang="en-IN" sz="1800" dirty="0">
                <a:sym typeface="Wingdings" pitchFamily="2" charset="2"/>
              </a:rPr>
              <a:t></a:t>
            </a:r>
            <a:r>
              <a:rPr lang="en-IN" sz="1800" dirty="0"/>
              <a:t> magnetic disk (high-speed device), printer, character reader, keyboard</a:t>
            </a:r>
          </a:p>
        </p:txBody>
      </p:sp>
      <p:grpSp>
        <p:nvGrpSpPr>
          <p:cNvPr id="4" name="Group 211"/>
          <p:cNvGrpSpPr>
            <a:grpSpLocks/>
          </p:cNvGrpSpPr>
          <p:nvPr/>
        </p:nvGrpSpPr>
        <p:grpSpPr bwMode="auto">
          <a:xfrm>
            <a:off x="4789395" y="2322613"/>
            <a:ext cx="6969606" cy="3981184"/>
            <a:chOff x="394" y="489"/>
            <a:chExt cx="3937" cy="2181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394" y="1385"/>
              <a:ext cx="1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965" y="1831"/>
              <a:ext cx="322" cy="28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Mask</a:t>
              </a:r>
            </a:p>
            <a:p>
              <a:pPr defTabSz="617538" latinLnBrk="1"/>
              <a:endParaRPr lang="en-US" altLang="ko-KR" sz="1400" b="1">
                <a:solidFill>
                  <a:srgbClr val="C00000"/>
                </a:solidFill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917" y="1910"/>
              <a:ext cx="414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register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855" y="2388"/>
              <a:ext cx="399" cy="28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INTACK</a:t>
              </a:r>
            </a:p>
            <a:p>
              <a:pPr defTabSz="617538"/>
              <a:endParaRPr lang="en-US" altLang="ko-KR" sz="1400" b="1">
                <a:solidFill>
                  <a:srgbClr val="C00000"/>
                </a:solidFill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828" y="2477"/>
              <a:ext cx="494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from CPU</a:t>
              </a:r>
            </a:p>
          </p:txBody>
        </p:sp>
        <p:grpSp>
          <p:nvGrpSpPr>
            <p:cNvPr id="10" name="Group 178"/>
            <p:cNvGrpSpPr>
              <a:grpSpLocks/>
            </p:cNvGrpSpPr>
            <p:nvPr/>
          </p:nvGrpSpPr>
          <p:grpSpPr bwMode="auto">
            <a:xfrm>
              <a:off x="2232" y="702"/>
              <a:ext cx="210" cy="144"/>
              <a:chOff x="1966" y="1414"/>
              <a:chExt cx="193" cy="165"/>
            </a:xfrm>
          </p:grpSpPr>
          <p:sp>
            <p:nvSpPr>
              <p:cNvPr id="169" name="Line 10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70" name="Line 11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71" name="Arc 12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72" name="Arc 13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73" name="Line 14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>
              <a:off x="2449" y="774"/>
              <a:ext cx="1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2" name="Line 17"/>
            <p:cNvSpPr>
              <a:spLocks noChangeShapeType="1"/>
            </p:cNvSpPr>
            <p:nvPr/>
          </p:nvSpPr>
          <p:spPr bwMode="auto">
            <a:xfrm flipH="1">
              <a:off x="1593" y="736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 flipH="1">
              <a:off x="1821" y="811"/>
              <a:ext cx="41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4" name="Line 25"/>
            <p:cNvSpPr>
              <a:spLocks noChangeShapeType="1"/>
            </p:cNvSpPr>
            <p:nvPr/>
          </p:nvSpPr>
          <p:spPr bwMode="auto">
            <a:xfrm flipV="1">
              <a:off x="2436" y="988"/>
              <a:ext cx="158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 flipH="1">
              <a:off x="1593" y="952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 flipH="1">
              <a:off x="1908" y="1026"/>
              <a:ext cx="33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7" name="Line 34"/>
            <p:cNvSpPr>
              <a:spLocks noChangeShapeType="1"/>
            </p:cNvSpPr>
            <p:nvPr/>
          </p:nvSpPr>
          <p:spPr bwMode="auto">
            <a:xfrm flipV="1">
              <a:off x="2449" y="1204"/>
              <a:ext cx="139" cy="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8" name="Line 35"/>
            <p:cNvSpPr>
              <a:spLocks noChangeShapeType="1"/>
            </p:cNvSpPr>
            <p:nvPr/>
          </p:nvSpPr>
          <p:spPr bwMode="auto">
            <a:xfrm flipH="1">
              <a:off x="1593" y="1166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9" name="Line 36"/>
            <p:cNvSpPr>
              <a:spLocks noChangeShapeType="1"/>
            </p:cNvSpPr>
            <p:nvPr/>
          </p:nvSpPr>
          <p:spPr bwMode="auto">
            <a:xfrm flipH="1">
              <a:off x="1993" y="1242"/>
              <a:ext cx="2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20" name="Line 43"/>
            <p:cNvSpPr>
              <a:spLocks noChangeShapeType="1"/>
            </p:cNvSpPr>
            <p:nvPr/>
          </p:nvSpPr>
          <p:spPr bwMode="auto">
            <a:xfrm>
              <a:off x="2439" y="1419"/>
              <a:ext cx="15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21" name="Line 44"/>
            <p:cNvSpPr>
              <a:spLocks noChangeShapeType="1"/>
            </p:cNvSpPr>
            <p:nvPr/>
          </p:nvSpPr>
          <p:spPr bwMode="auto">
            <a:xfrm flipH="1">
              <a:off x="1593" y="1380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22" name="Line 45"/>
            <p:cNvSpPr>
              <a:spLocks noChangeShapeType="1"/>
            </p:cNvSpPr>
            <p:nvPr/>
          </p:nvSpPr>
          <p:spPr bwMode="auto">
            <a:xfrm flipH="1">
              <a:off x="2087" y="1456"/>
              <a:ext cx="1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23" name="Rectangle 46"/>
            <p:cNvSpPr>
              <a:spLocks noChangeArrowheads="1"/>
            </p:cNvSpPr>
            <p:nvPr/>
          </p:nvSpPr>
          <p:spPr bwMode="auto">
            <a:xfrm>
              <a:off x="2592" y="670"/>
              <a:ext cx="517" cy="84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24" name="Rectangle 47"/>
            <p:cNvSpPr>
              <a:spLocks noChangeArrowheads="1"/>
            </p:cNvSpPr>
            <p:nvPr/>
          </p:nvSpPr>
          <p:spPr bwMode="auto">
            <a:xfrm>
              <a:off x="2655" y="1001"/>
              <a:ext cx="409" cy="28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Priority</a:t>
              </a:r>
            </a:p>
            <a:p>
              <a:pPr defTabSz="617538"/>
              <a:endParaRPr lang="en-US" altLang="ko-KR" sz="1400" b="1">
                <a:solidFill>
                  <a:srgbClr val="C00000"/>
                </a:solidFill>
              </a:endParaRPr>
            </a:p>
          </p:txBody>
        </p:sp>
        <p:sp>
          <p:nvSpPr>
            <p:cNvPr id="25" name="Rectangle 48"/>
            <p:cNvSpPr>
              <a:spLocks noChangeArrowheads="1"/>
            </p:cNvSpPr>
            <p:nvPr/>
          </p:nvSpPr>
          <p:spPr bwMode="auto">
            <a:xfrm>
              <a:off x="2664" y="1090"/>
              <a:ext cx="437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encoder</a:t>
              </a:r>
            </a:p>
          </p:txBody>
        </p:sp>
        <p:sp>
          <p:nvSpPr>
            <p:cNvPr id="26" name="Rectangle 49"/>
            <p:cNvSpPr>
              <a:spLocks noChangeArrowheads="1"/>
            </p:cNvSpPr>
            <p:nvPr/>
          </p:nvSpPr>
          <p:spPr bwMode="auto">
            <a:xfrm>
              <a:off x="2568" y="697"/>
              <a:ext cx="121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I</a:t>
              </a:r>
            </a:p>
          </p:txBody>
        </p:sp>
        <p:sp>
          <p:nvSpPr>
            <p:cNvPr id="27" name="Rectangle 50"/>
            <p:cNvSpPr>
              <a:spLocks noChangeArrowheads="1"/>
            </p:cNvSpPr>
            <p:nvPr/>
          </p:nvSpPr>
          <p:spPr bwMode="auto">
            <a:xfrm>
              <a:off x="2601" y="723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28" name="Rectangle 51"/>
            <p:cNvSpPr>
              <a:spLocks noChangeArrowheads="1"/>
            </p:cNvSpPr>
            <p:nvPr/>
          </p:nvSpPr>
          <p:spPr bwMode="auto">
            <a:xfrm>
              <a:off x="2568" y="912"/>
              <a:ext cx="121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I</a:t>
              </a:r>
            </a:p>
          </p:txBody>
        </p:sp>
        <p:sp>
          <p:nvSpPr>
            <p:cNvPr id="29" name="Rectangle 52"/>
            <p:cNvSpPr>
              <a:spLocks noChangeArrowheads="1"/>
            </p:cNvSpPr>
            <p:nvPr/>
          </p:nvSpPr>
          <p:spPr bwMode="auto">
            <a:xfrm>
              <a:off x="2601" y="938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30" name="Rectangle 53"/>
            <p:cNvSpPr>
              <a:spLocks noChangeArrowheads="1"/>
            </p:cNvSpPr>
            <p:nvPr/>
          </p:nvSpPr>
          <p:spPr bwMode="auto">
            <a:xfrm>
              <a:off x="2568" y="1128"/>
              <a:ext cx="121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I</a:t>
              </a:r>
            </a:p>
          </p:txBody>
        </p:sp>
        <p:sp>
          <p:nvSpPr>
            <p:cNvPr id="31" name="Rectangle 54"/>
            <p:cNvSpPr>
              <a:spLocks noChangeArrowheads="1"/>
            </p:cNvSpPr>
            <p:nvPr/>
          </p:nvSpPr>
          <p:spPr bwMode="auto">
            <a:xfrm>
              <a:off x="2607" y="1153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32" name="Rectangle 55"/>
            <p:cNvSpPr>
              <a:spLocks noChangeArrowheads="1"/>
            </p:cNvSpPr>
            <p:nvPr/>
          </p:nvSpPr>
          <p:spPr bwMode="auto">
            <a:xfrm>
              <a:off x="2568" y="1342"/>
              <a:ext cx="121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I</a:t>
              </a:r>
            </a:p>
          </p:txBody>
        </p:sp>
        <p:sp>
          <p:nvSpPr>
            <p:cNvPr id="33" name="Rectangle 56"/>
            <p:cNvSpPr>
              <a:spLocks noChangeArrowheads="1"/>
            </p:cNvSpPr>
            <p:nvPr/>
          </p:nvSpPr>
          <p:spPr bwMode="auto">
            <a:xfrm>
              <a:off x="2613" y="1367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34" name="Freeform 57"/>
            <p:cNvSpPr>
              <a:spLocks/>
            </p:cNvSpPr>
            <p:nvPr/>
          </p:nvSpPr>
          <p:spPr bwMode="auto">
            <a:xfrm>
              <a:off x="1388" y="626"/>
              <a:ext cx="205" cy="866"/>
            </a:xfrm>
            <a:custGeom>
              <a:avLst/>
              <a:gdLst>
                <a:gd name="T0" fmla="*/ 0 w 203"/>
                <a:gd name="T1" fmla="*/ 0 h 987"/>
                <a:gd name="T2" fmla="*/ 212 w 203"/>
                <a:gd name="T3" fmla="*/ 0 h 987"/>
                <a:gd name="T4" fmla="*/ 212 w 203"/>
                <a:gd name="T5" fmla="*/ 512 h 987"/>
                <a:gd name="T6" fmla="*/ 0 60000 65536"/>
                <a:gd name="T7" fmla="*/ 0 60000 65536"/>
                <a:gd name="T8" fmla="*/ 0 60000 65536"/>
                <a:gd name="T9" fmla="*/ 0 w 203"/>
                <a:gd name="T10" fmla="*/ 0 h 987"/>
                <a:gd name="T11" fmla="*/ 203 w 203"/>
                <a:gd name="T12" fmla="*/ 987 h 9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" h="987">
                  <a:moveTo>
                    <a:pt x="0" y="0"/>
                  </a:moveTo>
                  <a:lnTo>
                    <a:pt x="202" y="0"/>
                  </a:lnTo>
                  <a:lnTo>
                    <a:pt x="202" y="98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35" name="Line 58"/>
            <p:cNvSpPr>
              <a:spLocks noChangeShapeType="1"/>
            </p:cNvSpPr>
            <p:nvPr/>
          </p:nvSpPr>
          <p:spPr bwMode="auto">
            <a:xfrm>
              <a:off x="1390" y="843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36" name="Line 59"/>
            <p:cNvSpPr>
              <a:spLocks noChangeShapeType="1"/>
            </p:cNvSpPr>
            <p:nvPr/>
          </p:nvSpPr>
          <p:spPr bwMode="auto">
            <a:xfrm>
              <a:off x="1390" y="1058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37" name="Line 60"/>
            <p:cNvSpPr>
              <a:spLocks noChangeShapeType="1"/>
            </p:cNvSpPr>
            <p:nvPr/>
          </p:nvSpPr>
          <p:spPr bwMode="auto">
            <a:xfrm>
              <a:off x="1390" y="1274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38" name="Line 61"/>
            <p:cNvSpPr>
              <a:spLocks noChangeShapeType="1"/>
            </p:cNvSpPr>
            <p:nvPr/>
          </p:nvSpPr>
          <p:spPr bwMode="auto">
            <a:xfrm>
              <a:off x="1378" y="1494"/>
              <a:ext cx="2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39" name="Line 62"/>
            <p:cNvSpPr>
              <a:spLocks noChangeShapeType="1"/>
            </p:cNvSpPr>
            <p:nvPr/>
          </p:nvSpPr>
          <p:spPr bwMode="auto">
            <a:xfrm>
              <a:off x="1386" y="632"/>
              <a:ext cx="0" cy="8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40" name="Rectangle 63"/>
            <p:cNvSpPr>
              <a:spLocks noChangeArrowheads="1"/>
            </p:cNvSpPr>
            <p:nvPr/>
          </p:nvSpPr>
          <p:spPr bwMode="auto">
            <a:xfrm>
              <a:off x="1419" y="660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41" name="Rectangle 64"/>
            <p:cNvSpPr>
              <a:spLocks noChangeArrowheads="1"/>
            </p:cNvSpPr>
            <p:nvPr/>
          </p:nvSpPr>
          <p:spPr bwMode="auto">
            <a:xfrm>
              <a:off x="1419" y="874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42" name="Rectangle 65"/>
            <p:cNvSpPr>
              <a:spLocks noChangeArrowheads="1"/>
            </p:cNvSpPr>
            <p:nvPr/>
          </p:nvSpPr>
          <p:spPr bwMode="auto">
            <a:xfrm>
              <a:off x="1410" y="1090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43" name="Rectangle 66"/>
            <p:cNvSpPr>
              <a:spLocks noChangeArrowheads="1"/>
            </p:cNvSpPr>
            <p:nvPr/>
          </p:nvSpPr>
          <p:spPr bwMode="auto">
            <a:xfrm>
              <a:off x="1419" y="1304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44" name="Line 68"/>
            <p:cNvSpPr>
              <a:spLocks noChangeShapeType="1"/>
            </p:cNvSpPr>
            <p:nvPr/>
          </p:nvSpPr>
          <p:spPr bwMode="auto">
            <a:xfrm>
              <a:off x="2000" y="1245"/>
              <a:ext cx="0" cy="93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45" name="Line 69"/>
            <p:cNvSpPr>
              <a:spLocks noChangeShapeType="1"/>
            </p:cNvSpPr>
            <p:nvPr/>
          </p:nvSpPr>
          <p:spPr bwMode="auto">
            <a:xfrm>
              <a:off x="1912" y="1032"/>
              <a:ext cx="0" cy="93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46" name="Line 70"/>
            <p:cNvSpPr>
              <a:spLocks noChangeShapeType="1"/>
            </p:cNvSpPr>
            <p:nvPr/>
          </p:nvSpPr>
          <p:spPr bwMode="auto">
            <a:xfrm>
              <a:off x="1830" y="816"/>
              <a:ext cx="0" cy="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47" name="Line 71"/>
            <p:cNvSpPr>
              <a:spLocks noChangeShapeType="1"/>
            </p:cNvSpPr>
            <p:nvPr/>
          </p:nvSpPr>
          <p:spPr bwMode="auto">
            <a:xfrm>
              <a:off x="1611" y="1742"/>
              <a:ext cx="21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48" name="Line 72"/>
            <p:cNvSpPr>
              <a:spLocks noChangeShapeType="1"/>
            </p:cNvSpPr>
            <p:nvPr/>
          </p:nvSpPr>
          <p:spPr bwMode="auto">
            <a:xfrm>
              <a:off x="1611" y="1956"/>
              <a:ext cx="2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49" name="Line 73"/>
            <p:cNvSpPr>
              <a:spLocks noChangeShapeType="1"/>
            </p:cNvSpPr>
            <p:nvPr/>
          </p:nvSpPr>
          <p:spPr bwMode="auto">
            <a:xfrm>
              <a:off x="1611" y="2170"/>
              <a:ext cx="38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50" name="Line 74"/>
            <p:cNvSpPr>
              <a:spLocks noChangeShapeType="1"/>
            </p:cNvSpPr>
            <p:nvPr/>
          </p:nvSpPr>
          <p:spPr bwMode="auto">
            <a:xfrm>
              <a:off x="1611" y="2386"/>
              <a:ext cx="4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51" name="Line 75"/>
            <p:cNvSpPr>
              <a:spLocks noChangeShapeType="1"/>
            </p:cNvSpPr>
            <p:nvPr/>
          </p:nvSpPr>
          <p:spPr bwMode="auto">
            <a:xfrm>
              <a:off x="3521" y="740"/>
              <a:ext cx="0" cy="11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52" name="Line 76"/>
            <p:cNvSpPr>
              <a:spLocks noChangeShapeType="1"/>
            </p:cNvSpPr>
            <p:nvPr/>
          </p:nvSpPr>
          <p:spPr bwMode="auto">
            <a:xfrm>
              <a:off x="3649" y="730"/>
              <a:ext cx="0" cy="1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53" name="Line 77"/>
            <p:cNvSpPr>
              <a:spLocks noChangeShapeType="1"/>
            </p:cNvSpPr>
            <p:nvPr/>
          </p:nvSpPr>
          <p:spPr bwMode="auto">
            <a:xfrm>
              <a:off x="3527" y="73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54" name="Line 78"/>
            <p:cNvSpPr>
              <a:spLocks noChangeShapeType="1"/>
            </p:cNvSpPr>
            <p:nvPr/>
          </p:nvSpPr>
          <p:spPr bwMode="auto">
            <a:xfrm>
              <a:off x="3527" y="88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55" name="Rectangle 79"/>
            <p:cNvSpPr>
              <a:spLocks noChangeArrowheads="1"/>
            </p:cNvSpPr>
            <p:nvPr/>
          </p:nvSpPr>
          <p:spPr bwMode="auto">
            <a:xfrm>
              <a:off x="3506" y="735"/>
              <a:ext cx="142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y</a:t>
              </a:r>
            </a:p>
          </p:txBody>
        </p:sp>
        <p:sp>
          <p:nvSpPr>
            <p:cNvPr id="56" name="Rectangle 80"/>
            <p:cNvSpPr>
              <a:spLocks noChangeArrowheads="1"/>
            </p:cNvSpPr>
            <p:nvPr/>
          </p:nvSpPr>
          <p:spPr bwMode="auto">
            <a:xfrm>
              <a:off x="3506" y="881"/>
              <a:ext cx="140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x</a:t>
              </a:r>
            </a:p>
          </p:txBody>
        </p:sp>
        <p:sp>
          <p:nvSpPr>
            <p:cNvPr id="57" name="Line 81"/>
            <p:cNvSpPr>
              <a:spLocks noChangeShapeType="1"/>
            </p:cNvSpPr>
            <p:nvPr/>
          </p:nvSpPr>
          <p:spPr bwMode="auto">
            <a:xfrm>
              <a:off x="3527" y="102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58" name="Line 82"/>
            <p:cNvSpPr>
              <a:spLocks noChangeShapeType="1"/>
            </p:cNvSpPr>
            <p:nvPr/>
          </p:nvSpPr>
          <p:spPr bwMode="auto">
            <a:xfrm>
              <a:off x="3527" y="116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59" name="Line 83"/>
            <p:cNvSpPr>
              <a:spLocks noChangeShapeType="1"/>
            </p:cNvSpPr>
            <p:nvPr/>
          </p:nvSpPr>
          <p:spPr bwMode="auto">
            <a:xfrm>
              <a:off x="3527" y="1310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60" name="Line 84"/>
            <p:cNvSpPr>
              <a:spLocks noChangeShapeType="1"/>
            </p:cNvSpPr>
            <p:nvPr/>
          </p:nvSpPr>
          <p:spPr bwMode="auto">
            <a:xfrm>
              <a:off x="3527" y="145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61" name="Line 85"/>
            <p:cNvSpPr>
              <a:spLocks noChangeShapeType="1"/>
            </p:cNvSpPr>
            <p:nvPr/>
          </p:nvSpPr>
          <p:spPr bwMode="auto">
            <a:xfrm>
              <a:off x="3527" y="160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62" name="Line 86"/>
            <p:cNvSpPr>
              <a:spLocks noChangeShapeType="1"/>
            </p:cNvSpPr>
            <p:nvPr/>
          </p:nvSpPr>
          <p:spPr bwMode="auto">
            <a:xfrm>
              <a:off x="3527" y="174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63" name="Line 87"/>
            <p:cNvSpPr>
              <a:spLocks noChangeShapeType="1"/>
            </p:cNvSpPr>
            <p:nvPr/>
          </p:nvSpPr>
          <p:spPr bwMode="auto">
            <a:xfrm>
              <a:off x="3527" y="1878"/>
              <a:ext cx="125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64" name="Arc 88"/>
            <p:cNvSpPr>
              <a:spLocks/>
            </p:cNvSpPr>
            <p:nvPr/>
          </p:nvSpPr>
          <p:spPr bwMode="auto">
            <a:xfrm>
              <a:off x="3802" y="787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65" name="Line 89"/>
            <p:cNvSpPr>
              <a:spLocks noChangeShapeType="1"/>
            </p:cNvSpPr>
            <p:nvPr/>
          </p:nvSpPr>
          <p:spPr bwMode="auto">
            <a:xfrm>
              <a:off x="3656" y="811"/>
              <a:ext cx="1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66" name="Rectangle 90"/>
            <p:cNvSpPr>
              <a:spLocks noChangeArrowheads="1"/>
            </p:cNvSpPr>
            <p:nvPr/>
          </p:nvSpPr>
          <p:spPr bwMode="auto">
            <a:xfrm>
              <a:off x="2979" y="1671"/>
              <a:ext cx="218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IST</a:t>
              </a:r>
            </a:p>
          </p:txBody>
        </p:sp>
        <p:sp>
          <p:nvSpPr>
            <p:cNvPr id="67" name="Rectangle 91"/>
            <p:cNvSpPr>
              <a:spLocks noChangeArrowheads="1"/>
            </p:cNvSpPr>
            <p:nvPr/>
          </p:nvSpPr>
          <p:spPr bwMode="auto">
            <a:xfrm>
              <a:off x="2503" y="1665"/>
              <a:ext cx="238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IEN</a:t>
              </a:r>
            </a:p>
          </p:txBody>
        </p:sp>
        <p:sp>
          <p:nvSpPr>
            <p:cNvPr id="68" name="Rectangle 92"/>
            <p:cNvSpPr>
              <a:spLocks noChangeArrowheads="1"/>
            </p:cNvSpPr>
            <p:nvPr/>
          </p:nvSpPr>
          <p:spPr bwMode="auto">
            <a:xfrm>
              <a:off x="2992" y="1677"/>
              <a:ext cx="203" cy="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69" name="Rectangle 93"/>
            <p:cNvSpPr>
              <a:spLocks noChangeArrowheads="1"/>
            </p:cNvSpPr>
            <p:nvPr/>
          </p:nvSpPr>
          <p:spPr bwMode="auto">
            <a:xfrm>
              <a:off x="2529" y="1677"/>
              <a:ext cx="208" cy="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70" name="Arc 94"/>
            <p:cNvSpPr>
              <a:spLocks/>
            </p:cNvSpPr>
            <p:nvPr/>
          </p:nvSpPr>
          <p:spPr bwMode="auto">
            <a:xfrm>
              <a:off x="3208" y="1710"/>
              <a:ext cx="75" cy="49"/>
            </a:xfrm>
            <a:custGeom>
              <a:avLst/>
              <a:gdLst>
                <a:gd name="T0" fmla="*/ 0 w 21600"/>
                <a:gd name="T1" fmla="*/ 0 h 17776"/>
                <a:gd name="T2" fmla="*/ 0 w 21600"/>
                <a:gd name="T3" fmla="*/ 0 h 17776"/>
                <a:gd name="T4" fmla="*/ 0 w 21600"/>
                <a:gd name="T5" fmla="*/ 0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71" name="Freeform 95"/>
            <p:cNvSpPr>
              <a:spLocks/>
            </p:cNvSpPr>
            <p:nvPr/>
          </p:nvSpPr>
          <p:spPr bwMode="auto">
            <a:xfrm>
              <a:off x="3117" y="1372"/>
              <a:ext cx="229" cy="361"/>
            </a:xfrm>
            <a:custGeom>
              <a:avLst/>
              <a:gdLst>
                <a:gd name="T0" fmla="*/ 215 w 209"/>
                <a:gd name="T1" fmla="*/ 214 h 411"/>
                <a:gd name="T2" fmla="*/ 329 w 209"/>
                <a:gd name="T3" fmla="*/ 214 h 411"/>
                <a:gd name="T4" fmla="*/ 329 w 209"/>
                <a:gd name="T5" fmla="*/ 0 h 411"/>
                <a:gd name="T6" fmla="*/ 0 w 209"/>
                <a:gd name="T7" fmla="*/ 0 h 4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9"/>
                <a:gd name="T13" fmla="*/ 0 h 411"/>
                <a:gd name="T14" fmla="*/ 209 w 209"/>
                <a:gd name="T15" fmla="*/ 411 h 4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9" h="411">
                  <a:moveTo>
                    <a:pt x="136" y="410"/>
                  </a:moveTo>
                  <a:lnTo>
                    <a:pt x="208" y="410"/>
                  </a:lnTo>
                  <a:lnTo>
                    <a:pt x="208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72" name="Line 102"/>
            <p:cNvSpPr>
              <a:spLocks noChangeShapeType="1"/>
            </p:cNvSpPr>
            <p:nvPr/>
          </p:nvSpPr>
          <p:spPr bwMode="auto">
            <a:xfrm flipH="1">
              <a:off x="2795" y="2032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73" name="Line 103"/>
            <p:cNvSpPr>
              <a:spLocks noChangeShapeType="1"/>
            </p:cNvSpPr>
            <p:nvPr/>
          </p:nvSpPr>
          <p:spPr bwMode="auto">
            <a:xfrm flipH="1">
              <a:off x="2621" y="2064"/>
              <a:ext cx="3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74" name="Line 104"/>
            <p:cNvSpPr>
              <a:spLocks noChangeShapeType="1"/>
            </p:cNvSpPr>
            <p:nvPr/>
          </p:nvSpPr>
          <p:spPr bwMode="auto">
            <a:xfrm flipH="1">
              <a:off x="2895" y="2100"/>
              <a:ext cx="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75" name="Arc 111"/>
            <p:cNvSpPr>
              <a:spLocks/>
            </p:cNvSpPr>
            <p:nvPr/>
          </p:nvSpPr>
          <p:spPr bwMode="auto">
            <a:xfrm>
              <a:off x="3809" y="2255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76" name="Line 112"/>
            <p:cNvSpPr>
              <a:spLocks noChangeShapeType="1"/>
            </p:cNvSpPr>
            <p:nvPr/>
          </p:nvSpPr>
          <p:spPr bwMode="auto">
            <a:xfrm>
              <a:off x="3199" y="2278"/>
              <a:ext cx="6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77" name="Line 113"/>
            <p:cNvSpPr>
              <a:spLocks noChangeShapeType="1"/>
            </p:cNvSpPr>
            <p:nvPr/>
          </p:nvSpPr>
          <p:spPr bwMode="auto">
            <a:xfrm flipH="1">
              <a:off x="2798" y="224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78" name="Line 114"/>
            <p:cNvSpPr>
              <a:spLocks noChangeShapeType="1"/>
            </p:cNvSpPr>
            <p:nvPr/>
          </p:nvSpPr>
          <p:spPr bwMode="auto">
            <a:xfrm flipH="1" flipV="1">
              <a:off x="2635" y="2313"/>
              <a:ext cx="357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79" name="Freeform 115"/>
            <p:cNvSpPr>
              <a:spLocks/>
            </p:cNvSpPr>
            <p:nvPr/>
          </p:nvSpPr>
          <p:spPr bwMode="auto">
            <a:xfrm>
              <a:off x="2804" y="1738"/>
              <a:ext cx="181" cy="506"/>
            </a:xfrm>
            <a:custGeom>
              <a:avLst/>
              <a:gdLst>
                <a:gd name="T0" fmla="*/ 254 w 166"/>
                <a:gd name="T1" fmla="*/ 0 h 577"/>
                <a:gd name="T2" fmla="*/ 0 w 166"/>
                <a:gd name="T3" fmla="*/ 0 h 577"/>
                <a:gd name="T4" fmla="*/ 0 w 166"/>
                <a:gd name="T5" fmla="*/ 298 h 577"/>
                <a:gd name="T6" fmla="*/ 0 60000 65536"/>
                <a:gd name="T7" fmla="*/ 0 60000 65536"/>
                <a:gd name="T8" fmla="*/ 0 60000 65536"/>
                <a:gd name="T9" fmla="*/ 0 w 166"/>
                <a:gd name="T10" fmla="*/ 0 h 577"/>
                <a:gd name="T11" fmla="*/ 166 w 166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" h="577">
                  <a:moveTo>
                    <a:pt x="165" y="0"/>
                  </a:moveTo>
                  <a:lnTo>
                    <a:pt x="0" y="0"/>
                  </a:lnTo>
                  <a:lnTo>
                    <a:pt x="0" y="57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80" name="Line 116"/>
            <p:cNvSpPr>
              <a:spLocks noChangeShapeType="1"/>
            </p:cNvSpPr>
            <p:nvPr/>
          </p:nvSpPr>
          <p:spPr bwMode="auto">
            <a:xfrm>
              <a:off x="2902" y="2105"/>
              <a:ext cx="0" cy="3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81" name="Arc 117"/>
            <p:cNvSpPr>
              <a:spLocks/>
            </p:cNvSpPr>
            <p:nvPr/>
          </p:nvSpPr>
          <p:spPr bwMode="auto">
            <a:xfrm>
              <a:off x="2902" y="2463"/>
              <a:ext cx="75" cy="48"/>
            </a:xfrm>
            <a:custGeom>
              <a:avLst/>
              <a:gdLst>
                <a:gd name="T0" fmla="*/ 0 w 21600"/>
                <a:gd name="T1" fmla="*/ 0 h 17776"/>
                <a:gd name="T2" fmla="*/ 0 w 21600"/>
                <a:gd name="T3" fmla="*/ 0 h 17776"/>
                <a:gd name="T4" fmla="*/ 0 w 21600"/>
                <a:gd name="T5" fmla="*/ 0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82" name="Line 118"/>
            <p:cNvSpPr>
              <a:spLocks noChangeShapeType="1"/>
            </p:cNvSpPr>
            <p:nvPr/>
          </p:nvSpPr>
          <p:spPr bwMode="auto">
            <a:xfrm>
              <a:off x="2969" y="2488"/>
              <a:ext cx="85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83" name="Line 119"/>
            <p:cNvSpPr>
              <a:spLocks noChangeShapeType="1"/>
            </p:cNvSpPr>
            <p:nvPr/>
          </p:nvSpPr>
          <p:spPr bwMode="auto">
            <a:xfrm>
              <a:off x="2635" y="1790"/>
              <a:ext cx="3" cy="5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84" name="Oval 120"/>
            <p:cNvSpPr>
              <a:spLocks noChangeArrowheads="1"/>
            </p:cNvSpPr>
            <p:nvPr/>
          </p:nvSpPr>
          <p:spPr bwMode="auto">
            <a:xfrm>
              <a:off x="2788" y="2017"/>
              <a:ext cx="30" cy="2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85" name="Oval 121"/>
            <p:cNvSpPr>
              <a:spLocks noChangeArrowheads="1"/>
            </p:cNvSpPr>
            <p:nvPr/>
          </p:nvSpPr>
          <p:spPr bwMode="auto">
            <a:xfrm>
              <a:off x="2616" y="2055"/>
              <a:ext cx="30" cy="2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 b="1">
                <a:solidFill>
                  <a:srgbClr val="C00000"/>
                </a:solidFill>
              </a:endParaRPr>
            </a:p>
          </p:txBody>
        </p:sp>
        <p:sp>
          <p:nvSpPr>
            <p:cNvPr id="86" name="Arc 122"/>
            <p:cNvSpPr>
              <a:spLocks/>
            </p:cNvSpPr>
            <p:nvPr/>
          </p:nvSpPr>
          <p:spPr bwMode="auto">
            <a:xfrm>
              <a:off x="3451" y="787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87" name="Line 123"/>
            <p:cNvSpPr>
              <a:spLocks noChangeShapeType="1"/>
            </p:cNvSpPr>
            <p:nvPr/>
          </p:nvSpPr>
          <p:spPr bwMode="auto">
            <a:xfrm>
              <a:off x="3110" y="811"/>
              <a:ext cx="34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88" name="Arc 124"/>
            <p:cNvSpPr>
              <a:spLocks/>
            </p:cNvSpPr>
            <p:nvPr/>
          </p:nvSpPr>
          <p:spPr bwMode="auto">
            <a:xfrm>
              <a:off x="3448" y="922"/>
              <a:ext cx="76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89" name="Line 125"/>
            <p:cNvSpPr>
              <a:spLocks noChangeShapeType="1"/>
            </p:cNvSpPr>
            <p:nvPr/>
          </p:nvSpPr>
          <p:spPr bwMode="auto">
            <a:xfrm>
              <a:off x="3113" y="952"/>
              <a:ext cx="3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0" name="Arc 126"/>
            <p:cNvSpPr>
              <a:spLocks/>
            </p:cNvSpPr>
            <p:nvPr/>
          </p:nvSpPr>
          <p:spPr bwMode="auto">
            <a:xfrm>
              <a:off x="3806" y="931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1" name="Line 127"/>
            <p:cNvSpPr>
              <a:spLocks noChangeShapeType="1"/>
            </p:cNvSpPr>
            <p:nvPr/>
          </p:nvSpPr>
          <p:spPr bwMode="auto">
            <a:xfrm flipV="1">
              <a:off x="3647" y="946"/>
              <a:ext cx="178" cy="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2" name="Arc 128"/>
            <p:cNvSpPr>
              <a:spLocks/>
            </p:cNvSpPr>
            <p:nvPr/>
          </p:nvSpPr>
          <p:spPr bwMode="auto">
            <a:xfrm>
              <a:off x="3802" y="1074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3" name="Line 129"/>
            <p:cNvSpPr>
              <a:spLocks noChangeShapeType="1"/>
            </p:cNvSpPr>
            <p:nvPr/>
          </p:nvSpPr>
          <p:spPr bwMode="auto">
            <a:xfrm>
              <a:off x="3650" y="1096"/>
              <a:ext cx="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4" name="Arc 130"/>
            <p:cNvSpPr>
              <a:spLocks/>
            </p:cNvSpPr>
            <p:nvPr/>
          </p:nvSpPr>
          <p:spPr bwMode="auto">
            <a:xfrm>
              <a:off x="3806" y="1217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5" name="Line 131"/>
            <p:cNvSpPr>
              <a:spLocks noChangeShapeType="1"/>
            </p:cNvSpPr>
            <p:nvPr/>
          </p:nvSpPr>
          <p:spPr bwMode="auto">
            <a:xfrm>
              <a:off x="3653" y="1242"/>
              <a:ext cx="1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6" name="Arc 132"/>
            <p:cNvSpPr>
              <a:spLocks/>
            </p:cNvSpPr>
            <p:nvPr/>
          </p:nvSpPr>
          <p:spPr bwMode="auto">
            <a:xfrm>
              <a:off x="3806" y="1356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7" name="Line 133"/>
            <p:cNvSpPr>
              <a:spLocks noChangeShapeType="1"/>
            </p:cNvSpPr>
            <p:nvPr/>
          </p:nvSpPr>
          <p:spPr bwMode="auto">
            <a:xfrm>
              <a:off x="3647" y="1380"/>
              <a:ext cx="17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8" name="Arc 134"/>
            <p:cNvSpPr>
              <a:spLocks/>
            </p:cNvSpPr>
            <p:nvPr/>
          </p:nvSpPr>
          <p:spPr bwMode="auto">
            <a:xfrm>
              <a:off x="3806" y="1503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99" name="Line 135"/>
            <p:cNvSpPr>
              <a:spLocks noChangeShapeType="1"/>
            </p:cNvSpPr>
            <p:nvPr/>
          </p:nvSpPr>
          <p:spPr bwMode="auto">
            <a:xfrm>
              <a:off x="3653" y="1526"/>
              <a:ext cx="17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0" name="Arc 136"/>
            <p:cNvSpPr>
              <a:spLocks/>
            </p:cNvSpPr>
            <p:nvPr/>
          </p:nvSpPr>
          <p:spPr bwMode="auto">
            <a:xfrm>
              <a:off x="3806" y="1652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1" name="Line 137"/>
            <p:cNvSpPr>
              <a:spLocks noChangeShapeType="1"/>
            </p:cNvSpPr>
            <p:nvPr/>
          </p:nvSpPr>
          <p:spPr bwMode="auto">
            <a:xfrm>
              <a:off x="3650" y="1672"/>
              <a:ext cx="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2" name="Line 139"/>
            <p:cNvSpPr>
              <a:spLocks noChangeShapeType="1"/>
            </p:cNvSpPr>
            <p:nvPr/>
          </p:nvSpPr>
          <p:spPr bwMode="auto">
            <a:xfrm>
              <a:off x="3650" y="1814"/>
              <a:ext cx="15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3" name="Freeform 140"/>
            <p:cNvSpPr>
              <a:spLocks/>
            </p:cNvSpPr>
            <p:nvPr/>
          </p:nvSpPr>
          <p:spPr bwMode="auto">
            <a:xfrm>
              <a:off x="1388" y="1630"/>
              <a:ext cx="215" cy="861"/>
            </a:xfrm>
            <a:custGeom>
              <a:avLst/>
              <a:gdLst>
                <a:gd name="T0" fmla="*/ 0 w 203"/>
                <a:gd name="T1" fmla="*/ 0 h 980"/>
                <a:gd name="T2" fmla="*/ 269 w 203"/>
                <a:gd name="T3" fmla="*/ 0 h 980"/>
                <a:gd name="T4" fmla="*/ 269 w 203"/>
                <a:gd name="T5" fmla="*/ 512 h 980"/>
                <a:gd name="T6" fmla="*/ 0 60000 65536"/>
                <a:gd name="T7" fmla="*/ 0 60000 65536"/>
                <a:gd name="T8" fmla="*/ 0 60000 65536"/>
                <a:gd name="T9" fmla="*/ 0 w 203"/>
                <a:gd name="T10" fmla="*/ 0 h 980"/>
                <a:gd name="T11" fmla="*/ 203 w 203"/>
                <a:gd name="T12" fmla="*/ 980 h 9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" h="980">
                  <a:moveTo>
                    <a:pt x="0" y="0"/>
                  </a:moveTo>
                  <a:lnTo>
                    <a:pt x="202" y="0"/>
                  </a:lnTo>
                  <a:lnTo>
                    <a:pt x="202" y="97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4" name="Line 141"/>
            <p:cNvSpPr>
              <a:spLocks noChangeShapeType="1"/>
            </p:cNvSpPr>
            <p:nvPr/>
          </p:nvSpPr>
          <p:spPr bwMode="auto">
            <a:xfrm>
              <a:off x="1390" y="1848"/>
              <a:ext cx="2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5" name="Line 142"/>
            <p:cNvSpPr>
              <a:spLocks noChangeShapeType="1"/>
            </p:cNvSpPr>
            <p:nvPr/>
          </p:nvSpPr>
          <p:spPr bwMode="auto">
            <a:xfrm>
              <a:off x="1390" y="2064"/>
              <a:ext cx="21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6" name="Line 143"/>
            <p:cNvSpPr>
              <a:spLocks noChangeShapeType="1"/>
            </p:cNvSpPr>
            <p:nvPr/>
          </p:nvSpPr>
          <p:spPr bwMode="auto">
            <a:xfrm>
              <a:off x="1390" y="2278"/>
              <a:ext cx="2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7" name="Line 144"/>
            <p:cNvSpPr>
              <a:spLocks noChangeShapeType="1"/>
            </p:cNvSpPr>
            <p:nvPr/>
          </p:nvSpPr>
          <p:spPr bwMode="auto">
            <a:xfrm>
              <a:off x="1390" y="2493"/>
              <a:ext cx="2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8" name="Line 145"/>
            <p:cNvSpPr>
              <a:spLocks noChangeShapeType="1"/>
            </p:cNvSpPr>
            <p:nvPr/>
          </p:nvSpPr>
          <p:spPr bwMode="auto">
            <a:xfrm>
              <a:off x="1386" y="1638"/>
              <a:ext cx="0" cy="8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09" name="Rectangle 146"/>
            <p:cNvSpPr>
              <a:spLocks noChangeArrowheads="1"/>
            </p:cNvSpPr>
            <p:nvPr/>
          </p:nvSpPr>
          <p:spPr bwMode="auto">
            <a:xfrm>
              <a:off x="1419" y="1664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10" name="Rectangle 147"/>
            <p:cNvSpPr>
              <a:spLocks noChangeArrowheads="1"/>
            </p:cNvSpPr>
            <p:nvPr/>
          </p:nvSpPr>
          <p:spPr bwMode="auto">
            <a:xfrm>
              <a:off x="1419" y="1880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111" name="Rectangle 148"/>
            <p:cNvSpPr>
              <a:spLocks noChangeArrowheads="1"/>
            </p:cNvSpPr>
            <p:nvPr/>
          </p:nvSpPr>
          <p:spPr bwMode="auto">
            <a:xfrm>
              <a:off x="1410" y="2094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112" name="Rectangle 149"/>
            <p:cNvSpPr>
              <a:spLocks noChangeArrowheads="1"/>
            </p:cNvSpPr>
            <p:nvPr/>
          </p:nvSpPr>
          <p:spPr bwMode="auto">
            <a:xfrm>
              <a:off x="1419" y="2310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113" name="Rectangle 150"/>
            <p:cNvSpPr>
              <a:spLocks noChangeArrowheads="1"/>
            </p:cNvSpPr>
            <p:nvPr/>
          </p:nvSpPr>
          <p:spPr bwMode="auto">
            <a:xfrm>
              <a:off x="3498" y="1033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14" name="Rectangle 151"/>
            <p:cNvSpPr>
              <a:spLocks noChangeArrowheads="1"/>
            </p:cNvSpPr>
            <p:nvPr/>
          </p:nvSpPr>
          <p:spPr bwMode="auto">
            <a:xfrm>
              <a:off x="3498" y="1177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15" name="Rectangle 152"/>
            <p:cNvSpPr>
              <a:spLocks noChangeArrowheads="1"/>
            </p:cNvSpPr>
            <p:nvPr/>
          </p:nvSpPr>
          <p:spPr bwMode="auto">
            <a:xfrm>
              <a:off x="3498" y="1317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16" name="Rectangle 153"/>
            <p:cNvSpPr>
              <a:spLocks noChangeArrowheads="1"/>
            </p:cNvSpPr>
            <p:nvPr/>
          </p:nvSpPr>
          <p:spPr bwMode="auto">
            <a:xfrm>
              <a:off x="3498" y="1461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17" name="Rectangle 154"/>
            <p:cNvSpPr>
              <a:spLocks noChangeArrowheads="1"/>
            </p:cNvSpPr>
            <p:nvPr/>
          </p:nvSpPr>
          <p:spPr bwMode="auto">
            <a:xfrm>
              <a:off x="3498" y="1607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18" name="Rectangle 155"/>
            <p:cNvSpPr>
              <a:spLocks noChangeArrowheads="1"/>
            </p:cNvSpPr>
            <p:nvPr/>
          </p:nvSpPr>
          <p:spPr bwMode="auto">
            <a:xfrm>
              <a:off x="3498" y="1747"/>
              <a:ext cx="146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119" name="Line 156"/>
            <p:cNvSpPr>
              <a:spLocks noChangeShapeType="1"/>
            </p:cNvSpPr>
            <p:nvPr/>
          </p:nvSpPr>
          <p:spPr bwMode="auto">
            <a:xfrm>
              <a:off x="3196" y="2064"/>
              <a:ext cx="3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20" name="Arc 157"/>
            <p:cNvSpPr>
              <a:spLocks/>
            </p:cNvSpPr>
            <p:nvPr/>
          </p:nvSpPr>
          <p:spPr bwMode="auto">
            <a:xfrm>
              <a:off x="3562" y="1881"/>
              <a:ext cx="62" cy="60"/>
            </a:xfrm>
            <a:custGeom>
              <a:avLst/>
              <a:gdLst>
                <a:gd name="T0" fmla="*/ 0 w 17776"/>
                <a:gd name="T1" fmla="*/ 0 h 21600"/>
                <a:gd name="T2" fmla="*/ 0 w 17776"/>
                <a:gd name="T3" fmla="*/ 0 h 21600"/>
                <a:gd name="T4" fmla="*/ 0 w 17776"/>
                <a:gd name="T5" fmla="*/ 0 h 21600"/>
                <a:gd name="T6" fmla="*/ 0 60000 65536"/>
                <a:gd name="T7" fmla="*/ 0 60000 65536"/>
                <a:gd name="T8" fmla="*/ 0 60000 65536"/>
                <a:gd name="T9" fmla="*/ 0 w 17776"/>
                <a:gd name="T10" fmla="*/ 0 h 21600"/>
                <a:gd name="T11" fmla="*/ 17776 w 1777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76" h="21600" fill="none" extrusionOk="0">
                  <a:moveTo>
                    <a:pt x="17775" y="19803"/>
                  </a:moveTo>
                  <a:cubicBezTo>
                    <a:pt x="15055" y="20988"/>
                    <a:pt x="12119" y="21599"/>
                    <a:pt x="9152" y="21600"/>
                  </a:cubicBezTo>
                  <a:cubicBezTo>
                    <a:pt x="5989" y="21600"/>
                    <a:pt x="2864" y="20905"/>
                    <a:pt x="-1" y="19565"/>
                  </a:cubicBezTo>
                </a:path>
                <a:path w="17776" h="21600" stroke="0" extrusionOk="0">
                  <a:moveTo>
                    <a:pt x="17775" y="19803"/>
                  </a:moveTo>
                  <a:cubicBezTo>
                    <a:pt x="15055" y="20988"/>
                    <a:pt x="12119" y="21599"/>
                    <a:pt x="9152" y="21600"/>
                  </a:cubicBezTo>
                  <a:cubicBezTo>
                    <a:pt x="5989" y="21600"/>
                    <a:pt x="2864" y="20905"/>
                    <a:pt x="-1" y="19565"/>
                  </a:cubicBezTo>
                  <a:lnTo>
                    <a:pt x="91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21" name="Line 158"/>
            <p:cNvSpPr>
              <a:spLocks noChangeShapeType="1"/>
            </p:cNvSpPr>
            <p:nvPr/>
          </p:nvSpPr>
          <p:spPr bwMode="auto">
            <a:xfrm flipV="1">
              <a:off x="3592" y="1927"/>
              <a:ext cx="0" cy="13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22" name="Line 159"/>
            <p:cNvSpPr>
              <a:spLocks noChangeShapeType="1"/>
            </p:cNvSpPr>
            <p:nvPr/>
          </p:nvSpPr>
          <p:spPr bwMode="auto">
            <a:xfrm flipH="1">
              <a:off x="1193" y="73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23" name="Rectangle 160"/>
            <p:cNvSpPr>
              <a:spLocks noChangeArrowheads="1"/>
            </p:cNvSpPr>
            <p:nvPr/>
          </p:nvSpPr>
          <p:spPr bwMode="auto">
            <a:xfrm>
              <a:off x="907" y="660"/>
              <a:ext cx="273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Disk</a:t>
              </a:r>
            </a:p>
          </p:txBody>
        </p:sp>
        <p:sp>
          <p:nvSpPr>
            <p:cNvPr id="124" name="Line 161"/>
            <p:cNvSpPr>
              <a:spLocks noChangeShapeType="1"/>
            </p:cNvSpPr>
            <p:nvPr/>
          </p:nvSpPr>
          <p:spPr bwMode="auto">
            <a:xfrm flipH="1">
              <a:off x="1193" y="952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25" name="Rectangle 162"/>
            <p:cNvSpPr>
              <a:spLocks noChangeArrowheads="1"/>
            </p:cNvSpPr>
            <p:nvPr/>
          </p:nvSpPr>
          <p:spPr bwMode="auto">
            <a:xfrm>
              <a:off x="814" y="874"/>
              <a:ext cx="384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Printer</a:t>
              </a:r>
            </a:p>
          </p:txBody>
        </p:sp>
        <p:sp>
          <p:nvSpPr>
            <p:cNvPr id="126" name="Line 163"/>
            <p:cNvSpPr>
              <a:spLocks noChangeShapeType="1"/>
            </p:cNvSpPr>
            <p:nvPr/>
          </p:nvSpPr>
          <p:spPr bwMode="auto">
            <a:xfrm flipH="1">
              <a:off x="1193" y="116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27" name="Rectangle 164"/>
            <p:cNvSpPr>
              <a:spLocks noChangeArrowheads="1"/>
            </p:cNvSpPr>
            <p:nvPr/>
          </p:nvSpPr>
          <p:spPr bwMode="auto">
            <a:xfrm>
              <a:off x="782" y="1090"/>
              <a:ext cx="392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Reader</a:t>
              </a:r>
            </a:p>
          </p:txBody>
        </p:sp>
        <p:sp>
          <p:nvSpPr>
            <p:cNvPr id="128" name="Line 165"/>
            <p:cNvSpPr>
              <a:spLocks noChangeShapeType="1"/>
            </p:cNvSpPr>
            <p:nvPr/>
          </p:nvSpPr>
          <p:spPr bwMode="auto">
            <a:xfrm flipH="1">
              <a:off x="1193" y="1380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sp>
          <p:nvSpPr>
            <p:cNvPr id="129" name="Rectangle 166"/>
            <p:cNvSpPr>
              <a:spLocks noChangeArrowheads="1"/>
            </p:cNvSpPr>
            <p:nvPr/>
          </p:nvSpPr>
          <p:spPr bwMode="auto">
            <a:xfrm>
              <a:off x="681" y="1304"/>
              <a:ext cx="493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Keyboard</a:t>
              </a:r>
            </a:p>
          </p:txBody>
        </p:sp>
        <p:sp>
          <p:nvSpPr>
            <p:cNvPr id="130" name="Rectangle 167"/>
            <p:cNvSpPr>
              <a:spLocks noChangeArrowheads="1"/>
            </p:cNvSpPr>
            <p:nvPr/>
          </p:nvSpPr>
          <p:spPr bwMode="auto">
            <a:xfrm>
              <a:off x="1141" y="494"/>
              <a:ext cx="818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Interrupt register</a:t>
              </a:r>
            </a:p>
          </p:txBody>
        </p:sp>
        <p:sp>
          <p:nvSpPr>
            <p:cNvPr id="131" name="Rectangle 169"/>
            <p:cNvSpPr>
              <a:spLocks noChangeArrowheads="1"/>
            </p:cNvSpPr>
            <p:nvPr/>
          </p:nvSpPr>
          <p:spPr bwMode="auto">
            <a:xfrm>
              <a:off x="3575" y="1912"/>
              <a:ext cx="379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Enable</a:t>
              </a:r>
            </a:p>
          </p:txBody>
        </p:sp>
        <p:sp>
          <p:nvSpPr>
            <p:cNvPr id="132" name="Rectangle 170"/>
            <p:cNvSpPr>
              <a:spLocks noChangeArrowheads="1"/>
            </p:cNvSpPr>
            <p:nvPr/>
          </p:nvSpPr>
          <p:spPr bwMode="auto">
            <a:xfrm>
              <a:off x="3855" y="2168"/>
              <a:ext cx="476" cy="28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Interrupt</a:t>
              </a:r>
            </a:p>
            <a:p>
              <a:pPr defTabSz="617538"/>
              <a:endParaRPr lang="en-US" altLang="ko-KR" sz="1400" b="1">
                <a:solidFill>
                  <a:srgbClr val="C00000"/>
                </a:solidFill>
              </a:endParaRPr>
            </a:p>
          </p:txBody>
        </p:sp>
        <p:sp>
          <p:nvSpPr>
            <p:cNvPr id="133" name="Rectangle 171"/>
            <p:cNvSpPr>
              <a:spLocks noChangeArrowheads="1"/>
            </p:cNvSpPr>
            <p:nvPr/>
          </p:nvSpPr>
          <p:spPr bwMode="auto">
            <a:xfrm>
              <a:off x="3882" y="2256"/>
              <a:ext cx="379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to CPU</a:t>
              </a:r>
            </a:p>
          </p:txBody>
        </p:sp>
        <p:sp>
          <p:nvSpPr>
            <p:cNvPr id="134" name="Rectangle 172"/>
            <p:cNvSpPr>
              <a:spLocks noChangeArrowheads="1"/>
            </p:cNvSpPr>
            <p:nvPr/>
          </p:nvSpPr>
          <p:spPr bwMode="auto">
            <a:xfrm>
              <a:off x="3916" y="1187"/>
              <a:ext cx="274" cy="28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>
                  <a:solidFill>
                    <a:srgbClr val="C00000"/>
                  </a:solidFill>
                </a:rPr>
                <a:t>VAD</a:t>
              </a:r>
            </a:p>
            <a:p>
              <a:pPr defTabSz="617538"/>
              <a:endParaRPr lang="en-US" altLang="ko-KR" sz="1400" b="1">
                <a:solidFill>
                  <a:srgbClr val="C00000"/>
                </a:solidFill>
              </a:endParaRPr>
            </a:p>
          </p:txBody>
        </p:sp>
        <p:sp>
          <p:nvSpPr>
            <p:cNvPr id="135" name="Rectangle 173"/>
            <p:cNvSpPr>
              <a:spLocks noChangeArrowheads="1"/>
            </p:cNvSpPr>
            <p:nvPr/>
          </p:nvSpPr>
          <p:spPr bwMode="auto">
            <a:xfrm>
              <a:off x="3895" y="1284"/>
              <a:ext cx="379" cy="16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b="1" dirty="0">
                  <a:solidFill>
                    <a:srgbClr val="C00000"/>
                  </a:solidFill>
                </a:rPr>
                <a:t>to CPU</a:t>
              </a:r>
            </a:p>
          </p:txBody>
        </p:sp>
        <p:sp>
          <p:nvSpPr>
            <p:cNvPr id="136" name="Rectangle 174"/>
            <p:cNvSpPr>
              <a:spLocks noChangeArrowheads="1"/>
            </p:cNvSpPr>
            <p:nvPr/>
          </p:nvSpPr>
          <p:spPr bwMode="auto">
            <a:xfrm>
              <a:off x="3406" y="489"/>
              <a:ext cx="363" cy="28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defTabSz="762000"/>
              <a:r>
                <a:rPr lang="en-US" altLang="ko-KR" sz="1400" b="1" dirty="0">
                  <a:solidFill>
                    <a:srgbClr val="C00000"/>
                  </a:solidFill>
                </a:rPr>
                <a:t>Bus</a:t>
              </a:r>
            </a:p>
            <a:p>
              <a:pPr algn="ctr" defTabSz="762000"/>
              <a:r>
                <a:rPr lang="en-US" altLang="ko-KR" sz="1400" b="1" dirty="0">
                  <a:solidFill>
                    <a:srgbClr val="C00000"/>
                  </a:solidFill>
                </a:rPr>
                <a:t>Buffer</a:t>
              </a:r>
            </a:p>
          </p:txBody>
        </p:sp>
        <p:sp>
          <p:nvSpPr>
            <p:cNvPr id="137" name="Line 177"/>
            <p:cNvSpPr>
              <a:spLocks noChangeShapeType="1"/>
            </p:cNvSpPr>
            <p:nvPr/>
          </p:nvSpPr>
          <p:spPr bwMode="auto">
            <a:xfrm>
              <a:off x="2090" y="1456"/>
              <a:ext cx="0" cy="9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  <p:grpSp>
          <p:nvGrpSpPr>
            <p:cNvPr id="138" name="Group 179"/>
            <p:cNvGrpSpPr>
              <a:grpSpLocks/>
            </p:cNvGrpSpPr>
            <p:nvPr/>
          </p:nvGrpSpPr>
          <p:grpSpPr bwMode="auto">
            <a:xfrm>
              <a:off x="2229" y="915"/>
              <a:ext cx="210" cy="144"/>
              <a:chOff x="1966" y="1414"/>
              <a:chExt cx="193" cy="165"/>
            </a:xfrm>
          </p:grpSpPr>
          <p:sp>
            <p:nvSpPr>
              <p:cNvPr id="164" name="Line 180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5" name="Line 181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6" name="Arc 182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7" name="Arc 183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8" name="Line 184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39" name="Group 185"/>
            <p:cNvGrpSpPr>
              <a:grpSpLocks/>
            </p:cNvGrpSpPr>
            <p:nvPr/>
          </p:nvGrpSpPr>
          <p:grpSpPr bwMode="auto">
            <a:xfrm>
              <a:off x="2235" y="1130"/>
              <a:ext cx="211" cy="146"/>
              <a:chOff x="1966" y="1414"/>
              <a:chExt cx="193" cy="165"/>
            </a:xfrm>
          </p:grpSpPr>
          <p:sp>
            <p:nvSpPr>
              <p:cNvPr id="159" name="Line 186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0" name="Line 187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1" name="Arc 188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2" name="Arc 189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63" name="Line 190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40" name="Group 191"/>
            <p:cNvGrpSpPr>
              <a:grpSpLocks/>
            </p:cNvGrpSpPr>
            <p:nvPr/>
          </p:nvGrpSpPr>
          <p:grpSpPr bwMode="auto">
            <a:xfrm>
              <a:off x="2232" y="1347"/>
              <a:ext cx="210" cy="145"/>
              <a:chOff x="1966" y="1414"/>
              <a:chExt cx="193" cy="165"/>
            </a:xfrm>
          </p:grpSpPr>
          <p:sp>
            <p:nvSpPr>
              <p:cNvPr id="154" name="Line 192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5" name="Line 193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6" name="Arc 194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7" name="Arc 195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8" name="Line 196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41" name="Group 197"/>
            <p:cNvGrpSpPr>
              <a:grpSpLocks/>
            </p:cNvGrpSpPr>
            <p:nvPr/>
          </p:nvGrpSpPr>
          <p:grpSpPr bwMode="auto">
            <a:xfrm>
              <a:off x="2988" y="1990"/>
              <a:ext cx="210" cy="145"/>
              <a:chOff x="1966" y="1414"/>
              <a:chExt cx="193" cy="165"/>
            </a:xfrm>
          </p:grpSpPr>
          <p:sp>
            <p:nvSpPr>
              <p:cNvPr id="149" name="Line 198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0" name="Line 199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1" name="Arc 200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2" name="Arc 201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53" name="Line 202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142" name="Group 203"/>
            <p:cNvGrpSpPr>
              <a:grpSpLocks/>
            </p:cNvGrpSpPr>
            <p:nvPr/>
          </p:nvGrpSpPr>
          <p:grpSpPr bwMode="auto">
            <a:xfrm>
              <a:off x="2991" y="2208"/>
              <a:ext cx="211" cy="145"/>
              <a:chOff x="1966" y="1414"/>
              <a:chExt cx="193" cy="165"/>
            </a:xfrm>
          </p:grpSpPr>
          <p:sp>
            <p:nvSpPr>
              <p:cNvPr id="144" name="Line 204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45" name="Line 205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46" name="Arc 206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47" name="Arc 207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148" name="Line 208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400" b="1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143" name="Arc 210"/>
            <p:cNvSpPr>
              <a:spLocks/>
            </p:cNvSpPr>
            <p:nvPr/>
          </p:nvSpPr>
          <p:spPr bwMode="auto">
            <a:xfrm>
              <a:off x="3800" y="1790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400" b="1">
                <a:solidFill>
                  <a:srgbClr val="C00000"/>
                </a:solidFill>
              </a:endParaRPr>
            </a:p>
          </p:txBody>
        </p:sp>
      </p:grpSp>
      <p:sp>
        <p:nvSpPr>
          <p:cNvPr id="174" name="Rectangle 173"/>
          <p:cNvSpPr/>
          <p:nvPr/>
        </p:nvSpPr>
        <p:spPr>
          <a:xfrm>
            <a:off x="7355565" y="6076845"/>
            <a:ext cx="28895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/>
              <a:t>Fig:  Priority interrupt hardware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215155" y="2593881"/>
            <a:ext cx="419785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IN" b="1" dirty="0"/>
              <a:t>MASK REGISTER </a:t>
            </a:r>
            <a:r>
              <a:rPr lang="en-IN" dirty="0"/>
              <a:t>has the </a:t>
            </a:r>
            <a:r>
              <a:rPr lang="en-IN" b="1" dirty="0"/>
              <a:t>same number of bits </a:t>
            </a:r>
            <a:r>
              <a:rPr lang="en-IN" dirty="0"/>
              <a:t>as the interrupt register.</a:t>
            </a:r>
            <a:endParaRPr lang="en-IN" b="1" dirty="0"/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IN" b="1" dirty="0"/>
              <a:t>Interrupt bit</a:t>
            </a:r>
            <a:r>
              <a:rPr lang="en-IN" dirty="0"/>
              <a:t> and its corresponding </a:t>
            </a:r>
            <a:r>
              <a:rPr lang="en-IN" b="1" dirty="0"/>
              <a:t>mask bit </a:t>
            </a:r>
            <a:r>
              <a:rPr lang="en-IN" dirty="0"/>
              <a:t>are applied to an </a:t>
            </a:r>
            <a:r>
              <a:rPr lang="en-IN" b="1" dirty="0"/>
              <a:t>AND gate </a:t>
            </a:r>
            <a:r>
              <a:rPr lang="en-IN" dirty="0"/>
              <a:t>to produce the </a:t>
            </a:r>
            <a:r>
              <a:rPr lang="en-IN" b="1" dirty="0"/>
              <a:t>four inputs to a PRIORITY ENCODER.</a:t>
            </a:r>
            <a:endParaRPr lang="en-IN" dirty="0"/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IN" dirty="0"/>
              <a:t>So, an </a:t>
            </a:r>
            <a:r>
              <a:rPr lang="en-IN" b="1" dirty="0"/>
              <a:t>interrupt</a:t>
            </a:r>
            <a:r>
              <a:rPr lang="en-IN" dirty="0"/>
              <a:t> is recognized only if its </a:t>
            </a:r>
            <a:r>
              <a:rPr lang="en-IN" b="1" dirty="0"/>
              <a:t>corresponding MASK BIT is set to 1 </a:t>
            </a:r>
            <a:r>
              <a:rPr lang="en-IN" dirty="0"/>
              <a:t>by the </a:t>
            </a:r>
            <a:r>
              <a:rPr lang="en-IN" b="1" dirty="0"/>
              <a:t>program.</a:t>
            </a:r>
            <a:endParaRPr lang="en-IN" dirty="0"/>
          </a:p>
          <a:p>
            <a:pPr marL="228600" indent="-228600" algn="just">
              <a:buFont typeface="Arial" panose="020B0604020202020204" pitchFamily="34" charset="0"/>
              <a:buChar char="•"/>
            </a:pPr>
            <a:r>
              <a:rPr lang="en-IN" b="1" dirty="0"/>
              <a:t>Priority Encoder </a:t>
            </a:r>
            <a:r>
              <a:rPr lang="en-IN" dirty="0"/>
              <a:t>generates </a:t>
            </a:r>
            <a:r>
              <a:rPr lang="en-IN" b="1" dirty="0"/>
              <a:t>TWO BITS of the VECTOR ADDRESS (x, y)</a:t>
            </a:r>
            <a:r>
              <a:rPr lang="en-IN" dirty="0"/>
              <a:t>, which is transferred to </a:t>
            </a:r>
            <a:r>
              <a:rPr lang="en-IN" b="1" dirty="0"/>
              <a:t>CPU.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xmlns="" id="{21E4549B-8988-15DC-00D1-C451E6FCE9A6}"/>
              </a:ext>
            </a:extLst>
          </p:cNvPr>
          <p:cNvSpPr txBox="1"/>
          <p:nvPr/>
        </p:nvSpPr>
        <p:spPr>
          <a:xfrm>
            <a:off x="4072870" y="151605"/>
            <a:ext cx="609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Parallel Priority Interrupt</a:t>
            </a:r>
          </a:p>
        </p:txBody>
      </p:sp>
    </p:spTree>
    <p:extLst>
      <p:ext uri="{BB962C8B-B14F-4D97-AF65-F5344CB8AC3E}">
        <p14:creationId xmlns:p14="http://schemas.microsoft.com/office/powerpoint/2010/main" val="2335846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7589" y="747352"/>
            <a:ext cx="9929713" cy="2514599"/>
          </a:xfrm>
        </p:spPr>
        <p:txBody>
          <a:bodyPr>
            <a:normAutofit/>
          </a:bodyPr>
          <a:lstStyle/>
          <a:p>
            <a:pPr algn="just"/>
            <a:r>
              <a:rPr lang="en-IN" sz="1800" dirty="0"/>
              <a:t>An </a:t>
            </a:r>
            <a:r>
              <a:rPr lang="en-IN" sz="1800" b="1" dirty="0"/>
              <a:t>Encoder</a:t>
            </a:r>
            <a:r>
              <a:rPr lang="en-IN" sz="1800" dirty="0"/>
              <a:t> </a:t>
            </a:r>
            <a:r>
              <a:rPr lang="en-IN" sz="1800" b="1" dirty="0"/>
              <a:t>o/p sets</a:t>
            </a:r>
            <a:r>
              <a:rPr lang="en-IN" sz="1800" dirty="0"/>
              <a:t> an </a:t>
            </a:r>
            <a:r>
              <a:rPr lang="en-IN" sz="1800" b="1" dirty="0"/>
              <a:t>INTERRUPT STATUS FLIP-FLOP (IST)  </a:t>
            </a:r>
            <a:r>
              <a:rPr lang="en-IN" sz="1800" dirty="0"/>
              <a:t>when an interrupt occurs</a:t>
            </a:r>
          </a:p>
          <a:p>
            <a:pPr algn="just"/>
            <a:r>
              <a:rPr lang="en-IN" sz="1800" b="1" dirty="0"/>
              <a:t>INTERRUPT ENABLE FLIP-FLOP (IEN)</a:t>
            </a:r>
            <a:r>
              <a:rPr lang="en-IN" sz="1800" dirty="0"/>
              <a:t> can be </a:t>
            </a:r>
            <a:r>
              <a:rPr lang="en-IN" sz="1800" b="1" dirty="0"/>
              <a:t>set </a:t>
            </a:r>
            <a:r>
              <a:rPr lang="en-IN" sz="1800" dirty="0"/>
              <a:t>or</a:t>
            </a:r>
            <a:r>
              <a:rPr lang="en-IN" sz="1800" b="1" dirty="0"/>
              <a:t> cleared </a:t>
            </a:r>
            <a:r>
              <a:rPr lang="en-IN" sz="1800" dirty="0"/>
              <a:t>by the </a:t>
            </a:r>
            <a:r>
              <a:rPr lang="en-IN" sz="1800" b="1" dirty="0"/>
              <a:t>PROGRAM</a:t>
            </a:r>
            <a:r>
              <a:rPr lang="en-IN" sz="1800" dirty="0"/>
              <a:t> to provide an </a:t>
            </a:r>
            <a:r>
              <a:rPr lang="en-IN" sz="1800" b="1" dirty="0"/>
              <a:t>OVERALL CONTROL </a:t>
            </a:r>
            <a:r>
              <a:rPr lang="en-IN" sz="1800" dirty="0"/>
              <a:t>over the </a:t>
            </a:r>
            <a:r>
              <a:rPr lang="en-IN" sz="1800" b="1" dirty="0"/>
              <a:t>interrupt system</a:t>
            </a:r>
          </a:p>
          <a:p>
            <a:pPr algn="just"/>
            <a:r>
              <a:rPr lang="en-IN" sz="1800" b="1" dirty="0"/>
              <a:t>IST ANDed</a:t>
            </a:r>
            <a:r>
              <a:rPr lang="en-IN" sz="1800" dirty="0"/>
              <a:t> with </a:t>
            </a:r>
            <a:r>
              <a:rPr lang="en-IN" sz="1800" b="1" dirty="0"/>
              <a:t>IEN</a:t>
            </a:r>
            <a:r>
              <a:rPr lang="en-IN" sz="1800" dirty="0"/>
              <a:t> provide a </a:t>
            </a:r>
            <a:r>
              <a:rPr lang="en-IN" sz="1800" b="1" dirty="0"/>
              <a:t>common interrupt signal </a:t>
            </a:r>
            <a:r>
              <a:rPr lang="en-IN" sz="1800" dirty="0"/>
              <a:t>for the </a:t>
            </a:r>
            <a:r>
              <a:rPr lang="en-IN" sz="1800" b="1" dirty="0"/>
              <a:t>CPU</a:t>
            </a:r>
          </a:p>
          <a:p>
            <a:pPr algn="just"/>
            <a:r>
              <a:rPr lang="en-IN" sz="1800" b="1" dirty="0"/>
              <a:t>INTERRUPT ACKNOWLEDGE (INTACK) </a:t>
            </a:r>
            <a:r>
              <a:rPr lang="en-IN" sz="1800" dirty="0"/>
              <a:t>signal </a:t>
            </a:r>
            <a:r>
              <a:rPr lang="en-IN" sz="1800" b="1" dirty="0"/>
              <a:t>from CPU enables</a:t>
            </a:r>
            <a:r>
              <a:rPr lang="en-IN" sz="1800" dirty="0"/>
              <a:t> the </a:t>
            </a:r>
            <a:r>
              <a:rPr lang="en-IN" sz="1800" b="1" dirty="0"/>
              <a:t>bus buffers </a:t>
            </a:r>
            <a:r>
              <a:rPr lang="en-IN" sz="1800" dirty="0"/>
              <a:t>and a </a:t>
            </a:r>
            <a:r>
              <a:rPr lang="en-IN" sz="1800" b="1" dirty="0"/>
              <a:t>VECTOR ADDRESS (VAD) </a:t>
            </a:r>
            <a:r>
              <a:rPr lang="en-IN" sz="1800" dirty="0"/>
              <a:t>is placed into the </a:t>
            </a:r>
            <a:r>
              <a:rPr lang="en-IN" sz="1800" b="1" dirty="0"/>
              <a:t>data bus</a:t>
            </a:r>
          </a:p>
        </p:txBody>
      </p:sp>
      <p:grpSp>
        <p:nvGrpSpPr>
          <p:cNvPr id="4" name="Group 211"/>
          <p:cNvGrpSpPr>
            <a:grpSpLocks/>
          </p:cNvGrpSpPr>
          <p:nvPr/>
        </p:nvGrpSpPr>
        <p:grpSpPr bwMode="auto">
          <a:xfrm>
            <a:off x="4770307" y="2423709"/>
            <a:ext cx="6511250" cy="4172820"/>
            <a:chOff x="394" y="436"/>
            <a:chExt cx="4030" cy="2264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394" y="1385"/>
              <a:ext cx="17" cy="1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965" y="1831"/>
              <a:ext cx="379" cy="3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Mask</a:t>
              </a:r>
            </a:p>
            <a:p>
              <a:pPr defTabSz="617538" latinLnBrk="1"/>
              <a:endParaRPr lang="en-US" altLang="ko-KR" sz="160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917" y="1910"/>
              <a:ext cx="496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register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855" y="2388"/>
              <a:ext cx="475" cy="3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INTACK</a:t>
              </a:r>
            </a:p>
            <a:p>
              <a:pPr defTabSz="617538"/>
              <a:endParaRPr lang="en-US" altLang="ko-KR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828" y="2477"/>
              <a:ext cx="596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from CPU</a:t>
              </a:r>
            </a:p>
          </p:txBody>
        </p:sp>
        <p:grpSp>
          <p:nvGrpSpPr>
            <p:cNvPr id="10" name="Group 178"/>
            <p:cNvGrpSpPr>
              <a:grpSpLocks/>
            </p:cNvGrpSpPr>
            <p:nvPr/>
          </p:nvGrpSpPr>
          <p:grpSpPr bwMode="auto">
            <a:xfrm>
              <a:off x="2232" y="702"/>
              <a:ext cx="210" cy="144"/>
              <a:chOff x="1966" y="1414"/>
              <a:chExt cx="193" cy="165"/>
            </a:xfrm>
          </p:grpSpPr>
          <p:sp>
            <p:nvSpPr>
              <p:cNvPr id="169" name="Line 10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70" name="Line 11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71" name="Arc 12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72" name="Arc 13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73" name="Line 14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>
              <a:off x="2449" y="774"/>
              <a:ext cx="1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" name="Line 17"/>
            <p:cNvSpPr>
              <a:spLocks noChangeShapeType="1"/>
            </p:cNvSpPr>
            <p:nvPr/>
          </p:nvSpPr>
          <p:spPr bwMode="auto">
            <a:xfrm flipH="1">
              <a:off x="1593" y="736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 flipH="1">
              <a:off x="1821" y="811"/>
              <a:ext cx="41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4" name="Line 25"/>
            <p:cNvSpPr>
              <a:spLocks noChangeShapeType="1"/>
            </p:cNvSpPr>
            <p:nvPr/>
          </p:nvSpPr>
          <p:spPr bwMode="auto">
            <a:xfrm flipV="1">
              <a:off x="2436" y="988"/>
              <a:ext cx="158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5" name="Line 26"/>
            <p:cNvSpPr>
              <a:spLocks noChangeShapeType="1"/>
            </p:cNvSpPr>
            <p:nvPr/>
          </p:nvSpPr>
          <p:spPr bwMode="auto">
            <a:xfrm flipH="1">
              <a:off x="1593" y="952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 flipH="1">
              <a:off x="1908" y="1026"/>
              <a:ext cx="33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7" name="Line 34"/>
            <p:cNvSpPr>
              <a:spLocks noChangeShapeType="1"/>
            </p:cNvSpPr>
            <p:nvPr/>
          </p:nvSpPr>
          <p:spPr bwMode="auto">
            <a:xfrm flipV="1">
              <a:off x="2449" y="1204"/>
              <a:ext cx="139" cy="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8" name="Line 35"/>
            <p:cNvSpPr>
              <a:spLocks noChangeShapeType="1"/>
            </p:cNvSpPr>
            <p:nvPr/>
          </p:nvSpPr>
          <p:spPr bwMode="auto">
            <a:xfrm flipH="1">
              <a:off x="1593" y="1166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9" name="Line 36"/>
            <p:cNvSpPr>
              <a:spLocks noChangeShapeType="1"/>
            </p:cNvSpPr>
            <p:nvPr/>
          </p:nvSpPr>
          <p:spPr bwMode="auto">
            <a:xfrm flipH="1">
              <a:off x="1993" y="1242"/>
              <a:ext cx="2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0" name="Line 43"/>
            <p:cNvSpPr>
              <a:spLocks noChangeShapeType="1"/>
            </p:cNvSpPr>
            <p:nvPr/>
          </p:nvSpPr>
          <p:spPr bwMode="auto">
            <a:xfrm>
              <a:off x="2439" y="1419"/>
              <a:ext cx="15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1" name="Line 44"/>
            <p:cNvSpPr>
              <a:spLocks noChangeShapeType="1"/>
            </p:cNvSpPr>
            <p:nvPr/>
          </p:nvSpPr>
          <p:spPr bwMode="auto">
            <a:xfrm flipH="1">
              <a:off x="1593" y="1380"/>
              <a:ext cx="64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2" name="Line 45"/>
            <p:cNvSpPr>
              <a:spLocks noChangeShapeType="1"/>
            </p:cNvSpPr>
            <p:nvPr/>
          </p:nvSpPr>
          <p:spPr bwMode="auto">
            <a:xfrm flipH="1">
              <a:off x="2087" y="1456"/>
              <a:ext cx="1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3" name="Rectangle 46"/>
            <p:cNvSpPr>
              <a:spLocks noChangeArrowheads="1"/>
            </p:cNvSpPr>
            <p:nvPr/>
          </p:nvSpPr>
          <p:spPr bwMode="auto">
            <a:xfrm>
              <a:off x="2592" y="670"/>
              <a:ext cx="517" cy="846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4" name="Rectangle 47"/>
            <p:cNvSpPr>
              <a:spLocks noChangeArrowheads="1"/>
            </p:cNvSpPr>
            <p:nvPr/>
          </p:nvSpPr>
          <p:spPr bwMode="auto">
            <a:xfrm>
              <a:off x="2655" y="1001"/>
              <a:ext cx="448" cy="2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Priority</a:t>
              </a:r>
            </a:p>
            <a:p>
              <a:pPr defTabSz="617538"/>
              <a:endParaRPr lang="en-US" altLang="ko-KR" sz="140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5" name="Rectangle 48"/>
            <p:cNvSpPr>
              <a:spLocks noChangeArrowheads="1"/>
            </p:cNvSpPr>
            <p:nvPr/>
          </p:nvSpPr>
          <p:spPr bwMode="auto">
            <a:xfrm>
              <a:off x="2664" y="1090"/>
              <a:ext cx="478" cy="16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40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Encoder</a:t>
              </a:r>
            </a:p>
          </p:txBody>
        </p:sp>
        <p:sp>
          <p:nvSpPr>
            <p:cNvPr id="26" name="Rectangle 49"/>
            <p:cNvSpPr>
              <a:spLocks noChangeArrowheads="1"/>
            </p:cNvSpPr>
            <p:nvPr/>
          </p:nvSpPr>
          <p:spPr bwMode="auto">
            <a:xfrm>
              <a:off x="2568" y="697"/>
              <a:ext cx="135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</a:t>
              </a:r>
            </a:p>
          </p:txBody>
        </p:sp>
        <p:sp>
          <p:nvSpPr>
            <p:cNvPr id="27" name="Rectangle 50"/>
            <p:cNvSpPr>
              <a:spLocks noChangeArrowheads="1"/>
            </p:cNvSpPr>
            <p:nvPr/>
          </p:nvSpPr>
          <p:spPr bwMode="auto">
            <a:xfrm>
              <a:off x="2601" y="723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28" name="Rectangle 51"/>
            <p:cNvSpPr>
              <a:spLocks noChangeArrowheads="1"/>
            </p:cNvSpPr>
            <p:nvPr/>
          </p:nvSpPr>
          <p:spPr bwMode="auto">
            <a:xfrm>
              <a:off x="2568" y="912"/>
              <a:ext cx="135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</a:t>
              </a:r>
            </a:p>
          </p:txBody>
        </p:sp>
        <p:sp>
          <p:nvSpPr>
            <p:cNvPr id="29" name="Rectangle 52"/>
            <p:cNvSpPr>
              <a:spLocks noChangeArrowheads="1"/>
            </p:cNvSpPr>
            <p:nvPr/>
          </p:nvSpPr>
          <p:spPr bwMode="auto">
            <a:xfrm>
              <a:off x="2601" y="938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30" name="Rectangle 53"/>
            <p:cNvSpPr>
              <a:spLocks noChangeArrowheads="1"/>
            </p:cNvSpPr>
            <p:nvPr/>
          </p:nvSpPr>
          <p:spPr bwMode="auto">
            <a:xfrm>
              <a:off x="2568" y="1128"/>
              <a:ext cx="135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</a:t>
              </a:r>
            </a:p>
          </p:txBody>
        </p:sp>
        <p:sp>
          <p:nvSpPr>
            <p:cNvPr id="31" name="Rectangle 54"/>
            <p:cNvSpPr>
              <a:spLocks noChangeArrowheads="1"/>
            </p:cNvSpPr>
            <p:nvPr/>
          </p:nvSpPr>
          <p:spPr bwMode="auto">
            <a:xfrm>
              <a:off x="2607" y="1153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</a:t>
              </a:r>
            </a:p>
          </p:txBody>
        </p:sp>
        <p:sp>
          <p:nvSpPr>
            <p:cNvPr id="32" name="Rectangle 55"/>
            <p:cNvSpPr>
              <a:spLocks noChangeArrowheads="1"/>
            </p:cNvSpPr>
            <p:nvPr/>
          </p:nvSpPr>
          <p:spPr bwMode="auto">
            <a:xfrm>
              <a:off x="2568" y="1342"/>
              <a:ext cx="135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</a:t>
              </a:r>
            </a:p>
          </p:txBody>
        </p:sp>
        <p:sp>
          <p:nvSpPr>
            <p:cNvPr id="33" name="Rectangle 56"/>
            <p:cNvSpPr>
              <a:spLocks noChangeArrowheads="1"/>
            </p:cNvSpPr>
            <p:nvPr/>
          </p:nvSpPr>
          <p:spPr bwMode="auto">
            <a:xfrm>
              <a:off x="2613" y="1367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3</a:t>
              </a:r>
            </a:p>
          </p:txBody>
        </p:sp>
        <p:sp>
          <p:nvSpPr>
            <p:cNvPr id="34" name="Freeform 57"/>
            <p:cNvSpPr>
              <a:spLocks/>
            </p:cNvSpPr>
            <p:nvPr/>
          </p:nvSpPr>
          <p:spPr bwMode="auto">
            <a:xfrm>
              <a:off x="1388" y="626"/>
              <a:ext cx="205" cy="866"/>
            </a:xfrm>
            <a:custGeom>
              <a:avLst/>
              <a:gdLst>
                <a:gd name="T0" fmla="*/ 0 w 203"/>
                <a:gd name="T1" fmla="*/ 0 h 987"/>
                <a:gd name="T2" fmla="*/ 212 w 203"/>
                <a:gd name="T3" fmla="*/ 0 h 987"/>
                <a:gd name="T4" fmla="*/ 212 w 203"/>
                <a:gd name="T5" fmla="*/ 512 h 987"/>
                <a:gd name="T6" fmla="*/ 0 60000 65536"/>
                <a:gd name="T7" fmla="*/ 0 60000 65536"/>
                <a:gd name="T8" fmla="*/ 0 60000 65536"/>
                <a:gd name="T9" fmla="*/ 0 w 203"/>
                <a:gd name="T10" fmla="*/ 0 h 987"/>
                <a:gd name="T11" fmla="*/ 203 w 203"/>
                <a:gd name="T12" fmla="*/ 987 h 9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" h="987">
                  <a:moveTo>
                    <a:pt x="0" y="0"/>
                  </a:moveTo>
                  <a:lnTo>
                    <a:pt x="202" y="0"/>
                  </a:lnTo>
                  <a:lnTo>
                    <a:pt x="202" y="98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5" name="Line 58"/>
            <p:cNvSpPr>
              <a:spLocks noChangeShapeType="1"/>
            </p:cNvSpPr>
            <p:nvPr/>
          </p:nvSpPr>
          <p:spPr bwMode="auto">
            <a:xfrm>
              <a:off x="1390" y="843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6" name="Line 59"/>
            <p:cNvSpPr>
              <a:spLocks noChangeShapeType="1"/>
            </p:cNvSpPr>
            <p:nvPr/>
          </p:nvSpPr>
          <p:spPr bwMode="auto">
            <a:xfrm>
              <a:off x="1390" y="1058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7" name="Line 60"/>
            <p:cNvSpPr>
              <a:spLocks noChangeShapeType="1"/>
            </p:cNvSpPr>
            <p:nvPr/>
          </p:nvSpPr>
          <p:spPr bwMode="auto">
            <a:xfrm>
              <a:off x="1390" y="1274"/>
              <a:ext cx="20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8" name="Line 61"/>
            <p:cNvSpPr>
              <a:spLocks noChangeShapeType="1"/>
            </p:cNvSpPr>
            <p:nvPr/>
          </p:nvSpPr>
          <p:spPr bwMode="auto">
            <a:xfrm>
              <a:off x="1378" y="1494"/>
              <a:ext cx="2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39" name="Line 62"/>
            <p:cNvSpPr>
              <a:spLocks noChangeShapeType="1"/>
            </p:cNvSpPr>
            <p:nvPr/>
          </p:nvSpPr>
          <p:spPr bwMode="auto">
            <a:xfrm>
              <a:off x="1386" y="632"/>
              <a:ext cx="0" cy="86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40" name="Rectangle 63"/>
            <p:cNvSpPr>
              <a:spLocks noChangeArrowheads="1"/>
            </p:cNvSpPr>
            <p:nvPr/>
          </p:nvSpPr>
          <p:spPr bwMode="auto">
            <a:xfrm>
              <a:off x="1419" y="660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41" name="Rectangle 64"/>
            <p:cNvSpPr>
              <a:spLocks noChangeArrowheads="1"/>
            </p:cNvSpPr>
            <p:nvPr/>
          </p:nvSpPr>
          <p:spPr bwMode="auto">
            <a:xfrm>
              <a:off x="1419" y="874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42" name="Rectangle 65"/>
            <p:cNvSpPr>
              <a:spLocks noChangeArrowheads="1"/>
            </p:cNvSpPr>
            <p:nvPr/>
          </p:nvSpPr>
          <p:spPr bwMode="auto">
            <a:xfrm>
              <a:off x="1410" y="1090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</a:t>
              </a:r>
            </a:p>
          </p:txBody>
        </p:sp>
        <p:sp>
          <p:nvSpPr>
            <p:cNvPr id="43" name="Rectangle 66"/>
            <p:cNvSpPr>
              <a:spLocks noChangeArrowheads="1"/>
            </p:cNvSpPr>
            <p:nvPr/>
          </p:nvSpPr>
          <p:spPr bwMode="auto">
            <a:xfrm>
              <a:off x="1419" y="1304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3</a:t>
              </a:r>
            </a:p>
          </p:txBody>
        </p:sp>
        <p:sp>
          <p:nvSpPr>
            <p:cNvPr id="44" name="Line 68"/>
            <p:cNvSpPr>
              <a:spLocks noChangeShapeType="1"/>
            </p:cNvSpPr>
            <p:nvPr/>
          </p:nvSpPr>
          <p:spPr bwMode="auto">
            <a:xfrm>
              <a:off x="2000" y="1245"/>
              <a:ext cx="0" cy="93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45" name="Line 69"/>
            <p:cNvSpPr>
              <a:spLocks noChangeShapeType="1"/>
            </p:cNvSpPr>
            <p:nvPr/>
          </p:nvSpPr>
          <p:spPr bwMode="auto">
            <a:xfrm>
              <a:off x="1912" y="1032"/>
              <a:ext cx="0" cy="93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46" name="Line 70"/>
            <p:cNvSpPr>
              <a:spLocks noChangeShapeType="1"/>
            </p:cNvSpPr>
            <p:nvPr/>
          </p:nvSpPr>
          <p:spPr bwMode="auto">
            <a:xfrm>
              <a:off x="1830" y="816"/>
              <a:ext cx="0" cy="9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47" name="Line 71"/>
            <p:cNvSpPr>
              <a:spLocks noChangeShapeType="1"/>
            </p:cNvSpPr>
            <p:nvPr/>
          </p:nvSpPr>
          <p:spPr bwMode="auto">
            <a:xfrm>
              <a:off x="1611" y="1742"/>
              <a:ext cx="21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48" name="Line 72"/>
            <p:cNvSpPr>
              <a:spLocks noChangeShapeType="1"/>
            </p:cNvSpPr>
            <p:nvPr/>
          </p:nvSpPr>
          <p:spPr bwMode="auto">
            <a:xfrm>
              <a:off x="1611" y="1956"/>
              <a:ext cx="2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49" name="Line 73"/>
            <p:cNvSpPr>
              <a:spLocks noChangeShapeType="1"/>
            </p:cNvSpPr>
            <p:nvPr/>
          </p:nvSpPr>
          <p:spPr bwMode="auto">
            <a:xfrm>
              <a:off x="1611" y="2170"/>
              <a:ext cx="38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0" name="Line 74"/>
            <p:cNvSpPr>
              <a:spLocks noChangeShapeType="1"/>
            </p:cNvSpPr>
            <p:nvPr/>
          </p:nvSpPr>
          <p:spPr bwMode="auto">
            <a:xfrm>
              <a:off x="1611" y="2386"/>
              <a:ext cx="49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1" name="Line 75"/>
            <p:cNvSpPr>
              <a:spLocks noChangeShapeType="1"/>
            </p:cNvSpPr>
            <p:nvPr/>
          </p:nvSpPr>
          <p:spPr bwMode="auto">
            <a:xfrm>
              <a:off x="3521" y="740"/>
              <a:ext cx="0" cy="113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2" name="Line 76"/>
            <p:cNvSpPr>
              <a:spLocks noChangeShapeType="1"/>
            </p:cNvSpPr>
            <p:nvPr/>
          </p:nvSpPr>
          <p:spPr bwMode="auto">
            <a:xfrm>
              <a:off x="3649" y="730"/>
              <a:ext cx="0" cy="114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3" name="Line 77"/>
            <p:cNvSpPr>
              <a:spLocks noChangeShapeType="1"/>
            </p:cNvSpPr>
            <p:nvPr/>
          </p:nvSpPr>
          <p:spPr bwMode="auto">
            <a:xfrm>
              <a:off x="3527" y="73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4" name="Line 78"/>
            <p:cNvSpPr>
              <a:spLocks noChangeShapeType="1"/>
            </p:cNvSpPr>
            <p:nvPr/>
          </p:nvSpPr>
          <p:spPr bwMode="auto">
            <a:xfrm>
              <a:off x="3527" y="88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5" name="Rectangle 79"/>
            <p:cNvSpPr>
              <a:spLocks noChangeArrowheads="1"/>
            </p:cNvSpPr>
            <p:nvPr/>
          </p:nvSpPr>
          <p:spPr bwMode="auto">
            <a:xfrm>
              <a:off x="3506" y="735"/>
              <a:ext cx="161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y</a:t>
              </a:r>
            </a:p>
          </p:txBody>
        </p:sp>
        <p:sp>
          <p:nvSpPr>
            <p:cNvPr id="56" name="Rectangle 80"/>
            <p:cNvSpPr>
              <a:spLocks noChangeArrowheads="1"/>
            </p:cNvSpPr>
            <p:nvPr/>
          </p:nvSpPr>
          <p:spPr bwMode="auto">
            <a:xfrm>
              <a:off x="3506" y="881"/>
              <a:ext cx="15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x</a:t>
              </a:r>
            </a:p>
          </p:txBody>
        </p:sp>
        <p:sp>
          <p:nvSpPr>
            <p:cNvPr id="57" name="Line 81"/>
            <p:cNvSpPr>
              <a:spLocks noChangeShapeType="1"/>
            </p:cNvSpPr>
            <p:nvPr/>
          </p:nvSpPr>
          <p:spPr bwMode="auto">
            <a:xfrm>
              <a:off x="3527" y="102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8" name="Line 82"/>
            <p:cNvSpPr>
              <a:spLocks noChangeShapeType="1"/>
            </p:cNvSpPr>
            <p:nvPr/>
          </p:nvSpPr>
          <p:spPr bwMode="auto">
            <a:xfrm>
              <a:off x="3527" y="116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9" name="Line 83"/>
            <p:cNvSpPr>
              <a:spLocks noChangeShapeType="1"/>
            </p:cNvSpPr>
            <p:nvPr/>
          </p:nvSpPr>
          <p:spPr bwMode="auto">
            <a:xfrm>
              <a:off x="3527" y="1310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0" name="Line 84"/>
            <p:cNvSpPr>
              <a:spLocks noChangeShapeType="1"/>
            </p:cNvSpPr>
            <p:nvPr/>
          </p:nvSpPr>
          <p:spPr bwMode="auto">
            <a:xfrm>
              <a:off x="3527" y="1456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1" name="Line 85"/>
            <p:cNvSpPr>
              <a:spLocks noChangeShapeType="1"/>
            </p:cNvSpPr>
            <p:nvPr/>
          </p:nvSpPr>
          <p:spPr bwMode="auto">
            <a:xfrm>
              <a:off x="3527" y="160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2" name="Line 86"/>
            <p:cNvSpPr>
              <a:spLocks noChangeShapeType="1"/>
            </p:cNvSpPr>
            <p:nvPr/>
          </p:nvSpPr>
          <p:spPr bwMode="auto">
            <a:xfrm>
              <a:off x="3527" y="1742"/>
              <a:ext cx="11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3" name="Line 87"/>
            <p:cNvSpPr>
              <a:spLocks noChangeShapeType="1"/>
            </p:cNvSpPr>
            <p:nvPr/>
          </p:nvSpPr>
          <p:spPr bwMode="auto">
            <a:xfrm>
              <a:off x="3527" y="1878"/>
              <a:ext cx="125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4" name="Arc 88"/>
            <p:cNvSpPr>
              <a:spLocks/>
            </p:cNvSpPr>
            <p:nvPr/>
          </p:nvSpPr>
          <p:spPr bwMode="auto">
            <a:xfrm>
              <a:off x="3802" y="787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5" name="Line 89"/>
            <p:cNvSpPr>
              <a:spLocks noChangeShapeType="1"/>
            </p:cNvSpPr>
            <p:nvPr/>
          </p:nvSpPr>
          <p:spPr bwMode="auto">
            <a:xfrm>
              <a:off x="3656" y="811"/>
              <a:ext cx="15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6" name="Rectangle 90"/>
            <p:cNvSpPr>
              <a:spLocks noChangeArrowheads="1"/>
            </p:cNvSpPr>
            <p:nvPr/>
          </p:nvSpPr>
          <p:spPr bwMode="auto">
            <a:xfrm>
              <a:off x="2979" y="1649"/>
              <a:ext cx="254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IST</a:t>
              </a:r>
            </a:p>
          </p:txBody>
        </p:sp>
        <p:sp>
          <p:nvSpPr>
            <p:cNvPr id="67" name="Rectangle 91"/>
            <p:cNvSpPr>
              <a:spLocks noChangeArrowheads="1"/>
            </p:cNvSpPr>
            <p:nvPr/>
          </p:nvSpPr>
          <p:spPr bwMode="auto">
            <a:xfrm>
              <a:off x="2503" y="1649"/>
              <a:ext cx="280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IEN</a:t>
              </a:r>
            </a:p>
          </p:txBody>
        </p:sp>
        <p:sp>
          <p:nvSpPr>
            <p:cNvPr id="68" name="Rectangle 92"/>
            <p:cNvSpPr>
              <a:spLocks noChangeArrowheads="1"/>
            </p:cNvSpPr>
            <p:nvPr/>
          </p:nvSpPr>
          <p:spPr bwMode="auto">
            <a:xfrm>
              <a:off x="2992" y="1677"/>
              <a:ext cx="203" cy="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69" name="Rectangle 93"/>
            <p:cNvSpPr>
              <a:spLocks noChangeArrowheads="1"/>
            </p:cNvSpPr>
            <p:nvPr/>
          </p:nvSpPr>
          <p:spPr bwMode="auto">
            <a:xfrm>
              <a:off x="2529" y="1677"/>
              <a:ext cx="208" cy="11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0" name="Arc 94"/>
            <p:cNvSpPr>
              <a:spLocks/>
            </p:cNvSpPr>
            <p:nvPr/>
          </p:nvSpPr>
          <p:spPr bwMode="auto">
            <a:xfrm>
              <a:off x="3208" y="1710"/>
              <a:ext cx="75" cy="49"/>
            </a:xfrm>
            <a:custGeom>
              <a:avLst/>
              <a:gdLst>
                <a:gd name="T0" fmla="*/ 0 w 21600"/>
                <a:gd name="T1" fmla="*/ 0 h 17776"/>
                <a:gd name="T2" fmla="*/ 0 w 21600"/>
                <a:gd name="T3" fmla="*/ 0 h 17776"/>
                <a:gd name="T4" fmla="*/ 0 w 21600"/>
                <a:gd name="T5" fmla="*/ 0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1" name="Freeform 95"/>
            <p:cNvSpPr>
              <a:spLocks/>
            </p:cNvSpPr>
            <p:nvPr/>
          </p:nvSpPr>
          <p:spPr bwMode="auto">
            <a:xfrm>
              <a:off x="3117" y="1372"/>
              <a:ext cx="229" cy="361"/>
            </a:xfrm>
            <a:custGeom>
              <a:avLst/>
              <a:gdLst>
                <a:gd name="T0" fmla="*/ 215 w 209"/>
                <a:gd name="T1" fmla="*/ 214 h 411"/>
                <a:gd name="T2" fmla="*/ 329 w 209"/>
                <a:gd name="T3" fmla="*/ 214 h 411"/>
                <a:gd name="T4" fmla="*/ 329 w 209"/>
                <a:gd name="T5" fmla="*/ 0 h 411"/>
                <a:gd name="T6" fmla="*/ 0 w 209"/>
                <a:gd name="T7" fmla="*/ 0 h 4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9"/>
                <a:gd name="T13" fmla="*/ 0 h 411"/>
                <a:gd name="T14" fmla="*/ 209 w 209"/>
                <a:gd name="T15" fmla="*/ 411 h 4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9" h="411">
                  <a:moveTo>
                    <a:pt x="136" y="410"/>
                  </a:moveTo>
                  <a:lnTo>
                    <a:pt x="208" y="410"/>
                  </a:lnTo>
                  <a:lnTo>
                    <a:pt x="208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2" name="Line 102"/>
            <p:cNvSpPr>
              <a:spLocks noChangeShapeType="1"/>
            </p:cNvSpPr>
            <p:nvPr/>
          </p:nvSpPr>
          <p:spPr bwMode="auto">
            <a:xfrm flipH="1">
              <a:off x="2795" y="2032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3" name="Line 103"/>
            <p:cNvSpPr>
              <a:spLocks noChangeShapeType="1"/>
            </p:cNvSpPr>
            <p:nvPr/>
          </p:nvSpPr>
          <p:spPr bwMode="auto">
            <a:xfrm flipH="1">
              <a:off x="2621" y="2064"/>
              <a:ext cx="37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4" name="Line 104"/>
            <p:cNvSpPr>
              <a:spLocks noChangeShapeType="1"/>
            </p:cNvSpPr>
            <p:nvPr/>
          </p:nvSpPr>
          <p:spPr bwMode="auto">
            <a:xfrm flipH="1">
              <a:off x="2895" y="2100"/>
              <a:ext cx="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5" name="Arc 111"/>
            <p:cNvSpPr>
              <a:spLocks/>
            </p:cNvSpPr>
            <p:nvPr/>
          </p:nvSpPr>
          <p:spPr bwMode="auto">
            <a:xfrm>
              <a:off x="3809" y="2255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6" name="Line 112"/>
            <p:cNvSpPr>
              <a:spLocks noChangeShapeType="1"/>
            </p:cNvSpPr>
            <p:nvPr/>
          </p:nvSpPr>
          <p:spPr bwMode="auto">
            <a:xfrm>
              <a:off x="3199" y="2278"/>
              <a:ext cx="60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7" name="Line 113"/>
            <p:cNvSpPr>
              <a:spLocks noChangeShapeType="1"/>
            </p:cNvSpPr>
            <p:nvPr/>
          </p:nvSpPr>
          <p:spPr bwMode="auto">
            <a:xfrm flipH="1">
              <a:off x="2798" y="224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8" name="Line 114"/>
            <p:cNvSpPr>
              <a:spLocks noChangeShapeType="1"/>
            </p:cNvSpPr>
            <p:nvPr/>
          </p:nvSpPr>
          <p:spPr bwMode="auto">
            <a:xfrm flipH="1" flipV="1">
              <a:off x="2635" y="2313"/>
              <a:ext cx="357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9" name="Freeform 115"/>
            <p:cNvSpPr>
              <a:spLocks/>
            </p:cNvSpPr>
            <p:nvPr/>
          </p:nvSpPr>
          <p:spPr bwMode="auto">
            <a:xfrm>
              <a:off x="2804" y="1738"/>
              <a:ext cx="181" cy="506"/>
            </a:xfrm>
            <a:custGeom>
              <a:avLst/>
              <a:gdLst>
                <a:gd name="T0" fmla="*/ 254 w 166"/>
                <a:gd name="T1" fmla="*/ 0 h 577"/>
                <a:gd name="T2" fmla="*/ 0 w 166"/>
                <a:gd name="T3" fmla="*/ 0 h 577"/>
                <a:gd name="T4" fmla="*/ 0 w 166"/>
                <a:gd name="T5" fmla="*/ 298 h 577"/>
                <a:gd name="T6" fmla="*/ 0 60000 65536"/>
                <a:gd name="T7" fmla="*/ 0 60000 65536"/>
                <a:gd name="T8" fmla="*/ 0 60000 65536"/>
                <a:gd name="T9" fmla="*/ 0 w 166"/>
                <a:gd name="T10" fmla="*/ 0 h 577"/>
                <a:gd name="T11" fmla="*/ 166 w 166"/>
                <a:gd name="T12" fmla="*/ 577 h 5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" h="577">
                  <a:moveTo>
                    <a:pt x="165" y="0"/>
                  </a:moveTo>
                  <a:lnTo>
                    <a:pt x="0" y="0"/>
                  </a:lnTo>
                  <a:lnTo>
                    <a:pt x="0" y="576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0" name="Line 116"/>
            <p:cNvSpPr>
              <a:spLocks noChangeShapeType="1"/>
            </p:cNvSpPr>
            <p:nvPr/>
          </p:nvSpPr>
          <p:spPr bwMode="auto">
            <a:xfrm>
              <a:off x="2902" y="2105"/>
              <a:ext cx="0" cy="3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1" name="Arc 117"/>
            <p:cNvSpPr>
              <a:spLocks/>
            </p:cNvSpPr>
            <p:nvPr/>
          </p:nvSpPr>
          <p:spPr bwMode="auto">
            <a:xfrm>
              <a:off x="2902" y="2463"/>
              <a:ext cx="75" cy="48"/>
            </a:xfrm>
            <a:custGeom>
              <a:avLst/>
              <a:gdLst>
                <a:gd name="T0" fmla="*/ 0 w 21600"/>
                <a:gd name="T1" fmla="*/ 0 h 17776"/>
                <a:gd name="T2" fmla="*/ 0 w 21600"/>
                <a:gd name="T3" fmla="*/ 0 h 17776"/>
                <a:gd name="T4" fmla="*/ 0 w 21600"/>
                <a:gd name="T5" fmla="*/ 0 h 17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776"/>
                <a:gd name="T11" fmla="*/ 21600 w 21600"/>
                <a:gd name="T12" fmla="*/ 17776 h 17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776" fill="none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</a:path>
                <a:path w="21600" h="17776" stroke="0" extrusionOk="0">
                  <a:moveTo>
                    <a:pt x="19565" y="-1"/>
                  </a:moveTo>
                  <a:cubicBezTo>
                    <a:pt x="20905" y="2864"/>
                    <a:pt x="21600" y="5989"/>
                    <a:pt x="21600" y="9152"/>
                  </a:cubicBezTo>
                  <a:cubicBezTo>
                    <a:pt x="21600" y="12119"/>
                    <a:pt x="20988" y="15055"/>
                    <a:pt x="19803" y="17775"/>
                  </a:cubicBezTo>
                  <a:lnTo>
                    <a:pt x="0" y="91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2" name="Line 118"/>
            <p:cNvSpPr>
              <a:spLocks noChangeShapeType="1"/>
            </p:cNvSpPr>
            <p:nvPr/>
          </p:nvSpPr>
          <p:spPr bwMode="auto">
            <a:xfrm>
              <a:off x="2969" y="2488"/>
              <a:ext cx="854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3" name="Line 119"/>
            <p:cNvSpPr>
              <a:spLocks noChangeShapeType="1"/>
            </p:cNvSpPr>
            <p:nvPr/>
          </p:nvSpPr>
          <p:spPr bwMode="auto">
            <a:xfrm>
              <a:off x="2635" y="1790"/>
              <a:ext cx="3" cy="5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4" name="Oval 120"/>
            <p:cNvSpPr>
              <a:spLocks noChangeArrowheads="1"/>
            </p:cNvSpPr>
            <p:nvPr/>
          </p:nvSpPr>
          <p:spPr bwMode="auto">
            <a:xfrm>
              <a:off x="2788" y="2017"/>
              <a:ext cx="30" cy="24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5" name="Oval 121"/>
            <p:cNvSpPr>
              <a:spLocks noChangeArrowheads="1"/>
            </p:cNvSpPr>
            <p:nvPr/>
          </p:nvSpPr>
          <p:spPr bwMode="auto">
            <a:xfrm>
              <a:off x="2616" y="2055"/>
              <a:ext cx="30" cy="22"/>
            </a:xfrm>
            <a:prstGeom prst="ellipse">
              <a:avLst/>
            </a:prstGeom>
            <a:solidFill>
              <a:srgbClr val="000000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6" name="Arc 122"/>
            <p:cNvSpPr>
              <a:spLocks/>
            </p:cNvSpPr>
            <p:nvPr/>
          </p:nvSpPr>
          <p:spPr bwMode="auto">
            <a:xfrm>
              <a:off x="3451" y="787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7" name="Line 123"/>
            <p:cNvSpPr>
              <a:spLocks noChangeShapeType="1"/>
            </p:cNvSpPr>
            <p:nvPr/>
          </p:nvSpPr>
          <p:spPr bwMode="auto">
            <a:xfrm>
              <a:off x="3110" y="811"/>
              <a:ext cx="34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8" name="Arc 124"/>
            <p:cNvSpPr>
              <a:spLocks/>
            </p:cNvSpPr>
            <p:nvPr/>
          </p:nvSpPr>
          <p:spPr bwMode="auto">
            <a:xfrm>
              <a:off x="3448" y="922"/>
              <a:ext cx="76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89" name="Line 125"/>
            <p:cNvSpPr>
              <a:spLocks noChangeShapeType="1"/>
            </p:cNvSpPr>
            <p:nvPr/>
          </p:nvSpPr>
          <p:spPr bwMode="auto">
            <a:xfrm>
              <a:off x="3113" y="952"/>
              <a:ext cx="349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0" name="Arc 126"/>
            <p:cNvSpPr>
              <a:spLocks/>
            </p:cNvSpPr>
            <p:nvPr/>
          </p:nvSpPr>
          <p:spPr bwMode="auto">
            <a:xfrm>
              <a:off x="3806" y="931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1" name="Line 127"/>
            <p:cNvSpPr>
              <a:spLocks noChangeShapeType="1"/>
            </p:cNvSpPr>
            <p:nvPr/>
          </p:nvSpPr>
          <p:spPr bwMode="auto">
            <a:xfrm flipV="1">
              <a:off x="3647" y="946"/>
              <a:ext cx="178" cy="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2" name="Arc 128"/>
            <p:cNvSpPr>
              <a:spLocks/>
            </p:cNvSpPr>
            <p:nvPr/>
          </p:nvSpPr>
          <p:spPr bwMode="auto">
            <a:xfrm>
              <a:off x="3802" y="1074"/>
              <a:ext cx="76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3" name="Line 129"/>
            <p:cNvSpPr>
              <a:spLocks noChangeShapeType="1"/>
            </p:cNvSpPr>
            <p:nvPr/>
          </p:nvSpPr>
          <p:spPr bwMode="auto">
            <a:xfrm>
              <a:off x="3650" y="1096"/>
              <a:ext cx="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4" name="Arc 130"/>
            <p:cNvSpPr>
              <a:spLocks/>
            </p:cNvSpPr>
            <p:nvPr/>
          </p:nvSpPr>
          <p:spPr bwMode="auto">
            <a:xfrm>
              <a:off x="3806" y="1217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5" name="Line 131"/>
            <p:cNvSpPr>
              <a:spLocks noChangeShapeType="1"/>
            </p:cNvSpPr>
            <p:nvPr/>
          </p:nvSpPr>
          <p:spPr bwMode="auto">
            <a:xfrm>
              <a:off x="3653" y="1242"/>
              <a:ext cx="1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6" name="Arc 132"/>
            <p:cNvSpPr>
              <a:spLocks/>
            </p:cNvSpPr>
            <p:nvPr/>
          </p:nvSpPr>
          <p:spPr bwMode="auto">
            <a:xfrm>
              <a:off x="3806" y="1356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7" name="Line 133"/>
            <p:cNvSpPr>
              <a:spLocks noChangeShapeType="1"/>
            </p:cNvSpPr>
            <p:nvPr/>
          </p:nvSpPr>
          <p:spPr bwMode="auto">
            <a:xfrm>
              <a:off x="3647" y="1380"/>
              <a:ext cx="17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8" name="Arc 134"/>
            <p:cNvSpPr>
              <a:spLocks/>
            </p:cNvSpPr>
            <p:nvPr/>
          </p:nvSpPr>
          <p:spPr bwMode="auto">
            <a:xfrm>
              <a:off x="3806" y="1503"/>
              <a:ext cx="75" cy="48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9" name="Line 135"/>
            <p:cNvSpPr>
              <a:spLocks noChangeShapeType="1"/>
            </p:cNvSpPr>
            <p:nvPr/>
          </p:nvSpPr>
          <p:spPr bwMode="auto">
            <a:xfrm>
              <a:off x="3653" y="1526"/>
              <a:ext cx="17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0" name="Arc 136"/>
            <p:cNvSpPr>
              <a:spLocks/>
            </p:cNvSpPr>
            <p:nvPr/>
          </p:nvSpPr>
          <p:spPr bwMode="auto">
            <a:xfrm>
              <a:off x="3806" y="1652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1" name="Line 137"/>
            <p:cNvSpPr>
              <a:spLocks noChangeShapeType="1"/>
            </p:cNvSpPr>
            <p:nvPr/>
          </p:nvSpPr>
          <p:spPr bwMode="auto">
            <a:xfrm>
              <a:off x="3650" y="1672"/>
              <a:ext cx="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2" name="Line 139"/>
            <p:cNvSpPr>
              <a:spLocks noChangeShapeType="1"/>
            </p:cNvSpPr>
            <p:nvPr/>
          </p:nvSpPr>
          <p:spPr bwMode="auto">
            <a:xfrm>
              <a:off x="3650" y="1814"/>
              <a:ext cx="15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3" name="Freeform 140"/>
            <p:cNvSpPr>
              <a:spLocks/>
            </p:cNvSpPr>
            <p:nvPr/>
          </p:nvSpPr>
          <p:spPr bwMode="auto">
            <a:xfrm>
              <a:off x="1388" y="1630"/>
              <a:ext cx="215" cy="861"/>
            </a:xfrm>
            <a:custGeom>
              <a:avLst/>
              <a:gdLst>
                <a:gd name="T0" fmla="*/ 0 w 203"/>
                <a:gd name="T1" fmla="*/ 0 h 980"/>
                <a:gd name="T2" fmla="*/ 269 w 203"/>
                <a:gd name="T3" fmla="*/ 0 h 980"/>
                <a:gd name="T4" fmla="*/ 269 w 203"/>
                <a:gd name="T5" fmla="*/ 512 h 980"/>
                <a:gd name="T6" fmla="*/ 0 60000 65536"/>
                <a:gd name="T7" fmla="*/ 0 60000 65536"/>
                <a:gd name="T8" fmla="*/ 0 60000 65536"/>
                <a:gd name="T9" fmla="*/ 0 w 203"/>
                <a:gd name="T10" fmla="*/ 0 h 980"/>
                <a:gd name="T11" fmla="*/ 203 w 203"/>
                <a:gd name="T12" fmla="*/ 980 h 9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" h="980">
                  <a:moveTo>
                    <a:pt x="0" y="0"/>
                  </a:moveTo>
                  <a:lnTo>
                    <a:pt x="202" y="0"/>
                  </a:lnTo>
                  <a:lnTo>
                    <a:pt x="202" y="979"/>
                  </a:ln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4" name="Line 141"/>
            <p:cNvSpPr>
              <a:spLocks noChangeShapeType="1"/>
            </p:cNvSpPr>
            <p:nvPr/>
          </p:nvSpPr>
          <p:spPr bwMode="auto">
            <a:xfrm>
              <a:off x="1390" y="1848"/>
              <a:ext cx="2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5" name="Line 142"/>
            <p:cNvSpPr>
              <a:spLocks noChangeShapeType="1"/>
            </p:cNvSpPr>
            <p:nvPr/>
          </p:nvSpPr>
          <p:spPr bwMode="auto">
            <a:xfrm>
              <a:off x="1390" y="2064"/>
              <a:ext cx="21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6" name="Line 143"/>
            <p:cNvSpPr>
              <a:spLocks noChangeShapeType="1"/>
            </p:cNvSpPr>
            <p:nvPr/>
          </p:nvSpPr>
          <p:spPr bwMode="auto">
            <a:xfrm>
              <a:off x="1390" y="2278"/>
              <a:ext cx="2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7" name="Line 144"/>
            <p:cNvSpPr>
              <a:spLocks noChangeShapeType="1"/>
            </p:cNvSpPr>
            <p:nvPr/>
          </p:nvSpPr>
          <p:spPr bwMode="auto">
            <a:xfrm>
              <a:off x="1390" y="2493"/>
              <a:ext cx="22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8" name="Line 145"/>
            <p:cNvSpPr>
              <a:spLocks noChangeShapeType="1"/>
            </p:cNvSpPr>
            <p:nvPr/>
          </p:nvSpPr>
          <p:spPr bwMode="auto">
            <a:xfrm>
              <a:off x="1386" y="1638"/>
              <a:ext cx="0" cy="86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9" name="Rectangle 146"/>
            <p:cNvSpPr>
              <a:spLocks noChangeArrowheads="1"/>
            </p:cNvSpPr>
            <p:nvPr/>
          </p:nvSpPr>
          <p:spPr bwMode="auto">
            <a:xfrm>
              <a:off x="1419" y="1664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10" name="Rectangle 147"/>
            <p:cNvSpPr>
              <a:spLocks noChangeArrowheads="1"/>
            </p:cNvSpPr>
            <p:nvPr/>
          </p:nvSpPr>
          <p:spPr bwMode="auto">
            <a:xfrm>
              <a:off x="1419" y="1880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111" name="Rectangle 148"/>
            <p:cNvSpPr>
              <a:spLocks noChangeArrowheads="1"/>
            </p:cNvSpPr>
            <p:nvPr/>
          </p:nvSpPr>
          <p:spPr bwMode="auto">
            <a:xfrm>
              <a:off x="1410" y="2094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2</a:t>
              </a:r>
            </a:p>
          </p:txBody>
        </p:sp>
        <p:sp>
          <p:nvSpPr>
            <p:cNvPr id="112" name="Rectangle 149"/>
            <p:cNvSpPr>
              <a:spLocks noChangeArrowheads="1"/>
            </p:cNvSpPr>
            <p:nvPr/>
          </p:nvSpPr>
          <p:spPr bwMode="auto">
            <a:xfrm>
              <a:off x="1419" y="2310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3</a:t>
              </a:r>
            </a:p>
          </p:txBody>
        </p:sp>
        <p:sp>
          <p:nvSpPr>
            <p:cNvPr id="113" name="Rectangle 150"/>
            <p:cNvSpPr>
              <a:spLocks noChangeArrowheads="1"/>
            </p:cNvSpPr>
            <p:nvPr/>
          </p:nvSpPr>
          <p:spPr bwMode="auto">
            <a:xfrm>
              <a:off x="3498" y="1033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14" name="Rectangle 151"/>
            <p:cNvSpPr>
              <a:spLocks noChangeArrowheads="1"/>
            </p:cNvSpPr>
            <p:nvPr/>
          </p:nvSpPr>
          <p:spPr bwMode="auto">
            <a:xfrm>
              <a:off x="3498" y="1177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15" name="Rectangle 152"/>
            <p:cNvSpPr>
              <a:spLocks noChangeArrowheads="1"/>
            </p:cNvSpPr>
            <p:nvPr/>
          </p:nvSpPr>
          <p:spPr bwMode="auto">
            <a:xfrm>
              <a:off x="3498" y="1317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16" name="Rectangle 153"/>
            <p:cNvSpPr>
              <a:spLocks noChangeArrowheads="1"/>
            </p:cNvSpPr>
            <p:nvPr/>
          </p:nvSpPr>
          <p:spPr bwMode="auto">
            <a:xfrm>
              <a:off x="3498" y="1461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17" name="Rectangle 154"/>
            <p:cNvSpPr>
              <a:spLocks noChangeArrowheads="1"/>
            </p:cNvSpPr>
            <p:nvPr/>
          </p:nvSpPr>
          <p:spPr bwMode="auto">
            <a:xfrm>
              <a:off x="3498" y="1607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18" name="Rectangle 155"/>
            <p:cNvSpPr>
              <a:spLocks noChangeArrowheads="1"/>
            </p:cNvSpPr>
            <p:nvPr/>
          </p:nvSpPr>
          <p:spPr bwMode="auto">
            <a:xfrm>
              <a:off x="3498" y="1747"/>
              <a:ext cx="168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0</a:t>
              </a:r>
            </a:p>
          </p:txBody>
        </p:sp>
        <p:sp>
          <p:nvSpPr>
            <p:cNvPr id="119" name="Line 156"/>
            <p:cNvSpPr>
              <a:spLocks noChangeShapeType="1"/>
            </p:cNvSpPr>
            <p:nvPr/>
          </p:nvSpPr>
          <p:spPr bwMode="auto">
            <a:xfrm>
              <a:off x="3196" y="2064"/>
              <a:ext cx="3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0" name="Arc 157"/>
            <p:cNvSpPr>
              <a:spLocks/>
            </p:cNvSpPr>
            <p:nvPr/>
          </p:nvSpPr>
          <p:spPr bwMode="auto">
            <a:xfrm>
              <a:off x="3562" y="1881"/>
              <a:ext cx="62" cy="60"/>
            </a:xfrm>
            <a:custGeom>
              <a:avLst/>
              <a:gdLst>
                <a:gd name="T0" fmla="*/ 0 w 17776"/>
                <a:gd name="T1" fmla="*/ 0 h 21600"/>
                <a:gd name="T2" fmla="*/ 0 w 17776"/>
                <a:gd name="T3" fmla="*/ 0 h 21600"/>
                <a:gd name="T4" fmla="*/ 0 w 17776"/>
                <a:gd name="T5" fmla="*/ 0 h 21600"/>
                <a:gd name="T6" fmla="*/ 0 60000 65536"/>
                <a:gd name="T7" fmla="*/ 0 60000 65536"/>
                <a:gd name="T8" fmla="*/ 0 60000 65536"/>
                <a:gd name="T9" fmla="*/ 0 w 17776"/>
                <a:gd name="T10" fmla="*/ 0 h 21600"/>
                <a:gd name="T11" fmla="*/ 17776 w 1777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76" h="21600" fill="none" extrusionOk="0">
                  <a:moveTo>
                    <a:pt x="17775" y="19803"/>
                  </a:moveTo>
                  <a:cubicBezTo>
                    <a:pt x="15055" y="20988"/>
                    <a:pt x="12119" y="21599"/>
                    <a:pt x="9152" y="21600"/>
                  </a:cubicBezTo>
                  <a:cubicBezTo>
                    <a:pt x="5989" y="21600"/>
                    <a:pt x="2864" y="20905"/>
                    <a:pt x="-1" y="19565"/>
                  </a:cubicBezTo>
                </a:path>
                <a:path w="17776" h="21600" stroke="0" extrusionOk="0">
                  <a:moveTo>
                    <a:pt x="17775" y="19803"/>
                  </a:moveTo>
                  <a:cubicBezTo>
                    <a:pt x="15055" y="20988"/>
                    <a:pt x="12119" y="21599"/>
                    <a:pt x="9152" y="21600"/>
                  </a:cubicBezTo>
                  <a:cubicBezTo>
                    <a:pt x="5989" y="21600"/>
                    <a:pt x="2864" y="20905"/>
                    <a:pt x="-1" y="19565"/>
                  </a:cubicBezTo>
                  <a:lnTo>
                    <a:pt x="91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1" name="Line 158"/>
            <p:cNvSpPr>
              <a:spLocks noChangeShapeType="1"/>
            </p:cNvSpPr>
            <p:nvPr/>
          </p:nvSpPr>
          <p:spPr bwMode="auto">
            <a:xfrm flipV="1">
              <a:off x="3592" y="1927"/>
              <a:ext cx="0" cy="13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2" name="Line 159"/>
            <p:cNvSpPr>
              <a:spLocks noChangeShapeType="1"/>
            </p:cNvSpPr>
            <p:nvPr/>
          </p:nvSpPr>
          <p:spPr bwMode="auto">
            <a:xfrm flipH="1">
              <a:off x="1193" y="73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3" name="Rectangle 160"/>
            <p:cNvSpPr>
              <a:spLocks noChangeArrowheads="1"/>
            </p:cNvSpPr>
            <p:nvPr/>
          </p:nvSpPr>
          <p:spPr bwMode="auto">
            <a:xfrm>
              <a:off x="907" y="660"/>
              <a:ext cx="317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Disk</a:t>
              </a:r>
            </a:p>
          </p:txBody>
        </p:sp>
        <p:sp>
          <p:nvSpPr>
            <p:cNvPr id="124" name="Line 161"/>
            <p:cNvSpPr>
              <a:spLocks noChangeShapeType="1"/>
            </p:cNvSpPr>
            <p:nvPr/>
          </p:nvSpPr>
          <p:spPr bwMode="auto">
            <a:xfrm flipH="1">
              <a:off x="1193" y="952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5" name="Rectangle 162"/>
            <p:cNvSpPr>
              <a:spLocks noChangeArrowheads="1"/>
            </p:cNvSpPr>
            <p:nvPr/>
          </p:nvSpPr>
          <p:spPr bwMode="auto">
            <a:xfrm>
              <a:off x="814" y="874"/>
              <a:ext cx="457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Printer</a:t>
              </a:r>
            </a:p>
          </p:txBody>
        </p:sp>
        <p:sp>
          <p:nvSpPr>
            <p:cNvPr id="126" name="Line 163"/>
            <p:cNvSpPr>
              <a:spLocks noChangeShapeType="1"/>
            </p:cNvSpPr>
            <p:nvPr/>
          </p:nvSpPr>
          <p:spPr bwMode="auto">
            <a:xfrm flipH="1">
              <a:off x="1193" y="1166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7" name="Rectangle 164"/>
            <p:cNvSpPr>
              <a:spLocks noChangeArrowheads="1"/>
            </p:cNvSpPr>
            <p:nvPr/>
          </p:nvSpPr>
          <p:spPr bwMode="auto">
            <a:xfrm>
              <a:off x="782" y="1090"/>
              <a:ext cx="469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Reader</a:t>
              </a:r>
            </a:p>
          </p:txBody>
        </p:sp>
        <p:sp>
          <p:nvSpPr>
            <p:cNvPr id="128" name="Line 165"/>
            <p:cNvSpPr>
              <a:spLocks noChangeShapeType="1"/>
            </p:cNvSpPr>
            <p:nvPr/>
          </p:nvSpPr>
          <p:spPr bwMode="auto">
            <a:xfrm flipH="1">
              <a:off x="1193" y="1380"/>
              <a:ext cx="19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29" name="Rectangle 166"/>
            <p:cNvSpPr>
              <a:spLocks noChangeArrowheads="1"/>
            </p:cNvSpPr>
            <p:nvPr/>
          </p:nvSpPr>
          <p:spPr bwMode="auto">
            <a:xfrm>
              <a:off x="681" y="1304"/>
              <a:ext cx="591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Keyboard</a:t>
              </a:r>
            </a:p>
          </p:txBody>
        </p:sp>
        <p:sp>
          <p:nvSpPr>
            <p:cNvPr id="130" name="Rectangle 167"/>
            <p:cNvSpPr>
              <a:spLocks noChangeArrowheads="1"/>
            </p:cNvSpPr>
            <p:nvPr/>
          </p:nvSpPr>
          <p:spPr bwMode="auto">
            <a:xfrm>
              <a:off x="1141" y="474"/>
              <a:ext cx="991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Interrupt register</a:t>
              </a:r>
            </a:p>
          </p:txBody>
        </p:sp>
        <p:sp>
          <p:nvSpPr>
            <p:cNvPr id="131" name="Rectangle 169"/>
            <p:cNvSpPr>
              <a:spLocks noChangeArrowheads="1"/>
            </p:cNvSpPr>
            <p:nvPr/>
          </p:nvSpPr>
          <p:spPr bwMode="auto">
            <a:xfrm>
              <a:off x="3575" y="1912"/>
              <a:ext cx="451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Enable</a:t>
              </a:r>
            </a:p>
          </p:txBody>
        </p:sp>
        <p:sp>
          <p:nvSpPr>
            <p:cNvPr id="132" name="Rectangle 170"/>
            <p:cNvSpPr>
              <a:spLocks noChangeArrowheads="1"/>
            </p:cNvSpPr>
            <p:nvPr/>
          </p:nvSpPr>
          <p:spPr bwMode="auto">
            <a:xfrm>
              <a:off x="3855" y="2168"/>
              <a:ext cx="569" cy="3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Interrupt</a:t>
              </a:r>
            </a:p>
            <a:p>
              <a:pPr defTabSz="617538"/>
              <a:endParaRPr lang="en-US" altLang="ko-KR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33" name="Rectangle 171"/>
            <p:cNvSpPr>
              <a:spLocks noChangeArrowheads="1"/>
            </p:cNvSpPr>
            <p:nvPr/>
          </p:nvSpPr>
          <p:spPr bwMode="auto">
            <a:xfrm>
              <a:off x="3882" y="2256"/>
              <a:ext cx="455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to CPU</a:t>
              </a:r>
            </a:p>
          </p:txBody>
        </p:sp>
        <p:sp>
          <p:nvSpPr>
            <p:cNvPr id="134" name="Rectangle 172"/>
            <p:cNvSpPr>
              <a:spLocks noChangeArrowheads="1"/>
            </p:cNvSpPr>
            <p:nvPr/>
          </p:nvSpPr>
          <p:spPr bwMode="auto">
            <a:xfrm>
              <a:off x="3916" y="1187"/>
              <a:ext cx="321" cy="3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VAD</a:t>
              </a:r>
            </a:p>
            <a:p>
              <a:pPr defTabSz="617538"/>
              <a:endParaRPr lang="en-US" altLang="ko-KR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35" name="Rectangle 173"/>
            <p:cNvSpPr>
              <a:spLocks noChangeArrowheads="1"/>
            </p:cNvSpPr>
            <p:nvPr/>
          </p:nvSpPr>
          <p:spPr bwMode="auto">
            <a:xfrm>
              <a:off x="3895" y="1284"/>
              <a:ext cx="455" cy="1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82550" tIns="41275" rIns="82550" bIns="41275">
              <a:spAutoFit/>
            </a:bodyPr>
            <a:lstStyle/>
            <a:p>
              <a:pPr defTabSz="617538"/>
              <a:r>
                <a:rPr lang="en-US" altLang="ko-KR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to CPU</a:t>
              </a:r>
            </a:p>
          </p:txBody>
        </p:sp>
        <p:sp>
          <p:nvSpPr>
            <p:cNvPr id="136" name="Rectangle 174"/>
            <p:cNvSpPr>
              <a:spLocks noChangeArrowheads="1"/>
            </p:cNvSpPr>
            <p:nvPr/>
          </p:nvSpPr>
          <p:spPr bwMode="auto">
            <a:xfrm>
              <a:off x="3373" y="436"/>
              <a:ext cx="430" cy="31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defTabSz="762000"/>
              <a:r>
                <a:rPr lang="en-US" altLang="ko-KR" sz="160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Bus</a:t>
              </a:r>
            </a:p>
            <a:p>
              <a:pPr algn="ctr" defTabSz="762000"/>
              <a:r>
                <a:rPr lang="en-US" altLang="ko-KR" sz="1600" dirty="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Buffer</a:t>
              </a:r>
            </a:p>
          </p:txBody>
        </p:sp>
        <p:sp>
          <p:nvSpPr>
            <p:cNvPr id="137" name="Line 177"/>
            <p:cNvSpPr>
              <a:spLocks noChangeShapeType="1"/>
            </p:cNvSpPr>
            <p:nvPr/>
          </p:nvSpPr>
          <p:spPr bwMode="auto">
            <a:xfrm>
              <a:off x="2090" y="1456"/>
              <a:ext cx="0" cy="9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grpSp>
          <p:nvGrpSpPr>
            <p:cNvPr id="138" name="Group 179"/>
            <p:cNvGrpSpPr>
              <a:grpSpLocks/>
            </p:cNvGrpSpPr>
            <p:nvPr/>
          </p:nvGrpSpPr>
          <p:grpSpPr bwMode="auto">
            <a:xfrm>
              <a:off x="2229" y="915"/>
              <a:ext cx="210" cy="144"/>
              <a:chOff x="1966" y="1414"/>
              <a:chExt cx="193" cy="165"/>
            </a:xfrm>
          </p:grpSpPr>
          <p:sp>
            <p:nvSpPr>
              <p:cNvPr id="164" name="Line 180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65" name="Line 181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66" name="Arc 182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67" name="Arc 183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68" name="Line 184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39" name="Group 185"/>
            <p:cNvGrpSpPr>
              <a:grpSpLocks/>
            </p:cNvGrpSpPr>
            <p:nvPr/>
          </p:nvGrpSpPr>
          <p:grpSpPr bwMode="auto">
            <a:xfrm>
              <a:off x="2235" y="1130"/>
              <a:ext cx="211" cy="146"/>
              <a:chOff x="1966" y="1414"/>
              <a:chExt cx="193" cy="165"/>
            </a:xfrm>
          </p:grpSpPr>
          <p:sp>
            <p:nvSpPr>
              <p:cNvPr id="159" name="Line 186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60" name="Line 187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61" name="Arc 188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62" name="Arc 189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63" name="Line 190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40" name="Group 191"/>
            <p:cNvGrpSpPr>
              <a:grpSpLocks/>
            </p:cNvGrpSpPr>
            <p:nvPr/>
          </p:nvGrpSpPr>
          <p:grpSpPr bwMode="auto">
            <a:xfrm>
              <a:off x="2232" y="1347"/>
              <a:ext cx="210" cy="145"/>
              <a:chOff x="1966" y="1414"/>
              <a:chExt cx="193" cy="165"/>
            </a:xfrm>
          </p:grpSpPr>
          <p:sp>
            <p:nvSpPr>
              <p:cNvPr id="154" name="Line 192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55" name="Line 193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56" name="Arc 194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57" name="Arc 195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58" name="Line 196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41" name="Group 197"/>
            <p:cNvGrpSpPr>
              <a:grpSpLocks/>
            </p:cNvGrpSpPr>
            <p:nvPr/>
          </p:nvGrpSpPr>
          <p:grpSpPr bwMode="auto">
            <a:xfrm>
              <a:off x="2988" y="1990"/>
              <a:ext cx="210" cy="145"/>
              <a:chOff x="1966" y="1414"/>
              <a:chExt cx="193" cy="165"/>
            </a:xfrm>
          </p:grpSpPr>
          <p:sp>
            <p:nvSpPr>
              <p:cNvPr id="149" name="Line 198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50" name="Line 199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51" name="Arc 200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52" name="Arc 201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53" name="Line 202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42" name="Group 203"/>
            <p:cNvGrpSpPr>
              <a:grpSpLocks/>
            </p:cNvGrpSpPr>
            <p:nvPr/>
          </p:nvGrpSpPr>
          <p:grpSpPr bwMode="auto">
            <a:xfrm>
              <a:off x="2991" y="2208"/>
              <a:ext cx="211" cy="145"/>
              <a:chOff x="1966" y="1414"/>
              <a:chExt cx="193" cy="165"/>
            </a:xfrm>
          </p:grpSpPr>
          <p:sp>
            <p:nvSpPr>
              <p:cNvPr id="144" name="Line 204"/>
              <p:cNvSpPr>
                <a:spLocks noChangeShapeType="1"/>
              </p:cNvSpPr>
              <p:nvPr/>
            </p:nvSpPr>
            <p:spPr bwMode="auto">
              <a:xfrm flipV="1">
                <a:off x="1966" y="1414"/>
                <a:ext cx="81" cy="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45" name="Line 205"/>
              <p:cNvSpPr>
                <a:spLocks noChangeShapeType="1"/>
              </p:cNvSpPr>
              <p:nvPr/>
            </p:nvSpPr>
            <p:spPr bwMode="auto">
              <a:xfrm>
                <a:off x="1969" y="1575"/>
                <a:ext cx="8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46" name="Arc 206"/>
              <p:cNvSpPr>
                <a:spLocks/>
              </p:cNvSpPr>
              <p:nvPr/>
            </p:nvSpPr>
            <p:spPr bwMode="auto">
              <a:xfrm>
                <a:off x="2040" y="1416"/>
                <a:ext cx="119" cy="78"/>
              </a:xfrm>
              <a:custGeom>
                <a:avLst/>
                <a:gdLst>
                  <a:gd name="T0" fmla="*/ 0 w 21779"/>
                  <a:gd name="T1" fmla="*/ 0 h 21600"/>
                  <a:gd name="T2" fmla="*/ 0 w 21779"/>
                  <a:gd name="T3" fmla="*/ 0 h 21600"/>
                  <a:gd name="T4" fmla="*/ 0 w 21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779"/>
                  <a:gd name="T10" fmla="*/ 0 h 21600"/>
                  <a:gd name="T11" fmla="*/ 21779 w 21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79" h="21600" fill="none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</a:path>
                  <a:path w="21779" h="21600" stroke="0" extrusionOk="0">
                    <a:moveTo>
                      <a:pt x="-1" y="0"/>
                    </a:moveTo>
                    <a:cubicBezTo>
                      <a:pt x="60" y="0"/>
                      <a:pt x="120" y="-1"/>
                      <a:pt x="181" y="0"/>
                    </a:cubicBezTo>
                    <a:cubicBezTo>
                      <a:pt x="11992" y="0"/>
                      <a:pt x="21613" y="9486"/>
                      <a:pt x="21778" y="21297"/>
                    </a:cubicBezTo>
                    <a:lnTo>
                      <a:pt x="181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47" name="Arc 207"/>
              <p:cNvSpPr>
                <a:spLocks/>
              </p:cNvSpPr>
              <p:nvPr/>
            </p:nvSpPr>
            <p:spPr bwMode="auto">
              <a:xfrm>
                <a:off x="2039" y="1492"/>
                <a:ext cx="117" cy="79"/>
              </a:xfrm>
              <a:custGeom>
                <a:avLst/>
                <a:gdLst>
                  <a:gd name="T0" fmla="*/ 0 w 21784"/>
                  <a:gd name="T1" fmla="*/ 0 h 21903"/>
                  <a:gd name="T2" fmla="*/ 0 w 21784"/>
                  <a:gd name="T3" fmla="*/ 0 h 21903"/>
                  <a:gd name="T4" fmla="*/ 0 w 21784"/>
                  <a:gd name="T5" fmla="*/ 0 h 21903"/>
                  <a:gd name="T6" fmla="*/ 0 60000 65536"/>
                  <a:gd name="T7" fmla="*/ 0 60000 65536"/>
                  <a:gd name="T8" fmla="*/ 0 60000 65536"/>
                  <a:gd name="T9" fmla="*/ 0 w 21784"/>
                  <a:gd name="T10" fmla="*/ 0 h 21903"/>
                  <a:gd name="T11" fmla="*/ 21784 w 21784"/>
                  <a:gd name="T12" fmla="*/ 21903 h 219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84" h="21903" fill="none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</a:path>
                  <a:path w="21784" h="21903" stroke="0" extrusionOk="0">
                    <a:moveTo>
                      <a:pt x="21781" y="0"/>
                    </a:moveTo>
                    <a:cubicBezTo>
                      <a:pt x="21783" y="100"/>
                      <a:pt x="21784" y="201"/>
                      <a:pt x="21784" y="303"/>
                    </a:cubicBezTo>
                    <a:cubicBezTo>
                      <a:pt x="21784" y="12232"/>
                      <a:pt x="12113" y="21903"/>
                      <a:pt x="184" y="21903"/>
                    </a:cubicBezTo>
                    <a:cubicBezTo>
                      <a:pt x="122" y="21903"/>
                      <a:pt x="61" y="21902"/>
                      <a:pt x="-1" y="21902"/>
                    </a:cubicBezTo>
                    <a:lnTo>
                      <a:pt x="184" y="303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48" name="Line 208"/>
              <p:cNvSpPr>
                <a:spLocks noChangeShapeType="1"/>
              </p:cNvSpPr>
              <p:nvPr/>
            </p:nvSpPr>
            <p:spPr bwMode="auto">
              <a:xfrm flipH="1">
                <a:off x="1967" y="1415"/>
                <a:ext cx="0" cy="1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 sz="1600">
                  <a:ln w="0"/>
                  <a:solidFill>
                    <a:srgbClr val="C0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43" name="Arc 210"/>
            <p:cNvSpPr>
              <a:spLocks/>
            </p:cNvSpPr>
            <p:nvPr/>
          </p:nvSpPr>
          <p:spPr bwMode="auto">
            <a:xfrm>
              <a:off x="3800" y="1790"/>
              <a:ext cx="75" cy="49"/>
            </a:xfrm>
            <a:custGeom>
              <a:avLst/>
              <a:gdLst>
                <a:gd name="T0" fmla="*/ 0 w 21600"/>
                <a:gd name="T1" fmla="*/ 0 h 17311"/>
                <a:gd name="T2" fmla="*/ 0 w 21600"/>
                <a:gd name="T3" fmla="*/ 0 h 17311"/>
                <a:gd name="T4" fmla="*/ 0 w 21600"/>
                <a:gd name="T5" fmla="*/ 0 h 173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7311"/>
                <a:gd name="T11" fmla="*/ 21600 w 21600"/>
                <a:gd name="T12" fmla="*/ 17311 h 17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7311" fill="none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</a:path>
                <a:path w="21600" h="17311" stroke="0" extrusionOk="0">
                  <a:moveTo>
                    <a:pt x="1698" y="17311"/>
                  </a:moveTo>
                  <a:cubicBezTo>
                    <a:pt x="577" y="14653"/>
                    <a:pt x="0" y="11799"/>
                    <a:pt x="0" y="8915"/>
                  </a:cubicBezTo>
                  <a:cubicBezTo>
                    <a:pt x="-1" y="5840"/>
                    <a:pt x="656" y="2800"/>
                    <a:pt x="1925" y="-1"/>
                  </a:cubicBezTo>
                  <a:lnTo>
                    <a:pt x="21600" y="891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IN" sz="160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996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8972" y="743773"/>
            <a:ext cx="9805012" cy="345916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0000"/>
              </a:lnSpc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It is a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circuit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that implements the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priority function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two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more inputs arrive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at the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same time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, the input having the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highest priority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will take precedence</a:t>
            </a:r>
          </a:p>
          <a:p>
            <a:pPr algn="just">
              <a:lnSpc>
                <a:spcPct val="100000"/>
              </a:lnSpc>
            </a:pP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Truth table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of a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Four-input Priority Encoder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is given in below Table</a:t>
            </a:r>
          </a:p>
          <a:p>
            <a:pPr lvl="1" algn="just">
              <a:lnSpc>
                <a:spcPct val="100000"/>
              </a:lnSpc>
            </a:pP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9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has the </a:t>
            </a: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highest priority</a:t>
            </a:r>
          </a:p>
          <a:p>
            <a:pPr lvl="1" algn="just">
              <a:lnSpc>
                <a:spcPct val="100000"/>
              </a:lnSpc>
            </a:pP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when </a:t>
            </a: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9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 = 1,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generated is </a:t>
            </a:r>
            <a:r>
              <a:rPr lang="en-IN" sz="1900" b="1" dirty="0" err="1">
                <a:latin typeface="Calibri" panose="020F0502020204030204" pitchFamily="34" charset="0"/>
                <a:cs typeface="Calibri" panose="020F0502020204030204" pitchFamily="34" charset="0"/>
              </a:rPr>
              <a:t>xy</a:t>
            </a: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 = 00</a:t>
            </a:r>
          </a:p>
          <a:p>
            <a:pPr lvl="1" algn="just">
              <a:lnSpc>
                <a:spcPct val="100000"/>
              </a:lnSpc>
            </a:pP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IN" sz="1900" b="1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 has the </a:t>
            </a:r>
            <a:r>
              <a:rPr lang="en-IN" sz="1900" b="1" dirty="0">
                <a:latin typeface="Calibri" panose="020F0502020204030204" pitchFamily="34" charset="0"/>
                <a:cs typeface="Calibri" panose="020F0502020204030204" pitchFamily="34" charset="0"/>
              </a:rPr>
              <a:t>next priority level</a:t>
            </a:r>
            <a:r>
              <a:rPr lang="en-IN" sz="1900" dirty="0">
                <a:latin typeface="Calibri" panose="020F0502020204030204" pitchFamily="34" charset="0"/>
                <a:cs typeface="Calibri" panose="020F0502020204030204" pitchFamily="34" charset="0"/>
              </a:rPr>
              <a:t>, and so on….</a:t>
            </a:r>
          </a:p>
          <a:p>
            <a:pPr algn="just">
              <a:lnSpc>
                <a:spcPct val="100000"/>
              </a:lnSpc>
            </a:pP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IST = 1,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only when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more inputs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equal to 1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>
              <a:lnSpc>
                <a:spcPct val="100000"/>
              </a:lnSpc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all inputs are 0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IST = 0 </a:t>
            </a:r>
          </a:p>
          <a:p>
            <a:pPr lvl="1" algn="just">
              <a:lnSpc>
                <a:spcPct val="100000"/>
              </a:lnSpc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VAD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transferred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to the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CPU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5844" y="4427863"/>
            <a:ext cx="5906156" cy="243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423532" y="4059670"/>
            <a:ext cx="39169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TABLE: Priority Encoder Truth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F6FA1D7-2E78-5EF0-DCC7-8E2CEF831CC4}"/>
              </a:ext>
            </a:extLst>
          </p:cNvPr>
          <p:cNvSpPr txBox="1"/>
          <p:nvPr/>
        </p:nvSpPr>
        <p:spPr>
          <a:xfrm>
            <a:off x="4374614" y="163764"/>
            <a:ext cx="609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Priority Encoder</a:t>
            </a:r>
          </a:p>
        </p:txBody>
      </p:sp>
    </p:spTree>
    <p:extLst>
      <p:ext uri="{BB962C8B-B14F-4D97-AF65-F5344CB8AC3E}">
        <p14:creationId xmlns:p14="http://schemas.microsoft.com/office/powerpoint/2010/main" val="2863034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98439"/>
            <a:ext cx="8229600" cy="56356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Interrupt Cycle</a:t>
            </a:r>
          </a:p>
          <a:p>
            <a:pPr>
              <a:buNone/>
            </a:pPr>
            <a:endParaRPr lang="en-IN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3412432" y="2412953"/>
            <a:ext cx="4767614" cy="2241582"/>
            <a:chOff x="2566987" y="3043238"/>
            <a:chExt cx="4467226" cy="2411338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566987" y="3043238"/>
              <a:ext cx="4467225" cy="771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66988" y="3814763"/>
              <a:ext cx="4467225" cy="1639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E693D96-6EFF-7262-8A3F-C8029CEC33AB}"/>
              </a:ext>
            </a:extLst>
          </p:cNvPr>
          <p:cNvSpPr txBox="1"/>
          <p:nvPr/>
        </p:nvSpPr>
        <p:spPr>
          <a:xfrm>
            <a:off x="1222872" y="880027"/>
            <a:ext cx="99041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At the end of each instruction cycle the </a:t>
            </a:r>
            <a:r>
              <a:rPr lang="en-IN" sz="2000" b="1" dirty="0"/>
              <a:t>CPU checks IEN </a:t>
            </a:r>
            <a:r>
              <a:rPr lang="en-IN" sz="2000" dirty="0"/>
              <a:t>and </a:t>
            </a:r>
            <a:r>
              <a:rPr lang="en-IN" sz="2000" b="1" dirty="0"/>
              <a:t>IST</a:t>
            </a:r>
            <a:endParaRPr lang="en-IN" sz="20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If </a:t>
            </a:r>
            <a:r>
              <a:rPr lang="en-IN" sz="2000" b="1" dirty="0"/>
              <a:t>IEN=0 &amp; IST=0</a:t>
            </a:r>
            <a:r>
              <a:rPr lang="en-IN" sz="2000" dirty="0"/>
              <a:t>, control continues with the next instruction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If </a:t>
            </a:r>
            <a:r>
              <a:rPr lang="en-IN" sz="2000" b="1" dirty="0"/>
              <a:t>IEN=1 &amp; IST=1</a:t>
            </a:r>
            <a:r>
              <a:rPr lang="en-IN" sz="2000" dirty="0"/>
              <a:t>, the CPU goes to an </a:t>
            </a:r>
            <a:r>
              <a:rPr lang="en-IN" sz="2000" b="1" dirty="0"/>
              <a:t>INTERRUPT CYCLE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During the </a:t>
            </a:r>
            <a:r>
              <a:rPr lang="en-IN" sz="2000" b="1" dirty="0"/>
              <a:t>interrupt cycle, </a:t>
            </a:r>
            <a:r>
              <a:rPr lang="en-IN" sz="2000" dirty="0"/>
              <a:t>the </a:t>
            </a:r>
            <a:r>
              <a:rPr lang="en-IN" sz="2000" b="1" dirty="0"/>
              <a:t>CPU</a:t>
            </a:r>
            <a:r>
              <a:rPr lang="en-IN" sz="2000" dirty="0"/>
              <a:t> performs the following </a:t>
            </a:r>
            <a:r>
              <a:rPr lang="en-IN" sz="2000" b="1" dirty="0"/>
              <a:t>sequence of micro-operations</a:t>
            </a:r>
            <a:r>
              <a:rPr lang="en-IN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66014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838200"/>
            <a:ext cx="9754518" cy="1905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000" dirty="0"/>
              <a:t>Figure shows the </a:t>
            </a:r>
            <a:r>
              <a:rPr lang="en-IN" sz="2000" b="1" dirty="0"/>
              <a:t>programs</a:t>
            </a:r>
            <a:r>
              <a:rPr lang="en-IN" sz="2000" dirty="0"/>
              <a:t> that must reside in memory </a:t>
            </a:r>
            <a:r>
              <a:rPr lang="en-IN" sz="2000" b="1" dirty="0"/>
              <a:t>for handling the interrupt system.</a:t>
            </a:r>
          </a:p>
          <a:p>
            <a:pPr algn="just"/>
            <a:r>
              <a:rPr lang="en-IN" sz="2000" dirty="0"/>
              <a:t>Each </a:t>
            </a:r>
            <a:r>
              <a:rPr lang="en-IN" sz="2000" b="1" dirty="0"/>
              <a:t>device</a:t>
            </a:r>
            <a:r>
              <a:rPr lang="en-IN" sz="2000" dirty="0"/>
              <a:t> has its </a:t>
            </a:r>
            <a:r>
              <a:rPr lang="en-IN" sz="2000" b="1" dirty="0"/>
              <a:t>OWN SERVICE PROGRAM </a:t>
            </a:r>
            <a:r>
              <a:rPr lang="en-IN" sz="2000" dirty="0"/>
              <a:t>that can be reached through a </a:t>
            </a:r>
            <a:r>
              <a:rPr lang="en-IN" sz="2000" b="1" dirty="0"/>
              <a:t>JUMP</a:t>
            </a:r>
            <a:r>
              <a:rPr lang="en-IN" sz="2000" dirty="0"/>
              <a:t> </a:t>
            </a:r>
            <a:r>
              <a:rPr lang="en-IN" sz="2000" b="1" dirty="0"/>
              <a:t>(JMP)</a:t>
            </a:r>
            <a:r>
              <a:rPr lang="en-IN" sz="2000" dirty="0"/>
              <a:t> instruction stored at the assigned </a:t>
            </a:r>
            <a:r>
              <a:rPr lang="en-IN" sz="2000" b="1" dirty="0"/>
              <a:t>VECTOR ADDRESS</a:t>
            </a:r>
            <a:r>
              <a:rPr lang="en-IN" sz="2000" dirty="0"/>
              <a:t>. </a:t>
            </a:r>
          </a:p>
          <a:p>
            <a:pPr lvl="1" algn="just"/>
            <a:r>
              <a:rPr lang="en-IN" sz="2000" b="1" dirty="0"/>
              <a:t>Symbolic name</a:t>
            </a:r>
            <a:r>
              <a:rPr lang="en-IN" sz="2000" dirty="0"/>
              <a:t> of each routine represents the </a:t>
            </a:r>
            <a:r>
              <a:rPr lang="en-IN" sz="2000" b="1" dirty="0"/>
              <a:t>starting address of the service program</a:t>
            </a:r>
            <a:r>
              <a:rPr lang="en-IN" sz="2000" dirty="0"/>
              <a:t>. </a:t>
            </a:r>
          </a:p>
          <a:p>
            <a:pPr lvl="1" algn="just"/>
            <a:r>
              <a:rPr lang="en-IN" sz="2000" b="1" dirty="0"/>
              <a:t>Stack</a:t>
            </a:r>
            <a:r>
              <a:rPr lang="en-IN" sz="2000" dirty="0"/>
              <a:t> is used for </a:t>
            </a:r>
            <a:r>
              <a:rPr lang="en-IN" sz="2000" b="1" dirty="0"/>
              <a:t>storing</a:t>
            </a:r>
            <a:r>
              <a:rPr lang="en-IN" sz="2000" dirty="0"/>
              <a:t> the </a:t>
            </a:r>
            <a:r>
              <a:rPr lang="en-IN" sz="2000" b="1" dirty="0"/>
              <a:t>return address </a:t>
            </a:r>
            <a:r>
              <a:rPr lang="en-IN" sz="2000" dirty="0"/>
              <a:t>after each interrupt</a:t>
            </a:r>
            <a:endParaRPr lang="en-IN" sz="2000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12987EA6-7B25-74BB-0DC0-0E2005468698}"/>
              </a:ext>
            </a:extLst>
          </p:cNvPr>
          <p:cNvGrpSpPr/>
          <p:nvPr/>
        </p:nvGrpSpPr>
        <p:grpSpPr>
          <a:xfrm>
            <a:off x="5454727" y="2754308"/>
            <a:ext cx="5943141" cy="4103692"/>
            <a:chOff x="5410659" y="2373308"/>
            <a:chExt cx="5943141" cy="4103692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2119" r="2517" b="2473"/>
            <a:stretch>
              <a:fillRect/>
            </a:stretch>
          </p:blipFill>
          <p:spPr bwMode="auto">
            <a:xfrm>
              <a:off x="5410659" y="2398433"/>
              <a:ext cx="5561682" cy="4078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ectangle 4"/>
            <p:cNvSpPr/>
            <p:nvPr/>
          </p:nvSpPr>
          <p:spPr>
            <a:xfrm>
              <a:off x="6096000" y="2373308"/>
              <a:ext cx="525780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dirty="0"/>
                <a:t>Programs stored in memory for servicing interrupts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2C0924C-1B11-9F04-CE09-571F0CBE6C9D}"/>
              </a:ext>
            </a:extLst>
          </p:cNvPr>
          <p:cNvSpPr txBox="1"/>
          <p:nvPr/>
        </p:nvSpPr>
        <p:spPr>
          <a:xfrm>
            <a:off x="4073487" y="112752"/>
            <a:ext cx="609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Software Routines</a:t>
            </a:r>
          </a:p>
        </p:txBody>
      </p:sp>
    </p:spTree>
    <p:extLst>
      <p:ext uri="{BB962C8B-B14F-4D97-AF65-F5344CB8AC3E}">
        <p14:creationId xmlns:p14="http://schemas.microsoft.com/office/powerpoint/2010/main" val="9877495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940" y="749282"/>
            <a:ext cx="9970265" cy="64309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800" b="1" dirty="0"/>
              <a:t>Example: </a:t>
            </a:r>
            <a:r>
              <a:rPr lang="en-IN" sz="1800" dirty="0"/>
              <a:t> </a:t>
            </a:r>
            <a:endParaRPr lang="en-IN" sz="1800" b="1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b="1" dirty="0"/>
              <a:t>CPU</a:t>
            </a:r>
            <a:r>
              <a:rPr lang="en-IN" sz="1800" dirty="0"/>
              <a:t> is executing the instruction in location </a:t>
            </a:r>
            <a:r>
              <a:rPr lang="en-IN" sz="1800" b="1" dirty="0"/>
              <a:t>749.</a:t>
            </a:r>
            <a:r>
              <a:rPr lang="en-IN" sz="1800" dirty="0"/>
              <a:t>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b="1" dirty="0"/>
              <a:t>KEYBOARD sets</a:t>
            </a:r>
            <a:r>
              <a:rPr lang="en-IN" sz="1800" dirty="0"/>
              <a:t> its </a:t>
            </a:r>
            <a:r>
              <a:rPr lang="en-IN" sz="1800" b="1" dirty="0"/>
              <a:t>interrupt bit.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b="1" dirty="0"/>
              <a:t>Computer</a:t>
            </a:r>
            <a:r>
              <a:rPr lang="en-IN" sz="1800" dirty="0"/>
              <a:t>  </a:t>
            </a:r>
            <a:r>
              <a:rPr lang="en-IN" sz="1800" b="1" dirty="0"/>
              <a:t>stores</a:t>
            </a:r>
            <a:r>
              <a:rPr lang="en-IN" sz="1800" dirty="0"/>
              <a:t> the </a:t>
            </a:r>
            <a:r>
              <a:rPr lang="en-IN" sz="1800" b="1" dirty="0"/>
              <a:t>return address 750 </a:t>
            </a:r>
            <a:r>
              <a:rPr lang="en-IN" sz="1800" dirty="0"/>
              <a:t>in the </a:t>
            </a:r>
            <a:r>
              <a:rPr lang="en-IN" sz="1800" b="1" dirty="0"/>
              <a:t>stack.</a:t>
            </a:r>
            <a:endParaRPr lang="en-IN" sz="18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dirty="0"/>
              <a:t>Accepts </a:t>
            </a:r>
            <a:r>
              <a:rPr lang="en-IN" sz="1800" b="1" dirty="0"/>
              <a:t>vector address  (3) 00000011 </a:t>
            </a:r>
            <a:r>
              <a:rPr lang="en-IN" sz="1800" dirty="0"/>
              <a:t>and </a:t>
            </a:r>
            <a:r>
              <a:rPr lang="en-IN" sz="1800" b="1" dirty="0"/>
              <a:t>transfers it to PC.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b="1" dirty="0"/>
              <a:t>Instruction</a:t>
            </a:r>
            <a:r>
              <a:rPr lang="en-IN" sz="1800" dirty="0"/>
              <a:t> in </a:t>
            </a:r>
            <a:r>
              <a:rPr lang="en-IN" sz="1800" b="1" dirty="0"/>
              <a:t>location 3</a:t>
            </a:r>
            <a:r>
              <a:rPr lang="en-IN" sz="1800" dirty="0"/>
              <a:t> is </a:t>
            </a:r>
            <a:r>
              <a:rPr lang="en-IN" sz="1800" b="1" dirty="0"/>
              <a:t>executed</a:t>
            </a:r>
            <a:r>
              <a:rPr lang="en-IN" sz="1800" dirty="0"/>
              <a:t>.</a:t>
            </a:r>
          </a:p>
          <a:p>
            <a:pPr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800" dirty="0"/>
              <a:t>Suppose,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b="1" dirty="0"/>
              <a:t>DISK sets </a:t>
            </a:r>
            <a:r>
              <a:rPr lang="en-IN" sz="1800" dirty="0"/>
              <a:t>its </a:t>
            </a:r>
            <a:r>
              <a:rPr lang="en-IN" sz="1800" b="1" dirty="0"/>
              <a:t>interrupt bit </a:t>
            </a:r>
            <a:r>
              <a:rPr lang="en-IN" sz="1800" dirty="0"/>
              <a:t>when the </a:t>
            </a:r>
            <a:r>
              <a:rPr lang="en-IN" sz="1800" b="1" dirty="0"/>
              <a:t>CPU</a:t>
            </a:r>
            <a:r>
              <a:rPr lang="en-IN" sz="1800" dirty="0"/>
              <a:t> is executing the instruction at </a:t>
            </a:r>
            <a:r>
              <a:rPr lang="en-IN" sz="1800" b="1" dirty="0"/>
              <a:t>address 255 </a:t>
            </a:r>
            <a:r>
              <a:rPr lang="en-IN" sz="1800" dirty="0"/>
              <a:t>in the </a:t>
            </a:r>
            <a:r>
              <a:rPr lang="en-IN" sz="1800" b="1" dirty="0"/>
              <a:t>KBD program</a:t>
            </a:r>
            <a:endParaRPr lang="en-IN" sz="18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b="1" dirty="0"/>
              <a:t>Address 256 </a:t>
            </a:r>
            <a:r>
              <a:rPr lang="en-IN" sz="1800" dirty="0"/>
              <a:t>is </a:t>
            </a:r>
            <a:r>
              <a:rPr lang="en-IN" sz="1800" b="1" dirty="0"/>
              <a:t>pushed </a:t>
            </a:r>
            <a:r>
              <a:rPr lang="en-IN" sz="1800" dirty="0"/>
              <a:t>into the </a:t>
            </a:r>
            <a:r>
              <a:rPr lang="en-IN" sz="1800" b="1" dirty="0"/>
              <a:t>stack</a:t>
            </a:r>
            <a:r>
              <a:rPr lang="en-IN" sz="1800" dirty="0"/>
              <a:t> and </a:t>
            </a:r>
            <a:r>
              <a:rPr lang="en-IN" sz="1800" b="1" dirty="0"/>
              <a:t>control is transferred to the DISK service program</a:t>
            </a:r>
            <a:endParaRPr lang="en-IN" sz="18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dirty="0"/>
              <a:t>When the </a:t>
            </a:r>
            <a:r>
              <a:rPr lang="en-IN" sz="1800" b="1" dirty="0"/>
              <a:t>disk service program </a:t>
            </a:r>
            <a:r>
              <a:rPr lang="en-IN" sz="1800" dirty="0"/>
              <a:t>is</a:t>
            </a:r>
            <a:r>
              <a:rPr lang="en-IN" sz="1800" b="1" dirty="0"/>
              <a:t> completed</a:t>
            </a:r>
            <a:r>
              <a:rPr lang="en-IN" sz="1800" dirty="0"/>
              <a:t>, the </a:t>
            </a:r>
            <a:r>
              <a:rPr lang="en-IN" sz="1800" b="1" dirty="0"/>
              <a:t>return</a:t>
            </a:r>
            <a:r>
              <a:rPr lang="en-IN" sz="1800" dirty="0"/>
              <a:t> </a:t>
            </a:r>
            <a:r>
              <a:rPr lang="en-IN" sz="1800" b="1" dirty="0"/>
              <a:t>instruction</a:t>
            </a:r>
            <a:r>
              <a:rPr lang="en-IN" sz="1800" dirty="0"/>
              <a:t> </a:t>
            </a:r>
            <a:r>
              <a:rPr lang="en-IN" sz="1800" b="1" dirty="0"/>
              <a:t>POPS</a:t>
            </a:r>
            <a:r>
              <a:rPr lang="en-IN" sz="1800" dirty="0"/>
              <a:t> the </a:t>
            </a:r>
            <a:r>
              <a:rPr lang="en-IN" sz="1800" b="1" dirty="0"/>
              <a:t>stack</a:t>
            </a:r>
            <a:r>
              <a:rPr lang="en-IN" sz="1800" dirty="0"/>
              <a:t> and </a:t>
            </a:r>
            <a:r>
              <a:rPr lang="en-IN" sz="1800" b="1" dirty="0"/>
              <a:t>places 256 into PC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dirty="0"/>
              <a:t>This </a:t>
            </a:r>
            <a:r>
              <a:rPr lang="en-IN" sz="1800" b="1" dirty="0"/>
              <a:t>returns the control to KBD routine</a:t>
            </a:r>
            <a:r>
              <a:rPr lang="en-IN" sz="1800" dirty="0"/>
              <a:t> to continue servicing the keyboard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dirty="0"/>
              <a:t>At the </a:t>
            </a:r>
            <a:r>
              <a:rPr lang="en-IN" sz="1800" b="1" dirty="0"/>
              <a:t>end of KBD program</a:t>
            </a:r>
            <a:r>
              <a:rPr lang="en-IN" sz="1800" dirty="0"/>
              <a:t>, the last instruction pops the stack and </a:t>
            </a:r>
            <a:r>
              <a:rPr lang="en-IN" sz="1800" b="1" dirty="0"/>
              <a:t>returns control to the main program at address 750</a:t>
            </a:r>
            <a:endParaRPr lang="en-IN" sz="18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IN" sz="1800" dirty="0"/>
              <a:t>Thus, a </a:t>
            </a:r>
            <a:r>
              <a:rPr lang="en-IN" sz="1800" b="1" dirty="0"/>
              <a:t>higher-priority device </a:t>
            </a:r>
            <a:r>
              <a:rPr lang="en-IN" sz="1800" dirty="0"/>
              <a:t>can </a:t>
            </a:r>
            <a:r>
              <a:rPr lang="en-IN" sz="1800" b="1" dirty="0"/>
              <a:t>interrupt</a:t>
            </a:r>
            <a:r>
              <a:rPr lang="en-IN" sz="1800" dirty="0"/>
              <a:t> a </a:t>
            </a:r>
            <a:r>
              <a:rPr lang="en-IN" sz="1800" b="1" dirty="0"/>
              <a:t>lower-priority device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38531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5793" y="782199"/>
            <a:ext cx="9780225" cy="512284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000" dirty="0"/>
              <a:t>The </a:t>
            </a:r>
            <a:r>
              <a:rPr lang="en-IN" sz="2000" b="1" dirty="0"/>
              <a:t>Initial Sequence </a:t>
            </a:r>
            <a:r>
              <a:rPr lang="en-IN" sz="2000" dirty="0"/>
              <a:t>of each </a:t>
            </a:r>
            <a:r>
              <a:rPr lang="en-IN" sz="2000" b="1" dirty="0"/>
              <a:t>interrupt service routine </a:t>
            </a:r>
            <a:r>
              <a:rPr lang="en-IN" sz="2000" dirty="0"/>
              <a:t>must have instructions </a:t>
            </a:r>
            <a:r>
              <a:rPr lang="en-IN" sz="2000" b="1" dirty="0"/>
              <a:t>to control the interrupt hardware</a:t>
            </a:r>
            <a:r>
              <a:rPr lang="en-IN" sz="2000" dirty="0"/>
              <a:t> in the following manner: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1. Clear lower-level mask register bits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2. Clear interrupt status bit IST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3. Save contents of processor registers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4. Set interrupt enable bit IEN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5. Proceed with service routine</a:t>
            </a:r>
            <a:endParaRPr lang="en-US" sz="2000" b="1" dirty="0"/>
          </a:p>
          <a:p>
            <a:pPr algn="just">
              <a:lnSpc>
                <a:spcPct val="100000"/>
              </a:lnSpc>
            </a:pPr>
            <a:r>
              <a:rPr lang="en-IN" sz="2000" dirty="0"/>
              <a:t>The </a:t>
            </a:r>
            <a:r>
              <a:rPr lang="en-IN" sz="2000" b="1" dirty="0"/>
              <a:t>Final Sequence </a:t>
            </a:r>
            <a:r>
              <a:rPr lang="en-IN" sz="2000" dirty="0"/>
              <a:t>in each </a:t>
            </a:r>
            <a:r>
              <a:rPr lang="en-IN" sz="2000" b="1" dirty="0"/>
              <a:t>interrupt service routine </a:t>
            </a:r>
            <a:r>
              <a:rPr lang="en-IN" sz="2000" dirty="0"/>
              <a:t>must have instructions </a:t>
            </a:r>
            <a:r>
              <a:rPr lang="en-IN" sz="2000" b="1" dirty="0"/>
              <a:t>to control the interrupt hardware </a:t>
            </a:r>
            <a:r>
              <a:rPr lang="en-IN" sz="2000" dirty="0"/>
              <a:t>in the following manner: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1. Clear interrupt enable bit IEN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2. Restore contents of processor registers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3. Clear the bit in the interrupt register belonging to the source that has been serviced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4. Set lower-level priority bits in the mask register</a:t>
            </a:r>
          </a:p>
          <a:p>
            <a:pPr lvl="1" algn="just">
              <a:lnSpc>
                <a:spcPct val="100000"/>
              </a:lnSpc>
              <a:buNone/>
            </a:pPr>
            <a:r>
              <a:rPr lang="en-IN" sz="2000" dirty="0"/>
              <a:t>5. Restore return address into PC and set IEN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8EC28BC-A9C8-1C90-BC9A-BB1CFCFF10DE}"/>
              </a:ext>
            </a:extLst>
          </p:cNvPr>
          <p:cNvSpPr txBox="1"/>
          <p:nvPr/>
        </p:nvSpPr>
        <p:spPr>
          <a:xfrm>
            <a:off x="3941284" y="151348"/>
            <a:ext cx="609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0070C0"/>
                </a:solidFill>
                <a:latin typeface="American Typewriter" panose="02090604020004020304" pitchFamily="18" charset="77"/>
              </a:rPr>
              <a:t>Initial and Final Operations</a:t>
            </a:r>
          </a:p>
        </p:txBody>
      </p:sp>
    </p:spTree>
    <p:extLst>
      <p:ext uri="{BB962C8B-B14F-4D97-AF65-F5344CB8AC3E}">
        <p14:creationId xmlns:p14="http://schemas.microsoft.com/office/powerpoint/2010/main" val="840463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6B6153-EFE9-0841-80EF-3C142962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2704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Direct Memory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3CFBA4-0311-3F6B-F75F-E5A5B35BE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4" y="791481"/>
            <a:ext cx="9851571" cy="5058333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ts val="2800"/>
              </a:lnSpc>
              <a:spcBef>
                <a:spcPts val="65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 DMA, the CPU is idle and the peripheral device manage the memory buses</a:t>
            </a:r>
            <a:r>
              <a:rPr lang="en-US" sz="2000" spc="-1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directly.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b="1" spc="-35" dirty="0">
                <a:effectLst/>
                <a:ea typeface="Arial" panose="020B0604020202020204" pitchFamily="34" charset="0"/>
                <a:cs typeface="Carlito"/>
              </a:rPr>
              <a:t>DMA controller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takes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over the buses to manage the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directly between the I/O device and</a:t>
            </a:r>
            <a:r>
              <a:rPr lang="en-US" sz="2000" spc="-20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memory.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lnSpc>
                <a:spcPts val="28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The DMA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can be made in several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ways.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R="300990" lvl="1" algn="just">
              <a:lnSpc>
                <a:spcPts val="2800"/>
              </a:lnSpc>
              <a:spcBef>
                <a:spcPts val="240"/>
              </a:spcBef>
              <a:buSzPts val="1400"/>
              <a:buFont typeface="System Font Regular"/>
              <a:buChar char="-"/>
              <a:tabLst>
                <a:tab pos="575310" algn="l"/>
              </a:tabLst>
            </a:pPr>
            <a:r>
              <a:rPr lang="en-US" sz="2000" b="1" spc="-35" dirty="0">
                <a:effectLst/>
                <a:ea typeface="Arial" panose="020B0604020202020204" pitchFamily="34" charset="0"/>
                <a:cs typeface="Carlito"/>
              </a:rPr>
              <a:t>Burst </a:t>
            </a:r>
            <a:r>
              <a:rPr lang="en-US" sz="2000" b="1" spc="-2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b="1" spc="-35" dirty="0">
                <a:effectLst/>
                <a:ea typeface="Arial" panose="020B0604020202020204" pitchFamily="34" charset="0"/>
                <a:cs typeface="Carlito"/>
              </a:rPr>
              <a:t>-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 block of memory words is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transferred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in a continuous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burst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at a time. Used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for fast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devices such as magnetic disks, where data transmission cannot be stopped or slowed down until an entire block is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transferred.</a:t>
            </a:r>
          </a:p>
          <a:p>
            <a:pPr marR="300990" lvl="1" algn="just">
              <a:lnSpc>
                <a:spcPts val="2800"/>
              </a:lnSpc>
              <a:spcBef>
                <a:spcPts val="240"/>
              </a:spcBef>
              <a:buSzPts val="1400"/>
              <a:buFont typeface="System Font Regular"/>
              <a:buChar char="-"/>
              <a:tabLst>
                <a:tab pos="575310" algn="l"/>
              </a:tabLst>
            </a:pP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marR="308610" lvl="1" algn="just">
              <a:lnSpc>
                <a:spcPts val="2800"/>
              </a:lnSpc>
              <a:spcBef>
                <a:spcPts val="5"/>
              </a:spcBef>
              <a:buSzPts val="1400"/>
              <a:buFont typeface="System Font Regular"/>
              <a:buChar char="-"/>
              <a:tabLst>
                <a:tab pos="575310" algn="l"/>
              </a:tabLst>
            </a:pPr>
            <a:r>
              <a:rPr lang="en-US" sz="2000" b="1" spc="-35" dirty="0">
                <a:effectLst/>
                <a:ea typeface="Arial" panose="020B0604020202020204" pitchFamily="34" charset="0"/>
                <a:cs typeface="Carlito"/>
              </a:rPr>
              <a:t>Cycle Stealing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- Allows the DMA controller to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one data word at a time, after which it must return control of the buses to the CPU. The CPU merely delays its operation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for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one memory cycle to allow the direct memory I/O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to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“steal”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one memory</a:t>
            </a:r>
            <a:r>
              <a:rPr lang="en-US" sz="2000" spc="-2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35" dirty="0">
                <a:effectLst/>
                <a:ea typeface="Arial" panose="020B0604020202020204" pitchFamily="34" charset="0"/>
                <a:cs typeface="Carlito"/>
              </a:rPr>
              <a:t>cycle.</a:t>
            </a:r>
            <a:endParaRPr lang="en-IN" sz="2000" spc="-35" dirty="0">
              <a:effectLst/>
              <a:ea typeface="Arial" panose="020B0604020202020204" pitchFamily="34" charset="0"/>
              <a:cs typeface="Carlito"/>
            </a:endParaRPr>
          </a:p>
          <a:p>
            <a:pPr algn="just">
              <a:lnSpc>
                <a:spcPts val="28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233032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0C7617-2FDF-5732-3A2E-207A9E225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1" y="-274121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Working of DMA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7FC68E-C821-EBC3-5A33-E0251B0B2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057" y="706426"/>
            <a:ext cx="9731829" cy="4351338"/>
          </a:xfrm>
        </p:spPr>
        <p:txBody>
          <a:bodyPr>
            <a:normAutofit/>
          </a:bodyPr>
          <a:lstStyle/>
          <a:p>
            <a:pPr marL="342900" marR="313690" lvl="0" indent="-342900" algn="just">
              <a:lnSpc>
                <a:spcPct val="113000"/>
              </a:lnSpc>
              <a:spcBef>
                <a:spcPts val="65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b="1" spc="-25" dirty="0">
                <a:effectLst/>
                <a:ea typeface="Arial" panose="020B0604020202020204" pitchFamily="34" charset="0"/>
                <a:cs typeface="Carlito"/>
              </a:rPr>
              <a:t>Bus Request (BR) 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input - used by DMA controller to request the CPU to relinquish control of the buses.</a:t>
            </a:r>
            <a:endParaRPr lang="en-IN" sz="2000" spc="-2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04165" lvl="0" indent="-342900" algn="just">
              <a:lnSpc>
                <a:spcPct val="113000"/>
              </a:lnSpc>
              <a:spcBef>
                <a:spcPts val="24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50" dirty="0">
                <a:effectLst/>
                <a:ea typeface="Arial" panose="020B0604020202020204" pitchFamily="34" charset="0"/>
                <a:cs typeface="Carlito"/>
              </a:rPr>
              <a:t>When this input is active, CPU terminates the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execution </a:t>
            </a:r>
            <a:r>
              <a:rPr lang="en-US" sz="2000" spc="-50" dirty="0">
                <a:effectLst/>
                <a:ea typeface="Arial" panose="020B0604020202020204" pitchFamily="34" charset="0"/>
                <a:cs typeface="Carlito"/>
              </a:rPr>
              <a:t>of the current instruction and places address bus, data bus, and RD/WR lines into high-impedance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state(like </a:t>
            </a:r>
            <a:r>
              <a:rPr lang="en-US" sz="2000" spc="-50" dirty="0">
                <a:effectLst/>
                <a:ea typeface="Arial" panose="020B0604020202020204" pitchFamily="34" charset="0"/>
                <a:cs typeface="Carlito"/>
              </a:rPr>
              <a:t>an open</a:t>
            </a:r>
            <a:r>
              <a:rPr lang="en-US" sz="2000" spc="-19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50" dirty="0">
                <a:effectLst/>
                <a:ea typeface="Arial" panose="020B0604020202020204" pitchFamily="34" charset="0"/>
                <a:cs typeface="Carlito"/>
              </a:rPr>
              <a:t>circuit)</a:t>
            </a:r>
            <a:endParaRPr lang="en-IN" sz="2000" spc="-50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24485" lvl="0" indent="-342900" algn="just">
              <a:lnSpc>
                <a:spcPct val="113000"/>
              </a:lnSpc>
              <a:spcBef>
                <a:spcPts val="5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CPU then activates </a:t>
            </a:r>
            <a:r>
              <a:rPr lang="en-US" sz="2000" b="1" spc="-30" dirty="0">
                <a:effectLst/>
                <a:ea typeface="Arial" panose="020B0604020202020204" pitchFamily="34" charset="0"/>
                <a:cs typeface="Carlito"/>
              </a:rPr>
              <a:t>Bus </a:t>
            </a:r>
            <a:r>
              <a:rPr lang="en-US" sz="2000" b="1" spc="-15" dirty="0">
                <a:effectLst/>
                <a:ea typeface="Arial" panose="020B0604020202020204" pitchFamily="34" charset="0"/>
                <a:cs typeface="Carlito"/>
              </a:rPr>
              <a:t>Grant</a:t>
            </a:r>
            <a:r>
              <a:rPr lang="en-US" sz="2000" b="1" spc="-30" dirty="0">
                <a:effectLst/>
                <a:ea typeface="Arial" panose="020B0604020202020204" pitchFamily="34" charset="0"/>
                <a:cs typeface="Carlito"/>
              </a:rPr>
              <a:t>(BG) </a:t>
            </a:r>
            <a:r>
              <a:rPr lang="en-US" sz="2000" spc="-30" dirty="0">
                <a:effectLst/>
                <a:ea typeface="Arial" panose="020B0604020202020204" pitchFamily="34" charset="0"/>
                <a:cs typeface="Carlito"/>
              </a:rPr>
              <a:t>output to inform external DMA that the buses are available</a:t>
            </a:r>
            <a:r>
              <a:rPr lang="en-US" sz="2000" spc="-30" dirty="0">
                <a:ea typeface="Arial" panose="020B0604020202020204" pitchFamily="34" charset="0"/>
                <a:cs typeface="Carlito"/>
              </a:rPr>
              <a:t>.</a:t>
            </a:r>
            <a:endParaRPr lang="en-IN" sz="2000" spc="-30" dirty="0">
              <a:effectLst/>
              <a:ea typeface="Arial" panose="020B0604020202020204" pitchFamily="34" charset="0"/>
              <a:cs typeface="Carlito"/>
            </a:endParaRPr>
          </a:p>
          <a:p>
            <a:pPr marL="342900" lvl="0" indent="-342900" algn="just">
              <a:spcBef>
                <a:spcPts val="5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DMA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takes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control of the buses to conduct memory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transfers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without processor</a:t>
            </a:r>
            <a:r>
              <a:rPr lang="en-US" sz="2000" spc="-145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intervention.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marL="342900" marR="320675" lvl="0" indent="-342900" algn="just">
              <a:lnSpc>
                <a:spcPct val="113000"/>
              </a:lnSpc>
              <a:spcBef>
                <a:spcPts val="240"/>
              </a:spcBef>
              <a:buSzPts val="1400"/>
              <a:buFont typeface="Arial" panose="020B0604020202020204" pitchFamily="34" charset="0"/>
              <a:buChar char="●"/>
              <a:tabLst>
                <a:tab pos="574675" algn="l"/>
                <a:tab pos="575310" algn="l"/>
              </a:tabLst>
            </a:pP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When DMA terminates the </a:t>
            </a:r>
            <a:r>
              <a:rPr lang="en-US" sz="2000" spc="-25" dirty="0">
                <a:effectLst/>
                <a:ea typeface="Arial" panose="020B0604020202020204" pitchFamily="34" charset="0"/>
                <a:cs typeface="Carlito"/>
              </a:rPr>
              <a:t>transfer,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it disables BR line and CPU disables BG line, </a:t>
            </a:r>
            <a:r>
              <a:rPr lang="en-US" sz="2000" spc="-15" dirty="0">
                <a:effectLst/>
                <a:ea typeface="Arial" panose="020B0604020202020204" pitchFamily="34" charset="0"/>
                <a:cs typeface="Carlito"/>
              </a:rPr>
              <a:t>takes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control of the buses and returns to its normal</a:t>
            </a:r>
            <a:r>
              <a:rPr lang="en-US" sz="2000" spc="-70" dirty="0">
                <a:effectLst/>
                <a:ea typeface="Arial" panose="020B0604020202020204" pitchFamily="34" charset="0"/>
                <a:cs typeface="Carlito"/>
              </a:rPr>
              <a:t> </a:t>
            </a:r>
            <a:r>
              <a:rPr lang="en-US" sz="2000" spc="-45" dirty="0">
                <a:effectLst/>
                <a:ea typeface="Arial" panose="020B0604020202020204" pitchFamily="34" charset="0"/>
                <a:cs typeface="Carlito"/>
              </a:rPr>
              <a:t>operation.</a:t>
            </a:r>
            <a:endParaRPr lang="en-IN" sz="2000" spc="-45" dirty="0">
              <a:effectLst/>
              <a:ea typeface="Arial" panose="020B0604020202020204" pitchFamily="34" charset="0"/>
              <a:cs typeface="Carlito"/>
            </a:endParaRPr>
          </a:p>
          <a:p>
            <a:pPr algn="just"/>
            <a:endParaRPr lang="en-US" sz="3200" dirty="0"/>
          </a:p>
        </p:txBody>
      </p:sp>
      <p:pic>
        <p:nvPicPr>
          <p:cNvPr id="4" name="image4.png">
            <a:extLst>
              <a:ext uri="{FF2B5EF4-FFF2-40B4-BE49-F238E27FC236}">
                <a16:creationId xmlns:a16="http://schemas.microsoft.com/office/drawing/2014/main" xmlns="" id="{B4167E18-857D-1D60-3C24-8BAF3036FB3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62670" y="4230030"/>
            <a:ext cx="5397216" cy="179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8387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5AB55F-37C2-551B-E939-01C223A8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-244475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DMA Controller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4B474AB-665F-C663-54E1-ADA3E822CC56}"/>
              </a:ext>
            </a:extLst>
          </p:cNvPr>
          <p:cNvSpPr txBox="1"/>
          <p:nvPr/>
        </p:nvSpPr>
        <p:spPr>
          <a:xfrm>
            <a:off x="5509846" y="728087"/>
            <a:ext cx="5550039" cy="572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spc="-45" dirty="0">
                <a:latin typeface="Carlito"/>
                <a:ea typeface="Arial" panose="020B0604020202020204" pitchFamily="34" charset="0"/>
                <a:cs typeface="Carlito"/>
              </a:rPr>
              <a:t>R</a:t>
            </a:r>
            <a:r>
              <a:rPr lang="en-US" sz="1800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egisters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in DMA are selected by CPU through the address bus by enabling the DMA Select(DS) and </a:t>
            </a:r>
            <a:r>
              <a:rPr lang="en-US" sz="1800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Register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Select(RS)</a:t>
            </a:r>
            <a:r>
              <a:rPr lang="en-US" sz="1800" spc="-2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inputs.</a:t>
            </a:r>
          </a:p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When BG = 0, CPU can communicate with DMA</a:t>
            </a:r>
            <a:r>
              <a:rPr lang="en-US" sz="18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registers.</a:t>
            </a:r>
            <a:endParaRPr lang="en-IN" sz="1800" spc="-4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When BG = 1, DMA can communicate directly with </a:t>
            </a:r>
            <a:r>
              <a:rPr lang="en-US" sz="1800" spc="-20" dirty="0">
                <a:effectLst/>
                <a:latin typeface="Carlito"/>
                <a:ea typeface="Arial" panose="020B0604020202020204" pitchFamily="34" charset="0"/>
                <a:cs typeface="Carlito"/>
              </a:rPr>
              <a:t>memory.</a:t>
            </a:r>
          </a:p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endParaRPr lang="en-IN" sz="1800" spc="-4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algn="just">
              <a:lnSpc>
                <a:spcPts val="2160"/>
              </a:lnSpc>
            </a:pP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DMA controller has three</a:t>
            </a:r>
            <a:r>
              <a:rPr lang="en-US" sz="18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registers.</a:t>
            </a:r>
            <a:endParaRPr lang="en-IN" sz="1800" spc="-4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sz="1800" b="1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Address</a:t>
            </a:r>
            <a:r>
              <a:rPr lang="en-US" sz="1800" b="1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b="1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register</a:t>
            </a:r>
            <a:r>
              <a:rPr lang="en-US" b="1" spc="-30" dirty="0">
                <a:latin typeface="Carlito"/>
                <a:ea typeface="Arial" panose="020B0604020202020204" pitchFamily="34" charset="0"/>
                <a:cs typeface="Carlito"/>
              </a:rPr>
              <a:t>: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contains</a:t>
            </a:r>
            <a:r>
              <a:rPr lang="en-US" sz="18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address</a:t>
            </a:r>
            <a:r>
              <a:rPr lang="en-US" sz="1800" spc="-4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to</a:t>
            </a:r>
            <a:r>
              <a:rPr lang="en-US" sz="1800" spc="-3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specify</a:t>
            </a:r>
            <a:r>
              <a:rPr lang="en-US" sz="18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desired location in</a:t>
            </a:r>
            <a:r>
              <a:rPr lang="en-US" sz="1800" spc="-20" dirty="0">
                <a:effectLst/>
                <a:latin typeface="Carlito"/>
                <a:ea typeface="Arial" panose="020B0604020202020204" pitchFamily="34" charset="0"/>
                <a:cs typeface="Carlito"/>
              </a:rPr>
              <a:t> memory. It is incremented after each word transfer</a:t>
            </a:r>
            <a:endParaRPr lang="en-IN" sz="1800" spc="-4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sz="1800" b="1" spc="-20" dirty="0">
                <a:effectLst/>
                <a:latin typeface="Carlito"/>
                <a:ea typeface="Arial" panose="020B0604020202020204" pitchFamily="34" charset="0"/>
                <a:cs typeface="Carlito"/>
              </a:rPr>
              <a:t>Word </a:t>
            </a:r>
            <a:r>
              <a:rPr lang="en-US" sz="1800" b="1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Count </a:t>
            </a:r>
            <a:r>
              <a:rPr lang="en-US" sz="1800" b="1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Register: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holds the no. of words to be</a:t>
            </a:r>
            <a:r>
              <a:rPr lang="en-US" sz="1800" spc="-1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transferred. It is decremented by 1 after each word transfer and checked internally for 0.</a:t>
            </a:r>
            <a:endParaRPr lang="en-IN" sz="1800" spc="-4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sz="1800" b="1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Control </a:t>
            </a:r>
            <a:r>
              <a:rPr lang="en-US" sz="1800" b="1" spc="-15" dirty="0">
                <a:effectLst/>
                <a:latin typeface="Carlito"/>
                <a:ea typeface="Arial" panose="020B0604020202020204" pitchFamily="34" charset="0"/>
                <a:cs typeface="Carlito"/>
              </a:rPr>
              <a:t>Register: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specifies the mode of</a:t>
            </a:r>
            <a:r>
              <a:rPr lang="en-US" sz="1800" spc="-20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30" dirty="0">
                <a:effectLst/>
                <a:latin typeface="Carlito"/>
                <a:ea typeface="Arial" panose="020B0604020202020204" pitchFamily="34" charset="0"/>
                <a:cs typeface="Carlito"/>
              </a:rPr>
              <a:t>transfer i.e., read or write</a:t>
            </a:r>
            <a:endParaRPr lang="en-IN" sz="1800" spc="-4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DMA communicates with external peripheral through the request and acknowledge</a:t>
            </a:r>
            <a:r>
              <a:rPr lang="en-US" sz="1800" spc="-65" dirty="0">
                <a:effectLst/>
                <a:latin typeface="Carlito"/>
                <a:ea typeface="Arial" panose="020B0604020202020204" pitchFamily="34" charset="0"/>
                <a:cs typeface="Carlito"/>
              </a:rPr>
              <a:t> </a:t>
            </a:r>
            <a:r>
              <a:rPr lang="en-US" sz="1800" spc="-45" dirty="0">
                <a:effectLst/>
                <a:latin typeface="Carlito"/>
                <a:ea typeface="Arial" panose="020B0604020202020204" pitchFamily="34" charset="0"/>
                <a:cs typeface="Carlito"/>
              </a:rPr>
              <a:t>lines.</a:t>
            </a:r>
            <a:endParaRPr lang="en-IN" sz="1800" spc="-4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endParaRPr lang="en-IN" sz="1800" spc="-45" dirty="0">
              <a:effectLst/>
              <a:latin typeface="Carlito"/>
              <a:ea typeface="Arial" panose="020B0604020202020204" pitchFamily="34" charset="0"/>
              <a:cs typeface="Carlito"/>
            </a:endParaRPr>
          </a:p>
          <a:p>
            <a:pPr marL="285750" indent="-285750" algn="just">
              <a:lnSpc>
                <a:spcPts val="216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DMA Controller Architecture">
            <a:extLst>
              <a:ext uri="{FF2B5EF4-FFF2-40B4-BE49-F238E27FC236}">
                <a16:creationId xmlns:a16="http://schemas.microsoft.com/office/drawing/2014/main" xmlns="" id="{FC0C793C-020F-B3DB-CA74-0E373A3AC5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74"/>
          <a:stretch/>
        </p:blipFill>
        <p:spPr bwMode="auto">
          <a:xfrm>
            <a:off x="0" y="821871"/>
            <a:ext cx="5509846" cy="499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7375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3A2EC2-C86B-590E-15B3-FEF6ADF2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3" y="-263583"/>
            <a:ext cx="10515600" cy="1325563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DMA Transfer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4E6D80B-10AB-8080-ABD0-D3602E7319A3}"/>
              </a:ext>
            </a:extLst>
          </p:cNvPr>
          <p:cNvSpPr txBox="1"/>
          <p:nvPr/>
        </p:nvSpPr>
        <p:spPr>
          <a:xfrm>
            <a:off x="1277815" y="749893"/>
            <a:ext cx="988004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rlito"/>
                <a:cs typeface="Carlito"/>
              </a:rPr>
              <a:t>When I/O device sends a DMA</a:t>
            </a:r>
            <a:r>
              <a:rPr lang="en-US" sz="2000" spc="-30" dirty="0">
                <a:effectLst/>
                <a:ea typeface="Carlito"/>
                <a:cs typeface="Carlito"/>
              </a:rPr>
              <a:t> </a:t>
            </a:r>
            <a:r>
              <a:rPr lang="en-US" sz="2000" dirty="0">
                <a:effectLst/>
                <a:ea typeface="Carlito"/>
                <a:cs typeface="Carlito"/>
              </a:rPr>
              <a:t>request, DMA Controller activates the BR</a:t>
            </a:r>
            <a:r>
              <a:rPr lang="en-US" sz="2000" spc="-35" dirty="0">
                <a:effectLst/>
                <a:ea typeface="Carlito"/>
                <a:cs typeface="Carlito"/>
              </a:rPr>
              <a:t> </a:t>
            </a:r>
            <a:r>
              <a:rPr lang="en-US" sz="2000" dirty="0">
                <a:effectLst/>
                <a:ea typeface="Carlito"/>
                <a:cs typeface="Carlito"/>
              </a:rPr>
              <a:t>line.</a:t>
            </a:r>
            <a:endParaRPr lang="en-IN" sz="2000" dirty="0">
              <a:effectLst/>
              <a:ea typeface="Carlito"/>
              <a:cs typeface="Carli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rlito"/>
                <a:cs typeface="Carlito"/>
              </a:rPr>
              <a:t>CPU responds with BG</a:t>
            </a:r>
            <a:r>
              <a:rPr lang="en-US" sz="2000" spc="-25" dirty="0">
                <a:effectLst/>
                <a:ea typeface="Carlito"/>
                <a:cs typeface="Carlito"/>
              </a:rPr>
              <a:t> </a:t>
            </a:r>
            <a:r>
              <a:rPr lang="en-US" sz="2000" dirty="0">
                <a:effectLst/>
                <a:ea typeface="Carlito"/>
                <a:cs typeface="Carlito"/>
              </a:rPr>
              <a:t>line.</a:t>
            </a:r>
            <a:endParaRPr lang="en-IN" sz="2000" dirty="0">
              <a:effectLst/>
              <a:ea typeface="Carlito"/>
              <a:cs typeface="Carlito"/>
            </a:endParaRPr>
          </a:p>
          <a:p>
            <a:pPr marL="585788" lvl="1" indent="-228600" algn="just">
              <a:buFont typeface="System Font Regular"/>
              <a:buChar char="⁃"/>
            </a:pPr>
            <a:r>
              <a:rPr lang="en-US" sz="2000" dirty="0">
                <a:effectLst/>
                <a:ea typeface="Carlito"/>
                <a:cs typeface="Carlito"/>
              </a:rPr>
              <a:t>DMA puts current value of its address register into address bus, initiates RD or WR signal, and sends a DMA acknowledge to I/O device.</a:t>
            </a:r>
            <a:endParaRPr lang="en-IN" sz="2000" dirty="0">
              <a:ea typeface="Carlito"/>
              <a:cs typeface="Carli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rlito"/>
                <a:cs typeface="Carlito"/>
              </a:rPr>
              <a:t>I/O device puts a word in the data bus (for write) or receives a word from the data bus (read).</a:t>
            </a:r>
            <a:endParaRPr lang="en-IN" sz="2000" dirty="0">
              <a:effectLst/>
              <a:ea typeface="Carlito"/>
              <a:cs typeface="Carlito"/>
            </a:endParaRPr>
          </a:p>
          <a:p>
            <a:pPr marL="628650" lvl="1" indent="-271463" algn="just">
              <a:buFont typeface="System Font Regular"/>
              <a:buChar char="⁃"/>
            </a:pPr>
            <a:r>
              <a:rPr lang="en-US" sz="2000" dirty="0">
                <a:effectLst/>
                <a:ea typeface="Carlito"/>
                <a:cs typeface="Carlito"/>
              </a:rPr>
              <a:t>The peripheral unit can  then  communicate with memory through data bus </a:t>
            </a:r>
            <a:r>
              <a:rPr lang="en-US" sz="2000" spc="-15" dirty="0">
                <a:effectLst/>
                <a:ea typeface="Carlito"/>
                <a:cs typeface="Carlito"/>
              </a:rPr>
              <a:t>for </a:t>
            </a:r>
            <a:r>
              <a:rPr lang="en-US" sz="2000" dirty="0">
                <a:effectLst/>
                <a:ea typeface="Carlito"/>
                <a:cs typeface="Carlito"/>
              </a:rPr>
              <a:t>direct </a:t>
            </a:r>
            <a:r>
              <a:rPr lang="en-US" sz="2000" spc="-15" dirty="0">
                <a:effectLst/>
                <a:ea typeface="Carlito"/>
                <a:cs typeface="Carlito"/>
              </a:rPr>
              <a:t>transfer </a:t>
            </a:r>
            <a:r>
              <a:rPr lang="en-US" sz="2000" dirty="0">
                <a:effectLst/>
                <a:ea typeface="Carlito"/>
                <a:cs typeface="Carlito"/>
              </a:rPr>
              <a:t>between the two units while the CPU is momentarily</a:t>
            </a:r>
            <a:r>
              <a:rPr lang="en-US" sz="2000" spc="-15" dirty="0">
                <a:effectLst/>
                <a:ea typeface="Carlito"/>
                <a:cs typeface="Carlito"/>
              </a:rPr>
              <a:t> </a:t>
            </a:r>
            <a:r>
              <a:rPr lang="en-US" sz="2000" dirty="0">
                <a:effectLst/>
                <a:ea typeface="Carlito"/>
                <a:cs typeface="Carlito"/>
              </a:rPr>
              <a:t>disabled.</a:t>
            </a:r>
            <a:endParaRPr lang="en-IN" sz="2000" dirty="0">
              <a:effectLst/>
              <a:ea typeface="Carlito"/>
              <a:cs typeface="Carli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rlito"/>
                <a:cs typeface="Carlito"/>
              </a:rPr>
              <a:t>For each word that is transferred, DMA increments its address register and decrements its word count register.</a:t>
            </a:r>
            <a:endParaRPr lang="en-IN" sz="2000" dirty="0">
              <a:effectLst/>
              <a:ea typeface="Carlito"/>
              <a:cs typeface="Carli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rlito"/>
                <a:cs typeface="Carlito"/>
              </a:rPr>
              <a:t>If word count does not reach  </a:t>
            </a:r>
            <a:r>
              <a:rPr lang="en-US" sz="2000" spc="-20" dirty="0">
                <a:effectLst/>
                <a:ea typeface="Carlito"/>
                <a:cs typeface="Carlito"/>
              </a:rPr>
              <a:t>zero, </a:t>
            </a:r>
            <a:r>
              <a:rPr lang="en-US" sz="2000" dirty="0">
                <a:effectLst/>
                <a:ea typeface="Carlito"/>
                <a:cs typeface="Carlito"/>
              </a:rPr>
              <a:t>DMA checks the request line coming from the I/O</a:t>
            </a:r>
            <a:r>
              <a:rPr lang="en-US" sz="2000" spc="-10" dirty="0">
                <a:effectLst/>
                <a:ea typeface="Carlito"/>
                <a:cs typeface="Carlito"/>
              </a:rPr>
              <a:t> </a:t>
            </a:r>
            <a:r>
              <a:rPr lang="en-US" sz="2000" dirty="0">
                <a:effectLst/>
                <a:ea typeface="Carlito"/>
                <a:cs typeface="Carlito"/>
              </a:rPr>
              <a:t>Device.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rlito"/>
                <a:cs typeface="Carlito"/>
              </a:rPr>
              <a:t>If there is no request, DMA disables BR so that the CPU continues to execute its own program.</a:t>
            </a:r>
            <a:endParaRPr lang="en-IN" sz="2000" dirty="0">
              <a:effectLst/>
              <a:ea typeface="Carlito"/>
              <a:cs typeface="Carli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rlito"/>
                <a:cs typeface="Carlito"/>
              </a:rPr>
              <a:t>When peripheral requests another transfer, DMA requests bus again.</a:t>
            </a:r>
            <a:endParaRPr lang="en-IN" sz="2000" dirty="0">
              <a:effectLst/>
              <a:ea typeface="Carlito"/>
              <a:cs typeface="Carli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ea typeface="Carlito"/>
                <a:cs typeface="Carlito"/>
              </a:rPr>
              <a:t>If the word count register reaches </a:t>
            </a:r>
            <a:r>
              <a:rPr lang="en-US" sz="2000" spc="-20" dirty="0">
                <a:effectLst/>
                <a:ea typeface="Carlito"/>
                <a:cs typeface="Carlito"/>
              </a:rPr>
              <a:t>zero, </a:t>
            </a:r>
            <a:r>
              <a:rPr lang="en-US" sz="2000" dirty="0">
                <a:effectLst/>
                <a:ea typeface="Carlito"/>
                <a:cs typeface="Carlito"/>
              </a:rPr>
              <a:t>DMA stops any further </a:t>
            </a:r>
            <a:r>
              <a:rPr lang="en-US" sz="2000" spc="-15" dirty="0">
                <a:effectLst/>
                <a:ea typeface="Carlito"/>
                <a:cs typeface="Carlito"/>
              </a:rPr>
              <a:t>transfer </a:t>
            </a:r>
            <a:r>
              <a:rPr lang="en-US" sz="2000" dirty="0">
                <a:effectLst/>
                <a:ea typeface="Carlito"/>
                <a:cs typeface="Carlito"/>
              </a:rPr>
              <a:t>and removes its bus request. It also informs the CPU of the termination by an</a:t>
            </a:r>
            <a:r>
              <a:rPr lang="en-US" sz="2000" spc="-30" dirty="0">
                <a:effectLst/>
                <a:ea typeface="Carlito"/>
                <a:cs typeface="Carlito"/>
              </a:rPr>
              <a:t> </a:t>
            </a:r>
            <a:r>
              <a:rPr lang="en-US" sz="2000" dirty="0">
                <a:effectLst/>
                <a:ea typeface="Carlito"/>
                <a:cs typeface="Carlito"/>
              </a:rPr>
              <a:t>interrupt.</a:t>
            </a:r>
            <a:endParaRPr lang="en-IN" sz="2000" dirty="0">
              <a:effectLst/>
              <a:ea typeface="Carlito"/>
              <a:cs typeface="Carlito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effectLst/>
              <a:ea typeface="Carlito"/>
              <a:cs typeface="Carlito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02740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C0BCD7-6548-CEE4-DE47-E62A3C75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-2880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DMA Transfer</a:t>
            </a:r>
            <a:endParaRPr lang="en-US" sz="28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xmlns="" id="{B8F18549-D6C8-1AE4-7236-A95D13D0A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369" y="838253"/>
            <a:ext cx="7151077" cy="4777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7286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46892"/>
            <a:ext cx="82296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Types of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148" y="838200"/>
            <a:ext cx="9839051" cy="423789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/>
              <a:t>To ensure proper functioning of OS, we must be able to distinguish between the execution of the user application code and the OS code. </a:t>
            </a:r>
          </a:p>
          <a:p>
            <a:pPr lvl="1" algn="just">
              <a:lnSpc>
                <a:spcPct val="100000"/>
              </a:lnSpc>
              <a:buFont typeface="System Font Regular"/>
              <a:buChar char="⁃"/>
            </a:pPr>
            <a:r>
              <a:rPr lang="en-US" sz="2000" b="1" dirty="0"/>
              <a:t>User mode </a:t>
            </a:r>
            <a:r>
              <a:rPr lang="en-US" sz="2000" dirty="0"/>
              <a:t>(</a:t>
            </a:r>
            <a:r>
              <a:rPr lang="en-US" sz="2000" b="1" dirty="0"/>
              <a:t>non-privileged mode</a:t>
            </a:r>
            <a:r>
              <a:rPr lang="en-US" sz="2000" dirty="0"/>
              <a:t>) and </a:t>
            </a:r>
          </a:p>
          <a:p>
            <a:pPr lvl="1" algn="just">
              <a:lnSpc>
                <a:spcPct val="100000"/>
              </a:lnSpc>
              <a:buFont typeface="System Font Regular"/>
              <a:buChar char="⁃"/>
            </a:pPr>
            <a:r>
              <a:rPr lang="en-US" sz="2000" b="1" dirty="0"/>
              <a:t>Kernel mode </a:t>
            </a:r>
            <a:r>
              <a:rPr lang="en-US" sz="2000" dirty="0"/>
              <a:t>(</a:t>
            </a:r>
            <a:r>
              <a:rPr lang="en-US" sz="2000" b="1" dirty="0"/>
              <a:t>supervisor mode/system mode/privileged mode</a:t>
            </a:r>
            <a:r>
              <a:rPr lang="en-US" sz="2000" dirty="0"/>
              <a:t>). 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Instructions in the operating system are divided into two categories: </a:t>
            </a:r>
          </a:p>
          <a:p>
            <a:pPr lvl="1" algn="just">
              <a:lnSpc>
                <a:spcPct val="100000"/>
              </a:lnSpc>
              <a:buFont typeface="System Font Regular"/>
              <a:buChar char="⁃"/>
            </a:pPr>
            <a:r>
              <a:rPr lang="en-US" sz="2000" b="1" dirty="0"/>
              <a:t>Non-privileged instructions</a:t>
            </a:r>
            <a:r>
              <a:rPr lang="en-US" sz="2000" dirty="0"/>
              <a:t>:  These are normal instructions.</a:t>
            </a:r>
          </a:p>
          <a:p>
            <a:pPr lvl="1" algn="just">
              <a:lnSpc>
                <a:spcPct val="100000"/>
              </a:lnSpc>
              <a:buFont typeface="System Font Regular"/>
              <a:buChar char="⁃"/>
            </a:pPr>
            <a:r>
              <a:rPr lang="en-US" sz="2000" b="1" dirty="0"/>
              <a:t>Privileged instructions</a:t>
            </a:r>
            <a:r>
              <a:rPr lang="en-US" sz="2000" dirty="0"/>
              <a:t>: These instructions must be used wisely as their misuse can harm the system.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BC869B5A-F2FE-B911-45E7-2739ED472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628807"/>
            <a:ext cx="4191000" cy="3229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0F28EC9-B292-DC7D-6898-418863A6B8EC}"/>
              </a:ext>
            </a:extLst>
          </p:cNvPr>
          <p:cNvSpPr txBox="1"/>
          <p:nvPr/>
        </p:nvSpPr>
        <p:spPr>
          <a:xfrm>
            <a:off x="1286147" y="3875763"/>
            <a:ext cx="64996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non-privileged instruction is an instruction that any application or user can execute. 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 privileged instruction, on the other hand, is an instruction that can only be executed in kernel mode.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8319" y="99153"/>
            <a:ext cx="8229600" cy="563562"/>
          </a:xfrm>
        </p:spPr>
        <p:txBody>
          <a:bodyPr>
            <a:noAutofit/>
          </a:bodyPr>
          <a:lstStyle/>
          <a:p>
            <a:pPr algn="ctr"/>
            <a:r>
              <a:rPr lang="en-US" sz="25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Privileged &amp; Non-Privileged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0500" y="728817"/>
            <a:ext cx="5794873" cy="4525963"/>
          </a:xfrm>
        </p:spPr>
        <p:txBody>
          <a:bodyPr>
            <a:noAutofit/>
          </a:bodyPr>
          <a:lstStyle/>
          <a:p>
            <a:pPr algn="just"/>
            <a:r>
              <a:rPr lang="en-US" sz="1800" b="1" dirty="0"/>
              <a:t>Privileged instructions: instructions executed in kernel mode.</a:t>
            </a:r>
            <a:endParaRPr lang="en-US" sz="1800" dirty="0"/>
          </a:p>
          <a:p>
            <a:pPr marL="447675" lvl="1" indent="-219075" algn="just">
              <a:buFont typeface="System Font Regular"/>
              <a:buChar char="⁃"/>
            </a:pPr>
            <a:r>
              <a:rPr lang="en-US" sz="1800" dirty="0"/>
              <a:t>If a privileged instruction is executed in user mode, it is ignored and treated as illegal instruction. It is trapped in OS by the hardware.</a:t>
            </a:r>
          </a:p>
          <a:p>
            <a:pPr marL="447675" lvl="1" indent="-219075" algn="just">
              <a:buFont typeface="System Font Regular"/>
              <a:buChar char="⁃"/>
            </a:pPr>
            <a:r>
              <a:rPr lang="en-US" sz="1800" dirty="0"/>
              <a:t>OS must ensure that the Timer is set to interrupt before transferring control to any user application. As a result, OS can regain control if the timer is interrupted. </a:t>
            </a:r>
          </a:p>
          <a:p>
            <a:pPr marL="447675" lvl="1" indent="-219075" algn="just">
              <a:buFont typeface="System Font Regular"/>
              <a:buChar char="⁃"/>
            </a:pPr>
            <a:r>
              <a:rPr lang="en-US" sz="1800" dirty="0"/>
              <a:t>OS uses privileged instruction to ensure proper operation.</a:t>
            </a:r>
          </a:p>
          <a:p>
            <a:pPr algn="just"/>
            <a:r>
              <a:rPr lang="en-US" sz="1800" b="1" dirty="0"/>
              <a:t>Examples</a:t>
            </a:r>
          </a:p>
          <a:p>
            <a:pPr marL="454025" lvl="1" indent="-222250" algn="just">
              <a:buFont typeface="System Font Regular"/>
              <a:buChar char="⁃"/>
            </a:pPr>
            <a:r>
              <a:rPr lang="en-US" sz="1800" dirty="0"/>
              <a:t>I/O instructions</a:t>
            </a:r>
          </a:p>
          <a:p>
            <a:pPr marL="454025" lvl="1" indent="-222250" algn="just">
              <a:buFont typeface="System Font Regular"/>
              <a:buChar char="⁃"/>
            </a:pPr>
            <a:r>
              <a:rPr lang="en-US" sz="1800" dirty="0"/>
              <a:t>Context switching</a:t>
            </a:r>
          </a:p>
          <a:p>
            <a:pPr marL="454025" lvl="1" indent="-222250" algn="just">
              <a:buFont typeface="System Font Regular"/>
              <a:buChar char="⁃"/>
            </a:pPr>
            <a:r>
              <a:rPr lang="en-US" sz="1800" dirty="0"/>
              <a:t>Clear memory</a:t>
            </a:r>
          </a:p>
          <a:p>
            <a:pPr marL="454025" lvl="1" indent="-222250" algn="just">
              <a:buFont typeface="System Font Regular"/>
              <a:buChar char="⁃"/>
            </a:pPr>
            <a:r>
              <a:rPr lang="en-US" sz="1800" dirty="0"/>
              <a:t>Set the timer of the CPU</a:t>
            </a:r>
          </a:p>
          <a:p>
            <a:pPr marL="454025" lvl="1" indent="-222250" algn="just">
              <a:buFont typeface="System Font Regular"/>
              <a:buChar char="⁃"/>
            </a:pPr>
            <a:r>
              <a:rPr lang="en-US" sz="1800" dirty="0"/>
              <a:t>Halt instructions</a:t>
            </a:r>
          </a:p>
          <a:p>
            <a:pPr marL="454025" lvl="1" indent="-222250" algn="just">
              <a:buFont typeface="System Font Regular"/>
              <a:buChar char="⁃"/>
            </a:pPr>
            <a:r>
              <a:rPr lang="en-US" sz="1800" dirty="0"/>
              <a:t>Interrupt management</a:t>
            </a:r>
          </a:p>
          <a:p>
            <a:pPr marL="454025" lvl="1" indent="-222250" algn="just">
              <a:buFont typeface="System Font Regular"/>
              <a:buChar char="⁃"/>
            </a:pPr>
            <a:r>
              <a:rPr lang="en-US" sz="1800" dirty="0"/>
              <a:t>Modify entries in the Device-status table</a:t>
            </a:r>
          </a:p>
          <a:p>
            <a:pPr algn="just"/>
            <a:endParaRPr lang="en-US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5FCAB396-BD7C-79EE-C322-C30A98E6EF06}"/>
              </a:ext>
            </a:extLst>
          </p:cNvPr>
          <p:cNvSpPr txBox="1">
            <a:spLocks/>
          </p:cNvSpPr>
          <p:nvPr/>
        </p:nvSpPr>
        <p:spPr>
          <a:xfrm>
            <a:off x="6775373" y="728817"/>
            <a:ext cx="44361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/>
              <a:t>Non-Privileged instructions are the instructions that are only executed in user mode.</a:t>
            </a:r>
          </a:p>
          <a:p>
            <a:pPr algn="just"/>
            <a:r>
              <a:rPr lang="en-US" sz="1800" b="1" dirty="0"/>
              <a:t>Examples</a:t>
            </a:r>
            <a:endParaRPr lang="en-US" sz="1800" dirty="0"/>
          </a:p>
          <a:p>
            <a:pPr marL="447675" lvl="1" indent="-219075" algn="just">
              <a:buFont typeface="System Font Regular"/>
              <a:buChar char="⁃"/>
            </a:pPr>
            <a:r>
              <a:rPr lang="en-US" sz="1800" dirty="0"/>
              <a:t>Generate trap instruction</a:t>
            </a:r>
          </a:p>
          <a:p>
            <a:pPr marL="447675" lvl="1" indent="-219075" algn="just">
              <a:buFont typeface="System Font Regular"/>
              <a:buChar char="⁃"/>
            </a:pPr>
            <a:r>
              <a:rPr lang="en-US" sz="1800" dirty="0"/>
              <a:t>Reading system time</a:t>
            </a:r>
          </a:p>
          <a:p>
            <a:pPr marL="447675" lvl="1" indent="-219075" algn="just">
              <a:buFont typeface="System Font Regular"/>
              <a:buChar char="⁃"/>
            </a:pPr>
            <a:r>
              <a:rPr lang="en-US" sz="1800" dirty="0"/>
              <a:t>Reading status of processor</a:t>
            </a:r>
          </a:p>
          <a:p>
            <a:pPr marL="447675" lvl="1" indent="-219075" algn="just">
              <a:buFont typeface="System Font Regular"/>
              <a:buChar char="⁃"/>
            </a:pPr>
            <a:r>
              <a:rPr lang="en-US" sz="1800" dirty="0"/>
              <a:t>Sending the output to the printer</a:t>
            </a:r>
          </a:p>
          <a:p>
            <a:pPr marL="447675" lvl="1" indent="-219075" algn="just">
              <a:buFont typeface="System Font Regular"/>
              <a:buChar char="⁃"/>
            </a:pPr>
            <a:r>
              <a:rPr lang="en-US" sz="1800" dirty="0"/>
              <a:t>Performing arithmetic operations</a:t>
            </a:r>
          </a:p>
          <a:p>
            <a:pPr algn="just"/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0170"/>
            <a:ext cx="8229600" cy="533400"/>
          </a:xfrm>
        </p:spPr>
        <p:txBody>
          <a:bodyPr>
            <a:normAutofit/>
          </a:bodyPr>
          <a:lstStyle/>
          <a:p>
            <a:pPr algn="ctr"/>
            <a:r>
              <a:rPr lang="en-US" sz="25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Software Interrupts and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646" y="831484"/>
            <a:ext cx="9871113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/>
              <a:t>Exceptions and interrupts are unexpected events that disrupt the normal flow of instruction execution. </a:t>
            </a:r>
          </a:p>
          <a:p>
            <a:pPr marL="185738" indent="-185738" algn="just"/>
            <a:r>
              <a:rPr lang="en-US" sz="2000" dirty="0"/>
              <a:t>An exception is an unexpected event from within the processor. </a:t>
            </a:r>
          </a:p>
          <a:p>
            <a:pPr marL="185738" indent="-185738" algn="just"/>
            <a:r>
              <a:rPr lang="en-US" sz="2000" dirty="0"/>
              <a:t>An interrupt is an unexpected event from outside the processor</a:t>
            </a:r>
          </a:p>
          <a:p>
            <a:pPr marL="571500" lvl="1" indent="-342900" algn="just">
              <a:buFont typeface="System Font Regular"/>
              <a:buChar char="⁃"/>
            </a:pPr>
            <a:r>
              <a:rPr lang="en-US" sz="2000" dirty="0"/>
              <a:t>External interrupts come from I/O devices or from any other external source. </a:t>
            </a:r>
          </a:p>
          <a:p>
            <a:pPr marL="581025" lvl="2" indent="0" algn="just">
              <a:buNone/>
            </a:pPr>
            <a:r>
              <a:rPr lang="en-US" dirty="0"/>
              <a:t>Ex: I/O device requesting transfer of data, I/O device finished transfer of data, elapsed time of an event, or power failure.</a:t>
            </a:r>
          </a:p>
          <a:p>
            <a:pPr marL="571500" lvl="1" indent="-342900" algn="just">
              <a:buFont typeface="System Font Regular"/>
              <a:buChar char="⁃"/>
            </a:pPr>
            <a:r>
              <a:rPr lang="en-US" sz="2000" dirty="0"/>
              <a:t>Internal interrupts also called traps arise from illegal or erroneous use of an instruction or data. </a:t>
            </a:r>
          </a:p>
          <a:p>
            <a:pPr marL="581025" lvl="1" indent="0" algn="just">
              <a:buNone/>
            </a:pPr>
            <a:r>
              <a:rPr lang="en-US" sz="2000" dirty="0"/>
              <a:t>Ex: register overflow, attempt to divide by zero, an invalid operation code, stack overflow, and protection violation.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89" y="-76200"/>
            <a:ext cx="10744200" cy="944562"/>
          </a:xfrm>
        </p:spPr>
        <p:txBody>
          <a:bodyPr>
            <a:noAutofit/>
          </a:bodyPr>
          <a:lstStyle/>
          <a:p>
            <a:r>
              <a:rPr lang="en-US" sz="2200" b="1" dirty="0">
                <a:solidFill>
                  <a:srgbClr val="0070C0"/>
                </a:solidFill>
                <a:latin typeface="American Typewriter" panose="02090604020004020304" pitchFamily="18" charset="77"/>
                <a:ea typeface="+mn-ea"/>
                <a:cs typeface="+mn-cs"/>
              </a:rPr>
              <a:t>Programs and Processes - Role of interrupts in process state transitions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12" y="857344"/>
            <a:ext cx="9885312" cy="523498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/>
              <a:t>A program loaded into the memory becomes the process which performs all the tasks mentioned in the program.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A process is an </a:t>
            </a:r>
            <a:r>
              <a:rPr lang="en-US" sz="2000" i="1" dirty="0"/>
              <a:t>instance of a computer program that is being executed</a:t>
            </a:r>
            <a:r>
              <a:rPr lang="en-US" sz="2000" dirty="0"/>
              <a:t>. When a process executes , it passes through different states.</a:t>
            </a:r>
          </a:p>
          <a:p>
            <a:pPr algn="just">
              <a:lnSpc>
                <a:spcPct val="100000"/>
              </a:lnSpc>
            </a:pPr>
            <a:r>
              <a:rPr lang="en-US" sz="2000" dirty="0"/>
              <a:t>Context switching helps to share a single CPU across all processes to complete its execution and store the system's tasks status. </a:t>
            </a:r>
          </a:p>
          <a:p>
            <a:pPr marL="534988" lvl="1" indent="-306388" algn="just">
              <a:lnSpc>
                <a:spcPct val="100000"/>
              </a:lnSpc>
              <a:buFont typeface="System Font Regular"/>
              <a:buChar char="⁃"/>
            </a:pPr>
            <a:r>
              <a:rPr lang="en-US" sz="2000" dirty="0"/>
              <a:t>It is a technique used by OS to switch a process from one state to another to execute its function using CPU. </a:t>
            </a:r>
          </a:p>
          <a:p>
            <a:pPr marL="534988" lvl="1" indent="-306388" algn="just">
              <a:lnSpc>
                <a:spcPct val="100000"/>
              </a:lnSpc>
              <a:buFont typeface="System Font Regular"/>
              <a:buChar char="⁃"/>
            </a:pPr>
            <a:r>
              <a:rPr lang="en-US" sz="2000" dirty="0"/>
              <a:t>During switching, it stores the old running process's status in registers and assigns the CPU to a new process to execute its tasks. </a:t>
            </a:r>
          </a:p>
          <a:p>
            <a:pPr marL="534988" lvl="1" indent="-306388" algn="just">
              <a:lnSpc>
                <a:spcPct val="100000"/>
              </a:lnSpc>
              <a:buFont typeface="System Font Regular"/>
              <a:buChar char="⁃"/>
            </a:pPr>
            <a:r>
              <a:rPr lang="en-US" sz="2000" dirty="0"/>
              <a:t>While a new process is running in the system, the previous process must wait in a queue. </a:t>
            </a:r>
          </a:p>
          <a:p>
            <a:pPr marL="534988" lvl="1" indent="-306388" algn="just">
              <a:lnSpc>
                <a:spcPct val="100000"/>
              </a:lnSpc>
              <a:buFont typeface="System Font Regular"/>
              <a:buChar char="⁃"/>
            </a:pPr>
            <a:r>
              <a:rPr lang="en-US" sz="2000" dirty="0"/>
              <a:t>The execution of the old process starts at that point where another process stopped it.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8974" y="914400"/>
            <a:ext cx="9771962" cy="50292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/>
              <a:t>Context Switch</a:t>
            </a:r>
          </a:p>
          <a:p>
            <a:pPr marL="463550" algn="just">
              <a:lnSpc>
                <a:spcPct val="100000"/>
              </a:lnSpc>
              <a:buFont typeface="Calibri" pitchFamily="34" charset="0"/>
              <a:buChar char="─"/>
            </a:pPr>
            <a:r>
              <a:rPr lang="en-US" sz="2000" dirty="0"/>
              <a:t>Whenever an interrupt arrives, the CPU must do a </a:t>
            </a:r>
            <a:r>
              <a:rPr lang="en-US" sz="2000" b="1" dirty="0"/>
              <a:t>state-save</a:t>
            </a:r>
            <a:r>
              <a:rPr lang="en-US" sz="2000" dirty="0"/>
              <a:t> of the currently running process, then switch into kernel mode to handle the interrupt, and then do a </a:t>
            </a:r>
            <a:r>
              <a:rPr lang="en-US" sz="2000" b="1" dirty="0"/>
              <a:t>state-restore</a:t>
            </a:r>
            <a:r>
              <a:rPr lang="en-US" sz="2000" dirty="0"/>
              <a:t> of the interrupted process.</a:t>
            </a:r>
          </a:p>
          <a:p>
            <a:pPr marL="463550" algn="just">
              <a:lnSpc>
                <a:spcPct val="100000"/>
              </a:lnSpc>
              <a:buFont typeface="Calibri" pitchFamily="34" charset="0"/>
              <a:buChar char="─"/>
            </a:pPr>
            <a:r>
              <a:rPr lang="en-US" sz="2000" dirty="0"/>
              <a:t>Similarly, a </a:t>
            </a:r>
            <a:r>
              <a:rPr lang="en-US" sz="2000" b="1" dirty="0"/>
              <a:t>context switch</a:t>
            </a:r>
            <a:r>
              <a:rPr lang="en-US" sz="2000" dirty="0"/>
              <a:t> occurs when the time slice for one process has expired and a new process is to be loaded from the ready queue. This will be instigated by a timer interrupt, which will then cause the current process's state to be saved and the new process's state to be restored.</a:t>
            </a:r>
          </a:p>
          <a:p>
            <a:pPr marL="463550" algn="just">
              <a:lnSpc>
                <a:spcPct val="100000"/>
              </a:lnSpc>
              <a:buFont typeface="Calibri" pitchFamily="34" charset="0"/>
              <a:buChar char="─"/>
            </a:pPr>
            <a:r>
              <a:rPr lang="en-US" sz="2000" dirty="0"/>
              <a:t>Saving and restoring states involves saving and restoring all of the registers and program counter(s), etc.</a:t>
            </a:r>
          </a:p>
          <a:p>
            <a:pPr marL="463550" algn="just">
              <a:lnSpc>
                <a:spcPct val="100000"/>
              </a:lnSpc>
              <a:buFont typeface="Calibri" pitchFamily="34" charset="0"/>
              <a:buChar char="─"/>
            </a:pPr>
            <a:r>
              <a:rPr lang="en-US" sz="2000" dirty="0"/>
              <a:t>Context switching happens frequently, and the overhead of doing the switching is just lost CPU time, so context switches ( state saves &amp; restores) need to be as fast as possible. Some hardware has special provisions for speeding this up, such as a single machine instruction for saving or restoring all registers at once.</a:t>
            </a:r>
          </a:p>
          <a:p>
            <a:pPr algn="just">
              <a:lnSpc>
                <a:spcPct val="100000"/>
              </a:lnSpc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5695</Words>
  <Application>Microsoft Office PowerPoint</Application>
  <PresentationFormat>Widescreen</PresentationFormat>
  <Paragraphs>545</Paragraphs>
  <Slides>46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맑은 고딕</vt:lpstr>
      <vt:lpstr>American Typewriter</vt:lpstr>
      <vt:lpstr>Arial</vt:lpstr>
      <vt:lpstr>Baskerville</vt:lpstr>
      <vt:lpstr>Calibri</vt:lpstr>
      <vt:lpstr>Calibri Light</vt:lpstr>
      <vt:lpstr>Carlito</vt:lpstr>
      <vt:lpstr>System Font Regular</vt:lpstr>
      <vt:lpstr>Times New Roman</vt:lpstr>
      <vt:lpstr>Wingdings</vt:lpstr>
      <vt:lpstr>Office Theme</vt:lpstr>
      <vt:lpstr>Input-Output Organization</vt:lpstr>
      <vt:lpstr>Need for I/O Interface </vt:lpstr>
      <vt:lpstr>I/O Interface</vt:lpstr>
      <vt:lpstr>I/O Bus and Interface Modules</vt:lpstr>
      <vt:lpstr>I/O Bus and Interface Modules</vt:lpstr>
      <vt:lpstr>I/O Command</vt:lpstr>
      <vt:lpstr>I/O versus Memory Bus</vt:lpstr>
      <vt:lpstr>Isolated I/O</vt:lpstr>
      <vt:lpstr>Memory Mapped I/O</vt:lpstr>
      <vt:lpstr>PowerPoint Presentation</vt:lpstr>
      <vt:lpstr>Data Transfer</vt:lpstr>
      <vt:lpstr>Strobe Control and Handshaking</vt:lpstr>
      <vt:lpstr>Strobe Control</vt:lpstr>
      <vt:lpstr>Source and Destination initiated strobe for data transfer</vt:lpstr>
      <vt:lpstr>Handshaking</vt:lpstr>
      <vt:lpstr>Source-initiated transfer using handshaking</vt:lpstr>
      <vt:lpstr>Destination-initiated transfer using handshaking</vt:lpstr>
      <vt:lpstr>PowerPoint Presentation</vt:lpstr>
      <vt:lpstr>PowerPoint Presentation</vt:lpstr>
      <vt:lpstr>PowerPoint Presentation</vt:lpstr>
      <vt:lpstr>PowerPoint Presentation</vt:lpstr>
      <vt:lpstr>Modes Of Transfer</vt:lpstr>
      <vt:lpstr>Programmed I/O</vt:lpstr>
      <vt:lpstr>PowerPoint Presentation</vt:lpstr>
      <vt:lpstr>Interrupt-Initiated I/O</vt:lpstr>
      <vt:lpstr>Priority Interrupt</vt:lpstr>
      <vt:lpstr>Polling</vt:lpstr>
      <vt:lpstr>Daisy Chaining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Direct Memory Access</vt:lpstr>
      <vt:lpstr>Working of DMA</vt:lpstr>
      <vt:lpstr>DMA Controller</vt:lpstr>
      <vt:lpstr>DMA Transfer</vt:lpstr>
      <vt:lpstr>DMA Transfer</vt:lpstr>
      <vt:lpstr>Types of Instructions</vt:lpstr>
      <vt:lpstr>Privileged &amp; Non-Privileged Instructions</vt:lpstr>
      <vt:lpstr>Software Interrupts and Exceptions</vt:lpstr>
      <vt:lpstr>Programs and Processes - Role of interrupts in process state transitions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account</cp:lastModifiedBy>
  <cp:revision>36</cp:revision>
  <dcterms:created xsi:type="dcterms:W3CDTF">2023-06-26T06:10:34Z</dcterms:created>
  <dcterms:modified xsi:type="dcterms:W3CDTF">2024-01-09T02:12:58Z</dcterms:modified>
</cp:coreProperties>
</file>