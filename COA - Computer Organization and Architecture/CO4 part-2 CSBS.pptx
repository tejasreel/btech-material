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40"/>
  </p:notesMasterIdLst>
  <p:sldIdLst>
    <p:sldId id="257" r:id="rId2"/>
    <p:sldId id="271" r:id="rId3"/>
    <p:sldId id="272" r:id="rId4"/>
    <p:sldId id="258" r:id="rId5"/>
    <p:sldId id="273" r:id="rId6"/>
    <p:sldId id="259" r:id="rId7"/>
    <p:sldId id="357" r:id="rId8"/>
    <p:sldId id="276" r:id="rId9"/>
    <p:sldId id="270" r:id="rId10"/>
    <p:sldId id="260" r:id="rId11"/>
    <p:sldId id="264" r:id="rId12"/>
    <p:sldId id="309" r:id="rId13"/>
    <p:sldId id="325" r:id="rId14"/>
    <p:sldId id="306" r:id="rId15"/>
    <p:sldId id="302" r:id="rId16"/>
    <p:sldId id="315" r:id="rId17"/>
    <p:sldId id="332" r:id="rId18"/>
    <p:sldId id="328" r:id="rId19"/>
    <p:sldId id="329" r:id="rId20"/>
    <p:sldId id="319" r:id="rId21"/>
    <p:sldId id="333" r:id="rId22"/>
    <p:sldId id="334" r:id="rId23"/>
    <p:sldId id="330" r:id="rId24"/>
    <p:sldId id="323" r:id="rId25"/>
    <p:sldId id="335" r:id="rId26"/>
    <p:sldId id="337" r:id="rId27"/>
    <p:sldId id="336" r:id="rId28"/>
    <p:sldId id="354" r:id="rId29"/>
    <p:sldId id="346" r:id="rId30"/>
    <p:sldId id="353" r:id="rId31"/>
    <p:sldId id="351" r:id="rId32"/>
    <p:sldId id="339" r:id="rId33"/>
    <p:sldId id="355" r:id="rId34"/>
    <p:sldId id="347" r:id="rId35"/>
    <p:sldId id="356" r:id="rId36"/>
    <p:sldId id="341" r:id="rId37"/>
    <p:sldId id="348" r:id="rId38"/>
    <p:sldId id="30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91"/>
    <p:restoredTop sz="96341"/>
  </p:normalViewPr>
  <p:slideViewPr>
    <p:cSldViewPr snapToGrid="0">
      <p:cViewPr varScale="1">
        <p:scale>
          <a:sx n="91" d="100"/>
          <a:sy n="91" d="100"/>
        </p:scale>
        <p:origin x="72"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20T06:47:36.796"/>
    </inkml:context>
    <inkml:brush xml:id="br0">
      <inkml:brushProperty name="width" value="0.05" units="cm"/>
      <inkml:brushProperty name="height" value="0.05" units="cm"/>
      <inkml:brushProperty name="color" value="#F6630D"/>
    </inkml:brush>
  </inkml:definitions>
  <inkml:trace contextRef="#ctx0" brushRef="#br0">110 184 24575,'8'0'0,"4"-4"0,-3 3 0,6-2 0,-6-1 0,7 3 0,-7-6 0,3 2 0,-4-3 0,10-1 0,-7 0 0,7 4 0,-10-3 0,0 4 0,0-1 0,1 1 0,-1 4 0,0-3 0,0 2 0,0-3 0,0 4 0,0 0 0,4 0 0,-3-4 0,6 0 0,-2-1 0,0-2 0,-1 2 0,-4 1 0,0-4 0,0 8 0,0-4 0,0 4 0,0 0 0,4 0 0,-3 0 0,3 0 0,-4 0 0,4 0 0,-3-4 0,2 3 0,-3-2 0,4-1 0,-3 3 0,3-3 0,-4 4 0,4 0 0,-3 0 0,6 0 0,-2 0 0,0 0 0,-1 0 0,-4-3 0,0-2 0,0 1 0,0 0 0,0 4 0,0 0 0,4 0 0,-3-4 0,3 3 0,-4-2 0,4 3 0,-3 0 0,2 0 0,-3 0 0,4 0 0,-3-4 0,3 3 0,-4-3 0,4 4 0,-3 0 0,6 0 0,-2 0 0,0 0 0,-1 0 0,-4 0 0,3 0 0,-2 0 0,3 0 0,-4 0 0,0-3 0,1 2 0,-1-3 0,0 4 0,0 0 0,4 0 0,0 0 0,11 0 0,-8 0 0,3 0 0,-10 0 0,4 0 0,-3 0 0,3 0 0,-4 0 0,10 0 0,-4 0 0,28 0 0,-15 0 0,10 0 0,-18 0 0,-3 0 0,-7 0 0,2 0 0,-2 0 0,2 0 0,-2 4 0,3-3 0,-4 2 0,4-3 0,-3 0 0,3 0 0,0 0 0,-3 0 0,2 0 0,-3 0 0,1 0 0,2 0 0,2 0 0,0 0 0,-1 0 0,-4 0 0,0 0 0,3 4 0,2 0 0,0 1 0,-2-2 0,1 1 0,-3-3 0,3 3 0,-4-4 0,0 0 0,4 0 0,-3 0 0,6 0 0,-2 0 0,0 0 0,-1 0 0,-4 0 0,0 0 0,4 3 0,-3-2 0,2 3 0,8-4 0,2 9 0,0-3 0,-3 4 0,-10-6 0,0-1 0,4-2 0,-3 3 0,3-1 0,-4-2 0,4 3 0,-3-4 0,2 3 0,-3 2 0,1 3 0,-1 0 0,0 0 0,0 0 0,-4 0 0,4 1 0,-4-1 0,4 0 0,0 0 0,-3 0 0,2 0 0,-2 4 0,4 7 0,3-1 0,-6 5 0,1-10 0,-7-1 0,0-4 0,0 3 0,0-2 0,0 3 0,0-4 0,0 4 0,0-3 0,0 3 0,4 0 0,-3-3 0,2 2 0,-3-2 0,0-1 0,0 3 0,0-2 0,4 3 0,-3-4 0,3 4 0,-8-3 0,-1 3 0,-3-4 0,0 0 0,-4-3 0,3-2 0,-3 1 0,4 0 0,-1 4 0,1 0 0,-4 1 0,3-1 0,-3 0 0,4-4 0,0 0 0,-1 0 0,1 0 0,-4 1 0,3 2 0,-7-3 0,7 4 0,-6 4 0,6-6 0,-3 1 0,0-7 0,3 3 0,-3-2 0,-7 12 0,8-7 0,-7 4 0,10-3 0,-4-6 0,3 3 0,-7-4 0,7 4 0,-3-4 0,4 4 0,-1-4 0,1 0 0,-4 0 0,3 0 0,-3 4 0,4 0 0,-4 1 0,3-2 0,-3 1 0,4-3 0,-4 2 0,3-3 0,-3 0 0,4 0 0,-4 0 0,2 4 0,-1-3 0,2 2 0,-3-3 0,3 0 0,-3 0 0,4 0 0,-4 0 0,3 0 0,-3 0 0,4 4 0,-4-3 0,3 3 0,-3-4 0,4 0 0,-4 0 0,3 0 0,-7 0 0,3 0 0,0 0 0,1 0 0,4 0 0,-4 0 0,3 0 0,-3 0 0,-6 0 0,7 0 0,-8 0 0,11 0 0,-4 0 0,3 0 0,-3 0 0,4 0 0,-4 0 0,3 0 0,-3 0 0,-7 0 0,9 0 0,-9 0 0,11 0 0,-4 0 0,3 0 0,-3 0 0,4 0 0,-4 0 0,3 0 0,-3 0 0,3 0 0,-2 0 0,1 0 0,-2 0 0,4 0 0,-10 0 0,7 0 0,-8 0 0,8 0 0,1 0 0,-2 0 0,4 0 0,-4 0 0,7 7 0,-6-5 0,6 5 0,-3-7 0,-4 0 0,-1-4 0,0 3 0,-6-6 0,9 6 0,-5-3 0,3 4 0,-1-3 0,0 2 0,-3-3 0,7 4 0,-6 0 0,6-4 0,-3 0 0,3-1 0,1 2 0,0 3 0,-4 0 0,3 0 0,-3 0 0,4 0 0,-4 0 0,3 0 0,-3 0 0,0-4 0,3 3 0,-3-3 0,3 4 0,1 0 0,0 0 0,0 0 0,-1 0 0,1 0 0,0 0 0,-4 0 0,3 0 0,-3 0 0,4 0 0,-4 0 0,3-3 0,-3 2 0,4-3 0,-1 4 0,-9-4 0,7 2 0,-8-10 0,8 3 0,-2 0 0,0-2 0,1 10 0,4-3 0,0 4 0,-1 0 0,1-3 0,0-2 0,-4-3 0,3 3 0,-13 2 0,11 3 0,-8-4 0,11-1 0,0 1 0,0-3 0,-1 2 0,1-3 0,0 0 0,0-1 0,-4-3 0,2 3 0,2-3 0,1 0 0,6 3 0,-3-3 0,4 4 0,-4-10 0,-1 7 0,3-8 0,-1 7 0,7 3 0,-4-3 0,0 4 0,0-4 0,0 3 0,0-3 0,0 4 0,3 0 0,-2-1 0,6 1 0,-2 0 0,3 0 0,0-1 0,0 1 0,-3 0 0,2 0 0,-3-1 0,5 1 0,-5 0 0,3 0 0,-2 3 0,7 1 0,-3 1 0,-1 2 0,-5-3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20T06:47:52.394"/>
    </inkml:context>
    <inkml:brush xml:id="br0">
      <inkml:brushProperty name="width" value="0.05" units="cm"/>
      <inkml:brushProperty name="height" value="0.05" units="cm"/>
      <inkml:brushProperty name="color" value="#F6630D"/>
    </inkml:brush>
  </inkml:definitions>
  <inkml:trace contextRef="#ctx0" brushRef="#br0">1 248 24575,'8'-8'0,"4"3"0,0 2 0,1 3 0,-1-4 0,-4-1 0,-3-3 0,-2 0 0,4 0 0,-1-1 0,9 1 0,-9 0 0,5 0 0,-7-1 0,4 1 0,-3 0 0,2 0 0,-3-1 0,4 1 0,1 0 0,-1 0 0,0-1 0,0 1 0,0 0 0,0 0 0,4-1 0,-3 1 0,6 4 0,-6-4 0,3 4 0,-4-5 0,4 5 0,-3 0 0,3 4 0,-4 0 0,4 0 0,-3-4 0,2 0 0,-2-1 0,2 2 0,-2 3 0,3 0 0,-4 0 0,4 0 0,1 3 0,-1-2 0,4 3 0,-7-4 0,3 0 0,-4 0 0,10 4 0,-4 1 0,16 5 0,-16-1 0,5 0 0,-8-5 0,-2 3 0,3-2 0,0 7 0,-3-3 0,3 2 0,-4-2 0,-4-1 0,3 0 0,-2 0 0,3 4 0,0-3 0,0 6 0,0-6 0,-3 13 0,2-11 0,-6 7 0,6-10 0,-2 0 0,-1 0 0,0 1 0,-4-1 0,0 3 0,0-2 0,0 3 0,0-4 0,0 4 0,0-3 0,0 3 0,3-4 0,-2 0 0,7 7 0,-8-5 0,4 9 0,-4-10 0,4 7 0,-3-3 0,2-1 0,-3 0 0,0-4 0,0 4 0,0-3 0,0 3 0,0-4 0,-4 0 0,4 0 0,-4 0 0,0 4 0,0-7 0,-5 6 0,1-3 0,0 1 0,0 3 0,-1-4 0,1 0 0,4 0 0,-4 1 0,4-1 0,-5-4 0,1 0 0,0-4 0,0 3 0,-4-2 0,3 3 0,-7-1 0,7 2 0,-3-1 0,4 0 0,0 0 0,-1-3 0,-3 2 0,3-3 0,-3 0 0,4 4 0,-4-3 0,-1 6 0,0-6 0,-2 2 0,6-3 0,-7 4 0,7 0 0,-3 1 0,4-1 0,0-4 0,-1 3 0,-3-2 0,3 3 0,-3-4 0,4 0 0,-4 0 0,3 0 0,-3 0 0,4 0 0,-4 0 0,3 0 0,-3 0 0,4 0 0,-4 0 0,3 0 0,-3 0 0,3 0 0,-2 0 0,-2-4 0,0-1 0,-3 1 0,7 0 0,-6 1 0,5-2 0,-1 0 0,-1-6 0,2 6 0,-5-7 0,6 7 0,-3-2 0,4 3 0,3-5 0,-2 1 0,6 0 0,-10-4 0,9 3 0,-5-3 0,7 4 0,-5-11 0,0 8 0,0-7 0,1 6 0,4 3 0,0-3 0,0 4 0,0-4 0,0 2 0,0-1 0,0 2 0,0 1 0,0 0 0,0 0 0,0-1 0,0 1 0,0-4 0,0 3 0,0-3 0,3 4 0,2 0 0,3-1 0,0 1 0,0 0 0,0 0 0,0-1 0,1 1 0,-5 0 0,-4-4 0,-5 3 0,-3-3 0,0 4 0,3 3 0,2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20T06:49:11.441"/>
    </inkml:context>
    <inkml:brush xml:id="br0">
      <inkml:brushProperty name="width" value="0.05" units="cm"/>
      <inkml:brushProperty name="height" value="0.05" units="cm"/>
      <inkml:brushProperty name="color" value="#AB008B"/>
    </inkml:brush>
  </inkml:definitions>
  <inkml:trace contextRef="#ctx0" brushRef="#br0">248 657 24575,'-13'0'0,"1"-4"0,4 3 0,0 1 0,-1 1 0,1 2 0,0-3 0,0 0 0,-4 0 0,2 0 0,-1 0 0,2 0 0,-3-3 0,3 2 0,-3-3 0,4 0 0,0 0 0,0-1 0,-1-2 0,1-1 0,0-1 0,-4-3 0,-1-4 0,4 6 0,2-16 0,3 12 0,3-6 0,-3 5 0,4 6 0,0-3 0,0 3 0,0-2 0,0 1 0,0-2 0,0 4 0,0-4 0,0 3 0,0-3 0,0 4 0,0-4 0,0 3 0,0-3 0,0 4 0,0-4 0,0 3 0,0-3 0,0 4 0,5-11 0,0 8 0,4-7 0,-5 6 0,4 3 0,-4-3 0,1 4 0,-2-4 0,1 2 0,0-1 0,4 2 0,0 1 0,4-4 0,-3 3 0,3-3 0,-4 4 0,-3 0 0,2-1 0,-3 1 0,4 0 0,1 0 0,2-1 0,-2 1 0,7 0 0,-7 0 0,6-1 0,-6 5 0,7-7 0,-4 9 0,1-5 0,-1 7 0,-4-4 0,4 3 0,-3-3 0,3 4 0,-4 0 0,3 0 0,-2 0 0,3 0 0,-4 0 0,4 0 0,-3-3 0,3 2 0,-4-3 0,4 4 0,0 0 0,1 0 0,3 0 0,-7 0 0,2 0 0,-3 0 0,4 0 0,-3 0 0,3 0 0,0 0 0,-3 0 0,3 0 0,-4 0 0,0 4 0,0 0 0,0 1 0,0 2 0,4-3 0,1 5 0,3 2 0,-3-2 0,6 7 0,-10-7 0,3 2 0,-5 1 0,-2-3 0,9 17 0,-5-15 0,5 11 0,-10-14 0,4 4 0,-4-3 0,4 3 0,0 0 0,0-3 0,2 13 0,2-8 0,-6 9 0,1-7 0,-7-3 0,0 3 0,0-4 0,-3 1 0,2 2 0,-3-6 0,4 3 0,0 7 0,-4-9 0,3 9 0,-2-11 0,3 3 0,-4-2 0,-1 3 0,-3-4 0,0 0 0,0 1 0,3-1 0,-2 0 0,2 0 0,-3 0 0,0 0 0,0 0 0,-4 0 0,2-3 0,-1 2 0,2-3 0,-3 1 0,3-1 0,-3-1 0,4 2 0,0 3 0,0-4 0,-1 0 0,1 0 0,0-4 0,0 8 0,-1-7 0,1 6 0,0-3 0,0 4 0,-1-3 0,1-2 0,0-3 0,0 0 0,-1 4 0,-3-3 0,3 6 0,-3-6 0,4 3 0,0-1 0,0 2 0,-1-1 0,1 0 0,0-4 0,-4 0 0,3 0 0,-3 3 0,4-2 0,-4 3 0,3-4 0,-3 0 0,0 4 0,3-4 0,0 4 0,6-4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20T06:49:23.145"/>
    </inkml:context>
    <inkml:brush xml:id="br0">
      <inkml:brushProperty name="width" value="0.05" units="cm"/>
      <inkml:brushProperty name="height" value="0.05" units="cm"/>
      <inkml:brushProperty name="color" value="#AB008B"/>
    </inkml:brush>
  </inkml:definitions>
  <inkml:trace contextRef="#ctx0" brushRef="#br0">9 553 24575,'-5'-8'0,"2"0"0,3-1 0,0 1 0,0 0 0,0-4 0,0 3 0,0-3 0,0-7 0,0 9 0,0-9 0,0 11 0,0-4 0,0 3 0,0-3 0,0 4 0,0-4 0,0 3 0,0-3 0,0 3 0,0-3 0,0 3 0,0-3 0,0 4 0,3 0 0,2 0 0,-1-1 0,0 1 0,-4 0 0,0 0 0,0-1 0,0 1 0,4-4 0,-4-1 0,4 1 0,0-4 0,-3 3 0,6 0 0,-6 1 0,2 4 0,1 0 0,0 0 0,1-1 0,2 1 0,-2-4 0,-1 3 0,3-3 0,-2 4 0,3 3 0,0-2 0,0 6 0,4-6 0,-3 6 0,3-3 0,-4 1 0,0-2 0,0 0 0,0 2 0,0-1 0,0 3 0,11-7 0,-9 7 0,9-4 0,-8 5 0,-2 0 0,3 0 0,-4 0 0,4 0 0,-3 0 0,3 0 0,-4 0 0,4 0 0,-3 0 0,3 0 0,-4 0 0,3 0 0,-2 0 0,3 0 0,-4 0 0,4 0 0,-3 0 0,3 0 0,-4 0 0,4 0 0,-3 0 0,3 0 0,-4 0 0,3 0 0,2 0 0,0 0 0,9 0 0,-12 0 0,19 0 0,-18 0 0,7 0 0,-10 0 0,4 0 0,-3 0 0,3 0 0,-4 0 0,4 0 0,-3 0 0,6 0 0,4 0 0,-4 0 0,3 0 0,-6 0 0,-3 0 0,3 0 0,-4 0 0,10 0 0,-7 0 0,7 0 0,-6 0 0,-3 0 0,3 0 0,-4 0 0,4 0 0,-3 0 0,6 0 0,16 0 0,-13 0 0,22 0 0,-25 0 0,7 0 0,-9 0 0,-1 0 0,-4 0 0,4 0 0,-3 0 0,3 0 0,-4 0 0,3 0 0,-2 0 0,3 0 0,-4 4 0,0 0 0,4 4 0,-3 0 0,3 0 0,-4 1 0,0-1 0,0 0 0,0 4 0,1 0 0,-1 1 0,-4-1 0,0 6 0,-1-4 0,2 6 0,-1-9 0,0-2 0,-4-1 0,4 0 0,-4 10 0,4-7 0,-4 7 0,0 0 0,0-7 0,-6 30 0,4-28 0,-5 18 0,7-19 0,0-3 0,0 2 0,0-3 0,0 4 0,0-3 0,0 3 0,0-4 0,0 4 0,0-3 0,0 3 0,0-4 0,0 4 0,0-3 0,-3 2 0,2-3 0,-7 4 0,8-3 0,-8 3 0,4 0 0,-5-3 0,1 6 0,0-6 0,0 3 0,-4-4 0,3 0 0,-3 0 0,3 0 0,1 1 0,0-5 0,0 3 0,-1-2 0,1 3 0,0-4 0,0 0 0,-1-4 0,1 4 0,-4-4 0,3 8 0,-3-7 0,4 2 0,0 1 0,0 0 0,-1 1 0,1-2 0,0-3 0,-4 0 0,3 0 0,-7 4 0,3-3 0,0 2 0,2-3 0,2 0 0,-3 0 0,3 0 0,-3 0 0,4 0 0,-4 0 0,3 0 0,-3 0 0,4 0 0,-4 0 0,3 0 0,-3 0 0,4 0 0,-4 0 0,3 0 0,-3 0 0,3 0 0,-2 0 0,1 0 0,-2 0 0,4 0 0,-4 0 0,3 0 0,-3 0 0,4 0 0,-4 0 0,3 0 0,-3 0 0,4 0 0,-4 0 0,3 0 0,-3 0 0,4 0 0,-4 0 0,2 0 0,-5 0 0,2 0 0,0 0 0,1 0 0,4 0 0,-4 0 0,-1 0 0,1 0 0,-4 0 0,7 0 0,-3 0 0,4 0 0,-4 0 0,3 0 0,-3 0 0,3 0 0,-3 0 0,3 0 0,-3 0 0,4 0 0,-4 0 0,3 0 0,-3 0 0,4 0 0,-4 0 0,3 0 0,-3 0 0,4 0 0,-4 0 0,3 0 0,-3 0 0,4 0 0,-4-3 0,2 2 0,-1-3 0,2 4 0,-3 0 0,0-3 0,-1 2 0,1-3 0,4 4 0,-1 0 0,1-4 0,0 0 0,-11-10 0,9 4 0,-9-4 0,11 6 0,0 3 0,-1-2 0,1 3 0,3-1 0,2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25D7AC-6007-0046-B290-3C492B4187D4}" type="datetimeFigureOut">
              <a:rPr lang="en-US" smtClean="0"/>
              <a:t>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554689-29DB-2844-8A9F-394BB114B600}" type="slidenum">
              <a:rPr lang="en-US" smtClean="0"/>
              <a:t>‹#›</a:t>
            </a:fld>
            <a:endParaRPr lang="en-US"/>
          </a:p>
        </p:txBody>
      </p:sp>
    </p:spTree>
    <p:extLst>
      <p:ext uri="{BB962C8B-B14F-4D97-AF65-F5344CB8AC3E}">
        <p14:creationId xmlns:p14="http://schemas.microsoft.com/office/powerpoint/2010/main" val="2481532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554689-29DB-2844-8A9F-394BB114B600}" type="slidenum">
              <a:rPr lang="en-US" smtClean="0"/>
              <a:t>8</a:t>
            </a:fld>
            <a:endParaRPr lang="en-US"/>
          </a:p>
        </p:txBody>
      </p:sp>
    </p:spTree>
    <p:extLst>
      <p:ext uri="{BB962C8B-B14F-4D97-AF65-F5344CB8AC3E}">
        <p14:creationId xmlns:p14="http://schemas.microsoft.com/office/powerpoint/2010/main" val="3516211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D8B9353-AFBA-0F45-9369-8C27A2591C40}" type="datetimeFigureOut">
              <a:rPr lang="en-US" smtClean="0"/>
              <a:t>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208AF-C077-9A49-AF7B-83EE10F28BA9}" type="slidenum">
              <a:rPr lang="en-US" smtClean="0"/>
              <a:t>‹#›</a:t>
            </a:fld>
            <a:endParaRPr lang="en-US"/>
          </a:p>
        </p:txBody>
      </p:sp>
    </p:spTree>
    <p:extLst>
      <p:ext uri="{BB962C8B-B14F-4D97-AF65-F5344CB8AC3E}">
        <p14:creationId xmlns:p14="http://schemas.microsoft.com/office/powerpoint/2010/main" val="3404793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D8B9353-AFBA-0F45-9369-8C27A2591C40}" type="datetimeFigureOut">
              <a:rPr lang="en-US" smtClean="0"/>
              <a:t>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208AF-C077-9A49-AF7B-83EE10F28BA9}" type="slidenum">
              <a:rPr lang="en-US" smtClean="0"/>
              <a:t>‹#›</a:t>
            </a:fld>
            <a:endParaRPr lang="en-US"/>
          </a:p>
        </p:txBody>
      </p:sp>
      <p:pic>
        <p:nvPicPr>
          <p:cNvPr id="7" name="Picture 2">
            <a:extLst>
              <a:ext uri="{FF2B5EF4-FFF2-40B4-BE49-F238E27FC236}">
                <a16:creationId xmlns:a16="http://schemas.microsoft.com/office/drawing/2014/main" id="{34F48B10-FA34-7CD6-5241-7556ABC9CD0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86602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D8B9353-AFBA-0F45-9369-8C27A2591C40}" type="datetimeFigureOut">
              <a:rPr lang="en-US" smtClean="0"/>
              <a:t>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208AF-C077-9A49-AF7B-83EE10F28BA9}" type="slidenum">
              <a:rPr lang="en-US" smtClean="0"/>
              <a:t>‹#›</a:t>
            </a:fld>
            <a:endParaRPr lang="en-US"/>
          </a:p>
        </p:txBody>
      </p:sp>
    </p:spTree>
    <p:extLst>
      <p:ext uri="{BB962C8B-B14F-4D97-AF65-F5344CB8AC3E}">
        <p14:creationId xmlns:p14="http://schemas.microsoft.com/office/powerpoint/2010/main" val="148649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D8B9353-AFBA-0F45-9369-8C27A2591C40}" type="datetimeFigureOut">
              <a:rPr lang="en-US" smtClean="0"/>
              <a:t>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9208AF-C077-9A49-AF7B-83EE10F28BA9}" type="slidenum">
              <a:rPr lang="en-US" smtClean="0"/>
              <a:t>‹#›</a:t>
            </a:fld>
            <a:endParaRPr lang="en-US"/>
          </a:p>
        </p:txBody>
      </p:sp>
    </p:spTree>
    <p:extLst>
      <p:ext uri="{BB962C8B-B14F-4D97-AF65-F5344CB8AC3E}">
        <p14:creationId xmlns:p14="http://schemas.microsoft.com/office/powerpoint/2010/main" val="351839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D8B9353-AFBA-0F45-9369-8C27A2591C40}" type="datetimeFigureOut">
              <a:rPr lang="en-US" smtClean="0"/>
              <a:t>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9208AF-C077-9A49-AF7B-83EE10F28BA9}" type="slidenum">
              <a:rPr lang="en-US" smtClean="0"/>
              <a:t>‹#›</a:t>
            </a:fld>
            <a:endParaRPr lang="en-US"/>
          </a:p>
        </p:txBody>
      </p:sp>
    </p:spTree>
    <p:extLst>
      <p:ext uri="{BB962C8B-B14F-4D97-AF65-F5344CB8AC3E}">
        <p14:creationId xmlns:p14="http://schemas.microsoft.com/office/powerpoint/2010/main" val="2129075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D8B9353-AFBA-0F45-9369-8C27A2591C40}" type="datetimeFigureOut">
              <a:rPr lang="en-US" smtClean="0"/>
              <a:t>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9208AF-C077-9A49-AF7B-83EE10F28BA9}" type="slidenum">
              <a:rPr lang="en-US" smtClean="0"/>
              <a:t>‹#›</a:t>
            </a:fld>
            <a:endParaRPr lang="en-US"/>
          </a:p>
        </p:txBody>
      </p:sp>
    </p:spTree>
    <p:extLst>
      <p:ext uri="{BB962C8B-B14F-4D97-AF65-F5344CB8AC3E}">
        <p14:creationId xmlns:p14="http://schemas.microsoft.com/office/powerpoint/2010/main" val="1595873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8B9353-AFBA-0F45-9369-8C27A2591C40}" type="datetimeFigureOut">
              <a:rPr lang="en-US" smtClean="0"/>
              <a:t>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9208AF-C077-9A49-AF7B-83EE10F28BA9}" type="slidenum">
              <a:rPr lang="en-US" smtClean="0"/>
              <a:t>‹#›</a:t>
            </a:fld>
            <a:endParaRPr lang="en-US"/>
          </a:p>
        </p:txBody>
      </p:sp>
    </p:spTree>
    <p:extLst>
      <p:ext uri="{BB962C8B-B14F-4D97-AF65-F5344CB8AC3E}">
        <p14:creationId xmlns:p14="http://schemas.microsoft.com/office/powerpoint/2010/main" val="2834257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6D8B9353-AFBA-0F45-9369-8C27A2591C40}" type="datetimeFigureOut">
              <a:rPr lang="en-US" smtClean="0"/>
              <a:t>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9208AF-C077-9A49-AF7B-83EE10F28BA9}" type="slidenum">
              <a:rPr lang="en-US" smtClean="0"/>
              <a:t>‹#›</a:t>
            </a:fld>
            <a:endParaRPr lang="en-US"/>
          </a:p>
        </p:txBody>
      </p:sp>
    </p:spTree>
    <p:extLst>
      <p:ext uri="{BB962C8B-B14F-4D97-AF65-F5344CB8AC3E}">
        <p14:creationId xmlns:p14="http://schemas.microsoft.com/office/powerpoint/2010/main" val="2595120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6D8B9353-AFBA-0F45-9369-8C27A2591C40}" type="datetimeFigureOut">
              <a:rPr lang="en-US" smtClean="0"/>
              <a:t>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9208AF-C077-9A49-AF7B-83EE10F28BA9}" type="slidenum">
              <a:rPr lang="en-US" smtClean="0"/>
              <a:t>‹#›</a:t>
            </a:fld>
            <a:endParaRPr lang="en-US"/>
          </a:p>
        </p:txBody>
      </p:sp>
    </p:spTree>
    <p:extLst>
      <p:ext uri="{BB962C8B-B14F-4D97-AF65-F5344CB8AC3E}">
        <p14:creationId xmlns:p14="http://schemas.microsoft.com/office/powerpoint/2010/main" val="242036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D8B9353-AFBA-0F45-9369-8C27A2591C40}" type="datetimeFigureOut">
              <a:rPr lang="en-US" smtClean="0"/>
              <a:t>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208AF-C077-9A49-AF7B-83EE10F28BA9}" type="slidenum">
              <a:rPr lang="en-US" smtClean="0"/>
              <a:t>‹#›</a:t>
            </a:fld>
            <a:endParaRPr lang="en-US"/>
          </a:p>
        </p:txBody>
      </p:sp>
    </p:spTree>
    <p:extLst>
      <p:ext uri="{BB962C8B-B14F-4D97-AF65-F5344CB8AC3E}">
        <p14:creationId xmlns:p14="http://schemas.microsoft.com/office/powerpoint/2010/main" val="546369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D8B9353-AFBA-0F45-9369-8C27A2591C40}" type="datetimeFigureOut">
              <a:rPr lang="en-US" smtClean="0"/>
              <a:t>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208AF-C077-9A49-AF7B-83EE10F28BA9}" type="slidenum">
              <a:rPr lang="en-US" smtClean="0"/>
              <a:t>‹#›</a:t>
            </a:fld>
            <a:endParaRPr lang="en-US"/>
          </a:p>
        </p:txBody>
      </p:sp>
    </p:spTree>
    <p:extLst>
      <p:ext uri="{BB962C8B-B14F-4D97-AF65-F5344CB8AC3E}">
        <p14:creationId xmlns:p14="http://schemas.microsoft.com/office/powerpoint/2010/main" val="3411434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1C3613F-B6B6-75D0-DCB3-682E48FFA2A4}"/>
              </a:ext>
            </a:extLst>
          </p:cNvPr>
          <p:cNvSpPr>
            <a:spLocks noGrp="1"/>
          </p:cNvSpPr>
          <p:nvPr>
            <p:ph type="sldNum" sz="quarter" idx="12"/>
          </p:nvPr>
        </p:nvSpPr>
        <p:spPr/>
        <p:txBody>
          <a:bodyPr/>
          <a:lstStyle/>
          <a:p>
            <a:fld id="{8E9208AF-C077-9A49-AF7B-83EE10F28BA9}" type="slidenum">
              <a:rPr lang="en-US" smtClean="0"/>
              <a:t>‹#›</a:t>
            </a:fld>
            <a:endParaRPr lang="en-US"/>
          </a:p>
        </p:txBody>
      </p:sp>
      <p:pic>
        <p:nvPicPr>
          <p:cNvPr id="1026" name="Picture 2">
            <a:extLst>
              <a:ext uri="{FF2B5EF4-FFF2-40B4-BE49-F238E27FC236}">
                <a16:creationId xmlns:a16="http://schemas.microsoft.com/office/drawing/2014/main" id="{B2944300-E84D-6FDE-1DD1-9F8D1859CD0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5872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977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8B9353-AFBA-0F45-9369-8C27A2591C40}" type="datetimeFigureOut">
              <a:rPr lang="en-US" smtClean="0"/>
              <a:t>1/3/2024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208AF-C077-9A49-AF7B-83EE10F28BA9}" type="slidenum">
              <a:rPr lang="en-US" smtClean="0"/>
              <a:t>‹#›</a:t>
            </a:fld>
            <a:endParaRPr lang="en-US"/>
          </a:p>
        </p:txBody>
      </p:sp>
    </p:spTree>
    <p:extLst>
      <p:ext uri="{BB962C8B-B14F-4D97-AF65-F5344CB8AC3E}">
        <p14:creationId xmlns:p14="http://schemas.microsoft.com/office/powerpoint/2010/main" val="127686451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4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2.png"/><Relationship Id="rId7"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customXml" Target="../ink/ink2.xml"/><Relationship Id="rId11" Type="http://schemas.openxmlformats.org/officeDocument/2006/relationships/image" Target="../media/image33.png"/><Relationship Id="rId5" Type="http://schemas.openxmlformats.org/officeDocument/2006/relationships/image" Target="../media/image3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0051DE-5631-EA19-E580-3B187889502F}"/>
              </a:ext>
            </a:extLst>
          </p:cNvPr>
          <p:cNvSpPr>
            <a:spLocks noGrp="1"/>
          </p:cNvSpPr>
          <p:nvPr>
            <p:ph idx="1"/>
          </p:nvPr>
        </p:nvSpPr>
        <p:spPr>
          <a:xfrm>
            <a:off x="838200" y="659160"/>
            <a:ext cx="10515600" cy="5883308"/>
          </a:xfrm>
        </p:spPr>
        <p:txBody>
          <a:bodyPr>
            <a:normAutofit fontScale="92500" lnSpcReduction="10000"/>
          </a:bodyPr>
          <a:lstStyle/>
          <a:p>
            <a:pPr marL="0" indent="0" algn="ctr">
              <a:buNone/>
            </a:pPr>
            <a:r>
              <a:rPr lang="en-IN" sz="2600" b="1" u="sng" dirty="0">
                <a:latin typeface="AppleMyungjo" pitchFamily="2" charset="-127"/>
                <a:ea typeface="AppleMyungjo" pitchFamily="2" charset="-127"/>
              </a:rPr>
              <a:t>UNIT – IV</a:t>
            </a:r>
          </a:p>
          <a:p>
            <a:pPr marL="0" indent="0" algn="ctr">
              <a:buNone/>
            </a:pPr>
            <a:endParaRPr lang="en-IN" sz="2100" dirty="0">
              <a:latin typeface="AppleMyungjo" pitchFamily="2" charset="-127"/>
              <a:ea typeface="AppleMyungjo" pitchFamily="2" charset="-127"/>
            </a:endParaRPr>
          </a:p>
          <a:p>
            <a:pPr marL="0" indent="0" algn="just">
              <a:buNone/>
            </a:pPr>
            <a:r>
              <a:rPr lang="en-IN" sz="2200" b="1" dirty="0">
                <a:latin typeface="AppleMyungjo" pitchFamily="2" charset="-127"/>
                <a:ea typeface="AppleMyungjo" pitchFamily="2" charset="-127"/>
              </a:rPr>
              <a:t>Memory System Design</a:t>
            </a:r>
          </a:p>
          <a:p>
            <a:pPr marL="546100" indent="-355600" algn="just">
              <a:buFont typeface="System Font Regular"/>
              <a:buChar char="⁃"/>
            </a:pPr>
            <a:r>
              <a:rPr lang="en-IN" sz="2200" dirty="0">
                <a:latin typeface="AppleMyungjo" pitchFamily="2" charset="-127"/>
                <a:ea typeface="AppleMyungjo" pitchFamily="2" charset="-127"/>
              </a:rPr>
              <a:t>Semiconductor memory technologies</a:t>
            </a:r>
          </a:p>
          <a:p>
            <a:pPr marL="546100" indent="-355600" algn="just">
              <a:buFont typeface="System Font Regular"/>
              <a:buChar char="⁃"/>
            </a:pPr>
            <a:r>
              <a:rPr lang="en-IN" sz="2200" dirty="0">
                <a:latin typeface="AppleMyungjo" pitchFamily="2" charset="-127"/>
                <a:ea typeface="AppleMyungjo" pitchFamily="2" charset="-127"/>
              </a:rPr>
              <a:t>SRAM vs DRAM</a:t>
            </a:r>
          </a:p>
          <a:p>
            <a:pPr marL="0" indent="0" algn="just">
              <a:buNone/>
            </a:pPr>
            <a:r>
              <a:rPr lang="en-IN" sz="2200" b="1" dirty="0">
                <a:latin typeface="AppleMyungjo" pitchFamily="2" charset="-127"/>
                <a:ea typeface="AppleMyungjo" pitchFamily="2" charset="-127"/>
              </a:rPr>
              <a:t>Memory Organization</a:t>
            </a:r>
          </a:p>
          <a:p>
            <a:pPr marL="546100" indent="-355600" algn="just">
              <a:buFont typeface="System Font Regular"/>
              <a:buChar char="⁃"/>
            </a:pPr>
            <a:r>
              <a:rPr lang="en-IN" sz="2200" dirty="0">
                <a:latin typeface="AppleMyungjo" pitchFamily="2" charset="-127"/>
                <a:ea typeface="AppleMyungjo" pitchFamily="2" charset="-127"/>
              </a:rPr>
              <a:t>Memory interleaving</a:t>
            </a:r>
          </a:p>
          <a:p>
            <a:pPr marL="546100" indent="-355600" algn="just">
              <a:buFont typeface="System Font Regular"/>
              <a:buChar char="⁃"/>
            </a:pPr>
            <a:r>
              <a:rPr lang="en-IN" sz="2200" dirty="0">
                <a:latin typeface="AppleMyungjo" pitchFamily="2" charset="-127"/>
                <a:ea typeface="AppleMyungjo" pitchFamily="2" charset="-127"/>
              </a:rPr>
              <a:t>Concepts of hierarchical memory organization</a:t>
            </a:r>
          </a:p>
          <a:p>
            <a:pPr marL="546100" indent="-355600" algn="just">
              <a:buFont typeface="System Font Regular"/>
              <a:buChar char="⁃"/>
            </a:pPr>
            <a:r>
              <a:rPr lang="en-IN" sz="2200" dirty="0">
                <a:latin typeface="AppleMyungjo" pitchFamily="2" charset="-127"/>
                <a:ea typeface="AppleMyungjo" pitchFamily="2" charset="-127"/>
              </a:rPr>
              <a:t>Cache memory</a:t>
            </a:r>
          </a:p>
          <a:p>
            <a:pPr marL="546100" indent="-355600" algn="just">
              <a:buFont typeface="System Font Regular"/>
              <a:buChar char="⁃"/>
            </a:pPr>
            <a:r>
              <a:rPr lang="en-IN" sz="2200" dirty="0">
                <a:latin typeface="AppleMyungjo" pitchFamily="2" charset="-127"/>
                <a:ea typeface="AppleMyungjo" pitchFamily="2" charset="-127"/>
              </a:rPr>
              <a:t>Cache size vs block size</a:t>
            </a:r>
          </a:p>
          <a:p>
            <a:pPr marL="546100" indent="-355600" algn="just">
              <a:buFont typeface="System Font Regular"/>
              <a:buChar char="⁃"/>
            </a:pPr>
            <a:r>
              <a:rPr lang="en-IN" sz="2200" dirty="0">
                <a:latin typeface="AppleMyungjo" pitchFamily="2" charset="-127"/>
                <a:ea typeface="AppleMyungjo" pitchFamily="2" charset="-127"/>
              </a:rPr>
              <a:t>Mapping functions</a:t>
            </a:r>
          </a:p>
          <a:p>
            <a:pPr marL="546100" indent="-355600" algn="just">
              <a:buFont typeface="System Font Regular"/>
              <a:buChar char="⁃"/>
            </a:pPr>
            <a:r>
              <a:rPr lang="en-IN" sz="2200" dirty="0">
                <a:latin typeface="AppleMyungjo" pitchFamily="2" charset="-127"/>
                <a:ea typeface="AppleMyungjo" pitchFamily="2" charset="-127"/>
              </a:rPr>
              <a:t>Replacement algorithms </a:t>
            </a:r>
          </a:p>
          <a:p>
            <a:pPr marL="546100" indent="-355600" algn="just">
              <a:buFont typeface="System Font Regular"/>
              <a:buChar char="⁃"/>
            </a:pPr>
            <a:r>
              <a:rPr lang="en-IN" sz="2200" dirty="0">
                <a:latin typeface="AppleMyungjo" pitchFamily="2" charset="-127"/>
                <a:ea typeface="AppleMyungjo" pitchFamily="2" charset="-127"/>
              </a:rPr>
              <a:t>Write policies</a:t>
            </a:r>
          </a:p>
          <a:p>
            <a:pPr marL="546100" indent="-355600" algn="just">
              <a:buFont typeface="System Font Regular"/>
              <a:buChar char="⁃"/>
            </a:pPr>
            <a:r>
              <a:rPr lang="en-IN" sz="2200" dirty="0">
                <a:latin typeface="AppleMyungjo" pitchFamily="2" charset="-127"/>
                <a:ea typeface="AppleMyungjo" pitchFamily="2" charset="-127"/>
              </a:rPr>
              <a:t>Virtual memory</a:t>
            </a:r>
          </a:p>
          <a:p>
            <a:pPr marL="546100" indent="-355600" algn="just">
              <a:buFont typeface="System Font Regular"/>
              <a:buChar char="⁃"/>
            </a:pPr>
            <a:r>
              <a:rPr lang="en-IN" sz="2200" dirty="0">
                <a:latin typeface="AppleMyungjo" pitchFamily="2" charset="-127"/>
                <a:ea typeface="AppleMyungjo" pitchFamily="2" charset="-127"/>
              </a:rPr>
              <a:t>Secondary storage</a:t>
            </a:r>
          </a:p>
        </p:txBody>
      </p:sp>
    </p:spTree>
    <p:extLst>
      <p:ext uri="{BB962C8B-B14F-4D97-AF65-F5344CB8AC3E}">
        <p14:creationId xmlns:p14="http://schemas.microsoft.com/office/powerpoint/2010/main" val="405218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EE56-49EE-7CBE-226E-C6D116A365F5}"/>
              </a:ext>
            </a:extLst>
          </p:cNvPr>
          <p:cNvSpPr>
            <a:spLocks noGrp="1"/>
          </p:cNvSpPr>
          <p:nvPr>
            <p:ph type="title"/>
          </p:nvPr>
        </p:nvSpPr>
        <p:spPr/>
        <p:txBody>
          <a:bodyPr/>
          <a:lstStyle/>
          <a:p>
            <a:pPr algn="ctr"/>
            <a:r>
              <a:rPr lang="en-US" sz="3200" dirty="0">
                <a:latin typeface="AppleMyungjo" pitchFamily="2" charset="-127"/>
                <a:ea typeface="AppleMyungjo" pitchFamily="2" charset="-127"/>
                <a:cs typeface="+mn-cs"/>
              </a:rPr>
              <a:t>Memory</a:t>
            </a:r>
          </a:p>
        </p:txBody>
      </p:sp>
      <p:sp>
        <p:nvSpPr>
          <p:cNvPr id="3" name="Content Placeholder 2">
            <a:extLst>
              <a:ext uri="{FF2B5EF4-FFF2-40B4-BE49-F238E27FC236}">
                <a16:creationId xmlns:a16="http://schemas.microsoft.com/office/drawing/2014/main" id="{AA4B32AE-54B7-5041-684F-E23B3D6D208D}"/>
              </a:ext>
            </a:extLst>
          </p:cNvPr>
          <p:cNvSpPr>
            <a:spLocks noGrp="1"/>
          </p:cNvSpPr>
          <p:nvPr>
            <p:ph idx="1"/>
          </p:nvPr>
        </p:nvSpPr>
        <p:spPr>
          <a:xfrm>
            <a:off x="838200" y="1451553"/>
            <a:ext cx="10515600" cy="4810702"/>
          </a:xfrm>
        </p:spPr>
        <p:txBody>
          <a:bodyPr>
            <a:normAutofit/>
          </a:bodyPr>
          <a:lstStyle/>
          <a:p>
            <a:pPr algn="just"/>
            <a:r>
              <a:rPr lang="en-US" sz="1900" dirty="0">
                <a:latin typeface="AppleMyungjo" pitchFamily="2" charset="-127"/>
                <a:ea typeface="AppleMyungjo" pitchFamily="2" charset="-127"/>
              </a:rPr>
              <a:t>Programs and data they operate on are held in the memory of the Computer.</a:t>
            </a:r>
          </a:p>
          <a:p>
            <a:pPr algn="just"/>
            <a:r>
              <a:rPr lang="en-US" sz="1900" dirty="0">
                <a:latin typeface="AppleMyungjo" pitchFamily="2" charset="-127"/>
                <a:ea typeface="AppleMyungjo" pitchFamily="2" charset="-127"/>
              </a:rPr>
              <a:t>The execution speed of the programs is highly dependent on the speed with which instructions and data are transferred between processor and memory.</a:t>
            </a:r>
          </a:p>
          <a:p>
            <a:pPr algn="just"/>
            <a:r>
              <a:rPr lang="en-US" sz="1900" dirty="0">
                <a:latin typeface="AppleMyungjo" pitchFamily="2" charset="-127"/>
                <a:ea typeface="AppleMyungjo" pitchFamily="2" charset="-127"/>
              </a:rPr>
              <a:t>It is also important to have enough memory to facilitate execution of large programs with large data.</a:t>
            </a:r>
          </a:p>
          <a:p>
            <a:pPr algn="just"/>
            <a:r>
              <a:rPr lang="en-US" sz="1900" dirty="0">
                <a:latin typeface="AppleMyungjo" pitchFamily="2" charset="-127"/>
                <a:ea typeface="AppleMyungjo" pitchFamily="2" charset="-127"/>
              </a:rPr>
              <a:t>Ideally, memory should be large fast and inexpensive which is not possible as increased speed and size are achieved at increased cost.</a:t>
            </a:r>
          </a:p>
          <a:p>
            <a:pPr algn="just"/>
            <a:r>
              <a:rPr lang="en-US" sz="1900" dirty="0">
                <a:latin typeface="AppleMyungjo" pitchFamily="2" charset="-127"/>
                <a:ea typeface="AppleMyungjo" pitchFamily="2" charset="-127"/>
              </a:rPr>
              <a:t>Computer memory has hierarchy, including a cache, main memory and secondary storage.</a:t>
            </a:r>
          </a:p>
          <a:p>
            <a:pPr algn="just"/>
            <a:r>
              <a:rPr lang="en-US" sz="1900" dirty="0">
                <a:latin typeface="AppleMyungjo" pitchFamily="2" charset="-127"/>
                <a:ea typeface="AppleMyungjo" pitchFamily="2" charset="-127"/>
              </a:rPr>
              <a:t>Maximum size of memory that a computer can use is determined by the addressing scheme.</a:t>
            </a:r>
          </a:p>
          <a:p>
            <a:pPr algn="just"/>
            <a:r>
              <a:rPr lang="en-US" sz="1900" dirty="0">
                <a:latin typeface="AppleMyungjo" pitchFamily="2" charset="-127"/>
                <a:ea typeface="AppleMyungjo" pitchFamily="2" charset="-127"/>
              </a:rPr>
              <a:t>Ex: Computer that generates 16-bit addresses is capable of addressing </a:t>
            </a:r>
            <a:r>
              <a:rPr lang="en-US" sz="1900" dirty="0" err="1">
                <a:latin typeface="AppleMyungjo" pitchFamily="2" charset="-127"/>
                <a:ea typeface="AppleMyungjo" pitchFamily="2" charset="-127"/>
              </a:rPr>
              <a:t>upto</a:t>
            </a:r>
            <a:r>
              <a:rPr lang="en-US" sz="1900" dirty="0">
                <a:latin typeface="AppleMyungjo" pitchFamily="2" charset="-127"/>
                <a:ea typeface="AppleMyungjo" pitchFamily="2" charset="-127"/>
              </a:rPr>
              <a:t> 2</a:t>
            </a:r>
            <a:r>
              <a:rPr lang="en-US" sz="1900" baseline="30000" dirty="0">
                <a:latin typeface="AppleMyungjo" pitchFamily="2" charset="-127"/>
                <a:ea typeface="AppleMyungjo" pitchFamily="2" charset="-127"/>
              </a:rPr>
              <a:t>16</a:t>
            </a:r>
            <a:r>
              <a:rPr lang="en-US" sz="1900" dirty="0">
                <a:latin typeface="AppleMyungjo" pitchFamily="2" charset="-127"/>
                <a:ea typeface="AppleMyungjo" pitchFamily="2" charset="-127"/>
              </a:rPr>
              <a:t> memory locations(64K). The number of locations represent the size of computer address space.</a:t>
            </a:r>
          </a:p>
          <a:p>
            <a:pPr algn="just"/>
            <a:r>
              <a:rPr lang="en-US" sz="2000" dirty="0">
                <a:latin typeface="AppleMyungjo" pitchFamily="2" charset="-127"/>
                <a:ea typeface="AppleMyungjo" pitchFamily="2" charset="-127"/>
              </a:rPr>
              <a:t>The connection between CPU and memory consists of address, data and control lines.</a:t>
            </a:r>
            <a:endParaRPr lang="en-US" sz="1900" dirty="0">
              <a:latin typeface="AppleMyungjo" pitchFamily="2" charset="-127"/>
              <a:ea typeface="AppleMyungjo" pitchFamily="2" charset="-127"/>
            </a:endParaRPr>
          </a:p>
        </p:txBody>
      </p:sp>
    </p:spTree>
    <p:extLst>
      <p:ext uri="{BB962C8B-B14F-4D97-AF65-F5344CB8AC3E}">
        <p14:creationId xmlns:p14="http://schemas.microsoft.com/office/powerpoint/2010/main" val="2519971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65F4330F-F8EC-B9AC-6425-3304052A5894}"/>
              </a:ext>
            </a:extLst>
          </p:cNvPr>
          <p:cNvGrpSpPr/>
          <p:nvPr/>
        </p:nvGrpSpPr>
        <p:grpSpPr>
          <a:xfrm>
            <a:off x="2154382" y="594238"/>
            <a:ext cx="8409709" cy="3562126"/>
            <a:chOff x="2712584" y="1929938"/>
            <a:chExt cx="6224292" cy="3570316"/>
          </a:xfrm>
        </p:grpSpPr>
        <p:grpSp>
          <p:nvGrpSpPr>
            <p:cNvPr id="4" name="Group 3">
              <a:extLst>
                <a:ext uri="{FF2B5EF4-FFF2-40B4-BE49-F238E27FC236}">
                  <a16:creationId xmlns:a16="http://schemas.microsoft.com/office/drawing/2014/main" id="{2602FE31-6FFE-62F2-7F87-D15DF7391EF5}"/>
                </a:ext>
              </a:extLst>
            </p:cNvPr>
            <p:cNvGrpSpPr>
              <a:grpSpLocks noChangeAspect="1"/>
            </p:cNvGrpSpPr>
            <p:nvPr/>
          </p:nvGrpSpPr>
          <p:grpSpPr bwMode="auto">
            <a:xfrm>
              <a:off x="2712584" y="1929938"/>
              <a:ext cx="6224292" cy="3570316"/>
              <a:chOff x="2399" y="239"/>
              <a:chExt cx="6025" cy="3456"/>
            </a:xfrm>
          </p:grpSpPr>
          <p:sp>
            <p:nvSpPr>
              <p:cNvPr id="5" name="Rectangle 4">
                <a:extLst>
                  <a:ext uri="{FF2B5EF4-FFF2-40B4-BE49-F238E27FC236}">
                    <a16:creationId xmlns:a16="http://schemas.microsoft.com/office/drawing/2014/main" id="{DD249FC2-37C1-5710-2DF4-7178239DACE0}"/>
                  </a:ext>
                </a:extLst>
              </p:cNvPr>
              <p:cNvSpPr>
                <a:spLocks noChangeAspect="1" noEditPoints="1" noChangeArrowheads="1" noChangeShapeType="1" noTextEdit="1"/>
              </p:cNvSpPr>
              <p:nvPr/>
            </p:nvSpPr>
            <p:spPr bwMode="auto">
              <a:xfrm>
                <a:off x="2416" y="799"/>
                <a:ext cx="1625" cy="2883"/>
              </a:xfrm>
              <a:prstGeom prst="rect">
                <a:avLst/>
              </a:prstGeom>
              <a:solidFill>
                <a:srgbClr val="E1F4F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6" name="Freeform 5">
                <a:extLst>
                  <a:ext uri="{FF2B5EF4-FFF2-40B4-BE49-F238E27FC236}">
                    <a16:creationId xmlns:a16="http://schemas.microsoft.com/office/drawing/2014/main" id="{46F0CF92-B933-580E-2A7E-9F4613A5B221}"/>
                  </a:ext>
                </a:extLst>
              </p:cNvPr>
              <p:cNvSpPr>
                <a:spLocks noChangeAspect="1" noEditPoints="1" noChangeArrowheads="1" noChangeShapeType="1" noTextEdit="1"/>
              </p:cNvSpPr>
              <p:nvPr/>
            </p:nvSpPr>
            <p:spPr bwMode="auto">
              <a:xfrm>
                <a:off x="2399" y="783"/>
                <a:ext cx="1656" cy="2912"/>
              </a:xfrm>
              <a:custGeom>
                <a:avLst/>
                <a:gdLst>
                  <a:gd name="T0" fmla="+- 0 4056 2400"/>
                  <a:gd name="T1" fmla="*/ T0 w 1656"/>
                  <a:gd name="T2" fmla="+- 0 783 783"/>
                  <a:gd name="T3" fmla="*/ 783 h 2912"/>
                  <a:gd name="T4" fmla="+- 0 4022 2400"/>
                  <a:gd name="T5" fmla="*/ T4 w 1656"/>
                  <a:gd name="T6" fmla="+- 0 783 783"/>
                  <a:gd name="T7" fmla="*/ 783 h 2912"/>
                  <a:gd name="T8" fmla="+- 0 4022 2400"/>
                  <a:gd name="T9" fmla="*/ T8 w 1656"/>
                  <a:gd name="T10" fmla="+- 0 815 783"/>
                  <a:gd name="T11" fmla="*/ 815 h 2912"/>
                  <a:gd name="T12" fmla="+- 0 4022 2400"/>
                  <a:gd name="T13" fmla="*/ T12 w 1656"/>
                  <a:gd name="T14" fmla="+- 0 3663 783"/>
                  <a:gd name="T15" fmla="*/ 3663 h 2912"/>
                  <a:gd name="T16" fmla="+- 0 2434 2400"/>
                  <a:gd name="T17" fmla="*/ T16 w 1656"/>
                  <a:gd name="T18" fmla="+- 0 3663 783"/>
                  <a:gd name="T19" fmla="*/ 3663 h 2912"/>
                  <a:gd name="T20" fmla="+- 0 2434 2400"/>
                  <a:gd name="T21" fmla="*/ T20 w 1656"/>
                  <a:gd name="T22" fmla="+- 0 815 783"/>
                  <a:gd name="T23" fmla="*/ 815 h 2912"/>
                  <a:gd name="T24" fmla="+- 0 4022 2400"/>
                  <a:gd name="T25" fmla="*/ T24 w 1656"/>
                  <a:gd name="T26" fmla="+- 0 815 783"/>
                  <a:gd name="T27" fmla="*/ 815 h 2912"/>
                  <a:gd name="T28" fmla="+- 0 4022 2400"/>
                  <a:gd name="T29" fmla="*/ T28 w 1656"/>
                  <a:gd name="T30" fmla="+- 0 783 783"/>
                  <a:gd name="T31" fmla="*/ 783 h 2912"/>
                  <a:gd name="T32" fmla="+- 0 2417 2400"/>
                  <a:gd name="T33" fmla="*/ T32 w 1656"/>
                  <a:gd name="T34" fmla="+- 0 783 783"/>
                  <a:gd name="T35" fmla="*/ 783 h 2912"/>
                  <a:gd name="T36" fmla="+- 0 2400 2400"/>
                  <a:gd name="T37" fmla="*/ T36 w 1656"/>
                  <a:gd name="T38" fmla="+- 0 783 783"/>
                  <a:gd name="T39" fmla="*/ 783 h 2912"/>
                  <a:gd name="T40" fmla="+- 0 2400 2400"/>
                  <a:gd name="T41" fmla="*/ T40 w 1656"/>
                  <a:gd name="T42" fmla="+- 0 815 783"/>
                  <a:gd name="T43" fmla="*/ 815 h 2912"/>
                  <a:gd name="T44" fmla="+- 0 2400 2400"/>
                  <a:gd name="T45" fmla="*/ T44 w 1656"/>
                  <a:gd name="T46" fmla="+- 0 3663 783"/>
                  <a:gd name="T47" fmla="*/ 3663 h 2912"/>
                  <a:gd name="T48" fmla="+- 0 2400 2400"/>
                  <a:gd name="T49" fmla="*/ T48 w 1656"/>
                  <a:gd name="T50" fmla="+- 0 3695 783"/>
                  <a:gd name="T51" fmla="*/ 3695 h 2912"/>
                  <a:gd name="T52" fmla="+- 0 4056 2400"/>
                  <a:gd name="T53" fmla="*/ T52 w 1656"/>
                  <a:gd name="T54" fmla="+- 0 3695 783"/>
                  <a:gd name="T55" fmla="*/ 3695 h 2912"/>
                  <a:gd name="T56" fmla="+- 0 4056 2400"/>
                  <a:gd name="T57" fmla="*/ T56 w 1656"/>
                  <a:gd name="T58" fmla="+- 0 3663 783"/>
                  <a:gd name="T59" fmla="*/ 3663 h 2912"/>
                  <a:gd name="T60" fmla="+- 0 4056 2400"/>
                  <a:gd name="T61" fmla="*/ T60 w 1656"/>
                  <a:gd name="T62" fmla="+- 0 815 783"/>
                  <a:gd name="T63" fmla="*/ 815 h 2912"/>
                  <a:gd name="T64" fmla="+- 0 4056 2400"/>
                  <a:gd name="T65" fmla="*/ T64 w 1656"/>
                  <a:gd name="T66" fmla="+- 0 799 783"/>
                  <a:gd name="T67" fmla="*/ 799 h 2912"/>
                  <a:gd name="T68" fmla="+- 0 4056 2400"/>
                  <a:gd name="T69" fmla="*/ T68 w 1656"/>
                  <a:gd name="T70" fmla="+- 0 783 783"/>
                  <a:gd name="T71" fmla="*/ 783 h 291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1656" h="2912">
                    <a:moveTo>
                      <a:pt x="1656" y="0"/>
                    </a:moveTo>
                    <a:lnTo>
                      <a:pt x="1622" y="0"/>
                    </a:lnTo>
                    <a:lnTo>
                      <a:pt x="1622" y="32"/>
                    </a:lnTo>
                    <a:lnTo>
                      <a:pt x="1622" y="2880"/>
                    </a:lnTo>
                    <a:lnTo>
                      <a:pt x="34" y="2880"/>
                    </a:lnTo>
                    <a:lnTo>
                      <a:pt x="34" y="32"/>
                    </a:lnTo>
                    <a:lnTo>
                      <a:pt x="1622" y="32"/>
                    </a:lnTo>
                    <a:lnTo>
                      <a:pt x="1622" y="0"/>
                    </a:lnTo>
                    <a:lnTo>
                      <a:pt x="17" y="0"/>
                    </a:lnTo>
                    <a:lnTo>
                      <a:pt x="0" y="0"/>
                    </a:lnTo>
                    <a:lnTo>
                      <a:pt x="0" y="32"/>
                    </a:lnTo>
                    <a:lnTo>
                      <a:pt x="0" y="2880"/>
                    </a:lnTo>
                    <a:lnTo>
                      <a:pt x="0" y="2912"/>
                    </a:lnTo>
                    <a:lnTo>
                      <a:pt x="1656" y="2912"/>
                    </a:lnTo>
                    <a:lnTo>
                      <a:pt x="1656" y="2880"/>
                    </a:lnTo>
                    <a:lnTo>
                      <a:pt x="1656" y="32"/>
                    </a:lnTo>
                    <a:lnTo>
                      <a:pt x="1656" y="16"/>
                    </a:lnTo>
                    <a:lnTo>
                      <a:pt x="1656" y="0"/>
                    </a:lnTo>
                    <a:close/>
                  </a:path>
                </a:pathLst>
              </a:custGeom>
              <a:solidFill>
                <a:srgbClr val="00ACED"/>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sp>
            <p:nvSpPr>
              <p:cNvPr id="7" name="AutoShape 351">
                <a:extLst>
                  <a:ext uri="{FF2B5EF4-FFF2-40B4-BE49-F238E27FC236}">
                    <a16:creationId xmlns:a16="http://schemas.microsoft.com/office/drawing/2014/main" id="{504890AF-19C7-FC86-F844-9AAB495CA091}"/>
                  </a:ext>
                </a:extLst>
              </p:cNvPr>
              <p:cNvSpPr>
                <a:spLocks noChangeAspect="1" noEditPoints="1" noChangeArrowheads="1" noChangeShapeType="1" noTextEdit="1"/>
              </p:cNvSpPr>
              <p:nvPr/>
            </p:nvSpPr>
            <p:spPr bwMode="auto">
              <a:xfrm>
                <a:off x="2856" y="1276"/>
                <a:ext cx="744" cy="2190"/>
              </a:xfrm>
              <a:custGeom>
                <a:avLst/>
                <a:gdLst>
                  <a:gd name="T0" fmla="+- 0 2931 2856"/>
                  <a:gd name="T1" fmla="*/ T0 w 744"/>
                  <a:gd name="T2" fmla="+- 0 3343 1277"/>
                  <a:gd name="T3" fmla="*/ 3343 h 2190"/>
                  <a:gd name="T4" fmla="+- 0 2909 2856"/>
                  <a:gd name="T5" fmla="*/ T4 w 744"/>
                  <a:gd name="T6" fmla="+- 0 3348 1277"/>
                  <a:gd name="T7" fmla="*/ 3348 h 2190"/>
                  <a:gd name="T8" fmla="+- 0 2856 2856"/>
                  <a:gd name="T9" fmla="*/ T8 w 744"/>
                  <a:gd name="T10" fmla="+- 0 3342 1277"/>
                  <a:gd name="T11" fmla="*/ 3342 h 2190"/>
                  <a:gd name="T12" fmla="+- 0 2869 2856"/>
                  <a:gd name="T13" fmla="*/ T12 w 744"/>
                  <a:gd name="T14" fmla="+- 0 3454 1277"/>
                  <a:gd name="T15" fmla="*/ 3454 h 2190"/>
                  <a:gd name="T16" fmla="+- 0 2917 2856"/>
                  <a:gd name="T17" fmla="*/ T16 w 744"/>
                  <a:gd name="T18" fmla="+- 0 3459 1277"/>
                  <a:gd name="T19" fmla="*/ 3459 h 2190"/>
                  <a:gd name="T20" fmla="+- 0 2915 2856"/>
                  <a:gd name="T21" fmla="*/ T20 w 744"/>
                  <a:gd name="T22" fmla="+- 0 3409 1277"/>
                  <a:gd name="T23" fmla="*/ 3409 h 2190"/>
                  <a:gd name="T24" fmla="+- 0 2962 2856"/>
                  <a:gd name="T25" fmla="*/ T24 w 744"/>
                  <a:gd name="T26" fmla="+- 0 3378 1277"/>
                  <a:gd name="T27" fmla="*/ 3378 h 2190"/>
                  <a:gd name="T28" fmla="+- 0 3019 2856"/>
                  <a:gd name="T29" fmla="*/ T28 w 744"/>
                  <a:gd name="T30" fmla="+- 0 3379 1277"/>
                  <a:gd name="T31" fmla="*/ 3379 h 2190"/>
                  <a:gd name="T32" fmla="+- 0 2971 2856"/>
                  <a:gd name="T33" fmla="*/ T32 w 744"/>
                  <a:gd name="T34" fmla="+- 0 3385 1277"/>
                  <a:gd name="T35" fmla="*/ 3385 h 2190"/>
                  <a:gd name="T36" fmla="+- 0 3016 2856"/>
                  <a:gd name="T37" fmla="*/ T36 w 744"/>
                  <a:gd name="T38" fmla="+- 0 3463 1277"/>
                  <a:gd name="T39" fmla="*/ 3463 h 2190"/>
                  <a:gd name="T40" fmla="+- 0 3008 2856"/>
                  <a:gd name="T41" fmla="*/ T40 w 744"/>
                  <a:gd name="T42" fmla="+- 0 3396 1277"/>
                  <a:gd name="T43" fmla="*/ 3396 h 2190"/>
                  <a:gd name="T44" fmla="+- 0 3027 2856"/>
                  <a:gd name="T45" fmla="*/ T44 w 744"/>
                  <a:gd name="T46" fmla="+- 0 3404 1277"/>
                  <a:gd name="T47" fmla="*/ 3404 h 2190"/>
                  <a:gd name="T48" fmla="+- 0 3118 2856"/>
                  <a:gd name="T49" fmla="*/ T48 w 744"/>
                  <a:gd name="T50" fmla="+- 0 3393 1277"/>
                  <a:gd name="T51" fmla="*/ 3393 h 2190"/>
                  <a:gd name="T52" fmla="+- 0 3086 2856"/>
                  <a:gd name="T53" fmla="*/ T52 w 744"/>
                  <a:gd name="T54" fmla="+- 0 3460 1277"/>
                  <a:gd name="T55" fmla="*/ 3460 h 2190"/>
                  <a:gd name="T56" fmla="+- 0 3078 2856"/>
                  <a:gd name="T57" fmla="*/ T56 w 744"/>
                  <a:gd name="T58" fmla="+- 0 3386 1277"/>
                  <a:gd name="T59" fmla="*/ 3386 h 2190"/>
                  <a:gd name="T60" fmla="+- 0 3078 2856"/>
                  <a:gd name="T61" fmla="*/ T60 w 744"/>
                  <a:gd name="T62" fmla="+- 0 3378 1277"/>
                  <a:gd name="T63" fmla="*/ 3378 h 2190"/>
                  <a:gd name="T64" fmla="+- 0 3070 2856"/>
                  <a:gd name="T65" fmla="*/ T64 w 744"/>
                  <a:gd name="T66" fmla="+- 0 3464 1277"/>
                  <a:gd name="T67" fmla="*/ 3464 h 2190"/>
                  <a:gd name="T68" fmla="+- 0 3206 2856"/>
                  <a:gd name="T69" fmla="*/ T68 w 744"/>
                  <a:gd name="T70" fmla="+- 0 3447 1277"/>
                  <a:gd name="T71" fmla="*/ 3447 h 2190"/>
                  <a:gd name="T72" fmla="+- 0 3159 2856"/>
                  <a:gd name="T73" fmla="*/ T72 w 744"/>
                  <a:gd name="T74" fmla="+- 0 3427 1277"/>
                  <a:gd name="T75" fmla="*/ 3427 h 2190"/>
                  <a:gd name="T76" fmla="+- 0 3180 2856"/>
                  <a:gd name="T77" fmla="*/ T76 w 744"/>
                  <a:gd name="T78" fmla="+- 0 3386 1277"/>
                  <a:gd name="T79" fmla="*/ 3386 h 2190"/>
                  <a:gd name="T80" fmla="+- 0 3199 2856"/>
                  <a:gd name="T81" fmla="*/ T80 w 744"/>
                  <a:gd name="T82" fmla="+- 0 3407 1277"/>
                  <a:gd name="T83" fmla="*/ 3407 h 2190"/>
                  <a:gd name="T84" fmla="+- 0 3176 2856"/>
                  <a:gd name="T85" fmla="*/ T84 w 744"/>
                  <a:gd name="T86" fmla="+- 0 3378 1277"/>
                  <a:gd name="T87" fmla="*/ 3378 h 2190"/>
                  <a:gd name="T88" fmla="+- 0 3142 2856"/>
                  <a:gd name="T89" fmla="*/ T88 w 744"/>
                  <a:gd name="T90" fmla="+- 0 3451 1277"/>
                  <a:gd name="T91" fmla="*/ 3451 h 2190"/>
                  <a:gd name="T92" fmla="+- 0 3206 2856"/>
                  <a:gd name="T93" fmla="*/ T92 w 744"/>
                  <a:gd name="T94" fmla="+- 0 3447 1277"/>
                  <a:gd name="T95" fmla="*/ 3447 h 2190"/>
                  <a:gd name="T96" fmla="+- 0 3258 2856"/>
                  <a:gd name="T97" fmla="*/ T96 w 744"/>
                  <a:gd name="T98" fmla="+- 0 3453 1277"/>
                  <a:gd name="T99" fmla="*/ 3453 h 2190"/>
                  <a:gd name="T100" fmla="+- 0 3287 2856"/>
                  <a:gd name="T101" fmla="*/ T100 w 744"/>
                  <a:gd name="T102" fmla="+- 0 3412 1277"/>
                  <a:gd name="T103" fmla="*/ 3412 h 2190"/>
                  <a:gd name="T104" fmla="+- 0 3241 2856"/>
                  <a:gd name="T105" fmla="*/ T104 w 744"/>
                  <a:gd name="T106" fmla="+- 0 3404 1277"/>
                  <a:gd name="T107" fmla="*/ 3404 h 2190"/>
                  <a:gd name="T108" fmla="+- 0 3264 2856"/>
                  <a:gd name="T109" fmla="*/ T108 w 744"/>
                  <a:gd name="T110" fmla="+- 0 3395 1277"/>
                  <a:gd name="T111" fmla="*/ 3395 h 2190"/>
                  <a:gd name="T112" fmla="+- 0 3225 2856"/>
                  <a:gd name="T113" fmla="*/ T112 w 744"/>
                  <a:gd name="T114" fmla="+- 0 3392 1277"/>
                  <a:gd name="T115" fmla="*/ 3392 h 2190"/>
                  <a:gd name="T116" fmla="+- 0 3260 2856"/>
                  <a:gd name="T117" fmla="*/ T116 w 744"/>
                  <a:gd name="T118" fmla="+- 0 3466 1277"/>
                  <a:gd name="T119" fmla="*/ 3466 h 2190"/>
                  <a:gd name="T120" fmla="+- 0 3340 2856"/>
                  <a:gd name="T121" fmla="*/ T120 w 744"/>
                  <a:gd name="T122" fmla="+- 0 3414 1277"/>
                  <a:gd name="T123" fmla="*/ 3414 h 2190"/>
                  <a:gd name="T124" fmla="+- 0 3330 2856"/>
                  <a:gd name="T125" fmla="*/ T124 w 744"/>
                  <a:gd name="T126" fmla="+- 0 3384 1277"/>
                  <a:gd name="T127" fmla="*/ 3384 h 2190"/>
                  <a:gd name="T128" fmla="+- 0 3348 2856"/>
                  <a:gd name="T129" fmla="*/ T128 w 744"/>
                  <a:gd name="T130" fmla="+- 0 3379 1277"/>
                  <a:gd name="T131" fmla="*/ 3379 h 2190"/>
                  <a:gd name="T132" fmla="+- 0 3316 2856"/>
                  <a:gd name="T133" fmla="*/ T132 w 744"/>
                  <a:gd name="T134" fmla="+- 0 3378 1277"/>
                  <a:gd name="T135" fmla="*/ 3378 h 2190"/>
                  <a:gd name="T136" fmla="+- 0 3336 2856"/>
                  <a:gd name="T137" fmla="*/ T136 w 744"/>
                  <a:gd name="T138" fmla="+- 0 3441 1277"/>
                  <a:gd name="T139" fmla="*/ 3441 h 2190"/>
                  <a:gd name="T140" fmla="+- 0 3307 2856"/>
                  <a:gd name="T141" fmla="*/ T140 w 744"/>
                  <a:gd name="T142" fmla="+- 0 3451 1277"/>
                  <a:gd name="T143" fmla="*/ 3451 h 2190"/>
                  <a:gd name="T144" fmla="+- 0 3303 2856"/>
                  <a:gd name="T145" fmla="*/ T144 w 744"/>
                  <a:gd name="T146" fmla="+- 0 3461 1277"/>
                  <a:gd name="T147" fmla="*/ 3461 h 2190"/>
                  <a:gd name="T148" fmla="+- 0 3336 2856"/>
                  <a:gd name="T149" fmla="*/ T148 w 744"/>
                  <a:gd name="T150" fmla="+- 0 3466 1277"/>
                  <a:gd name="T151" fmla="*/ 3466 h 2190"/>
                  <a:gd name="T152" fmla="+- 0 3414 2856"/>
                  <a:gd name="T153" fmla="*/ T152 w 744"/>
                  <a:gd name="T154" fmla="+- 0 3417 1277"/>
                  <a:gd name="T155" fmla="*/ 3417 h 2190"/>
                  <a:gd name="T156" fmla="+- 0 3394 2856"/>
                  <a:gd name="T157" fmla="*/ T156 w 744"/>
                  <a:gd name="T158" fmla="+- 0 3384 1277"/>
                  <a:gd name="T159" fmla="*/ 3384 h 2190"/>
                  <a:gd name="T160" fmla="+- 0 3417 2856"/>
                  <a:gd name="T161" fmla="*/ T160 w 744"/>
                  <a:gd name="T162" fmla="+- 0 3378 1277"/>
                  <a:gd name="T163" fmla="*/ 3378 h 2190"/>
                  <a:gd name="T164" fmla="+- 0 3393 2856"/>
                  <a:gd name="T165" fmla="*/ T164 w 744"/>
                  <a:gd name="T166" fmla="+- 0 3378 1277"/>
                  <a:gd name="T167" fmla="*/ 3378 h 2190"/>
                  <a:gd name="T168" fmla="+- 0 3396 2856"/>
                  <a:gd name="T169" fmla="*/ T168 w 744"/>
                  <a:gd name="T170" fmla="+- 0 3435 1277"/>
                  <a:gd name="T171" fmla="*/ 3435 h 2190"/>
                  <a:gd name="T172" fmla="+- 0 3383 2856"/>
                  <a:gd name="T173" fmla="*/ T172 w 744"/>
                  <a:gd name="T174" fmla="+- 0 3458 1277"/>
                  <a:gd name="T175" fmla="*/ 3458 h 2190"/>
                  <a:gd name="T176" fmla="+- 0 3370 2856"/>
                  <a:gd name="T177" fmla="*/ T176 w 744"/>
                  <a:gd name="T178" fmla="+- 0 3462 1277"/>
                  <a:gd name="T179" fmla="*/ 3462 h 2190"/>
                  <a:gd name="T180" fmla="+- 0 3396 2856"/>
                  <a:gd name="T181" fmla="*/ T180 w 744"/>
                  <a:gd name="T182" fmla="+- 0 3466 1277"/>
                  <a:gd name="T183" fmla="*/ 3466 h 2190"/>
                  <a:gd name="T184" fmla="+- 0 3513 2856"/>
                  <a:gd name="T185" fmla="*/ T184 w 744"/>
                  <a:gd name="T186" fmla="+- 0 3406 1277"/>
                  <a:gd name="T187" fmla="*/ 3406 h 2190"/>
                  <a:gd name="T188" fmla="+- 0 3481 2856"/>
                  <a:gd name="T189" fmla="*/ T188 w 744"/>
                  <a:gd name="T190" fmla="+- 0 3460 1277"/>
                  <a:gd name="T191" fmla="*/ 3460 h 2190"/>
                  <a:gd name="T192" fmla="+- 0 3463 2856"/>
                  <a:gd name="T193" fmla="*/ T192 w 744"/>
                  <a:gd name="T194" fmla="+- 0 3393 1277"/>
                  <a:gd name="T195" fmla="*/ 3393 h 2190"/>
                  <a:gd name="T196" fmla="+- 0 3475 2856"/>
                  <a:gd name="T197" fmla="*/ T196 w 744"/>
                  <a:gd name="T198" fmla="+- 0 3378 1277"/>
                  <a:gd name="T199" fmla="*/ 3378 h 2190"/>
                  <a:gd name="T200" fmla="+- 0 3447 2856"/>
                  <a:gd name="T201" fmla="*/ T200 w 744"/>
                  <a:gd name="T202" fmla="+- 0 3456 1277"/>
                  <a:gd name="T203" fmla="*/ 3456 h 2190"/>
                  <a:gd name="T204" fmla="+- 0 3515 2856"/>
                  <a:gd name="T205" fmla="*/ T204 w 744"/>
                  <a:gd name="T206" fmla="+- 0 3430 1277"/>
                  <a:gd name="T207" fmla="*/ 3430 h 2190"/>
                  <a:gd name="T208" fmla="+- 0 3599 2856"/>
                  <a:gd name="T209" fmla="*/ T208 w 744"/>
                  <a:gd name="T210" fmla="+- 0 3390 1277"/>
                  <a:gd name="T211" fmla="*/ 3390 h 2190"/>
                  <a:gd name="T212" fmla="+- 0 3568 2856"/>
                  <a:gd name="T213" fmla="*/ T212 w 744"/>
                  <a:gd name="T214" fmla="+- 0 3385 1277"/>
                  <a:gd name="T215" fmla="*/ 3385 h 2190"/>
                  <a:gd name="T216" fmla="+- 0 3535 2856"/>
                  <a:gd name="T217" fmla="*/ T216 w 744"/>
                  <a:gd name="T218" fmla="+- 0 3388 1277"/>
                  <a:gd name="T219" fmla="*/ 3388 h 2190"/>
                  <a:gd name="T220" fmla="+- 0 3569 2856"/>
                  <a:gd name="T221" fmla="*/ T220 w 744"/>
                  <a:gd name="T222" fmla="+- 0 3459 1277"/>
                  <a:gd name="T223" fmla="*/ 3459 h 2190"/>
                  <a:gd name="T224" fmla="+- 0 3570 2856"/>
                  <a:gd name="T225" fmla="*/ T224 w 744"/>
                  <a:gd name="T226" fmla="+- 0 3394 1277"/>
                  <a:gd name="T227" fmla="*/ 3394 h 2190"/>
                  <a:gd name="T228" fmla="+- 0 3592 2856"/>
                  <a:gd name="T229" fmla="*/ T228 w 744"/>
                  <a:gd name="T230" fmla="+- 0 3404 1277"/>
                  <a:gd name="T231" fmla="*/ 3404 h 219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Lst>
                <a:rect l="0" t="0" r="r" b="b"/>
                <a:pathLst>
                  <a:path w="744" h="2190">
                    <a:moveTo>
                      <a:pt x="106" y="2101"/>
                    </a:moveTo>
                    <a:lnTo>
                      <a:pt x="106" y="2098"/>
                    </a:lnTo>
                    <a:lnTo>
                      <a:pt x="105" y="2090"/>
                    </a:lnTo>
                    <a:lnTo>
                      <a:pt x="104" y="2084"/>
                    </a:lnTo>
                    <a:lnTo>
                      <a:pt x="97" y="2075"/>
                    </a:lnTo>
                    <a:lnTo>
                      <a:pt x="93" y="2072"/>
                    </a:lnTo>
                    <a:lnTo>
                      <a:pt x="90" y="2071"/>
                    </a:lnTo>
                    <a:lnTo>
                      <a:pt x="82" y="2068"/>
                    </a:lnTo>
                    <a:lnTo>
                      <a:pt x="77" y="2066"/>
                    </a:lnTo>
                    <a:lnTo>
                      <a:pt x="75" y="2066"/>
                    </a:lnTo>
                    <a:lnTo>
                      <a:pt x="75" y="2109"/>
                    </a:lnTo>
                    <a:lnTo>
                      <a:pt x="72" y="2116"/>
                    </a:lnTo>
                    <a:lnTo>
                      <a:pt x="63" y="2124"/>
                    </a:lnTo>
                    <a:lnTo>
                      <a:pt x="55" y="2126"/>
                    </a:lnTo>
                    <a:lnTo>
                      <a:pt x="45" y="2125"/>
                    </a:lnTo>
                    <a:lnTo>
                      <a:pt x="45" y="2075"/>
                    </a:lnTo>
                    <a:lnTo>
                      <a:pt x="45" y="2074"/>
                    </a:lnTo>
                    <a:lnTo>
                      <a:pt x="48" y="2071"/>
                    </a:lnTo>
                    <a:lnTo>
                      <a:pt x="50" y="2071"/>
                    </a:lnTo>
                    <a:lnTo>
                      <a:pt x="53" y="2071"/>
                    </a:lnTo>
                    <a:lnTo>
                      <a:pt x="61" y="2071"/>
                    </a:lnTo>
                    <a:lnTo>
                      <a:pt x="66" y="2073"/>
                    </a:lnTo>
                    <a:lnTo>
                      <a:pt x="73" y="2081"/>
                    </a:lnTo>
                    <a:lnTo>
                      <a:pt x="75" y="2088"/>
                    </a:lnTo>
                    <a:lnTo>
                      <a:pt x="75" y="2109"/>
                    </a:lnTo>
                    <a:lnTo>
                      <a:pt x="75" y="2066"/>
                    </a:lnTo>
                    <a:lnTo>
                      <a:pt x="67" y="2065"/>
                    </a:lnTo>
                    <a:lnTo>
                      <a:pt x="62" y="2064"/>
                    </a:lnTo>
                    <a:lnTo>
                      <a:pt x="58" y="2065"/>
                    </a:lnTo>
                    <a:lnTo>
                      <a:pt x="0" y="2065"/>
                    </a:lnTo>
                    <a:lnTo>
                      <a:pt x="0" y="2069"/>
                    </a:lnTo>
                    <a:lnTo>
                      <a:pt x="4" y="2069"/>
                    </a:lnTo>
                    <a:lnTo>
                      <a:pt x="6" y="2070"/>
                    </a:lnTo>
                    <a:lnTo>
                      <a:pt x="11" y="2071"/>
                    </a:lnTo>
                    <a:lnTo>
                      <a:pt x="13" y="2073"/>
                    </a:lnTo>
                    <a:lnTo>
                      <a:pt x="15" y="2077"/>
                    </a:lnTo>
                    <a:lnTo>
                      <a:pt x="16" y="2081"/>
                    </a:lnTo>
                    <a:lnTo>
                      <a:pt x="16" y="2170"/>
                    </a:lnTo>
                    <a:lnTo>
                      <a:pt x="15" y="2173"/>
                    </a:lnTo>
                    <a:lnTo>
                      <a:pt x="13" y="2177"/>
                    </a:lnTo>
                    <a:lnTo>
                      <a:pt x="12" y="2178"/>
                    </a:lnTo>
                    <a:lnTo>
                      <a:pt x="11" y="2179"/>
                    </a:lnTo>
                    <a:lnTo>
                      <a:pt x="10" y="2180"/>
                    </a:lnTo>
                    <a:lnTo>
                      <a:pt x="7" y="2180"/>
                    </a:lnTo>
                    <a:lnTo>
                      <a:pt x="5" y="2181"/>
                    </a:lnTo>
                    <a:lnTo>
                      <a:pt x="0" y="2182"/>
                    </a:lnTo>
                    <a:lnTo>
                      <a:pt x="0" y="2186"/>
                    </a:lnTo>
                    <a:lnTo>
                      <a:pt x="61" y="2186"/>
                    </a:lnTo>
                    <a:lnTo>
                      <a:pt x="61" y="2182"/>
                    </a:lnTo>
                    <a:lnTo>
                      <a:pt x="56" y="2181"/>
                    </a:lnTo>
                    <a:lnTo>
                      <a:pt x="53" y="2181"/>
                    </a:lnTo>
                    <a:lnTo>
                      <a:pt x="49" y="2179"/>
                    </a:lnTo>
                    <a:lnTo>
                      <a:pt x="47" y="2178"/>
                    </a:lnTo>
                    <a:lnTo>
                      <a:pt x="45" y="2173"/>
                    </a:lnTo>
                    <a:lnTo>
                      <a:pt x="45" y="2170"/>
                    </a:lnTo>
                    <a:lnTo>
                      <a:pt x="45" y="2132"/>
                    </a:lnTo>
                    <a:lnTo>
                      <a:pt x="52" y="2132"/>
                    </a:lnTo>
                    <a:lnTo>
                      <a:pt x="53" y="2132"/>
                    </a:lnTo>
                    <a:lnTo>
                      <a:pt x="59" y="2132"/>
                    </a:lnTo>
                    <a:lnTo>
                      <a:pt x="69" y="2131"/>
                    </a:lnTo>
                    <a:lnTo>
                      <a:pt x="74" y="2130"/>
                    </a:lnTo>
                    <a:lnTo>
                      <a:pt x="82" y="2129"/>
                    </a:lnTo>
                    <a:lnTo>
                      <a:pt x="85" y="2127"/>
                    </a:lnTo>
                    <a:lnTo>
                      <a:pt x="88" y="2126"/>
                    </a:lnTo>
                    <a:lnTo>
                      <a:pt x="89" y="2125"/>
                    </a:lnTo>
                    <a:lnTo>
                      <a:pt x="96" y="2121"/>
                    </a:lnTo>
                    <a:lnTo>
                      <a:pt x="101" y="2116"/>
                    </a:lnTo>
                    <a:lnTo>
                      <a:pt x="105" y="2105"/>
                    </a:lnTo>
                    <a:lnTo>
                      <a:pt x="106" y="2101"/>
                    </a:lnTo>
                    <a:close/>
                    <a:moveTo>
                      <a:pt x="186" y="2117"/>
                    </a:moveTo>
                    <a:lnTo>
                      <a:pt x="185" y="2113"/>
                    </a:lnTo>
                    <a:lnTo>
                      <a:pt x="185" y="2112"/>
                    </a:lnTo>
                    <a:lnTo>
                      <a:pt x="184" y="2107"/>
                    </a:lnTo>
                    <a:lnTo>
                      <a:pt x="182" y="2105"/>
                    </a:lnTo>
                    <a:lnTo>
                      <a:pt x="178" y="2102"/>
                    </a:lnTo>
                    <a:lnTo>
                      <a:pt x="175" y="2101"/>
                    </a:lnTo>
                    <a:lnTo>
                      <a:pt x="171" y="2101"/>
                    </a:lnTo>
                    <a:lnTo>
                      <a:pt x="167" y="2101"/>
                    </a:lnTo>
                    <a:lnTo>
                      <a:pt x="163" y="2102"/>
                    </a:lnTo>
                    <a:lnTo>
                      <a:pt x="157" y="2106"/>
                    </a:lnTo>
                    <a:lnTo>
                      <a:pt x="154" y="2108"/>
                    </a:lnTo>
                    <a:lnTo>
                      <a:pt x="150" y="2113"/>
                    </a:lnTo>
                    <a:lnTo>
                      <a:pt x="148" y="2116"/>
                    </a:lnTo>
                    <a:lnTo>
                      <a:pt x="147" y="2117"/>
                    </a:lnTo>
                    <a:lnTo>
                      <a:pt x="147" y="2103"/>
                    </a:lnTo>
                    <a:lnTo>
                      <a:pt x="113" y="2103"/>
                    </a:lnTo>
                    <a:lnTo>
                      <a:pt x="113" y="2108"/>
                    </a:lnTo>
                    <a:lnTo>
                      <a:pt x="115" y="2108"/>
                    </a:lnTo>
                    <a:lnTo>
                      <a:pt x="118" y="2109"/>
                    </a:lnTo>
                    <a:lnTo>
                      <a:pt x="121" y="2111"/>
                    </a:lnTo>
                    <a:lnTo>
                      <a:pt x="122" y="2114"/>
                    </a:lnTo>
                    <a:lnTo>
                      <a:pt x="122" y="2175"/>
                    </a:lnTo>
                    <a:lnTo>
                      <a:pt x="121" y="2178"/>
                    </a:lnTo>
                    <a:lnTo>
                      <a:pt x="118" y="2181"/>
                    </a:lnTo>
                    <a:lnTo>
                      <a:pt x="115" y="2182"/>
                    </a:lnTo>
                    <a:lnTo>
                      <a:pt x="113" y="2182"/>
                    </a:lnTo>
                    <a:lnTo>
                      <a:pt x="113" y="2186"/>
                    </a:lnTo>
                    <a:lnTo>
                      <a:pt x="160" y="2186"/>
                    </a:lnTo>
                    <a:lnTo>
                      <a:pt x="160" y="2182"/>
                    </a:lnTo>
                    <a:lnTo>
                      <a:pt x="155" y="2182"/>
                    </a:lnTo>
                    <a:lnTo>
                      <a:pt x="151" y="2181"/>
                    </a:lnTo>
                    <a:lnTo>
                      <a:pt x="148" y="2177"/>
                    </a:lnTo>
                    <a:lnTo>
                      <a:pt x="147" y="2173"/>
                    </a:lnTo>
                    <a:lnTo>
                      <a:pt x="147" y="2171"/>
                    </a:lnTo>
                    <a:lnTo>
                      <a:pt x="147" y="2129"/>
                    </a:lnTo>
                    <a:lnTo>
                      <a:pt x="148" y="2126"/>
                    </a:lnTo>
                    <a:lnTo>
                      <a:pt x="151" y="2121"/>
                    </a:lnTo>
                    <a:lnTo>
                      <a:pt x="152" y="2119"/>
                    </a:lnTo>
                    <a:lnTo>
                      <a:pt x="155" y="2117"/>
                    </a:lnTo>
                    <a:lnTo>
                      <a:pt x="156" y="2117"/>
                    </a:lnTo>
                    <a:lnTo>
                      <a:pt x="157" y="2117"/>
                    </a:lnTo>
                    <a:lnTo>
                      <a:pt x="158" y="2117"/>
                    </a:lnTo>
                    <a:lnTo>
                      <a:pt x="160" y="2117"/>
                    </a:lnTo>
                    <a:lnTo>
                      <a:pt x="161" y="2118"/>
                    </a:lnTo>
                    <a:lnTo>
                      <a:pt x="163" y="2121"/>
                    </a:lnTo>
                    <a:lnTo>
                      <a:pt x="165" y="2123"/>
                    </a:lnTo>
                    <a:lnTo>
                      <a:pt x="168" y="2126"/>
                    </a:lnTo>
                    <a:lnTo>
                      <a:pt x="171" y="2127"/>
                    </a:lnTo>
                    <a:lnTo>
                      <a:pt x="174" y="2127"/>
                    </a:lnTo>
                    <a:lnTo>
                      <a:pt x="178" y="2127"/>
                    </a:lnTo>
                    <a:lnTo>
                      <a:pt x="181" y="2125"/>
                    </a:lnTo>
                    <a:lnTo>
                      <a:pt x="185" y="2120"/>
                    </a:lnTo>
                    <a:lnTo>
                      <a:pt x="185" y="2118"/>
                    </a:lnTo>
                    <a:lnTo>
                      <a:pt x="186" y="2117"/>
                    </a:lnTo>
                    <a:close/>
                    <a:moveTo>
                      <a:pt x="270" y="2153"/>
                    </a:moveTo>
                    <a:lnTo>
                      <a:pt x="270" y="2137"/>
                    </a:lnTo>
                    <a:lnTo>
                      <a:pt x="269" y="2129"/>
                    </a:lnTo>
                    <a:lnTo>
                      <a:pt x="262" y="2116"/>
                    </a:lnTo>
                    <a:lnTo>
                      <a:pt x="257" y="2111"/>
                    </a:lnTo>
                    <a:lnTo>
                      <a:pt x="250" y="2107"/>
                    </a:lnTo>
                    <a:lnTo>
                      <a:pt x="245" y="2103"/>
                    </a:lnTo>
                    <a:lnTo>
                      <a:pt x="244" y="2103"/>
                    </a:lnTo>
                    <a:lnTo>
                      <a:pt x="244" y="2153"/>
                    </a:lnTo>
                    <a:lnTo>
                      <a:pt x="244" y="2158"/>
                    </a:lnTo>
                    <a:lnTo>
                      <a:pt x="243" y="2166"/>
                    </a:lnTo>
                    <a:lnTo>
                      <a:pt x="240" y="2180"/>
                    </a:lnTo>
                    <a:lnTo>
                      <a:pt x="236" y="2183"/>
                    </a:lnTo>
                    <a:lnTo>
                      <a:pt x="230" y="2183"/>
                    </a:lnTo>
                    <a:lnTo>
                      <a:pt x="225" y="2183"/>
                    </a:lnTo>
                    <a:lnTo>
                      <a:pt x="222" y="2181"/>
                    </a:lnTo>
                    <a:lnTo>
                      <a:pt x="218" y="2174"/>
                    </a:lnTo>
                    <a:lnTo>
                      <a:pt x="217" y="2169"/>
                    </a:lnTo>
                    <a:lnTo>
                      <a:pt x="216" y="2158"/>
                    </a:lnTo>
                    <a:lnTo>
                      <a:pt x="216" y="2137"/>
                    </a:lnTo>
                    <a:lnTo>
                      <a:pt x="216" y="2132"/>
                    </a:lnTo>
                    <a:lnTo>
                      <a:pt x="217" y="2120"/>
                    </a:lnTo>
                    <a:lnTo>
                      <a:pt x="218" y="2116"/>
                    </a:lnTo>
                    <a:lnTo>
                      <a:pt x="222" y="2109"/>
                    </a:lnTo>
                    <a:lnTo>
                      <a:pt x="226" y="2107"/>
                    </a:lnTo>
                    <a:lnTo>
                      <a:pt x="235" y="2107"/>
                    </a:lnTo>
                    <a:lnTo>
                      <a:pt x="239" y="2109"/>
                    </a:lnTo>
                    <a:lnTo>
                      <a:pt x="243" y="2121"/>
                    </a:lnTo>
                    <a:lnTo>
                      <a:pt x="244" y="2130"/>
                    </a:lnTo>
                    <a:lnTo>
                      <a:pt x="244" y="2153"/>
                    </a:lnTo>
                    <a:lnTo>
                      <a:pt x="244" y="2103"/>
                    </a:lnTo>
                    <a:lnTo>
                      <a:pt x="238" y="2101"/>
                    </a:lnTo>
                    <a:lnTo>
                      <a:pt x="230" y="2101"/>
                    </a:lnTo>
                    <a:lnTo>
                      <a:pt x="222" y="2101"/>
                    </a:lnTo>
                    <a:lnTo>
                      <a:pt x="214" y="2103"/>
                    </a:lnTo>
                    <a:lnTo>
                      <a:pt x="202" y="2111"/>
                    </a:lnTo>
                    <a:lnTo>
                      <a:pt x="197" y="2117"/>
                    </a:lnTo>
                    <a:lnTo>
                      <a:pt x="191" y="2130"/>
                    </a:lnTo>
                    <a:lnTo>
                      <a:pt x="189" y="2137"/>
                    </a:lnTo>
                    <a:lnTo>
                      <a:pt x="189" y="2153"/>
                    </a:lnTo>
                    <a:lnTo>
                      <a:pt x="191" y="2160"/>
                    </a:lnTo>
                    <a:lnTo>
                      <a:pt x="197" y="2173"/>
                    </a:lnTo>
                    <a:lnTo>
                      <a:pt x="202" y="2179"/>
                    </a:lnTo>
                    <a:lnTo>
                      <a:pt x="214" y="2187"/>
                    </a:lnTo>
                    <a:lnTo>
                      <a:pt x="222" y="2189"/>
                    </a:lnTo>
                    <a:lnTo>
                      <a:pt x="230" y="2189"/>
                    </a:lnTo>
                    <a:lnTo>
                      <a:pt x="238" y="2189"/>
                    </a:lnTo>
                    <a:lnTo>
                      <a:pt x="245" y="2187"/>
                    </a:lnTo>
                    <a:lnTo>
                      <a:pt x="251" y="2183"/>
                    </a:lnTo>
                    <a:lnTo>
                      <a:pt x="257" y="2179"/>
                    </a:lnTo>
                    <a:lnTo>
                      <a:pt x="262" y="2174"/>
                    </a:lnTo>
                    <a:lnTo>
                      <a:pt x="269" y="2160"/>
                    </a:lnTo>
                    <a:lnTo>
                      <a:pt x="270" y="2153"/>
                    </a:lnTo>
                    <a:close/>
                    <a:moveTo>
                      <a:pt x="350" y="2170"/>
                    </a:moveTo>
                    <a:lnTo>
                      <a:pt x="347" y="2167"/>
                    </a:lnTo>
                    <a:lnTo>
                      <a:pt x="345" y="2169"/>
                    </a:lnTo>
                    <a:lnTo>
                      <a:pt x="343" y="2171"/>
                    </a:lnTo>
                    <a:lnTo>
                      <a:pt x="337" y="2175"/>
                    </a:lnTo>
                    <a:lnTo>
                      <a:pt x="333" y="2177"/>
                    </a:lnTo>
                    <a:lnTo>
                      <a:pt x="328" y="2177"/>
                    </a:lnTo>
                    <a:lnTo>
                      <a:pt x="321" y="2177"/>
                    </a:lnTo>
                    <a:lnTo>
                      <a:pt x="315" y="2173"/>
                    </a:lnTo>
                    <a:lnTo>
                      <a:pt x="305" y="2159"/>
                    </a:lnTo>
                    <a:lnTo>
                      <a:pt x="303" y="2150"/>
                    </a:lnTo>
                    <a:lnTo>
                      <a:pt x="303" y="2132"/>
                    </a:lnTo>
                    <a:lnTo>
                      <a:pt x="303" y="2130"/>
                    </a:lnTo>
                    <a:lnTo>
                      <a:pt x="304" y="2121"/>
                    </a:lnTo>
                    <a:lnTo>
                      <a:pt x="306" y="2116"/>
                    </a:lnTo>
                    <a:lnTo>
                      <a:pt x="310" y="2109"/>
                    </a:lnTo>
                    <a:lnTo>
                      <a:pt x="314" y="2107"/>
                    </a:lnTo>
                    <a:lnTo>
                      <a:pt x="318" y="2107"/>
                    </a:lnTo>
                    <a:lnTo>
                      <a:pt x="320" y="2107"/>
                    </a:lnTo>
                    <a:lnTo>
                      <a:pt x="321" y="2107"/>
                    </a:lnTo>
                    <a:lnTo>
                      <a:pt x="324" y="2109"/>
                    </a:lnTo>
                    <a:lnTo>
                      <a:pt x="325" y="2111"/>
                    </a:lnTo>
                    <a:lnTo>
                      <a:pt x="325" y="2121"/>
                    </a:lnTo>
                    <a:lnTo>
                      <a:pt x="326" y="2123"/>
                    </a:lnTo>
                    <a:lnTo>
                      <a:pt x="328" y="2130"/>
                    </a:lnTo>
                    <a:lnTo>
                      <a:pt x="331" y="2132"/>
                    </a:lnTo>
                    <a:lnTo>
                      <a:pt x="336" y="2132"/>
                    </a:lnTo>
                    <a:lnTo>
                      <a:pt x="337" y="2132"/>
                    </a:lnTo>
                    <a:lnTo>
                      <a:pt x="341" y="2131"/>
                    </a:lnTo>
                    <a:lnTo>
                      <a:pt x="343" y="2130"/>
                    </a:lnTo>
                    <a:lnTo>
                      <a:pt x="347" y="2127"/>
                    </a:lnTo>
                    <a:lnTo>
                      <a:pt x="348" y="2124"/>
                    </a:lnTo>
                    <a:lnTo>
                      <a:pt x="348" y="2116"/>
                    </a:lnTo>
                    <a:lnTo>
                      <a:pt x="346" y="2113"/>
                    </a:lnTo>
                    <a:lnTo>
                      <a:pt x="341" y="2107"/>
                    </a:lnTo>
                    <a:lnTo>
                      <a:pt x="340" y="2107"/>
                    </a:lnTo>
                    <a:lnTo>
                      <a:pt x="337" y="2105"/>
                    </a:lnTo>
                    <a:lnTo>
                      <a:pt x="329" y="2102"/>
                    </a:lnTo>
                    <a:lnTo>
                      <a:pt x="324" y="2101"/>
                    </a:lnTo>
                    <a:lnTo>
                      <a:pt x="320" y="2101"/>
                    </a:lnTo>
                    <a:lnTo>
                      <a:pt x="314" y="2101"/>
                    </a:lnTo>
                    <a:lnTo>
                      <a:pt x="308" y="2102"/>
                    </a:lnTo>
                    <a:lnTo>
                      <a:pt x="295" y="2108"/>
                    </a:lnTo>
                    <a:lnTo>
                      <a:pt x="289" y="2113"/>
                    </a:lnTo>
                    <a:lnTo>
                      <a:pt x="280" y="2126"/>
                    </a:lnTo>
                    <a:lnTo>
                      <a:pt x="278" y="2136"/>
                    </a:lnTo>
                    <a:lnTo>
                      <a:pt x="277" y="2148"/>
                    </a:lnTo>
                    <a:lnTo>
                      <a:pt x="277" y="2155"/>
                    </a:lnTo>
                    <a:lnTo>
                      <a:pt x="279" y="2162"/>
                    </a:lnTo>
                    <a:lnTo>
                      <a:pt x="286" y="2174"/>
                    </a:lnTo>
                    <a:lnTo>
                      <a:pt x="290" y="2179"/>
                    </a:lnTo>
                    <a:lnTo>
                      <a:pt x="302" y="2187"/>
                    </a:lnTo>
                    <a:lnTo>
                      <a:pt x="308" y="2189"/>
                    </a:lnTo>
                    <a:lnTo>
                      <a:pt x="316" y="2189"/>
                    </a:lnTo>
                    <a:lnTo>
                      <a:pt x="323" y="2189"/>
                    </a:lnTo>
                    <a:lnTo>
                      <a:pt x="329" y="2187"/>
                    </a:lnTo>
                    <a:lnTo>
                      <a:pt x="341" y="2180"/>
                    </a:lnTo>
                    <a:lnTo>
                      <a:pt x="345" y="2177"/>
                    </a:lnTo>
                    <a:lnTo>
                      <a:pt x="346" y="2176"/>
                    </a:lnTo>
                    <a:lnTo>
                      <a:pt x="350" y="2170"/>
                    </a:lnTo>
                    <a:close/>
                    <a:moveTo>
                      <a:pt x="432" y="2166"/>
                    </a:moveTo>
                    <a:lnTo>
                      <a:pt x="428" y="2164"/>
                    </a:lnTo>
                    <a:lnTo>
                      <a:pt x="427" y="2165"/>
                    </a:lnTo>
                    <a:lnTo>
                      <a:pt x="426" y="2167"/>
                    </a:lnTo>
                    <a:lnTo>
                      <a:pt x="422" y="2171"/>
                    </a:lnTo>
                    <a:lnTo>
                      <a:pt x="420" y="2172"/>
                    </a:lnTo>
                    <a:lnTo>
                      <a:pt x="414" y="2175"/>
                    </a:lnTo>
                    <a:lnTo>
                      <a:pt x="411" y="2176"/>
                    </a:lnTo>
                    <a:lnTo>
                      <a:pt x="408" y="2176"/>
                    </a:lnTo>
                    <a:lnTo>
                      <a:pt x="402" y="2176"/>
                    </a:lnTo>
                    <a:lnTo>
                      <a:pt x="398" y="2174"/>
                    </a:lnTo>
                    <a:lnTo>
                      <a:pt x="392" y="2167"/>
                    </a:lnTo>
                    <a:lnTo>
                      <a:pt x="389" y="2163"/>
                    </a:lnTo>
                    <a:lnTo>
                      <a:pt x="387" y="2153"/>
                    </a:lnTo>
                    <a:lnTo>
                      <a:pt x="386" y="2147"/>
                    </a:lnTo>
                    <a:lnTo>
                      <a:pt x="386" y="2142"/>
                    </a:lnTo>
                    <a:lnTo>
                      <a:pt x="432" y="2142"/>
                    </a:lnTo>
                    <a:lnTo>
                      <a:pt x="431" y="2140"/>
                    </a:lnTo>
                    <a:lnTo>
                      <a:pt x="431" y="2136"/>
                    </a:lnTo>
                    <a:lnTo>
                      <a:pt x="431" y="2135"/>
                    </a:lnTo>
                    <a:lnTo>
                      <a:pt x="430" y="2127"/>
                    </a:lnTo>
                    <a:lnTo>
                      <a:pt x="428" y="2123"/>
                    </a:lnTo>
                    <a:lnTo>
                      <a:pt x="424" y="2113"/>
                    </a:lnTo>
                    <a:lnTo>
                      <a:pt x="420" y="2109"/>
                    </a:lnTo>
                    <a:lnTo>
                      <a:pt x="416" y="2107"/>
                    </a:lnTo>
                    <a:lnTo>
                      <a:pt x="411" y="2103"/>
                    </a:lnTo>
                    <a:lnTo>
                      <a:pt x="409" y="2102"/>
                    </a:lnTo>
                    <a:lnTo>
                      <a:pt x="409" y="2135"/>
                    </a:lnTo>
                    <a:lnTo>
                      <a:pt x="385" y="2135"/>
                    </a:lnTo>
                    <a:lnTo>
                      <a:pt x="385" y="2127"/>
                    </a:lnTo>
                    <a:lnTo>
                      <a:pt x="386" y="2121"/>
                    </a:lnTo>
                    <a:lnTo>
                      <a:pt x="388" y="2113"/>
                    </a:lnTo>
                    <a:lnTo>
                      <a:pt x="390" y="2110"/>
                    </a:lnTo>
                    <a:lnTo>
                      <a:pt x="394" y="2107"/>
                    </a:lnTo>
                    <a:lnTo>
                      <a:pt x="396" y="2107"/>
                    </a:lnTo>
                    <a:lnTo>
                      <a:pt x="401" y="2107"/>
                    </a:lnTo>
                    <a:lnTo>
                      <a:pt x="403" y="2108"/>
                    </a:lnTo>
                    <a:lnTo>
                      <a:pt x="406" y="2111"/>
                    </a:lnTo>
                    <a:lnTo>
                      <a:pt x="407" y="2113"/>
                    </a:lnTo>
                    <a:lnTo>
                      <a:pt x="408" y="2118"/>
                    </a:lnTo>
                    <a:lnTo>
                      <a:pt x="409" y="2121"/>
                    </a:lnTo>
                    <a:lnTo>
                      <a:pt x="409" y="2127"/>
                    </a:lnTo>
                    <a:lnTo>
                      <a:pt x="409" y="2135"/>
                    </a:lnTo>
                    <a:lnTo>
                      <a:pt x="409" y="2102"/>
                    </a:lnTo>
                    <a:lnTo>
                      <a:pt x="405" y="2101"/>
                    </a:lnTo>
                    <a:lnTo>
                      <a:pt x="397" y="2101"/>
                    </a:lnTo>
                    <a:lnTo>
                      <a:pt x="390" y="2101"/>
                    </a:lnTo>
                    <a:lnTo>
                      <a:pt x="384" y="2103"/>
                    </a:lnTo>
                    <a:lnTo>
                      <a:pt x="373" y="2110"/>
                    </a:lnTo>
                    <a:lnTo>
                      <a:pt x="369" y="2115"/>
                    </a:lnTo>
                    <a:lnTo>
                      <a:pt x="362" y="2128"/>
                    </a:lnTo>
                    <a:lnTo>
                      <a:pt x="360" y="2135"/>
                    </a:lnTo>
                    <a:lnTo>
                      <a:pt x="360" y="2155"/>
                    </a:lnTo>
                    <a:lnTo>
                      <a:pt x="362" y="2163"/>
                    </a:lnTo>
                    <a:lnTo>
                      <a:pt x="369" y="2176"/>
                    </a:lnTo>
                    <a:lnTo>
                      <a:pt x="374" y="2181"/>
                    </a:lnTo>
                    <a:lnTo>
                      <a:pt x="385" y="2187"/>
                    </a:lnTo>
                    <a:lnTo>
                      <a:pt x="391" y="2189"/>
                    </a:lnTo>
                    <a:lnTo>
                      <a:pt x="397" y="2189"/>
                    </a:lnTo>
                    <a:lnTo>
                      <a:pt x="404" y="2189"/>
                    </a:lnTo>
                    <a:lnTo>
                      <a:pt x="410" y="2187"/>
                    </a:lnTo>
                    <a:lnTo>
                      <a:pt x="421" y="2180"/>
                    </a:lnTo>
                    <a:lnTo>
                      <a:pt x="426" y="2176"/>
                    </a:lnTo>
                    <a:lnTo>
                      <a:pt x="427" y="2175"/>
                    </a:lnTo>
                    <a:lnTo>
                      <a:pt x="432" y="2166"/>
                    </a:lnTo>
                    <a:close/>
                    <a:moveTo>
                      <a:pt x="500" y="2159"/>
                    </a:moveTo>
                    <a:lnTo>
                      <a:pt x="500" y="2154"/>
                    </a:lnTo>
                    <a:lnTo>
                      <a:pt x="497" y="2148"/>
                    </a:lnTo>
                    <a:lnTo>
                      <a:pt x="489" y="2140"/>
                    </a:lnTo>
                    <a:lnTo>
                      <a:pt x="484" y="2137"/>
                    </a:lnTo>
                    <a:lnTo>
                      <a:pt x="473" y="2133"/>
                    </a:lnTo>
                    <a:lnTo>
                      <a:pt x="469" y="2130"/>
                    </a:lnTo>
                    <a:lnTo>
                      <a:pt x="460" y="2125"/>
                    </a:lnTo>
                    <a:lnTo>
                      <a:pt x="458" y="2122"/>
                    </a:lnTo>
                    <a:lnTo>
                      <a:pt x="458" y="2114"/>
                    </a:lnTo>
                    <a:lnTo>
                      <a:pt x="459" y="2112"/>
                    </a:lnTo>
                    <a:lnTo>
                      <a:pt x="463" y="2108"/>
                    </a:lnTo>
                    <a:lnTo>
                      <a:pt x="466" y="2107"/>
                    </a:lnTo>
                    <a:lnTo>
                      <a:pt x="469" y="2107"/>
                    </a:lnTo>
                    <a:lnTo>
                      <a:pt x="474" y="2107"/>
                    </a:lnTo>
                    <a:lnTo>
                      <a:pt x="479" y="2109"/>
                    </a:lnTo>
                    <a:lnTo>
                      <a:pt x="487" y="2116"/>
                    </a:lnTo>
                    <a:lnTo>
                      <a:pt x="490" y="2121"/>
                    </a:lnTo>
                    <a:lnTo>
                      <a:pt x="492" y="2128"/>
                    </a:lnTo>
                    <a:lnTo>
                      <a:pt x="496" y="2128"/>
                    </a:lnTo>
                    <a:lnTo>
                      <a:pt x="496" y="2107"/>
                    </a:lnTo>
                    <a:lnTo>
                      <a:pt x="496" y="2105"/>
                    </a:lnTo>
                    <a:lnTo>
                      <a:pt x="496" y="2101"/>
                    </a:lnTo>
                    <a:lnTo>
                      <a:pt x="492" y="2101"/>
                    </a:lnTo>
                    <a:lnTo>
                      <a:pt x="492" y="2102"/>
                    </a:lnTo>
                    <a:lnTo>
                      <a:pt x="492" y="2103"/>
                    </a:lnTo>
                    <a:lnTo>
                      <a:pt x="490" y="2104"/>
                    </a:lnTo>
                    <a:lnTo>
                      <a:pt x="489" y="2105"/>
                    </a:lnTo>
                    <a:lnTo>
                      <a:pt x="488" y="2105"/>
                    </a:lnTo>
                    <a:lnTo>
                      <a:pt x="486" y="2105"/>
                    </a:lnTo>
                    <a:lnTo>
                      <a:pt x="483" y="2104"/>
                    </a:lnTo>
                    <a:lnTo>
                      <a:pt x="477" y="2102"/>
                    </a:lnTo>
                    <a:lnTo>
                      <a:pt x="473" y="2101"/>
                    </a:lnTo>
                    <a:lnTo>
                      <a:pt x="468" y="2101"/>
                    </a:lnTo>
                    <a:lnTo>
                      <a:pt x="460" y="2101"/>
                    </a:lnTo>
                    <a:lnTo>
                      <a:pt x="453" y="2104"/>
                    </a:lnTo>
                    <a:lnTo>
                      <a:pt x="443" y="2113"/>
                    </a:lnTo>
                    <a:lnTo>
                      <a:pt x="440" y="2119"/>
                    </a:lnTo>
                    <a:lnTo>
                      <a:pt x="440" y="2134"/>
                    </a:lnTo>
                    <a:lnTo>
                      <a:pt x="442" y="2140"/>
                    </a:lnTo>
                    <a:lnTo>
                      <a:pt x="451" y="2148"/>
                    </a:lnTo>
                    <a:lnTo>
                      <a:pt x="456" y="2151"/>
                    </a:lnTo>
                    <a:lnTo>
                      <a:pt x="467" y="2156"/>
                    </a:lnTo>
                    <a:lnTo>
                      <a:pt x="472" y="2158"/>
                    </a:lnTo>
                    <a:lnTo>
                      <a:pt x="480" y="2164"/>
                    </a:lnTo>
                    <a:lnTo>
                      <a:pt x="482" y="2167"/>
                    </a:lnTo>
                    <a:lnTo>
                      <a:pt x="483" y="2170"/>
                    </a:lnTo>
                    <a:lnTo>
                      <a:pt x="482" y="2174"/>
                    </a:lnTo>
                    <a:lnTo>
                      <a:pt x="482" y="2176"/>
                    </a:lnTo>
                    <a:lnTo>
                      <a:pt x="478" y="2181"/>
                    </a:lnTo>
                    <a:lnTo>
                      <a:pt x="474" y="2182"/>
                    </a:lnTo>
                    <a:lnTo>
                      <a:pt x="470" y="2183"/>
                    </a:lnTo>
                    <a:lnTo>
                      <a:pt x="463" y="2182"/>
                    </a:lnTo>
                    <a:lnTo>
                      <a:pt x="458" y="2181"/>
                    </a:lnTo>
                    <a:lnTo>
                      <a:pt x="451" y="2174"/>
                    </a:lnTo>
                    <a:lnTo>
                      <a:pt x="449" y="2171"/>
                    </a:lnTo>
                    <a:lnTo>
                      <a:pt x="446" y="2164"/>
                    </a:lnTo>
                    <a:lnTo>
                      <a:pt x="445" y="2161"/>
                    </a:lnTo>
                    <a:lnTo>
                      <a:pt x="444" y="2159"/>
                    </a:lnTo>
                    <a:lnTo>
                      <a:pt x="439" y="2159"/>
                    </a:lnTo>
                    <a:lnTo>
                      <a:pt x="439" y="2189"/>
                    </a:lnTo>
                    <a:lnTo>
                      <a:pt x="444" y="2189"/>
                    </a:lnTo>
                    <a:lnTo>
                      <a:pt x="445" y="2187"/>
                    </a:lnTo>
                    <a:lnTo>
                      <a:pt x="446" y="2185"/>
                    </a:lnTo>
                    <a:lnTo>
                      <a:pt x="447" y="2184"/>
                    </a:lnTo>
                    <a:lnTo>
                      <a:pt x="448" y="2184"/>
                    </a:lnTo>
                    <a:lnTo>
                      <a:pt x="449" y="2184"/>
                    </a:lnTo>
                    <a:lnTo>
                      <a:pt x="451" y="2184"/>
                    </a:lnTo>
                    <a:lnTo>
                      <a:pt x="456" y="2186"/>
                    </a:lnTo>
                    <a:lnTo>
                      <a:pt x="459" y="2186"/>
                    </a:lnTo>
                    <a:lnTo>
                      <a:pt x="465" y="2188"/>
                    </a:lnTo>
                    <a:lnTo>
                      <a:pt x="469" y="2189"/>
                    </a:lnTo>
                    <a:lnTo>
                      <a:pt x="472" y="2189"/>
                    </a:lnTo>
                    <a:lnTo>
                      <a:pt x="480" y="2189"/>
                    </a:lnTo>
                    <a:lnTo>
                      <a:pt x="487" y="2186"/>
                    </a:lnTo>
                    <a:lnTo>
                      <a:pt x="490" y="2184"/>
                    </a:lnTo>
                    <a:lnTo>
                      <a:pt x="491" y="2183"/>
                    </a:lnTo>
                    <a:lnTo>
                      <a:pt x="497" y="2176"/>
                    </a:lnTo>
                    <a:lnTo>
                      <a:pt x="500" y="2170"/>
                    </a:lnTo>
                    <a:lnTo>
                      <a:pt x="500" y="2159"/>
                    </a:lnTo>
                    <a:close/>
                    <a:moveTo>
                      <a:pt x="568" y="2159"/>
                    </a:moveTo>
                    <a:lnTo>
                      <a:pt x="568" y="2154"/>
                    </a:lnTo>
                    <a:lnTo>
                      <a:pt x="566" y="2148"/>
                    </a:lnTo>
                    <a:lnTo>
                      <a:pt x="558" y="2140"/>
                    </a:lnTo>
                    <a:lnTo>
                      <a:pt x="553" y="2137"/>
                    </a:lnTo>
                    <a:lnTo>
                      <a:pt x="542" y="2133"/>
                    </a:lnTo>
                    <a:lnTo>
                      <a:pt x="537" y="2130"/>
                    </a:lnTo>
                    <a:lnTo>
                      <a:pt x="529" y="2125"/>
                    </a:lnTo>
                    <a:lnTo>
                      <a:pt x="526" y="2122"/>
                    </a:lnTo>
                    <a:lnTo>
                      <a:pt x="526" y="2114"/>
                    </a:lnTo>
                    <a:lnTo>
                      <a:pt x="527" y="2112"/>
                    </a:lnTo>
                    <a:lnTo>
                      <a:pt x="532" y="2108"/>
                    </a:lnTo>
                    <a:lnTo>
                      <a:pt x="534" y="2107"/>
                    </a:lnTo>
                    <a:lnTo>
                      <a:pt x="538" y="2107"/>
                    </a:lnTo>
                    <a:lnTo>
                      <a:pt x="543" y="2107"/>
                    </a:lnTo>
                    <a:lnTo>
                      <a:pt x="547" y="2109"/>
                    </a:lnTo>
                    <a:lnTo>
                      <a:pt x="555" y="2116"/>
                    </a:lnTo>
                    <a:lnTo>
                      <a:pt x="558" y="2121"/>
                    </a:lnTo>
                    <a:lnTo>
                      <a:pt x="560" y="2128"/>
                    </a:lnTo>
                    <a:lnTo>
                      <a:pt x="565" y="2128"/>
                    </a:lnTo>
                    <a:lnTo>
                      <a:pt x="565" y="2107"/>
                    </a:lnTo>
                    <a:lnTo>
                      <a:pt x="565" y="2105"/>
                    </a:lnTo>
                    <a:lnTo>
                      <a:pt x="565" y="2101"/>
                    </a:lnTo>
                    <a:lnTo>
                      <a:pt x="561" y="2101"/>
                    </a:lnTo>
                    <a:lnTo>
                      <a:pt x="560" y="2102"/>
                    </a:lnTo>
                    <a:lnTo>
                      <a:pt x="560" y="2103"/>
                    </a:lnTo>
                    <a:lnTo>
                      <a:pt x="559" y="2104"/>
                    </a:lnTo>
                    <a:lnTo>
                      <a:pt x="558" y="2105"/>
                    </a:lnTo>
                    <a:lnTo>
                      <a:pt x="556" y="2105"/>
                    </a:lnTo>
                    <a:lnTo>
                      <a:pt x="554" y="2105"/>
                    </a:lnTo>
                    <a:lnTo>
                      <a:pt x="552" y="2104"/>
                    </a:lnTo>
                    <a:lnTo>
                      <a:pt x="545" y="2102"/>
                    </a:lnTo>
                    <a:lnTo>
                      <a:pt x="541" y="2101"/>
                    </a:lnTo>
                    <a:lnTo>
                      <a:pt x="537" y="2101"/>
                    </a:lnTo>
                    <a:lnTo>
                      <a:pt x="528" y="2101"/>
                    </a:lnTo>
                    <a:lnTo>
                      <a:pt x="522" y="2104"/>
                    </a:lnTo>
                    <a:lnTo>
                      <a:pt x="511" y="2113"/>
                    </a:lnTo>
                    <a:lnTo>
                      <a:pt x="508" y="2119"/>
                    </a:lnTo>
                    <a:lnTo>
                      <a:pt x="508" y="2134"/>
                    </a:lnTo>
                    <a:lnTo>
                      <a:pt x="511" y="2140"/>
                    </a:lnTo>
                    <a:lnTo>
                      <a:pt x="519" y="2148"/>
                    </a:lnTo>
                    <a:lnTo>
                      <a:pt x="524" y="2151"/>
                    </a:lnTo>
                    <a:lnTo>
                      <a:pt x="535" y="2156"/>
                    </a:lnTo>
                    <a:lnTo>
                      <a:pt x="540" y="2158"/>
                    </a:lnTo>
                    <a:lnTo>
                      <a:pt x="549" y="2164"/>
                    </a:lnTo>
                    <a:lnTo>
                      <a:pt x="551" y="2167"/>
                    </a:lnTo>
                    <a:lnTo>
                      <a:pt x="551" y="2170"/>
                    </a:lnTo>
                    <a:lnTo>
                      <a:pt x="551" y="2174"/>
                    </a:lnTo>
                    <a:lnTo>
                      <a:pt x="550" y="2176"/>
                    </a:lnTo>
                    <a:lnTo>
                      <a:pt x="546" y="2181"/>
                    </a:lnTo>
                    <a:lnTo>
                      <a:pt x="543" y="2182"/>
                    </a:lnTo>
                    <a:lnTo>
                      <a:pt x="538" y="2183"/>
                    </a:lnTo>
                    <a:lnTo>
                      <a:pt x="532" y="2182"/>
                    </a:lnTo>
                    <a:lnTo>
                      <a:pt x="527" y="2181"/>
                    </a:lnTo>
                    <a:lnTo>
                      <a:pt x="520" y="2174"/>
                    </a:lnTo>
                    <a:lnTo>
                      <a:pt x="517" y="2171"/>
                    </a:lnTo>
                    <a:lnTo>
                      <a:pt x="514" y="2164"/>
                    </a:lnTo>
                    <a:lnTo>
                      <a:pt x="513" y="2161"/>
                    </a:lnTo>
                    <a:lnTo>
                      <a:pt x="513" y="2159"/>
                    </a:lnTo>
                    <a:lnTo>
                      <a:pt x="508" y="2159"/>
                    </a:lnTo>
                    <a:lnTo>
                      <a:pt x="508" y="2189"/>
                    </a:lnTo>
                    <a:lnTo>
                      <a:pt x="512" y="2189"/>
                    </a:lnTo>
                    <a:lnTo>
                      <a:pt x="513" y="2187"/>
                    </a:lnTo>
                    <a:lnTo>
                      <a:pt x="514" y="2185"/>
                    </a:lnTo>
                    <a:lnTo>
                      <a:pt x="515" y="2184"/>
                    </a:lnTo>
                    <a:lnTo>
                      <a:pt x="516" y="2184"/>
                    </a:lnTo>
                    <a:lnTo>
                      <a:pt x="517" y="2184"/>
                    </a:lnTo>
                    <a:lnTo>
                      <a:pt x="518" y="2184"/>
                    </a:lnTo>
                    <a:lnTo>
                      <a:pt x="519" y="2184"/>
                    </a:lnTo>
                    <a:lnTo>
                      <a:pt x="524" y="2186"/>
                    </a:lnTo>
                    <a:lnTo>
                      <a:pt x="527" y="2186"/>
                    </a:lnTo>
                    <a:lnTo>
                      <a:pt x="534" y="2188"/>
                    </a:lnTo>
                    <a:lnTo>
                      <a:pt x="537" y="2189"/>
                    </a:lnTo>
                    <a:lnTo>
                      <a:pt x="540" y="2189"/>
                    </a:lnTo>
                    <a:lnTo>
                      <a:pt x="549" y="2189"/>
                    </a:lnTo>
                    <a:lnTo>
                      <a:pt x="555" y="2186"/>
                    </a:lnTo>
                    <a:lnTo>
                      <a:pt x="558" y="2184"/>
                    </a:lnTo>
                    <a:lnTo>
                      <a:pt x="559" y="2183"/>
                    </a:lnTo>
                    <a:lnTo>
                      <a:pt x="566" y="2176"/>
                    </a:lnTo>
                    <a:lnTo>
                      <a:pt x="568" y="2170"/>
                    </a:lnTo>
                    <a:lnTo>
                      <a:pt x="568" y="2159"/>
                    </a:lnTo>
                    <a:close/>
                    <a:moveTo>
                      <a:pt x="659" y="2153"/>
                    </a:moveTo>
                    <a:lnTo>
                      <a:pt x="659" y="2137"/>
                    </a:lnTo>
                    <a:lnTo>
                      <a:pt x="657" y="2129"/>
                    </a:lnTo>
                    <a:lnTo>
                      <a:pt x="650" y="2116"/>
                    </a:lnTo>
                    <a:lnTo>
                      <a:pt x="646" y="2111"/>
                    </a:lnTo>
                    <a:lnTo>
                      <a:pt x="639" y="2107"/>
                    </a:lnTo>
                    <a:lnTo>
                      <a:pt x="634" y="2103"/>
                    </a:lnTo>
                    <a:lnTo>
                      <a:pt x="633" y="2103"/>
                    </a:lnTo>
                    <a:lnTo>
                      <a:pt x="633" y="2153"/>
                    </a:lnTo>
                    <a:lnTo>
                      <a:pt x="633" y="2158"/>
                    </a:lnTo>
                    <a:lnTo>
                      <a:pt x="632" y="2166"/>
                    </a:lnTo>
                    <a:lnTo>
                      <a:pt x="629" y="2180"/>
                    </a:lnTo>
                    <a:lnTo>
                      <a:pt x="625" y="2183"/>
                    </a:lnTo>
                    <a:lnTo>
                      <a:pt x="619" y="2183"/>
                    </a:lnTo>
                    <a:lnTo>
                      <a:pt x="614" y="2183"/>
                    </a:lnTo>
                    <a:lnTo>
                      <a:pt x="611" y="2181"/>
                    </a:lnTo>
                    <a:lnTo>
                      <a:pt x="607" y="2174"/>
                    </a:lnTo>
                    <a:lnTo>
                      <a:pt x="606" y="2169"/>
                    </a:lnTo>
                    <a:lnTo>
                      <a:pt x="605" y="2158"/>
                    </a:lnTo>
                    <a:lnTo>
                      <a:pt x="604" y="2137"/>
                    </a:lnTo>
                    <a:lnTo>
                      <a:pt x="605" y="2132"/>
                    </a:lnTo>
                    <a:lnTo>
                      <a:pt x="606" y="2120"/>
                    </a:lnTo>
                    <a:lnTo>
                      <a:pt x="607" y="2116"/>
                    </a:lnTo>
                    <a:lnTo>
                      <a:pt x="611" y="2109"/>
                    </a:lnTo>
                    <a:lnTo>
                      <a:pt x="614" y="2107"/>
                    </a:lnTo>
                    <a:lnTo>
                      <a:pt x="624" y="2107"/>
                    </a:lnTo>
                    <a:lnTo>
                      <a:pt x="628" y="2109"/>
                    </a:lnTo>
                    <a:lnTo>
                      <a:pt x="632" y="2121"/>
                    </a:lnTo>
                    <a:lnTo>
                      <a:pt x="633" y="2130"/>
                    </a:lnTo>
                    <a:lnTo>
                      <a:pt x="633" y="2153"/>
                    </a:lnTo>
                    <a:lnTo>
                      <a:pt x="633" y="2103"/>
                    </a:lnTo>
                    <a:lnTo>
                      <a:pt x="627" y="2101"/>
                    </a:lnTo>
                    <a:lnTo>
                      <a:pt x="619" y="2101"/>
                    </a:lnTo>
                    <a:lnTo>
                      <a:pt x="610" y="2101"/>
                    </a:lnTo>
                    <a:lnTo>
                      <a:pt x="603" y="2103"/>
                    </a:lnTo>
                    <a:lnTo>
                      <a:pt x="591" y="2111"/>
                    </a:lnTo>
                    <a:lnTo>
                      <a:pt x="586" y="2117"/>
                    </a:lnTo>
                    <a:lnTo>
                      <a:pt x="580" y="2130"/>
                    </a:lnTo>
                    <a:lnTo>
                      <a:pt x="578" y="2137"/>
                    </a:lnTo>
                    <a:lnTo>
                      <a:pt x="578" y="2153"/>
                    </a:lnTo>
                    <a:lnTo>
                      <a:pt x="580" y="2160"/>
                    </a:lnTo>
                    <a:lnTo>
                      <a:pt x="586" y="2173"/>
                    </a:lnTo>
                    <a:lnTo>
                      <a:pt x="591" y="2179"/>
                    </a:lnTo>
                    <a:lnTo>
                      <a:pt x="603" y="2187"/>
                    </a:lnTo>
                    <a:lnTo>
                      <a:pt x="610" y="2189"/>
                    </a:lnTo>
                    <a:lnTo>
                      <a:pt x="619" y="2189"/>
                    </a:lnTo>
                    <a:lnTo>
                      <a:pt x="627" y="2189"/>
                    </a:lnTo>
                    <a:lnTo>
                      <a:pt x="634" y="2187"/>
                    </a:lnTo>
                    <a:lnTo>
                      <a:pt x="639" y="2183"/>
                    </a:lnTo>
                    <a:lnTo>
                      <a:pt x="646" y="2179"/>
                    </a:lnTo>
                    <a:lnTo>
                      <a:pt x="651" y="2174"/>
                    </a:lnTo>
                    <a:lnTo>
                      <a:pt x="658" y="2160"/>
                    </a:lnTo>
                    <a:lnTo>
                      <a:pt x="659" y="2153"/>
                    </a:lnTo>
                    <a:close/>
                    <a:moveTo>
                      <a:pt x="718" y="0"/>
                    </a:moveTo>
                    <a:lnTo>
                      <a:pt x="679" y="0"/>
                    </a:lnTo>
                    <a:lnTo>
                      <a:pt x="665" y="0"/>
                    </a:lnTo>
                    <a:lnTo>
                      <a:pt x="684" y="77"/>
                    </a:lnTo>
                    <a:lnTo>
                      <a:pt x="706" y="77"/>
                    </a:lnTo>
                    <a:lnTo>
                      <a:pt x="714" y="24"/>
                    </a:lnTo>
                    <a:lnTo>
                      <a:pt x="716" y="9"/>
                    </a:lnTo>
                    <a:lnTo>
                      <a:pt x="718" y="0"/>
                    </a:lnTo>
                    <a:close/>
                    <a:moveTo>
                      <a:pt x="744" y="2117"/>
                    </a:moveTo>
                    <a:lnTo>
                      <a:pt x="743" y="2113"/>
                    </a:lnTo>
                    <a:lnTo>
                      <a:pt x="743" y="2112"/>
                    </a:lnTo>
                    <a:lnTo>
                      <a:pt x="742" y="2107"/>
                    </a:lnTo>
                    <a:lnTo>
                      <a:pt x="740" y="2105"/>
                    </a:lnTo>
                    <a:lnTo>
                      <a:pt x="736" y="2102"/>
                    </a:lnTo>
                    <a:lnTo>
                      <a:pt x="733" y="2101"/>
                    </a:lnTo>
                    <a:lnTo>
                      <a:pt x="729" y="2101"/>
                    </a:lnTo>
                    <a:lnTo>
                      <a:pt x="725" y="2101"/>
                    </a:lnTo>
                    <a:lnTo>
                      <a:pt x="721" y="2102"/>
                    </a:lnTo>
                    <a:lnTo>
                      <a:pt x="715" y="2106"/>
                    </a:lnTo>
                    <a:lnTo>
                      <a:pt x="712" y="2108"/>
                    </a:lnTo>
                    <a:lnTo>
                      <a:pt x="708" y="2113"/>
                    </a:lnTo>
                    <a:lnTo>
                      <a:pt x="706" y="2116"/>
                    </a:lnTo>
                    <a:lnTo>
                      <a:pt x="705" y="2117"/>
                    </a:lnTo>
                    <a:lnTo>
                      <a:pt x="705" y="2103"/>
                    </a:lnTo>
                    <a:lnTo>
                      <a:pt x="671" y="2103"/>
                    </a:lnTo>
                    <a:lnTo>
                      <a:pt x="671" y="2108"/>
                    </a:lnTo>
                    <a:lnTo>
                      <a:pt x="673" y="2108"/>
                    </a:lnTo>
                    <a:lnTo>
                      <a:pt x="676" y="2109"/>
                    </a:lnTo>
                    <a:lnTo>
                      <a:pt x="679" y="2111"/>
                    </a:lnTo>
                    <a:lnTo>
                      <a:pt x="680" y="2114"/>
                    </a:lnTo>
                    <a:lnTo>
                      <a:pt x="680" y="2175"/>
                    </a:lnTo>
                    <a:lnTo>
                      <a:pt x="679" y="2178"/>
                    </a:lnTo>
                    <a:lnTo>
                      <a:pt x="676" y="2181"/>
                    </a:lnTo>
                    <a:lnTo>
                      <a:pt x="673" y="2182"/>
                    </a:lnTo>
                    <a:lnTo>
                      <a:pt x="671" y="2182"/>
                    </a:lnTo>
                    <a:lnTo>
                      <a:pt x="671" y="2186"/>
                    </a:lnTo>
                    <a:lnTo>
                      <a:pt x="718" y="2186"/>
                    </a:lnTo>
                    <a:lnTo>
                      <a:pt x="718" y="2182"/>
                    </a:lnTo>
                    <a:lnTo>
                      <a:pt x="713" y="2182"/>
                    </a:lnTo>
                    <a:lnTo>
                      <a:pt x="709" y="2181"/>
                    </a:lnTo>
                    <a:lnTo>
                      <a:pt x="706" y="2177"/>
                    </a:lnTo>
                    <a:lnTo>
                      <a:pt x="705" y="2173"/>
                    </a:lnTo>
                    <a:lnTo>
                      <a:pt x="705" y="2168"/>
                    </a:lnTo>
                    <a:lnTo>
                      <a:pt x="705" y="2129"/>
                    </a:lnTo>
                    <a:lnTo>
                      <a:pt x="706" y="2126"/>
                    </a:lnTo>
                    <a:lnTo>
                      <a:pt x="709" y="2121"/>
                    </a:lnTo>
                    <a:lnTo>
                      <a:pt x="710" y="2119"/>
                    </a:lnTo>
                    <a:lnTo>
                      <a:pt x="713" y="2117"/>
                    </a:lnTo>
                    <a:lnTo>
                      <a:pt x="714" y="2117"/>
                    </a:lnTo>
                    <a:lnTo>
                      <a:pt x="715" y="2117"/>
                    </a:lnTo>
                    <a:lnTo>
                      <a:pt x="716" y="2117"/>
                    </a:lnTo>
                    <a:lnTo>
                      <a:pt x="718" y="2117"/>
                    </a:lnTo>
                    <a:lnTo>
                      <a:pt x="719" y="2118"/>
                    </a:lnTo>
                    <a:lnTo>
                      <a:pt x="721" y="2121"/>
                    </a:lnTo>
                    <a:lnTo>
                      <a:pt x="723" y="2123"/>
                    </a:lnTo>
                    <a:lnTo>
                      <a:pt x="726" y="2126"/>
                    </a:lnTo>
                    <a:lnTo>
                      <a:pt x="729" y="2127"/>
                    </a:lnTo>
                    <a:lnTo>
                      <a:pt x="732" y="2127"/>
                    </a:lnTo>
                    <a:lnTo>
                      <a:pt x="736" y="2127"/>
                    </a:lnTo>
                    <a:lnTo>
                      <a:pt x="739" y="2125"/>
                    </a:lnTo>
                    <a:lnTo>
                      <a:pt x="743" y="2120"/>
                    </a:lnTo>
                    <a:lnTo>
                      <a:pt x="743" y="2118"/>
                    </a:lnTo>
                    <a:lnTo>
                      <a:pt x="744" y="2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cxnSp>
            <p:nvCxnSpPr>
              <p:cNvPr id="8" name="Line 350">
                <a:extLst>
                  <a:ext uri="{FF2B5EF4-FFF2-40B4-BE49-F238E27FC236}">
                    <a16:creationId xmlns:a16="http://schemas.microsoft.com/office/drawing/2014/main" id="{96BCA59A-0A04-8B70-003A-851BD8193955}"/>
                  </a:ext>
                </a:extLst>
              </p:cNvPr>
              <p:cNvCxnSpPr>
                <a:cxnSpLocks noChangeAspect="1" noEditPoints="1" noChangeArrowheads="1" noChangeShapeType="1"/>
              </p:cNvCxnSpPr>
              <p:nvPr/>
            </p:nvCxnSpPr>
            <p:spPr bwMode="auto">
              <a:xfrm>
                <a:off x="3550" y="1279"/>
                <a:ext cx="0" cy="0"/>
              </a:xfrm>
              <a:prstGeom prst="line">
                <a:avLst/>
              </a:prstGeom>
              <a:noFill/>
              <a:ln w="4763">
                <a:solidFill>
                  <a:srgbClr val="B3B3B3"/>
                </a:solidFill>
                <a:prstDash val="solid"/>
                <a:round/>
                <a:headEnd/>
                <a:tailEnd/>
              </a:ln>
              <a:extLst>
                <a:ext uri="{909E8E84-426E-40DD-AFC4-6F175D3DCCD1}">
                  <a14:hiddenFill xmlns:a14="http://schemas.microsoft.com/office/drawing/2010/main">
                    <a:noFill/>
                  </a14:hiddenFill>
                </a:ext>
              </a:extLst>
            </p:spPr>
          </p:cxnSp>
          <p:sp>
            <p:nvSpPr>
              <p:cNvPr id="9" name="AutoShape 349">
                <a:extLst>
                  <a:ext uri="{FF2B5EF4-FFF2-40B4-BE49-F238E27FC236}">
                    <a16:creationId xmlns:a16="http://schemas.microsoft.com/office/drawing/2014/main" id="{932C6B52-E229-E5BE-FCBE-AAEDD8CC0972}"/>
                  </a:ext>
                </a:extLst>
              </p:cNvPr>
              <p:cNvSpPr>
                <a:spLocks noChangeAspect="1" noEditPoints="1" noChangeArrowheads="1" noChangeShapeType="1" noTextEdit="1"/>
              </p:cNvSpPr>
              <p:nvPr/>
            </p:nvSpPr>
            <p:spPr bwMode="auto">
              <a:xfrm>
                <a:off x="2534" y="239"/>
                <a:ext cx="2023" cy="1050"/>
              </a:xfrm>
              <a:custGeom>
                <a:avLst/>
                <a:gdLst>
                  <a:gd name="T0" fmla="+- 0 2581 2535"/>
                  <a:gd name="T1" fmla="*/ T0 w 2023"/>
                  <a:gd name="T2" fmla="+- 0 250 239"/>
                  <a:gd name="T3" fmla="*/ 250 h 1050"/>
                  <a:gd name="T4" fmla="+- 0 2579 2535"/>
                  <a:gd name="T5" fmla="*/ T4 w 2023"/>
                  <a:gd name="T6" fmla="+- 0 359 239"/>
                  <a:gd name="T7" fmla="*/ 359 h 1050"/>
                  <a:gd name="T8" fmla="+- 0 2680 2535"/>
                  <a:gd name="T9" fmla="*/ T8 w 2023"/>
                  <a:gd name="T10" fmla="+- 0 279 239"/>
                  <a:gd name="T11" fmla="*/ 279 h 1050"/>
                  <a:gd name="T12" fmla="+- 0 2634 2535"/>
                  <a:gd name="T13" fmla="*/ T12 w 2023"/>
                  <a:gd name="T14" fmla="+- 0 362 239"/>
                  <a:gd name="T15" fmla="*/ 362 h 1050"/>
                  <a:gd name="T16" fmla="+- 0 2693 2535"/>
                  <a:gd name="T17" fmla="*/ T16 w 2023"/>
                  <a:gd name="T18" fmla="+- 0 292 239"/>
                  <a:gd name="T19" fmla="*/ 292 h 1050"/>
                  <a:gd name="T20" fmla="+- 0 2724 2535"/>
                  <a:gd name="T21" fmla="*/ T20 w 2023"/>
                  <a:gd name="T22" fmla="+- 0 287 239"/>
                  <a:gd name="T23" fmla="*/ 287 h 1050"/>
                  <a:gd name="T24" fmla="+- 0 2737 2535"/>
                  <a:gd name="T25" fmla="*/ T24 w 2023"/>
                  <a:gd name="T26" fmla="+- 0 364 239"/>
                  <a:gd name="T27" fmla="*/ 364 h 1050"/>
                  <a:gd name="T28" fmla="+- 0 2824 2535"/>
                  <a:gd name="T29" fmla="*/ T28 w 2023"/>
                  <a:gd name="T30" fmla="+- 0 285 239"/>
                  <a:gd name="T31" fmla="*/ 285 h 1050"/>
                  <a:gd name="T32" fmla="+- 0 2820 2535"/>
                  <a:gd name="T33" fmla="*/ T32 w 2023"/>
                  <a:gd name="T34" fmla="+- 0 280 239"/>
                  <a:gd name="T35" fmla="*/ 280 h 1050"/>
                  <a:gd name="T36" fmla="+- 0 2912 2535"/>
                  <a:gd name="T37" fmla="*/ T36 w 2023"/>
                  <a:gd name="T38" fmla="+- 0 352 239"/>
                  <a:gd name="T39" fmla="*/ 352 h 1050"/>
                  <a:gd name="T40" fmla="+- 0 2916 2535"/>
                  <a:gd name="T41" fmla="*/ T40 w 2023"/>
                  <a:gd name="T42" fmla="+- 0 304 239"/>
                  <a:gd name="T43" fmla="*/ 304 h 1050"/>
                  <a:gd name="T44" fmla="+- 0 2937 2535"/>
                  <a:gd name="T45" fmla="*/ T44 w 2023"/>
                  <a:gd name="T46" fmla="+- 0 336 239"/>
                  <a:gd name="T47" fmla="*/ 336 h 1050"/>
                  <a:gd name="T48" fmla="+- 0 2996 2535"/>
                  <a:gd name="T49" fmla="*/ T48 w 2023"/>
                  <a:gd name="T50" fmla="+- 0 281 239"/>
                  <a:gd name="T51" fmla="*/ 281 h 1050"/>
                  <a:gd name="T52" fmla="+- 0 2992 2535"/>
                  <a:gd name="T53" fmla="*/ T52 w 2023"/>
                  <a:gd name="T54" fmla="+- 0 346 239"/>
                  <a:gd name="T55" fmla="*/ 346 h 1050"/>
                  <a:gd name="T56" fmla="+- 0 2983 2535"/>
                  <a:gd name="T57" fmla="*/ T56 w 2023"/>
                  <a:gd name="T58" fmla="+- 0 364 239"/>
                  <a:gd name="T59" fmla="*/ 364 h 1050"/>
                  <a:gd name="T60" fmla="+- 0 3062 2535"/>
                  <a:gd name="T61" fmla="*/ T60 w 2023"/>
                  <a:gd name="T62" fmla="+- 0 291 239"/>
                  <a:gd name="T63" fmla="*/ 291 h 1050"/>
                  <a:gd name="T64" fmla="+- 0 3024 2535"/>
                  <a:gd name="T65" fmla="*/ T64 w 2023"/>
                  <a:gd name="T66" fmla="+- 0 313 239"/>
                  <a:gd name="T67" fmla="*/ 313 h 1050"/>
                  <a:gd name="T68" fmla="+- 0 3026 2535"/>
                  <a:gd name="T69" fmla="*/ T68 w 2023"/>
                  <a:gd name="T70" fmla="+- 0 361 239"/>
                  <a:gd name="T71" fmla="*/ 361 h 1050"/>
                  <a:gd name="T72" fmla="+- 0 3135 2535"/>
                  <a:gd name="T73" fmla="*/ T72 w 2023"/>
                  <a:gd name="T74" fmla="+- 0 358 239"/>
                  <a:gd name="T75" fmla="*/ 358 h 1050"/>
                  <a:gd name="T76" fmla="+- 0 3125 2535"/>
                  <a:gd name="T77" fmla="*/ T76 w 2023"/>
                  <a:gd name="T78" fmla="+- 0 280 239"/>
                  <a:gd name="T79" fmla="*/ 280 h 1050"/>
                  <a:gd name="T80" fmla="+- 0 3220 2535"/>
                  <a:gd name="T81" fmla="*/ T80 w 2023"/>
                  <a:gd name="T82" fmla="+- 0 279 239"/>
                  <a:gd name="T83" fmla="*/ 279 h 1050"/>
                  <a:gd name="T84" fmla="+- 0 3174 2535"/>
                  <a:gd name="T85" fmla="*/ T84 w 2023"/>
                  <a:gd name="T86" fmla="+- 0 362 239"/>
                  <a:gd name="T87" fmla="*/ 362 h 1050"/>
                  <a:gd name="T88" fmla="+- 0 3233 2535"/>
                  <a:gd name="T89" fmla="*/ T88 w 2023"/>
                  <a:gd name="T90" fmla="+- 0 292 239"/>
                  <a:gd name="T91" fmla="*/ 292 h 1050"/>
                  <a:gd name="T92" fmla="+- 0 3377 2535"/>
                  <a:gd name="T93" fmla="*/ T92 w 2023"/>
                  <a:gd name="T94" fmla="+- 0 284 239"/>
                  <a:gd name="T95" fmla="*/ 284 h 1050"/>
                  <a:gd name="T96" fmla="+- 0 3297 2535"/>
                  <a:gd name="T97" fmla="*/ T96 w 2023"/>
                  <a:gd name="T98" fmla="+- 0 290 239"/>
                  <a:gd name="T99" fmla="*/ 290 h 1050"/>
                  <a:gd name="T100" fmla="+- 0 3344 2535"/>
                  <a:gd name="T101" fmla="*/ T100 w 2023"/>
                  <a:gd name="T102" fmla="+- 0 289 239"/>
                  <a:gd name="T103" fmla="*/ 289 h 1050"/>
                  <a:gd name="T104" fmla="+- 0 3391 2535"/>
                  <a:gd name="T105" fmla="*/ T104 w 2023"/>
                  <a:gd name="T106" fmla="+- 0 289 239"/>
                  <a:gd name="T107" fmla="*/ 289 h 1050"/>
                  <a:gd name="T108" fmla="+- 0 3452 2535"/>
                  <a:gd name="T109" fmla="*/ T108 w 2023"/>
                  <a:gd name="T110" fmla="+- 0 343 239"/>
                  <a:gd name="T111" fmla="*/ 343 h 1050"/>
                  <a:gd name="T112" fmla="+- 0 3477 2535"/>
                  <a:gd name="T113" fmla="*/ T112 w 2023"/>
                  <a:gd name="T114" fmla="+- 0 279 239"/>
                  <a:gd name="T115" fmla="*/ 279 h 1050"/>
                  <a:gd name="T116" fmla="+- 0 3542 2535"/>
                  <a:gd name="T117" fmla="*/ T116 w 2023"/>
                  <a:gd name="T118" fmla="+- 0 1289 239"/>
                  <a:gd name="T119" fmla="*/ 1289 h 1050"/>
                  <a:gd name="T120" fmla="+- 0 3585 2535"/>
                  <a:gd name="T121" fmla="*/ T120 w 2023"/>
                  <a:gd name="T122" fmla="+- 0 291 239"/>
                  <a:gd name="T123" fmla="*/ 291 h 1050"/>
                  <a:gd name="T124" fmla="+- 0 3525 2535"/>
                  <a:gd name="T125" fmla="*/ T124 w 2023"/>
                  <a:gd name="T126" fmla="+- 0 353 239"/>
                  <a:gd name="T127" fmla="*/ 353 h 1050"/>
                  <a:gd name="T128" fmla="+- 0 3572 2535"/>
                  <a:gd name="T129" fmla="*/ T128 w 2023"/>
                  <a:gd name="T130" fmla="+- 0 356 239"/>
                  <a:gd name="T131" fmla="*/ 356 h 1050"/>
                  <a:gd name="T132" fmla="+- 0 3621 2535"/>
                  <a:gd name="T133" fmla="*/ T132 w 2023"/>
                  <a:gd name="T134" fmla="+- 0 351 239"/>
                  <a:gd name="T135" fmla="*/ 351 h 1050"/>
                  <a:gd name="T136" fmla="+- 0 3676 2535"/>
                  <a:gd name="T137" fmla="*/ T136 w 2023"/>
                  <a:gd name="T138" fmla="+- 0 346 239"/>
                  <a:gd name="T139" fmla="*/ 346 h 1050"/>
                  <a:gd name="T140" fmla="+- 0 3653 2535"/>
                  <a:gd name="T141" fmla="*/ T140 w 2023"/>
                  <a:gd name="T142" fmla="+- 0 314 239"/>
                  <a:gd name="T143" fmla="*/ 314 h 1050"/>
                  <a:gd name="T144" fmla="+- 0 3769 2535"/>
                  <a:gd name="T145" fmla="*/ T144 w 2023"/>
                  <a:gd name="T146" fmla="+- 0 291 239"/>
                  <a:gd name="T147" fmla="*/ 291 h 1050"/>
                  <a:gd name="T148" fmla="+- 0 3769 2535"/>
                  <a:gd name="T149" fmla="*/ T148 w 2023"/>
                  <a:gd name="T150" fmla="+- 0 352 239"/>
                  <a:gd name="T151" fmla="*/ 352 h 1050"/>
                  <a:gd name="T152" fmla="+- 0 3866 2535"/>
                  <a:gd name="T153" fmla="*/ T152 w 2023"/>
                  <a:gd name="T154" fmla="+- 0 284 239"/>
                  <a:gd name="T155" fmla="*/ 284 h 1050"/>
                  <a:gd name="T156" fmla="+- 0 3839 2535"/>
                  <a:gd name="T157" fmla="*/ T156 w 2023"/>
                  <a:gd name="T158" fmla="+- 0 349 239"/>
                  <a:gd name="T159" fmla="*/ 349 h 1050"/>
                  <a:gd name="T160" fmla="+- 0 3818 2535"/>
                  <a:gd name="T161" fmla="*/ T160 w 2023"/>
                  <a:gd name="T162" fmla="+- 0 402 239"/>
                  <a:gd name="T163" fmla="*/ 402 h 1050"/>
                  <a:gd name="T164" fmla="+- 0 3949 2535"/>
                  <a:gd name="T165" fmla="*/ T164 w 2023"/>
                  <a:gd name="T166" fmla="+- 0 252 239"/>
                  <a:gd name="T167" fmla="*/ 252 h 1050"/>
                  <a:gd name="T168" fmla="+- 0 3948 2535"/>
                  <a:gd name="T169" fmla="*/ T168 w 2023"/>
                  <a:gd name="T170" fmla="+- 0 292 239"/>
                  <a:gd name="T171" fmla="*/ 292 h 1050"/>
                  <a:gd name="T172" fmla="+- 0 4035 2535"/>
                  <a:gd name="T173" fmla="*/ T172 w 2023"/>
                  <a:gd name="T174" fmla="+- 0 280 239"/>
                  <a:gd name="T175" fmla="*/ 280 h 1050"/>
                  <a:gd name="T176" fmla="+- 0 4026 2535"/>
                  <a:gd name="T177" fmla="*/ T176 w 2023"/>
                  <a:gd name="T178" fmla="+- 0 362 239"/>
                  <a:gd name="T179" fmla="*/ 362 h 1050"/>
                  <a:gd name="T180" fmla="+- 0 4123 2535"/>
                  <a:gd name="T181" fmla="*/ T180 w 2023"/>
                  <a:gd name="T182" fmla="+- 0 350 239"/>
                  <a:gd name="T183" fmla="*/ 350 h 1050"/>
                  <a:gd name="T184" fmla="+- 0 4079 2535"/>
                  <a:gd name="T185" fmla="*/ T184 w 2023"/>
                  <a:gd name="T186" fmla="+- 0 282 239"/>
                  <a:gd name="T187" fmla="*/ 282 h 1050"/>
                  <a:gd name="T188" fmla="+- 0 4161 2535"/>
                  <a:gd name="T189" fmla="*/ T188 w 2023"/>
                  <a:gd name="T190" fmla="+- 0 351 239"/>
                  <a:gd name="T191" fmla="*/ 351 h 1050"/>
                  <a:gd name="T192" fmla="+- 0 4178 2535"/>
                  <a:gd name="T193" fmla="*/ T192 w 2023"/>
                  <a:gd name="T194" fmla="+- 0 281 239"/>
                  <a:gd name="T195" fmla="*/ 281 h 1050"/>
                  <a:gd name="T196" fmla="+- 0 4263 2535"/>
                  <a:gd name="T197" fmla="*/ T196 w 2023"/>
                  <a:gd name="T198" fmla="+- 0 286 239"/>
                  <a:gd name="T199" fmla="*/ 286 h 1050"/>
                  <a:gd name="T200" fmla="+- 0 4216 2535"/>
                  <a:gd name="T201" fmla="*/ T200 w 2023"/>
                  <a:gd name="T202" fmla="+- 0 352 239"/>
                  <a:gd name="T203" fmla="*/ 352 h 1050"/>
                  <a:gd name="T204" fmla="+- 0 4254 2535"/>
                  <a:gd name="T205" fmla="*/ T204 w 2023"/>
                  <a:gd name="T206" fmla="+- 0 297 239"/>
                  <a:gd name="T207" fmla="*/ 297 h 1050"/>
                  <a:gd name="T208" fmla="+- 0 4280 2535"/>
                  <a:gd name="T209" fmla="*/ T208 w 2023"/>
                  <a:gd name="T210" fmla="+- 0 355 239"/>
                  <a:gd name="T211" fmla="*/ 355 h 1050"/>
                  <a:gd name="T212" fmla="+- 0 4321 2535"/>
                  <a:gd name="T213" fmla="*/ T212 w 2023"/>
                  <a:gd name="T214" fmla="+- 0 258 239"/>
                  <a:gd name="T215" fmla="*/ 258 h 1050"/>
                  <a:gd name="T216" fmla="+- 0 4352 2535"/>
                  <a:gd name="T217" fmla="*/ T216 w 2023"/>
                  <a:gd name="T218" fmla="+- 0 280 239"/>
                  <a:gd name="T219" fmla="*/ 280 h 1050"/>
                  <a:gd name="T220" fmla="+- 0 4371 2535"/>
                  <a:gd name="T221" fmla="*/ T220 w 2023"/>
                  <a:gd name="T222" fmla="+- 0 297 239"/>
                  <a:gd name="T223" fmla="*/ 297 h 1050"/>
                  <a:gd name="T224" fmla="+- 0 4353 2535"/>
                  <a:gd name="T225" fmla="*/ T224 w 2023"/>
                  <a:gd name="T226" fmla="+- 0 317 239"/>
                  <a:gd name="T227" fmla="*/ 317 h 1050"/>
                  <a:gd name="T228" fmla="+- 0 4392 2535"/>
                  <a:gd name="T229" fmla="*/ T228 w 2023"/>
                  <a:gd name="T230" fmla="+- 0 362 239"/>
                  <a:gd name="T231" fmla="*/ 362 h 1050"/>
                  <a:gd name="T232" fmla="+- 0 4454 2535"/>
                  <a:gd name="T233" fmla="*/ T232 w 2023"/>
                  <a:gd name="T234" fmla="+- 0 289 239"/>
                  <a:gd name="T235" fmla="*/ 289 h 1050"/>
                  <a:gd name="T236" fmla="+- 0 4417 2535"/>
                  <a:gd name="T237" fmla="*/ T236 w 2023"/>
                  <a:gd name="T238" fmla="+- 0 293 239"/>
                  <a:gd name="T239" fmla="*/ 293 h 1050"/>
                  <a:gd name="T240" fmla="+- 0 4511 2535"/>
                  <a:gd name="T241" fmla="*/ T240 w 2023"/>
                  <a:gd name="T242" fmla="+- 0 347 239"/>
                  <a:gd name="T243" fmla="*/ 347 h 1050"/>
                  <a:gd name="T244" fmla="+- 0 4532 2535"/>
                  <a:gd name="T245" fmla="*/ T244 w 2023"/>
                  <a:gd name="T246" fmla="+- 0 280 239"/>
                  <a:gd name="T247" fmla="*/ 280 h 105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 ang="0">
                    <a:pos x="T233" y="T235"/>
                  </a:cxn>
                  <a:cxn ang="0">
                    <a:pos x="T237" y="T239"/>
                  </a:cxn>
                  <a:cxn ang="0">
                    <a:pos x="T241" y="T243"/>
                  </a:cxn>
                  <a:cxn ang="0">
                    <a:pos x="T245" y="T247"/>
                  </a:cxn>
                </a:cxnLst>
                <a:rect l="0" t="0" r="r" b="b"/>
                <a:pathLst>
                  <a:path w="2023" h="1050">
                    <a:moveTo>
                      <a:pt x="94" y="29"/>
                    </a:moveTo>
                    <a:lnTo>
                      <a:pt x="92" y="23"/>
                    </a:lnTo>
                    <a:lnTo>
                      <a:pt x="83" y="13"/>
                    </a:lnTo>
                    <a:lnTo>
                      <a:pt x="79" y="11"/>
                    </a:lnTo>
                    <a:lnTo>
                      <a:pt x="78" y="10"/>
                    </a:lnTo>
                    <a:lnTo>
                      <a:pt x="75" y="9"/>
                    </a:lnTo>
                    <a:lnTo>
                      <a:pt x="75" y="31"/>
                    </a:lnTo>
                    <a:lnTo>
                      <a:pt x="75" y="44"/>
                    </a:lnTo>
                    <a:lnTo>
                      <a:pt x="74" y="49"/>
                    </a:lnTo>
                    <a:lnTo>
                      <a:pt x="69" y="56"/>
                    </a:lnTo>
                    <a:lnTo>
                      <a:pt x="66" y="59"/>
                    </a:lnTo>
                    <a:lnTo>
                      <a:pt x="59" y="63"/>
                    </a:lnTo>
                    <a:lnTo>
                      <a:pt x="55" y="64"/>
                    </a:lnTo>
                    <a:lnTo>
                      <a:pt x="49" y="64"/>
                    </a:lnTo>
                    <a:lnTo>
                      <a:pt x="46" y="64"/>
                    </a:lnTo>
                    <a:lnTo>
                      <a:pt x="44" y="64"/>
                    </a:lnTo>
                    <a:lnTo>
                      <a:pt x="40" y="64"/>
                    </a:lnTo>
                    <a:lnTo>
                      <a:pt x="37" y="64"/>
                    </a:lnTo>
                    <a:lnTo>
                      <a:pt x="33" y="64"/>
                    </a:lnTo>
                    <a:lnTo>
                      <a:pt x="33" y="14"/>
                    </a:lnTo>
                    <a:lnTo>
                      <a:pt x="34" y="12"/>
                    </a:lnTo>
                    <a:lnTo>
                      <a:pt x="36" y="11"/>
                    </a:lnTo>
                    <a:lnTo>
                      <a:pt x="38" y="11"/>
                    </a:lnTo>
                    <a:lnTo>
                      <a:pt x="41" y="11"/>
                    </a:lnTo>
                    <a:lnTo>
                      <a:pt x="43" y="11"/>
                    </a:lnTo>
                    <a:lnTo>
                      <a:pt x="46" y="11"/>
                    </a:lnTo>
                    <a:lnTo>
                      <a:pt x="53" y="12"/>
                    </a:lnTo>
                    <a:lnTo>
                      <a:pt x="57" y="13"/>
                    </a:lnTo>
                    <a:lnTo>
                      <a:pt x="65" y="16"/>
                    </a:lnTo>
                    <a:lnTo>
                      <a:pt x="68" y="18"/>
                    </a:lnTo>
                    <a:lnTo>
                      <a:pt x="73" y="26"/>
                    </a:lnTo>
                    <a:lnTo>
                      <a:pt x="75" y="31"/>
                    </a:lnTo>
                    <a:lnTo>
                      <a:pt x="75" y="9"/>
                    </a:lnTo>
                    <a:lnTo>
                      <a:pt x="64" y="5"/>
                    </a:lnTo>
                    <a:lnTo>
                      <a:pt x="56" y="4"/>
                    </a:lnTo>
                    <a:lnTo>
                      <a:pt x="0" y="4"/>
                    </a:lnTo>
                    <a:lnTo>
                      <a:pt x="0" y="8"/>
                    </a:lnTo>
                    <a:lnTo>
                      <a:pt x="6" y="8"/>
                    </a:lnTo>
                    <a:lnTo>
                      <a:pt x="10" y="9"/>
                    </a:lnTo>
                    <a:lnTo>
                      <a:pt x="14" y="13"/>
                    </a:lnTo>
                    <a:lnTo>
                      <a:pt x="15" y="18"/>
                    </a:lnTo>
                    <a:lnTo>
                      <a:pt x="15" y="23"/>
                    </a:lnTo>
                    <a:lnTo>
                      <a:pt x="15" y="109"/>
                    </a:lnTo>
                    <a:lnTo>
                      <a:pt x="14" y="115"/>
                    </a:lnTo>
                    <a:lnTo>
                      <a:pt x="13" y="116"/>
                    </a:lnTo>
                    <a:lnTo>
                      <a:pt x="8" y="119"/>
                    </a:lnTo>
                    <a:lnTo>
                      <a:pt x="5" y="120"/>
                    </a:lnTo>
                    <a:lnTo>
                      <a:pt x="0" y="120"/>
                    </a:lnTo>
                    <a:lnTo>
                      <a:pt x="0" y="123"/>
                    </a:lnTo>
                    <a:lnTo>
                      <a:pt x="50" y="123"/>
                    </a:lnTo>
                    <a:lnTo>
                      <a:pt x="50" y="120"/>
                    </a:lnTo>
                    <a:lnTo>
                      <a:pt x="44" y="120"/>
                    </a:lnTo>
                    <a:lnTo>
                      <a:pt x="39" y="119"/>
                    </a:lnTo>
                    <a:lnTo>
                      <a:pt x="34" y="114"/>
                    </a:lnTo>
                    <a:lnTo>
                      <a:pt x="33" y="110"/>
                    </a:lnTo>
                    <a:lnTo>
                      <a:pt x="33" y="71"/>
                    </a:lnTo>
                    <a:lnTo>
                      <a:pt x="41" y="71"/>
                    </a:lnTo>
                    <a:lnTo>
                      <a:pt x="43" y="72"/>
                    </a:lnTo>
                    <a:lnTo>
                      <a:pt x="55" y="72"/>
                    </a:lnTo>
                    <a:lnTo>
                      <a:pt x="60" y="71"/>
                    </a:lnTo>
                    <a:lnTo>
                      <a:pt x="63" y="71"/>
                    </a:lnTo>
                    <a:lnTo>
                      <a:pt x="75" y="67"/>
                    </a:lnTo>
                    <a:lnTo>
                      <a:pt x="80" y="65"/>
                    </a:lnTo>
                    <a:lnTo>
                      <a:pt x="80" y="64"/>
                    </a:lnTo>
                    <a:lnTo>
                      <a:pt x="84" y="61"/>
                    </a:lnTo>
                    <a:lnTo>
                      <a:pt x="85" y="60"/>
                    </a:lnTo>
                    <a:lnTo>
                      <a:pt x="86" y="58"/>
                    </a:lnTo>
                    <a:lnTo>
                      <a:pt x="90" y="54"/>
                    </a:lnTo>
                    <a:lnTo>
                      <a:pt x="91" y="52"/>
                    </a:lnTo>
                    <a:lnTo>
                      <a:pt x="94" y="45"/>
                    </a:lnTo>
                    <a:lnTo>
                      <a:pt x="94" y="41"/>
                    </a:lnTo>
                    <a:lnTo>
                      <a:pt x="94" y="29"/>
                    </a:lnTo>
                    <a:close/>
                    <a:moveTo>
                      <a:pt x="158" y="47"/>
                    </a:moveTo>
                    <a:lnTo>
                      <a:pt x="157" y="45"/>
                    </a:lnTo>
                    <a:lnTo>
                      <a:pt x="154" y="41"/>
                    </a:lnTo>
                    <a:lnTo>
                      <a:pt x="152" y="41"/>
                    </a:lnTo>
                    <a:lnTo>
                      <a:pt x="148" y="41"/>
                    </a:lnTo>
                    <a:lnTo>
                      <a:pt x="145" y="40"/>
                    </a:lnTo>
                    <a:lnTo>
                      <a:pt x="142" y="42"/>
                    </a:lnTo>
                    <a:lnTo>
                      <a:pt x="135" y="46"/>
                    </a:lnTo>
                    <a:lnTo>
                      <a:pt x="131" y="51"/>
                    </a:lnTo>
                    <a:lnTo>
                      <a:pt x="127" y="57"/>
                    </a:lnTo>
                    <a:lnTo>
                      <a:pt x="127" y="52"/>
                    </a:lnTo>
                    <a:lnTo>
                      <a:pt x="127" y="41"/>
                    </a:lnTo>
                    <a:lnTo>
                      <a:pt x="126" y="41"/>
                    </a:lnTo>
                    <a:lnTo>
                      <a:pt x="117" y="44"/>
                    </a:lnTo>
                    <a:lnTo>
                      <a:pt x="108" y="47"/>
                    </a:lnTo>
                    <a:lnTo>
                      <a:pt x="99" y="50"/>
                    </a:lnTo>
                    <a:lnTo>
                      <a:pt x="99" y="53"/>
                    </a:lnTo>
                    <a:lnTo>
                      <a:pt x="101" y="53"/>
                    </a:lnTo>
                    <a:lnTo>
                      <a:pt x="103" y="52"/>
                    </a:lnTo>
                    <a:lnTo>
                      <a:pt x="105" y="52"/>
                    </a:lnTo>
                    <a:lnTo>
                      <a:pt x="107" y="52"/>
                    </a:lnTo>
                    <a:lnTo>
                      <a:pt x="108" y="53"/>
                    </a:lnTo>
                    <a:lnTo>
                      <a:pt x="111" y="55"/>
                    </a:lnTo>
                    <a:lnTo>
                      <a:pt x="111" y="58"/>
                    </a:lnTo>
                    <a:lnTo>
                      <a:pt x="112" y="108"/>
                    </a:lnTo>
                    <a:lnTo>
                      <a:pt x="112" y="113"/>
                    </a:lnTo>
                    <a:lnTo>
                      <a:pt x="111" y="116"/>
                    </a:lnTo>
                    <a:lnTo>
                      <a:pt x="107" y="119"/>
                    </a:lnTo>
                    <a:lnTo>
                      <a:pt x="104" y="120"/>
                    </a:lnTo>
                    <a:lnTo>
                      <a:pt x="99" y="121"/>
                    </a:lnTo>
                    <a:lnTo>
                      <a:pt x="99" y="123"/>
                    </a:lnTo>
                    <a:lnTo>
                      <a:pt x="142" y="123"/>
                    </a:lnTo>
                    <a:lnTo>
                      <a:pt x="142" y="121"/>
                    </a:lnTo>
                    <a:lnTo>
                      <a:pt x="137" y="121"/>
                    </a:lnTo>
                    <a:lnTo>
                      <a:pt x="134" y="120"/>
                    </a:lnTo>
                    <a:lnTo>
                      <a:pt x="128" y="117"/>
                    </a:lnTo>
                    <a:lnTo>
                      <a:pt x="127" y="113"/>
                    </a:lnTo>
                    <a:lnTo>
                      <a:pt x="127" y="65"/>
                    </a:lnTo>
                    <a:lnTo>
                      <a:pt x="128" y="62"/>
                    </a:lnTo>
                    <a:lnTo>
                      <a:pt x="130" y="58"/>
                    </a:lnTo>
                    <a:lnTo>
                      <a:pt x="131" y="57"/>
                    </a:lnTo>
                    <a:lnTo>
                      <a:pt x="132" y="56"/>
                    </a:lnTo>
                    <a:lnTo>
                      <a:pt x="136" y="53"/>
                    </a:lnTo>
                    <a:lnTo>
                      <a:pt x="137" y="52"/>
                    </a:lnTo>
                    <a:lnTo>
                      <a:pt x="139" y="52"/>
                    </a:lnTo>
                    <a:lnTo>
                      <a:pt x="140" y="52"/>
                    </a:lnTo>
                    <a:lnTo>
                      <a:pt x="142" y="53"/>
                    </a:lnTo>
                    <a:lnTo>
                      <a:pt x="144" y="54"/>
                    </a:lnTo>
                    <a:lnTo>
                      <a:pt x="145" y="56"/>
                    </a:lnTo>
                    <a:lnTo>
                      <a:pt x="148" y="58"/>
                    </a:lnTo>
                    <a:lnTo>
                      <a:pt x="149" y="58"/>
                    </a:lnTo>
                    <a:lnTo>
                      <a:pt x="151" y="58"/>
                    </a:lnTo>
                    <a:lnTo>
                      <a:pt x="153" y="58"/>
                    </a:lnTo>
                    <a:lnTo>
                      <a:pt x="155" y="57"/>
                    </a:lnTo>
                    <a:lnTo>
                      <a:pt x="158" y="54"/>
                    </a:lnTo>
                    <a:lnTo>
                      <a:pt x="158" y="53"/>
                    </a:lnTo>
                    <a:lnTo>
                      <a:pt x="158" y="52"/>
                    </a:lnTo>
                    <a:lnTo>
                      <a:pt x="158" y="47"/>
                    </a:lnTo>
                    <a:close/>
                    <a:moveTo>
                      <a:pt x="242" y="88"/>
                    </a:moveTo>
                    <a:lnTo>
                      <a:pt x="242" y="80"/>
                    </a:lnTo>
                    <a:lnTo>
                      <a:pt x="242" y="69"/>
                    </a:lnTo>
                    <a:lnTo>
                      <a:pt x="238" y="59"/>
                    </a:lnTo>
                    <a:lnTo>
                      <a:pt x="226" y="47"/>
                    </a:lnTo>
                    <a:lnTo>
                      <a:pt x="226" y="80"/>
                    </a:lnTo>
                    <a:lnTo>
                      <a:pt x="226" y="96"/>
                    </a:lnTo>
                    <a:lnTo>
                      <a:pt x="224" y="103"/>
                    </a:lnTo>
                    <a:lnTo>
                      <a:pt x="220" y="112"/>
                    </a:lnTo>
                    <a:lnTo>
                      <a:pt x="217" y="115"/>
                    </a:lnTo>
                    <a:lnTo>
                      <a:pt x="211" y="119"/>
                    </a:lnTo>
                    <a:lnTo>
                      <a:pt x="208" y="120"/>
                    </a:lnTo>
                    <a:lnTo>
                      <a:pt x="204" y="120"/>
                    </a:lnTo>
                    <a:lnTo>
                      <a:pt x="199" y="120"/>
                    </a:lnTo>
                    <a:lnTo>
                      <a:pt x="195" y="118"/>
                    </a:lnTo>
                    <a:lnTo>
                      <a:pt x="188" y="111"/>
                    </a:lnTo>
                    <a:lnTo>
                      <a:pt x="185" y="107"/>
                    </a:lnTo>
                    <a:lnTo>
                      <a:pt x="182" y="97"/>
                    </a:lnTo>
                    <a:lnTo>
                      <a:pt x="180" y="92"/>
                    </a:lnTo>
                    <a:lnTo>
                      <a:pt x="179" y="81"/>
                    </a:lnTo>
                    <a:lnTo>
                      <a:pt x="179" y="77"/>
                    </a:lnTo>
                    <a:lnTo>
                      <a:pt x="179" y="64"/>
                    </a:lnTo>
                    <a:lnTo>
                      <a:pt x="181" y="57"/>
                    </a:lnTo>
                    <a:lnTo>
                      <a:pt x="189" y="48"/>
                    </a:lnTo>
                    <a:lnTo>
                      <a:pt x="194" y="46"/>
                    </a:lnTo>
                    <a:lnTo>
                      <a:pt x="200" y="46"/>
                    </a:lnTo>
                    <a:lnTo>
                      <a:pt x="205" y="46"/>
                    </a:lnTo>
                    <a:lnTo>
                      <a:pt x="210" y="48"/>
                    </a:lnTo>
                    <a:lnTo>
                      <a:pt x="218" y="55"/>
                    </a:lnTo>
                    <a:lnTo>
                      <a:pt x="221" y="60"/>
                    </a:lnTo>
                    <a:lnTo>
                      <a:pt x="225" y="73"/>
                    </a:lnTo>
                    <a:lnTo>
                      <a:pt x="226" y="80"/>
                    </a:lnTo>
                    <a:lnTo>
                      <a:pt x="226" y="47"/>
                    </a:lnTo>
                    <a:lnTo>
                      <a:pt x="224" y="46"/>
                    </a:lnTo>
                    <a:lnTo>
                      <a:pt x="223" y="44"/>
                    </a:lnTo>
                    <a:lnTo>
                      <a:pt x="213" y="41"/>
                    </a:lnTo>
                    <a:lnTo>
                      <a:pt x="201" y="41"/>
                    </a:lnTo>
                    <a:lnTo>
                      <a:pt x="193" y="41"/>
                    </a:lnTo>
                    <a:lnTo>
                      <a:pt x="186" y="43"/>
                    </a:lnTo>
                    <a:lnTo>
                      <a:pt x="175" y="50"/>
                    </a:lnTo>
                    <a:lnTo>
                      <a:pt x="170" y="55"/>
                    </a:lnTo>
                    <a:lnTo>
                      <a:pt x="164" y="68"/>
                    </a:lnTo>
                    <a:lnTo>
                      <a:pt x="162" y="75"/>
                    </a:lnTo>
                    <a:lnTo>
                      <a:pt x="162" y="90"/>
                    </a:lnTo>
                    <a:lnTo>
                      <a:pt x="164" y="98"/>
                    </a:lnTo>
                    <a:lnTo>
                      <a:pt x="171" y="111"/>
                    </a:lnTo>
                    <a:lnTo>
                      <a:pt x="175" y="116"/>
                    </a:lnTo>
                    <a:lnTo>
                      <a:pt x="187" y="123"/>
                    </a:lnTo>
                    <a:lnTo>
                      <a:pt x="194" y="125"/>
                    </a:lnTo>
                    <a:lnTo>
                      <a:pt x="202" y="125"/>
                    </a:lnTo>
                    <a:lnTo>
                      <a:pt x="211" y="125"/>
                    </a:lnTo>
                    <a:lnTo>
                      <a:pt x="219" y="123"/>
                    </a:lnTo>
                    <a:lnTo>
                      <a:pt x="221" y="120"/>
                    </a:lnTo>
                    <a:lnTo>
                      <a:pt x="230" y="113"/>
                    </a:lnTo>
                    <a:lnTo>
                      <a:pt x="235" y="108"/>
                    </a:lnTo>
                    <a:lnTo>
                      <a:pt x="240" y="95"/>
                    </a:lnTo>
                    <a:lnTo>
                      <a:pt x="242" y="88"/>
                    </a:lnTo>
                    <a:close/>
                    <a:moveTo>
                      <a:pt x="321" y="97"/>
                    </a:moveTo>
                    <a:lnTo>
                      <a:pt x="319" y="95"/>
                    </a:lnTo>
                    <a:lnTo>
                      <a:pt x="316" y="100"/>
                    </a:lnTo>
                    <a:lnTo>
                      <a:pt x="313" y="104"/>
                    </a:lnTo>
                    <a:lnTo>
                      <a:pt x="305" y="110"/>
                    </a:lnTo>
                    <a:lnTo>
                      <a:pt x="300" y="112"/>
                    </a:lnTo>
                    <a:lnTo>
                      <a:pt x="293" y="112"/>
                    </a:lnTo>
                    <a:lnTo>
                      <a:pt x="285" y="112"/>
                    </a:lnTo>
                    <a:lnTo>
                      <a:pt x="279" y="109"/>
                    </a:lnTo>
                    <a:lnTo>
                      <a:pt x="269" y="97"/>
                    </a:lnTo>
                    <a:lnTo>
                      <a:pt x="266" y="88"/>
                    </a:lnTo>
                    <a:lnTo>
                      <a:pt x="266" y="69"/>
                    </a:lnTo>
                    <a:lnTo>
                      <a:pt x="267" y="63"/>
                    </a:lnTo>
                    <a:lnTo>
                      <a:pt x="267" y="62"/>
                    </a:lnTo>
                    <a:lnTo>
                      <a:pt x="273" y="53"/>
                    </a:lnTo>
                    <a:lnTo>
                      <a:pt x="276" y="50"/>
                    </a:lnTo>
                    <a:lnTo>
                      <a:pt x="283" y="46"/>
                    </a:lnTo>
                    <a:lnTo>
                      <a:pt x="286" y="46"/>
                    </a:lnTo>
                    <a:lnTo>
                      <a:pt x="289" y="46"/>
                    </a:lnTo>
                    <a:lnTo>
                      <a:pt x="293" y="46"/>
                    </a:lnTo>
                    <a:lnTo>
                      <a:pt x="296" y="47"/>
                    </a:lnTo>
                    <a:lnTo>
                      <a:pt x="299" y="50"/>
                    </a:lnTo>
                    <a:lnTo>
                      <a:pt x="300" y="52"/>
                    </a:lnTo>
                    <a:lnTo>
                      <a:pt x="301" y="54"/>
                    </a:lnTo>
                    <a:lnTo>
                      <a:pt x="302" y="58"/>
                    </a:lnTo>
                    <a:lnTo>
                      <a:pt x="302" y="60"/>
                    </a:lnTo>
                    <a:lnTo>
                      <a:pt x="303" y="62"/>
                    </a:lnTo>
                    <a:lnTo>
                      <a:pt x="306" y="66"/>
                    </a:lnTo>
                    <a:lnTo>
                      <a:pt x="308" y="67"/>
                    </a:lnTo>
                    <a:lnTo>
                      <a:pt x="311" y="67"/>
                    </a:lnTo>
                    <a:lnTo>
                      <a:pt x="313" y="66"/>
                    </a:lnTo>
                    <a:lnTo>
                      <a:pt x="315" y="66"/>
                    </a:lnTo>
                    <a:lnTo>
                      <a:pt x="318" y="63"/>
                    </a:lnTo>
                    <a:lnTo>
                      <a:pt x="319" y="61"/>
                    </a:lnTo>
                    <a:lnTo>
                      <a:pt x="319" y="57"/>
                    </a:lnTo>
                    <a:lnTo>
                      <a:pt x="318" y="55"/>
                    </a:lnTo>
                    <a:lnTo>
                      <a:pt x="316" y="50"/>
                    </a:lnTo>
                    <a:lnTo>
                      <a:pt x="314" y="48"/>
                    </a:lnTo>
                    <a:lnTo>
                      <a:pt x="311" y="46"/>
                    </a:lnTo>
                    <a:lnTo>
                      <a:pt x="310" y="46"/>
                    </a:lnTo>
                    <a:lnTo>
                      <a:pt x="309" y="45"/>
                    </a:lnTo>
                    <a:lnTo>
                      <a:pt x="306" y="43"/>
                    </a:lnTo>
                    <a:lnTo>
                      <a:pt x="299" y="41"/>
                    </a:lnTo>
                    <a:lnTo>
                      <a:pt x="295" y="41"/>
                    </a:lnTo>
                    <a:lnTo>
                      <a:pt x="285" y="41"/>
                    </a:lnTo>
                    <a:lnTo>
                      <a:pt x="279" y="42"/>
                    </a:lnTo>
                    <a:lnTo>
                      <a:pt x="267" y="49"/>
                    </a:lnTo>
                    <a:lnTo>
                      <a:pt x="262" y="54"/>
                    </a:lnTo>
                    <a:lnTo>
                      <a:pt x="254" y="67"/>
                    </a:lnTo>
                    <a:lnTo>
                      <a:pt x="252" y="75"/>
                    </a:lnTo>
                    <a:lnTo>
                      <a:pt x="252" y="95"/>
                    </a:lnTo>
                    <a:lnTo>
                      <a:pt x="254" y="102"/>
                    </a:lnTo>
                    <a:lnTo>
                      <a:pt x="261" y="114"/>
                    </a:lnTo>
                    <a:lnTo>
                      <a:pt x="265" y="118"/>
                    </a:lnTo>
                    <a:lnTo>
                      <a:pt x="275" y="124"/>
                    </a:lnTo>
                    <a:lnTo>
                      <a:pt x="280" y="125"/>
                    </a:lnTo>
                    <a:lnTo>
                      <a:pt x="285" y="125"/>
                    </a:lnTo>
                    <a:lnTo>
                      <a:pt x="293" y="125"/>
                    </a:lnTo>
                    <a:lnTo>
                      <a:pt x="299" y="123"/>
                    </a:lnTo>
                    <a:lnTo>
                      <a:pt x="311" y="114"/>
                    </a:lnTo>
                    <a:lnTo>
                      <a:pt x="313" y="112"/>
                    </a:lnTo>
                    <a:lnTo>
                      <a:pt x="317" y="107"/>
                    </a:lnTo>
                    <a:lnTo>
                      <a:pt x="321" y="97"/>
                    </a:lnTo>
                    <a:close/>
                    <a:moveTo>
                      <a:pt x="403" y="95"/>
                    </a:moveTo>
                    <a:lnTo>
                      <a:pt x="400" y="94"/>
                    </a:lnTo>
                    <a:lnTo>
                      <a:pt x="399" y="96"/>
                    </a:lnTo>
                    <a:lnTo>
                      <a:pt x="397" y="99"/>
                    </a:lnTo>
                    <a:lnTo>
                      <a:pt x="392" y="105"/>
                    </a:lnTo>
                    <a:lnTo>
                      <a:pt x="389" y="107"/>
                    </a:lnTo>
                    <a:lnTo>
                      <a:pt x="382" y="111"/>
                    </a:lnTo>
                    <a:lnTo>
                      <a:pt x="377" y="113"/>
                    </a:lnTo>
                    <a:lnTo>
                      <a:pt x="368" y="113"/>
                    </a:lnTo>
                    <a:lnTo>
                      <a:pt x="364" y="112"/>
                    </a:lnTo>
                    <a:lnTo>
                      <a:pt x="356" y="108"/>
                    </a:lnTo>
                    <a:lnTo>
                      <a:pt x="352" y="104"/>
                    </a:lnTo>
                    <a:lnTo>
                      <a:pt x="346" y="92"/>
                    </a:lnTo>
                    <a:lnTo>
                      <a:pt x="344" y="84"/>
                    </a:lnTo>
                    <a:lnTo>
                      <a:pt x="343" y="73"/>
                    </a:lnTo>
                    <a:lnTo>
                      <a:pt x="399" y="73"/>
                    </a:lnTo>
                    <a:lnTo>
                      <a:pt x="399" y="68"/>
                    </a:lnTo>
                    <a:lnTo>
                      <a:pt x="398" y="62"/>
                    </a:lnTo>
                    <a:lnTo>
                      <a:pt x="395" y="53"/>
                    </a:lnTo>
                    <a:lnTo>
                      <a:pt x="388" y="47"/>
                    </a:lnTo>
                    <a:lnTo>
                      <a:pt x="383" y="43"/>
                    </a:lnTo>
                    <a:lnTo>
                      <a:pt x="381" y="42"/>
                    </a:lnTo>
                    <a:lnTo>
                      <a:pt x="381" y="68"/>
                    </a:lnTo>
                    <a:lnTo>
                      <a:pt x="344" y="68"/>
                    </a:lnTo>
                    <a:lnTo>
                      <a:pt x="345" y="60"/>
                    </a:lnTo>
                    <a:lnTo>
                      <a:pt x="348" y="55"/>
                    </a:lnTo>
                    <a:lnTo>
                      <a:pt x="355" y="48"/>
                    </a:lnTo>
                    <a:lnTo>
                      <a:pt x="359" y="47"/>
                    </a:lnTo>
                    <a:lnTo>
                      <a:pt x="368" y="47"/>
                    </a:lnTo>
                    <a:lnTo>
                      <a:pt x="372" y="48"/>
                    </a:lnTo>
                    <a:lnTo>
                      <a:pt x="377" y="53"/>
                    </a:lnTo>
                    <a:lnTo>
                      <a:pt x="378" y="55"/>
                    </a:lnTo>
                    <a:lnTo>
                      <a:pt x="380" y="62"/>
                    </a:lnTo>
                    <a:lnTo>
                      <a:pt x="381" y="65"/>
                    </a:lnTo>
                    <a:lnTo>
                      <a:pt x="381" y="68"/>
                    </a:lnTo>
                    <a:lnTo>
                      <a:pt x="381" y="42"/>
                    </a:lnTo>
                    <a:lnTo>
                      <a:pt x="377" y="41"/>
                    </a:lnTo>
                    <a:lnTo>
                      <a:pt x="376" y="40"/>
                    </a:lnTo>
                    <a:lnTo>
                      <a:pt x="368" y="41"/>
                    </a:lnTo>
                    <a:lnTo>
                      <a:pt x="363" y="40"/>
                    </a:lnTo>
                    <a:lnTo>
                      <a:pt x="357" y="42"/>
                    </a:lnTo>
                    <a:lnTo>
                      <a:pt x="346" y="47"/>
                    </a:lnTo>
                    <a:lnTo>
                      <a:pt x="341" y="52"/>
                    </a:lnTo>
                    <a:lnTo>
                      <a:pt x="333" y="65"/>
                    </a:lnTo>
                    <a:lnTo>
                      <a:pt x="331" y="74"/>
                    </a:lnTo>
                    <a:lnTo>
                      <a:pt x="331" y="84"/>
                    </a:lnTo>
                    <a:lnTo>
                      <a:pt x="331" y="98"/>
                    </a:lnTo>
                    <a:lnTo>
                      <a:pt x="334" y="108"/>
                    </a:lnTo>
                    <a:lnTo>
                      <a:pt x="346" y="121"/>
                    </a:lnTo>
                    <a:lnTo>
                      <a:pt x="354" y="125"/>
                    </a:lnTo>
                    <a:lnTo>
                      <a:pt x="365" y="125"/>
                    </a:lnTo>
                    <a:lnTo>
                      <a:pt x="371" y="125"/>
                    </a:lnTo>
                    <a:lnTo>
                      <a:pt x="377" y="124"/>
                    </a:lnTo>
                    <a:lnTo>
                      <a:pt x="386" y="119"/>
                    </a:lnTo>
                    <a:lnTo>
                      <a:pt x="390" y="116"/>
                    </a:lnTo>
                    <a:lnTo>
                      <a:pt x="392" y="113"/>
                    </a:lnTo>
                    <a:lnTo>
                      <a:pt x="396" y="109"/>
                    </a:lnTo>
                    <a:lnTo>
                      <a:pt x="398" y="105"/>
                    </a:lnTo>
                    <a:lnTo>
                      <a:pt x="401" y="99"/>
                    </a:lnTo>
                    <a:lnTo>
                      <a:pt x="402" y="97"/>
                    </a:lnTo>
                    <a:lnTo>
                      <a:pt x="403" y="95"/>
                    </a:lnTo>
                    <a:close/>
                    <a:moveTo>
                      <a:pt x="470" y="97"/>
                    </a:moveTo>
                    <a:lnTo>
                      <a:pt x="469" y="92"/>
                    </a:lnTo>
                    <a:lnTo>
                      <a:pt x="463" y="86"/>
                    </a:lnTo>
                    <a:lnTo>
                      <a:pt x="459" y="83"/>
                    </a:lnTo>
                    <a:lnTo>
                      <a:pt x="455" y="81"/>
                    </a:lnTo>
                    <a:lnTo>
                      <a:pt x="436" y="69"/>
                    </a:lnTo>
                    <a:lnTo>
                      <a:pt x="432" y="67"/>
                    </a:lnTo>
                    <a:lnTo>
                      <a:pt x="430" y="65"/>
                    </a:lnTo>
                    <a:lnTo>
                      <a:pt x="428" y="60"/>
                    </a:lnTo>
                    <a:lnTo>
                      <a:pt x="428" y="59"/>
                    </a:lnTo>
                    <a:lnTo>
                      <a:pt x="428" y="54"/>
                    </a:lnTo>
                    <a:lnTo>
                      <a:pt x="429" y="51"/>
                    </a:lnTo>
                    <a:lnTo>
                      <a:pt x="433" y="46"/>
                    </a:lnTo>
                    <a:lnTo>
                      <a:pt x="437" y="45"/>
                    </a:lnTo>
                    <a:lnTo>
                      <a:pt x="441" y="45"/>
                    </a:lnTo>
                    <a:lnTo>
                      <a:pt x="446" y="44"/>
                    </a:lnTo>
                    <a:lnTo>
                      <a:pt x="449" y="46"/>
                    </a:lnTo>
                    <a:lnTo>
                      <a:pt x="457" y="52"/>
                    </a:lnTo>
                    <a:lnTo>
                      <a:pt x="459" y="58"/>
                    </a:lnTo>
                    <a:lnTo>
                      <a:pt x="461" y="67"/>
                    </a:lnTo>
                    <a:lnTo>
                      <a:pt x="464" y="67"/>
                    </a:lnTo>
                    <a:lnTo>
                      <a:pt x="464" y="44"/>
                    </a:lnTo>
                    <a:lnTo>
                      <a:pt x="463" y="44"/>
                    </a:lnTo>
                    <a:lnTo>
                      <a:pt x="463" y="42"/>
                    </a:lnTo>
                    <a:lnTo>
                      <a:pt x="461" y="42"/>
                    </a:lnTo>
                    <a:lnTo>
                      <a:pt x="461" y="43"/>
                    </a:lnTo>
                    <a:lnTo>
                      <a:pt x="460" y="44"/>
                    </a:lnTo>
                    <a:lnTo>
                      <a:pt x="459" y="44"/>
                    </a:lnTo>
                    <a:lnTo>
                      <a:pt x="458" y="44"/>
                    </a:lnTo>
                    <a:lnTo>
                      <a:pt x="457" y="44"/>
                    </a:lnTo>
                    <a:lnTo>
                      <a:pt x="455" y="43"/>
                    </a:lnTo>
                    <a:lnTo>
                      <a:pt x="449" y="41"/>
                    </a:lnTo>
                    <a:lnTo>
                      <a:pt x="446" y="41"/>
                    </a:lnTo>
                    <a:lnTo>
                      <a:pt x="442" y="41"/>
                    </a:lnTo>
                    <a:lnTo>
                      <a:pt x="436" y="41"/>
                    </a:lnTo>
                    <a:lnTo>
                      <a:pt x="431" y="42"/>
                    </a:lnTo>
                    <a:lnTo>
                      <a:pt x="424" y="46"/>
                    </a:lnTo>
                    <a:lnTo>
                      <a:pt x="421" y="49"/>
                    </a:lnTo>
                    <a:lnTo>
                      <a:pt x="418" y="56"/>
                    </a:lnTo>
                    <a:lnTo>
                      <a:pt x="417" y="59"/>
                    </a:lnTo>
                    <a:lnTo>
                      <a:pt x="417" y="67"/>
                    </a:lnTo>
                    <a:lnTo>
                      <a:pt x="417" y="69"/>
                    </a:lnTo>
                    <a:lnTo>
                      <a:pt x="419" y="74"/>
                    </a:lnTo>
                    <a:lnTo>
                      <a:pt x="427" y="82"/>
                    </a:lnTo>
                    <a:lnTo>
                      <a:pt x="432" y="86"/>
                    </a:lnTo>
                    <a:lnTo>
                      <a:pt x="438" y="89"/>
                    </a:lnTo>
                    <a:lnTo>
                      <a:pt x="448" y="95"/>
                    </a:lnTo>
                    <a:lnTo>
                      <a:pt x="454" y="98"/>
                    </a:lnTo>
                    <a:lnTo>
                      <a:pt x="457" y="102"/>
                    </a:lnTo>
                    <a:lnTo>
                      <a:pt x="457" y="107"/>
                    </a:lnTo>
                    <a:lnTo>
                      <a:pt x="457" y="111"/>
                    </a:lnTo>
                    <a:lnTo>
                      <a:pt x="457" y="113"/>
                    </a:lnTo>
                    <a:lnTo>
                      <a:pt x="456" y="117"/>
                    </a:lnTo>
                    <a:lnTo>
                      <a:pt x="449" y="120"/>
                    </a:lnTo>
                    <a:lnTo>
                      <a:pt x="446" y="121"/>
                    </a:lnTo>
                    <a:lnTo>
                      <a:pt x="443" y="121"/>
                    </a:lnTo>
                    <a:lnTo>
                      <a:pt x="437" y="121"/>
                    </a:lnTo>
                    <a:lnTo>
                      <a:pt x="433" y="120"/>
                    </a:lnTo>
                    <a:lnTo>
                      <a:pt x="426" y="114"/>
                    </a:lnTo>
                    <a:lnTo>
                      <a:pt x="424" y="111"/>
                    </a:lnTo>
                    <a:lnTo>
                      <a:pt x="421" y="103"/>
                    </a:lnTo>
                    <a:lnTo>
                      <a:pt x="420" y="99"/>
                    </a:lnTo>
                    <a:lnTo>
                      <a:pt x="420" y="96"/>
                    </a:lnTo>
                    <a:lnTo>
                      <a:pt x="417" y="96"/>
                    </a:lnTo>
                    <a:lnTo>
                      <a:pt x="417" y="124"/>
                    </a:lnTo>
                    <a:lnTo>
                      <a:pt x="419" y="124"/>
                    </a:lnTo>
                    <a:lnTo>
                      <a:pt x="420" y="123"/>
                    </a:lnTo>
                    <a:lnTo>
                      <a:pt x="421" y="122"/>
                    </a:lnTo>
                    <a:lnTo>
                      <a:pt x="422" y="122"/>
                    </a:lnTo>
                    <a:lnTo>
                      <a:pt x="426" y="122"/>
                    </a:lnTo>
                    <a:lnTo>
                      <a:pt x="429" y="122"/>
                    </a:lnTo>
                    <a:lnTo>
                      <a:pt x="436" y="124"/>
                    </a:lnTo>
                    <a:lnTo>
                      <a:pt x="440" y="125"/>
                    </a:lnTo>
                    <a:lnTo>
                      <a:pt x="444" y="125"/>
                    </a:lnTo>
                    <a:lnTo>
                      <a:pt x="448" y="125"/>
                    </a:lnTo>
                    <a:lnTo>
                      <a:pt x="452" y="124"/>
                    </a:lnTo>
                    <a:lnTo>
                      <a:pt x="458" y="122"/>
                    </a:lnTo>
                    <a:lnTo>
                      <a:pt x="459" y="121"/>
                    </a:lnTo>
                    <a:lnTo>
                      <a:pt x="460" y="121"/>
                    </a:lnTo>
                    <a:lnTo>
                      <a:pt x="463" y="118"/>
                    </a:lnTo>
                    <a:lnTo>
                      <a:pt x="469" y="111"/>
                    </a:lnTo>
                    <a:lnTo>
                      <a:pt x="470" y="107"/>
                    </a:lnTo>
                    <a:lnTo>
                      <a:pt x="470" y="97"/>
                    </a:lnTo>
                    <a:close/>
                    <a:moveTo>
                      <a:pt x="540" y="97"/>
                    </a:moveTo>
                    <a:lnTo>
                      <a:pt x="539" y="92"/>
                    </a:lnTo>
                    <a:lnTo>
                      <a:pt x="533" y="86"/>
                    </a:lnTo>
                    <a:lnTo>
                      <a:pt x="530" y="83"/>
                    </a:lnTo>
                    <a:lnTo>
                      <a:pt x="525" y="81"/>
                    </a:lnTo>
                    <a:lnTo>
                      <a:pt x="506" y="69"/>
                    </a:lnTo>
                    <a:lnTo>
                      <a:pt x="502" y="67"/>
                    </a:lnTo>
                    <a:lnTo>
                      <a:pt x="500" y="65"/>
                    </a:lnTo>
                    <a:lnTo>
                      <a:pt x="498" y="60"/>
                    </a:lnTo>
                    <a:lnTo>
                      <a:pt x="498" y="59"/>
                    </a:lnTo>
                    <a:lnTo>
                      <a:pt x="498" y="54"/>
                    </a:lnTo>
                    <a:lnTo>
                      <a:pt x="499" y="51"/>
                    </a:lnTo>
                    <a:lnTo>
                      <a:pt x="503" y="46"/>
                    </a:lnTo>
                    <a:lnTo>
                      <a:pt x="507" y="45"/>
                    </a:lnTo>
                    <a:lnTo>
                      <a:pt x="512" y="45"/>
                    </a:lnTo>
                    <a:lnTo>
                      <a:pt x="516" y="44"/>
                    </a:lnTo>
                    <a:lnTo>
                      <a:pt x="520" y="46"/>
                    </a:lnTo>
                    <a:lnTo>
                      <a:pt x="527" y="52"/>
                    </a:lnTo>
                    <a:lnTo>
                      <a:pt x="530" y="58"/>
                    </a:lnTo>
                    <a:lnTo>
                      <a:pt x="532" y="67"/>
                    </a:lnTo>
                    <a:lnTo>
                      <a:pt x="534" y="67"/>
                    </a:lnTo>
                    <a:lnTo>
                      <a:pt x="534" y="44"/>
                    </a:lnTo>
                    <a:lnTo>
                      <a:pt x="534" y="42"/>
                    </a:lnTo>
                    <a:lnTo>
                      <a:pt x="532" y="42"/>
                    </a:lnTo>
                    <a:lnTo>
                      <a:pt x="531" y="43"/>
                    </a:lnTo>
                    <a:lnTo>
                      <a:pt x="530" y="44"/>
                    </a:lnTo>
                    <a:lnTo>
                      <a:pt x="529" y="44"/>
                    </a:lnTo>
                    <a:lnTo>
                      <a:pt x="527" y="44"/>
                    </a:lnTo>
                    <a:lnTo>
                      <a:pt x="525" y="43"/>
                    </a:lnTo>
                    <a:lnTo>
                      <a:pt x="519" y="41"/>
                    </a:lnTo>
                    <a:lnTo>
                      <a:pt x="516" y="41"/>
                    </a:lnTo>
                    <a:lnTo>
                      <a:pt x="512" y="41"/>
                    </a:lnTo>
                    <a:lnTo>
                      <a:pt x="506" y="41"/>
                    </a:lnTo>
                    <a:lnTo>
                      <a:pt x="502" y="42"/>
                    </a:lnTo>
                    <a:lnTo>
                      <a:pt x="494" y="46"/>
                    </a:lnTo>
                    <a:lnTo>
                      <a:pt x="491" y="49"/>
                    </a:lnTo>
                    <a:lnTo>
                      <a:pt x="488" y="56"/>
                    </a:lnTo>
                    <a:lnTo>
                      <a:pt x="487" y="59"/>
                    </a:lnTo>
                    <a:lnTo>
                      <a:pt x="487" y="67"/>
                    </a:lnTo>
                    <a:lnTo>
                      <a:pt x="487" y="69"/>
                    </a:lnTo>
                    <a:lnTo>
                      <a:pt x="489" y="74"/>
                    </a:lnTo>
                    <a:lnTo>
                      <a:pt x="497" y="82"/>
                    </a:lnTo>
                    <a:lnTo>
                      <a:pt x="502" y="86"/>
                    </a:lnTo>
                    <a:lnTo>
                      <a:pt x="508" y="89"/>
                    </a:lnTo>
                    <a:lnTo>
                      <a:pt x="518" y="95"/>
                    </a:lnTo>
                    <a:lnTo>
                      <a:pt x="524" y="98"/>
                    </a:lnTo>
                    <a:lnTo>
                      <a:pt x="527" y="102"/>
                    </a:lnTo>
                    <a:lnTo>
                      <a:pt x="528" y="107"/>
                    </a:lnTo>
                    <a:lnTo>
                      <a:pt x="528" y="111"/>
                    </a:lnTo>
                    <a:lnTo>
                      <a:pt x="527" y="113"/>
                    </a:lnTo>
                    <a:lnTo>
                      <a:pt x="526" y="117"/>
                    </a:lnTo>
                    <a:lnTo>
                      <a:pt x="520" y="120"/>
                    </a:lnTo>
                    <a:lnTo>
                      <a:pt x="516" y="121"/>
                    </a:lnTo>
                    <a:lnTo>
                      <a:pt x="513" y="121"/>
                    </a:lnTo>
                    <a:lnTo>
                      <a:pt x="507" y="121"/>
                    </a:lnTo>
                    <a:lnTo>
                      <a:pt x="503" y="120"/>
                    </a:lnTo>
                    <a:lnTo>
                      <a:pt x="497" y="114"/>
                    </a:lnTo>
                    <a:lnTo>
                      <a:pt x="494" y="111"/>
                    </a:lnTo>
                    <a:lnTo>
                      <a:pt x="492" y="103"/>
                    </a:lnTo>
                    <a:lnTo>
                      <a:pt x="490" y="99"/>
                    </a:lnTo>
                    <a:lnTo>
                      <a:pt x="490" y="96"/>
                    </a:lnTo>
                    <a:lnTo>
                      <a:pt x="487" y="96"/>
                    </a:lnTo>
                    <a:lnTo>
                      <a:pt x="487" y="124"/>
                    </a:lnTo>
                    <a:lnTo>
                      <a:pt x="489" y="124"/>
                    </a:lnTo>
                    <a:lnTo>
                      <a:pt x="490" y="123"/>
                    </a:lnTo>
                    <a:lnTo>
                      <a:pt x="491" y="122"/>
                    </a:lnTo>
                    <a:lnTo>
                      <a:pt x="492" y="122"/>
                    </a:lnTo>
                    <a:lnTo>
                      <a:pt x="496" y="122"/>
                    </a:lnTo>
                    <a:lnTo>
                      <a:pt x="499" y="122"/>
                    </a:lnTo>
                    <a:lnTo>
                      <a:pt x="506" y="124"/>
                    </a:lnTo>
                    <a:lnTo>
                      <a:pt x="510" y="125"/>
                    </a:lnTo>
                    <a:lnTo>
                      <a:pt x="514" y="125"/>
                    </a:lnTo>
                    <a:lnTo>
                      <a:pt x="518" y="125"/>
                    </a:lnTo>
                    <a:lnTo>
                      <a:pt x="522" y="124"/>
                    </a:lnTo>
                    <a:lnTo>
                      <a:pt x="528" y="122"/>
                    </a:lnTo>
                    <a:lnTo>
                      <a:pt x="529" y="121"/>
                    </a:lnTo>
                    <a:lnTo>
                      <a:pt x="530" y="121"/>
                    </a:lnTo>
                    <a:lnTo>
                      <a:pt x="533" y="118"/>
                    </a:lnTo>
                    <a:lnTo>
                      <a:pt x="539" y="111"/>
                    </a:lnTo>
                    <a:lnTo>
                      <a:pt x="540" y="107"/>
                    </a:lnTo>
                    <a:lnTo>
                      <a:pt x="540" y="97"/>
                    </a:lnTo>
                    <a:close/>
                    <a:moveTo>
                      <a:pt x="631" y="88"/>
                    </a:moveTo>
                    <a:lnTo>
                      <a:pt x="631" y="80"/>
                    </a:lnTo>
                    <a:lnTo>
                      <a:pt x="630" y="69"/>
                    </a:lnTo>
                    <a:lnTo>
                      <a:pt x="627" y="59"/>
                    </a:lnTo>
                    <a:lnTo>
                      <a:pt x="614" y="47"/>
                    </a:lnTo>
                    <a:lnTo>
                      <a:pt x="614" y="80"/>
                    </a:lnTo>
                    <a:lnTo>
                      <a:pt x="614" y="96"/>
                    </a:lnTo>
                    <a:lnTo>
                      <a:pt x="613" y="103"/>
                    </a:lnTo>
                    <a:lnTo>
                      <a:pt x="609" y="112"/>
                    </a:lnTo>
                    <a:lnTo>
                      <a:pt x="606" y="115"/>
                    </a:lnTo>
                    <a:lnTo>
                      <a:pt x="600" y="119"/>
                    </a:lnTo>
                    <a:lnTo>
                      <a:pt x="596" y="120"/>
                    </a:lnTo>
                    <a:lnTo>
                      <a:pt x="593" y="120"/>
                    </a:lnTo>
                    <a:lnTo>
                      <a:pt x="588" y="120"/>
                    </a:lnTo>
                    <a:lnTo>
                      <a:pt x="583" y="118"/>
                    </a:lnTo>
                    <a:lnTo>
                      <a:pt x="577" y="111"/>
                    </a:lnTo>
                    <a:lnTo>
                      <a:pt x="574" y="107"/>
                    </a:lnTo>
                    <a:lnTo>
                      <a:pt x="570" y="97"/>
                    </a:lnTo>
                    <a:lnTo>
                      <a:pt x="569" y="92"/>
                    </a:lnTo>
                    <a:lnTo>
                      <a:pt x="568" y="81"/>
                    </a:lnTo>
                    <a:lnTo>
                      <a:pt x="567" y="77"/>
                    </a:lnTo>
                    <a:lnTo>
                      <a:pt x="568" y="64"/>
                    </a:lnTo>
                    <a:lnTo>
                      <a:pt x="570" y="57"/>
                    </a:lnTo>
                    <a:lnTo>
                      <a:pt x="578" y="48"/>
                    </a:lnTo>
                    <a:lnTo>
                      <a:pt x="583" y="46"/>
                    </a:lnTo>
                    <a:lnTo>
                      <a:pt x="589" y="46"/>
                    </a:lnTo>
                    <a:lnTo>
                      <a:pt x="594" y="46"/>
                    </a:lnTo>
                    <a:lnTo>
                      <a:pt x="599" y="48"/>
                    </a:lnTo>
                    <a:lnTo>
                      <a:pt x="607" y="55"/>
                    </a:lnTo>
                    <a:lnTo>
                      <a:pt x="610" y="60"/>
                    </a:lnTo>
                    <a:lnTo>
                      <a:pt x="613" y="73"/>
                    </a:lnTo>
                    <a:lnTo>
                      <a:pt x="614" y="80"/>
                    </a:lnTo>
                    <a:lnTo>
                      <a:pt x="614" y="47"/>
                    </a:lnTo>
                    <a:lnTo>
                      <a:pt x="613" y="46"/>
                    </a:lnTo>
                    <a:lnTo>
                      <a:pt x="612" y="44"/>
                    </a:lnTo>
                    <a:lnTo>
                      <a:pt x="602" y="41"/>
                    </a:lnTo>
                    <a:lnTo>
                      <a:pt x="590" y="41"/>
                    </a:lnTo>
                    <a:lnTo>
                      <a:pt x="582" y="41"/>
                    </a:lnTo>
                    <a:lnTo>
                      <a:pt x="575" y="43"/>
                    </a:lnTo>
                    <a:lnTo>
                      <a:pt x="564" y="50"/>
                    </a:lnTo>
                    <a:lnTo>
                      <a:pt x="559" y="55"/>
                    </a:lnTo>
                    <a:lnTo>
                      <a:pt x="553" y="68"/>
                    </a:lnTo>
                    <a:lnTo>
                      <a:pt x="551" y="75"/>
                    </a:lnTo>
                    <a:lnTo>
                      <a:pt x="551" y="90"/>
                    </a:lnTo>
                    <a:lnTo>
                      <a:pt x="553" y="98"/>
                    </a:lnTo>
                    <a:lnTo>
                      <a:pt x="560" y="111"/>
                    </a:lnTo>
                    <a:lnTo>
                      <a:pt x="564" y="116"/>
                    </a:lnTo>
                    <a:lnTo>
                      <a:pt x="576" y="123"/>
                    </a:lnTo>
                    <a:lnTo>
                      <a:pt x="583" y="125"/>
                    </a:lnTo>
                    <a:lnTo>
                      <a:pt x="591" y="125"/>
                    </a:lnTo>
                    <a:lnTo>
                      <a:pt x="600" y="125"/>
                    </a:lnTo>
                    <a:lnTo>
                      <a:pt x="607" y="123"/>
                    </a:lnTo>
                    <a:lnTo>
                      <a:pt x="610" y="120"/>
                    </a:lnTo>
                    <a:lnTo>
                      <a:pt x="619" y="113"/>
                    </a:lnTo>
                    <a:lnTo>
                      <a:pt x="623" y="108"/>
                    </a:lnTo>
                    <a:lnTo>
                      <a:pt x="629" y="95"/>
                    </a:lnTo>
                    <a:lnTo>
                      <a:pt x="631" y="88"/>
                    </a:lnTo>
                    <a:close/>
                    <a:moveTo>
                      <a:pt x="698" y="47"/>
                    </a:moveTo>
                    <a:lnTo>
                      <a:pt x="697" y="45"/>
                    </a:lnTo>
                    <a:lnTo>
                      <a:pt x="694" y="41"/>
                    </a:lnTo>
                    <a:lnTo>
                      <a:pt x="692" y="41"/>
                    </a:lnTo>
                    <a:lnTo>
                      <a:pt x="688" y="41"/>
                    </a:lnTo>
                    <a:lnTo>
                      <a:pt x="685" y="40"/>
                    </a:lnTo>
                    <a:lnTo>
                      <a:pt x="682" y="42"/>
                    </a:lnTo>
                    <a:lnTo>
                      <a:pt x="675" y="46"/>
                    </a:lnTo>
                    <a:lnTo>
                      <a:pt x="671" y="51"/>
                    </a:lnTo>
                    <a:lnTo>
                      <a:pt x="667" y="57"/>
                    </a:lnTo>
                    <a:lnTo>
                      <a:pt x="667" y="52"/>
                    </a:lnTo>
                    <a:lnTo>
                      <a:pt x="667" y="41"/>
                    </a:lnTo>
                    <a:lnTo>
                      <a:pt x="666" y="41"/>
                    </a:lnTo>
                    <a:lnTo>
                      <a:pt x="657" y="44"/>
                    </a:lnTo>
                    <a:lnTo>
                      <a:pt x="648" y="47"/>
                    </a:lnTo>
                    <a:lnTo>
                      <a:pt x="639" y="50"/>
                    </a:lnTo>
                    <a:lnTo>
                      <a:pt x="639" y="53"/>
                    </a:lnTo>
                    <a:lnTo>
                      <a:pt x="641" y="53"/>
                    </a:lnTo>
                    <a:lnTo>
                      <a:pt x="643" y="52"/>
                    </a:lnTo>
                    <a:lnTo>
                      <a:pt x="645" y="52"/>
                    </a:lnTo>
                    <a:lnTo>
                      <a:pt x="647" y="52"/>
                    </a:lnTo>
                    <a:lnTo>
                      <a:pt x="648" y="53"/>
                    </a:lnTo>
                    <a:lnTo>
                      <a:pt x="651" y="55"/>
                    </a:lnTo>
                    <a:lnTo>
                      <a:pt x="651" y="58"/>
                    </a:lnTo>
                    <a:lnTo>
                      <a:pt x="652" y="108"/>
                    </a:lnTo>
                    <a:lnTo>
                      <a:pt x="652" y="113"/>
                    </a:lnTo>
                    <a:lnTo>
                      <a:pt x="651" y="116"/>
                    </a:lnTo>
                    <a:lnTo>
                      <a:pt x="647" y="119"/>
                    </a:lnTo>
                    <a:lnTo>
                      <a:pt x="644" y="120"/>
                    </a:lnTo>
                    <a:lnTo>
                      <a:pt x="639" y="121"/>
                    </a:lnTo>
                    <a:lnTo>
                      <a:pt x="639" y="123"/>
                    </a:lnTo>
                    <a:lnTo>
                      <a:pt x="682" y="123"/>
                    </a:lnTo>
                    <a:lnTo>
                      <a:pt x="682" y="121"/>
                    </a:lnTo>
                    <a:lnTo>
                      <a:pt x="677" y="121"/>
                    </a:lnTo>
                    <a:lnTo>
                      <a:pt x="674" y="120"/>
                    </a:lnTo>
                    <a:lnTo>
                      <a:pt x="668" y="117"/>
                    </a:lnTo>
                    <a:lnTo>
                      <a:pt x="667" y="113"/>
                    </a:lnTo>
                    <a:lnTo>
                      <a:pt x="667" y="65"/>
                    </a:lnTo>
                    <a:lnTo>
                      <a:pt x="668" y="62"/>
                    </a:lnTo>
                    <a:lnTo>
                      <a:pt x="670" y="58"/>
                    </a:lnTo>
                    <a:lnTo>
                      <a:pt x="671" y="57"/>
                    </a:lnTo>
                    <a:lnTo>
                      <a:pt x="672" y="56"/>
                    </a:lnTo>
                    <a:lnTo>
                      <a:pt x="676" y="53"/>
                    </a:lnTo>
                    <a:lnTo>
                      <a:pt x="677" y="52"/>
                    </a:lnTo>
                    <a:lnTo>
                      <a:pt x="679" y="52"/>
                    </a:lnTo>
                    <a:lnTo>
                      <a:pt x="680" y="52"/>
                    </a:lnTo>
                    <a:lnTo>
                      <a:pt x="682" y="53"/>
                    </a:lnTo>
                    <a:lnTo>
                      <a:pt x="684" y="54"/>
                    </a:lnTo>
                    <a:lnTo>
                      <a:pt x="685" y="56"/>
                    </a:lnTo>
                    <a:lnTo>
                      <a:pt x="688" y="58"/>
                    </a:lnTo>
                    <a:lnTo>
                      <a:pt x="689" y="58"/>
                    </a:lnTo>
                    <a:lnTo>
                      <a:pt x="691" y="58"/>
                    </a:lnTo>
                    <a:lnTo>
                      <a:pt x="693" y="58"/>
                    </a:lnTo>
                    <a:lnTo>
                      <a:pt x="695" y="57"/>
                    </a:lnTo>
                    <a:lnTo>
                      <a:pt x="698" y="54"/>
                    </a:lnTo>
                    <a:lnTo>
                      <a:pt x="698" y="53"/>
                    </a:lnTo>
                    <a:lnTo>
                      <a:pt x="698" y="52"/>
                    </a:lnTo>
                    <a:lnTo>
                      <a:pt x="698" y="47"/>
                    </a:lnTo>
                    <a:close/>
                    <a:moveTo>
                      <a:pt x="745" y="77"/>
                    </a:moveTo>
                    <a:lnTo>
                      <a:pt x="701" y="77"/>
                    </a:lnTo>
                    <a:lnTo>
                      <a:pt x="701" y="88"/>
                    </a:lnTo>
                    <a:lnTo>
                      <a:pt x="745" y="88"/>
                    </a:lnTo>
                    <a:lnTo>
                      <a:pt x="745" y="77"/>
                    </a:lnTo>
                    <a:close/>
                    <a:moveTo>
                      <a:pt x="893" y="121"/>
                    </a:moveTo>
                    <a:lnTo>
                      <a:pt x="888" y="120"/>
                    </a:lnTo>
                    <a:lnTo>
                      <a:pt x="884" y="120"/>
                    </a:lnTo>
                    <a:lnTo>
                      <a:pt x="882" y="118"/>
                    </a:lnTo>
                    <a:lnTo>
                      <a:pt x="880" y="114"/>
                    </a:lnTo>
                    <a:lnTo>
                      <a:pt x="880" y="112"/>
                    </a:lnTo>
                    <a:lnTo>
                      <a:pt x="880" y="67"/>
                    </a:lnTo>
                    <a:lnTo>
                      <a:pt x="880" y="64"/>
                    </a:lnTo>
                    <a:lnTo>
                      <a:pt x="880" y="63"/>
                    </a:lnTo>
                    <a:lnTo>
                      <a:pt x="878" y="53"/>
                    </a:lnTo>
                    <a:lnTo>
                      <a:pt x="876" y="50"/>
                    </a:lnTo>
                    <a:lnTo>
                      <a:pt x="876" y="49"/>
                    </a:lnTo>
                    <a:lnTo>
                      <a:pt x="870" y="42"/>
                    </a:lnTo>
                    <a:lnTo>
                      <a:pt x="865" y="41"/>
                    </a:lnTo>
                    <a:lnTo>
                      <a:pt x="859" y="41"/>
                    </a:lnTo>
                    <a:lnTo>
                      <a:pt x="854" y="41"/>
                    </a:lnTo>
                    <a:lnTo>
                      <a:pt x="850" y="42"/>
                    </a:lnTo>
                    <a:lnTo>
                      <a:pt x="842" y="45"/>
                    </a:lnTo>
                    <a:lnTo>
                      <a:pt x="839" y="47"/>
                    </a:lnTo>
                    <a:lnTo>
                      <a:pt x="833" y="52"/>
                    </a:lnTo>
                    <a:lnTo>
                      <a:pt x="831" y="54"/>
                    </a:lnTo>
                    <a:lnTo>
                      <a:pt x="830" y="56"/>
                    </a:lnTo>
                    <a:lnTo>
                      <a:pt x="829" y="52"/>
                    </a:lnTo>
                    <a:lnTo>
                      <a:pt x="828" y="50"/>
                    </a:lnTo>
                    <a:lnTo>
                      <a:pt x="827" y="48"/>
                    </a:lnTo>
                    <a:lnTo>
                      <a:pt x="821" y="42"/>
                    </a:lnTo>
                    <a:lnTo>
                      <a:pt x="816" y="41"/>
                    </a:lnTo>
                    <a:lnTo>
                      <a:pt x="811" y="41"/>
                    </a:lnTo>
                    <a:lnTo>
                      <a:pt x="806" y="41"/>
                    </a:lnTo>
                    <a:lnTo>
                      <a:pt x="801" y="42"/>
                    </a:lnTo>
                    <a:lnTo>
                      <a:pt x="793" y="47"/>
                    </a:lnTo>
                    <a:lnTo>
                      <a:pt x="788" y="50"/>
                    </a:lnTo>
                    <a:lnTo>
                      <a:pt x="783" y="54"/>
                    </a:lnTo>
                    <a:lnTo>
                      <a:pt x="783" y="51"/>
                    </a:lnTo>
                    <a:lnTo>
                      <a:pt x="783" y="41"/>
                    </a:lnTo>
                    <a:lnTo>
                      <a:pt x="782" y="41"/>
                    </a:lnTo>
                    <a:lnTo>
                      <a:pt x="773" y="44"/>
                    </a:lnTo>
                    <a:lnTo>
                      <a:pt x="765" y="46"/>
                    </a:lnTo>
                    <a:lnTo>
                      <a:pt x="756" y="49"/>
                    </a:lnTo>
                    <a:lnTo>
                      <a:pt x="756" y="52"/>
                    </a:lnTo>
                    <a:lnTo>
                      <a:pt x="758" y="51"/>
                    </a:lnTo>
                    <a:lnTo>
                      <a:pt x="760" y="51"/>
                    </a:lnTo>
                    <a:lnTo>
                      <a:pt x="762" y="51"/>
                    </a:lnTo>
                    <a:lnTo>
                      <a:pt x="764" y="51"/>
                    </a:lnTo>
                    <a:lnTo>
                      <a:pt x="765" y="51"/>
                    </a:lnTo>
                    <a:lnTo>
                      <a:pt x="768" y="54"/>
                    </a:lnTo>
                    <a:lnTo>
                      <a:pt x="768" y="57"/>
                    </a:lnTo>
                    <a:lnTo>
                      <a:pt x="768" y="114"/>
                    </a:lnTo>
                    <a:lnTo>
                      <a:pt x="767" y="117"/>
                    </a:lnTo>
                    <a:lnTo>
                      <a:pt x="763" y="120"/>
                    </a:lnTo>
                    <a:lnTo>
                      <a:pt x="760" y="121"/>
                    </a:lnTo>
                    <a:lnTo>
                      <a:pt x="756" y="121"/>
                    </a:lnTo>
                    <a:lnTo>
                      <a:pt x="756" y="123"/>
                    </a:lnTo>
                    <a:lnTo>
                      <a:pt x="796" y="123"/>
                    </a:lnTo>
                    <a:lnTo>
                      <a:pt x="796" y="121"/>
                    </a:lnTo>
                    <a:lnTo>
                      <a:pt x="793" y="121"/>
                    </a:lnTo>
                    <a:lnTo>
                      <a:pt x="790" y="120"/>
                    </a:lnTo>
                    <a:lnTo>
                      <a:pt x="785" y="118"/>
                    </a:lnTo>
                    <a:lnTo>
                      <a:pt x="784" y="115"/>
                    </a:lnTo>
                    <a:lnTo>
                      <a:pt x="784" y="60"/>
                    </a:lnTo>
                    <a:lnTo>
                      <a:pt x="785" y="59"/>
                    </a:lnTo>
                    <a:lnTo>
                      <a:pt x="788" y="56"/>
                    </a:lnTo>
                    <a:lnTo>
                      <a:pt x="790" y="54"/>
                    </a:lnTo>
                    <a:lnTo>
                      <a:pt x="797" y="51"/>
                    </a:lnTo>
                    <a:lnTo>
                      <a:pt x="800" y="50"/>
                    </a:lnTo>
                    <a:lnTo>
                      <a:pt x="804" y="50"/>
                    </a:lnTo>
                    <a:lnTo>
                      <a:pt x="809" y="50"/>
                    </a:lnTo>
                    <a:lnTo>
                      <a:pt x="812" y="52"/>
                    </a:lnTo>
                    <a:lnTo>
                      <a:pt x="816" y="58"/>
                    </a:lnTo>
                    <a:lnTo>
                      <a:pt x="817" y="63"/>
                    </a:lnTo>
                    <a:lnTo>
                      <a:pt x="817" y="114"/>
                    </a:lnTo>
                    <a:lnTo>
                      <a:pt x="816" y="117"/>
                    </a:lnTo>
                    <a:lnTo>
                      <a:pt x="812" y="120"/>
                    </a:lnTo>
                    <a:lnTo>
                      <a:pt x="809" y="121"/>
                    </a:lnTo>
                    <a:lnTo>
                      <a:pt x="805" y="121"/>
                    </a:lnTo>
                    <a:lnTo>
                      <a:pt x="805" y="123"/>
                    </a:lnTo>
                    <a:lnTo>
                      <a:pt x="845" y="123"/>
                    </a:lnTo>
                    <a:lnTo>
                      <a:pt x="845" y="121"/>
                    </a:lnTo>
                    <a:lnTo>
                      <a:pt x="842" y="121"/>
                    </a:lnTo>
                    <a:lnTo>
                      <a:pt x="840" y="120"/>
                    </a:lnTo>
                    <a:lnTo>
                      <a:pt x="836" y="119"/>
                    </a:lnTo>
                    <a:lnTo>
                      <a:pt x="835" y="118"/>
                    </a:lnTo>
                    <a:lnTo>
                      <a:pt x="833" y="114"/>
                    </a:lnTo>
                    <a:lnTo>
                      <a:pt x="832" y="114"/>
                    </a:lnTo>
                    <a:lnTo>
                      <a:pt x="832" y="112"/>
                    </a:lnTo>
                    <a:lnTo>
                      <a:pt x="832" y="61"/>
                    </a:lnTo>
                    <a:lnTo>
                      <a:pt x="834" y="58"/>
                    </a:lnTo>
                    <a:lnTo>
                      <a:pt x="836" y="56"/>
                    </a:lnTo>
                    <a:lnTo>
                      <a:pt x="836" y="55"/>
                    </a:lnTo>
                    <a:lnTo>
                      <a:pt x="843" y="51"/>
                    </a:lnTo>
                    <a:lnTo>
                      <a:pt x="847" y="50"/>
                    </a:lnTo>
                    <a:lnTo>
                      <a:pt x="852" y="50"/>
                    </a:lnTo>
                    <a:lnTo>
                      <a:pt x="856" y="50"/>
                    </a:lnTo>
                    <a:lnTo>
                      <a:pt x="859" y="51"/>
                    </a:lnTo>
                    <a:lnTo>
                      <a:pt x="863" y="55"/>
                    </a:lnTo>
                    <a:lnTo>
                      <a:pt x="864" y="58"/>
                    </a:lnTo>
                    <a:lnTo>
                      <a:pt x="865" y="64"/>
                    </a:lnTo>
                    <a:lnTo>
                      <a:pt x="865" y="112"/>
                    </a:lnTo>
                    <a:lnTo>
                      <a:pt x="865" y="114"/>
                    </a:lnTo>
                    <a:lnTo>
                      <a:pt x="863" y="118"/>
                    </a:lnTo>
                    <a:lnTo>
                      <a:pt x="862" y="119"/>
                    </a:lnTo>
                    <a:lnTo>
                      <a:pt x="859" y="120"/>
                    </a:lnTo>
                    <a:lnTo>
                      <a:pt x="856" y="120"/>
                    </a:lnTo>
                    <a:lnTo>
                      <a:pt x="853" y="121"/>
                    </a:lnTo>
                    <a:lnTo>
                      <a:pt x="853" y="123"/>
                    </a:lnTo>
                    <a:lnTo>
                      <a:pt x="893" y="123"/>
                    </a:lnTo>
                    <a:lnTo>
                      <a:pt x="893" y="121"/>
                    </a:lnTo>
                    <a:close/>
                    <a:moveTo>
                      <a:pt x="968" y="95"/>
                    </a:moveTo>
                    <a:lnTo>
                      <a:pt x="965" y="94"/>
                    </a:lnTo>
                    <a:lnTo>
                      <a:pt x="964" y="96"/>
                    </a:lnTo>
                    <a:lnTo>
                      <a:pt x="962" y="99"/>
                    </a:lnTo>
                    <a:lnTo>
                      <a:pt x="957" y="105"/>
                    </a:lnTo>
                    <a:lnTo>
                      <a:pt x="954" y="107"/>
                    </a:lnTo>
                    <a:lnTo>
                      <a:pt x="947" y="111"/>
                    </a:lnTo>
                    <a:lnTo>
                      <a:pt x="942" y="113"/>
                    </a:lnTo>
                    <a:lnTo>
                      <a:pt x="933" y="113"/>
                    </a:lnTo>
                    <a:lnTo>
                      <a:pt x="929" y="112"/>
                    </a:lnTo>
                    <a:lnTo>
                      <a:pt x="921" y="108"/>
                    </a:lnTo>
                    <a:lnTo>
                      <a:pt x="917" y="104"/>
                    </a:lnTo>
                    <a:lnTo>
                      <a:pt x="911" y="92"/>
                    </a:lnTo>
                    <a:lnTo>
                      <a:pt x="909" y="84"/>
                    </a:lnTo>
                    <a:lnTo>
                      <a:pt x="909" y="73"/>
                    </a:lnTo>
                    <a:lnTo>
                      <a:pt x="965" y="73"/>
                    </a:lnTo>
                    <a:lnTo>
                      <a:pt x="964" y="68"/>
                    </a:lnTo>
                    <a:lnTo>
                      <a:pt x="963" y="62"/>
                    </a:lnTo>
                    <a:lnTo>
                      <a:pt x="960" y="53"/>
                    </a:lnTo>
                    <a:lnTo>
                      <a:pt x="953" y="47"/>
                    </a:lnTo>
                    <a:lnTo>
                      <a:pt x="949" y="43"/>
                    </a:lnTo>
                    <a:lnTo>
                      <a:pt x="946" y="42"/>
                    </a:lnTo>
                    <a:lnTo>
                      <a:pt x="946" y="68"/>
                    </a:lnTo>
                    <a:lnTo>
                      <a:pt x="909" y="68"/>
                    </a:lnTo>
                    <a:lnTo>
                      <a:pt x="911" y="60"/>
                    </a:lnTo>
                    <a:lnTo>
                      <a:pt x="913" y="55"/>
                    </a:lnTo>
                    <a:lnTo>
                      <a:pt x="920" y="48"/>
                    </a:lnTo>
                    <a:lnTo>
                      <a:pt x="924" y="47"/>
                    </a:lnTo>
                    <a:lnTo>
                      <a:pt x="934" y="47"/>
                    </a:lnTo>
                    <a:lnTo>
                      <a:pt x="937" y="48"/>
                    </a:lnTo>
                    <a:lnTo>
                      <a:pt x="942" y="53"/>
                    </a:lnTo>
                    <a:lnTo>
                      <a:pt x="943" y="55"/>
                    </a:lnTo>
                    <a:lnTo>
                      <a:pt x="945" y="62"/>
                    </a:lnTo>
                    <a:lnTo>
                      <a:pt x="946" y="65"/>
                    </a:lnTo>
                    <a:lnTo>
                      <a:pt x="946" y="68"/>
                    </a:lnTo>
                    <a:lnTo>
                      <a:pt x="946" y="42"/>
                    </a:lnTo>
                    <a:lnTo>
                      <a:pt x="942" y="41"/>
                    </a:lnTo>
                    <a:lnTo>
                      <a:pt x="942" y="40"/>
                    </a:lnTo>
                    <a:lnTo>
                      <a:pt x="933" y="41"/>
                    </a:lnTo>
                    <a:lnTo>
                      <a:pt x="928" y="40"/>
                    </a:lnTo>
                    <a:lnTo>
                      <a:pt x="923" y="42"/>
                    </a:lnTo>
                    <a:lnTo>
                      <a:pt x="911" y="47"/>
                    </a:lnTo>
                    <a:lnTo>
                      <a:pt x="907" y="52"/>
                    </a:lnTo>
                    <a:lnTo>
                      <a:pt x="899" y="65"/>
                    </a:lnTo>
                    <a:lnTo>
                      <a:pt x="896" y="74"/>
                    </a:lnTo>
                    <a:lnTo>
                      <a:pt x="896" y="84"/>
                    </a:lnTo>
                    <a:lnTo>
                      <a:pt x="896" y="98"/>
                    </a:lnTo>
                    <a:lnTo>
                      <a:pt x="899" y="108"/>
                    </a:lnTo>
                    <a:lnTo>
                      <a:pt x="911" y="121"/>
                    </a:lnTo>
                    <a:lnTo>
                      <a:pt x="920" y="125"/>
                    </a:lnTo>
                    <a:lnTo>
                      <a:pt x="930" y="125"/>
                    </a:lnTo>
                    <a:lnTo>
                      <a:pt x="936" y="125"/>
                    </a:lnTo>
                    <a:lnTo>
                      <a:pt x="942" y="124"/>
                    </a:lnTo>
                    <a:lnTo>
                      <a:pt x="951" y="119"/>
                    </a:lnTo>
                    <a:lnTo>
                      <a:pt x="955" y="116"/>
                    </a:lnTo>
                    <a:lnTo>
                      <a:pt x="957" y="113"/>
                    </a:lnTo>
                    <a:lnTo>
                      <a:pt x="961" y="109"/>
                    </a:lnTo>
                    <a:lnTo>
                      <a:pt x="963" y="105"/>
                    </a:lnTo>
                    <a:lnTo>
                      <a:pt x="966" y="99"/>
                    </a:lnTo>
                    <a:lnTo>
                      <a:pt x="967" y="97"/>
                    </a:lnTo>
                    <a:lnTo>
                      <a:pt x="968" y="95"/>
                    </a:lnTo>
                    <a:close/>
                    <a:moveTo>
                      <a:pt x="1024" y="193"/>
                    </a:moveTo>
                    <a:lnTo>
                      <a:pt x="1007" y="193"/>
                    </a:lnTo>
                    <a:lnTo>
                      <a:pt x="1007" y="1050"/>
                    </a:lnTo>
                    <a:lnTo>
                      <a:pt x="1024" y="1050"/>
                    </a:lnTo>
                    <a:lnTo>
                      <a:pt x="1024" y="193"/>
                    </a:lnTo>
                    <a:close/>
                    <a:moveTo>
                      <a:pt x="1114" y="121"/>
                    </a:moveTo>
                    <a:lnTo>
                      <a:pt x="1109" y="120"/>
                    </a:lnTo>
                    <a:lnTo>
                      <a:pt x="1105" y="120"/>
                    </a:lnTo>
                    <a:lnTo>
                      <a:pt x="1103" y="118"/>
                    </a:lnTo>
                    <a:lnTo>
                      <a:pt x="1102" y="114"/>
                    </a:lnTo>
                    <a:lnTo>
                      <a:pt x="1101" y="112"/>
                    </a:lnTo>
                    <a:lnTo>
                      <a:pt x="1102" y="67"/>
                    </a:lnTo>
                    <a:lnTo>
                      <a:pt x="1101" y="64"/>
                    </a:lnTo>
                    <a:lnTo>
                      <a:pt x="1101" y="63"/>
                    </a:lnTo>
                    <a:lnTo>
                      <a:pt x="1099" y="53"/>
                    </a:lnTo>
                    <a:lnTo>
                      <a:pt x="1097" y="50"/>
                    </a:lnTo>
                    <a:lnTo>
                      <a:pt x="1097" y="49"/>
                    </a:lnTo>
                    <a:lnTo>
                      <a:pt x="1091" y="42"/>
                    </a:lnTo>
                    <a:lnTo>
                      <a:pt x="1086" y="41"/>
                    </a:lnTo>
                    <a:lnTo>
                      <a:pt x="1080" y="41"/>
                    </a:lnTo>
                    <a:lnTo>
                      <a:pt x="1075" y="41"/>
                    </a:lnTo>
                    <a:lnTo>
                      <a:pt x="1071" y="42"/>
                    </a:lnTo>
                    <a:lnTo>
                      <a:pt x="1063" y="45"/>
                    </a:lnTo>
                    <a:lnTo>
                      <a:pt x="1060" y="47"/>
                    </a:lnTo>
                    <a:lnTo>
                      <a:pt x="1055" y="52"/>
                    </a:lnTo>
                    <a:lnTo>
                      <a:pt x="1053" y="54"/>
                    </a:lnTo>
                    <a:lnTo>
                      <a:pt x="1051" y="56"/>
                    </a:lnTo>
                    <a:lnTo>
                      <a:pt x="1050" y="52"/>
                    </a:lnTo>
                    <a:lnTo>
                      <a:pt x="1049" y="50"/>
                    </a:lnTo>
                    <a:lnTo>
                      <a:pt x="1048" y="48"/>
                    </a:lnTo>
                    <a:lnTo>
                      <a:pt x="1042" y="42"/>
                    </a:lnTo>
                    <a:lnTo>
                      <a:pt x="1038" y="41"/>
                    </a:lnTo>
                    <a:lnTo>
                      <a:pt x="1032" y="41"/>
                    </a:lnTo>
                    <a:lnTo>
                      <a:pt x="1027" y="41"/>
                    </a:lnTo>
                    <a:lnTo>
                      <a:pt x="1023" y="42"/>
                    </a:lnTo>
                    <a:lnTo>
                      <a:pt x="1014" y="47"/>
                    </a:lnTo>
                    <a:lnTo>
                      <a:pt x="1009" y="50"/>
                    </a:lnTo>
                    <a:lnTo>
                      <a:pt x="1004" y="54"/>
                    </a:lnTo>
                    <a:lnTo>
                      <a:pt x="1004" y="51"/>
                    </a:lnTo>
                    <a:lnTo>
                      <a:pt x="1004" y="41"/>
                    </a:lnTo>
                    <a:lnTo>
                      <a:pt x="1003" y="41"/>
                    </a:lnTo>
                    <a:lnTo>
                      <a:pt x="995" y="44"/>
                    </a:lnTo>
                    <a:lnTo>
                      <a:pt x="986" y="46"/>
                    </a:lnTo>
                    <a:lnTo>
                      <a:pt x="978" y="49"/>
                    </a:lnTo>
                    <a:lnTo>
                      <a:pt x="978" y="52"/>
                    </a:lnTo>
                    <a:lnTo>
                      <a:pt x="979" y="51"/>
                    </a:lnTo>
                    <a:lnTo>
                      <a:pt x="981" y="51"/>
                    </a:lnTo>
                    <a:lnTo>
                      <a:pt x="984" y="51"/>
                    </a:lnTo>
                    <a:lnTo>
                      <a:pt x="985" y="51"/>
                    </a:lnTo>
                    <a:lnTo>
                      <a:pt x="987" y="51"/>
                    </a:lnTo>
                    <a:lnTo>
                      <a:pt x="989" y="54"/>
                    </a:lnTo>
                    <a:lnTo>
                      <a:pt x="990" y="57"/>
                    </a:lnTo>
                    <a:lnTo>
                      <a:pt x="990" y="114"/>
                    </a:lnTo>
                    <a:lnTo>
                      <a:pt x="989" y="117"/>
                    </a:lnTo>
                    <a:lnTo>
                      <a:pt x="984" y="120"/>
                    </a:lnTo>
                    <a:lnTo>
                      <a:pt x="981" y="121"/>
                    </a:lnTo>
                    <a:lnTo>
                      <a:pt x="977" y="121"/>
                    </a:lnTo>
                    <a:lnTo>
                      <a:pt x="977" y="123"/>
                    </a:lnTo>
                    <a:lnTo>
                      <a:pt x="1017" y="123"/>
                    </a:lnTo>
                    <a:lnTo>
                      <a:pt x="1017" y="121"/>
                    </a:lnTo>
                    <a:lnTo>
                      <a:pt x="1014" y="121"/>
                    </a:lnTo>
                    <a:lnTo>
                      <a:pt x="1011" y="120"/>
                    </a:lnTo>
                    <a:lnTo>
                      <a:pt x="1006" y="118"/>
                    </a:lnTo>
                    <a:lnTo>
                      <a:pt x="1005" y="115"/>
                    </a:lnTo>
                    <a:lnTo>
                      <a:pt x="1005" y="60"/>
                    </a:lnTo>
                    <a:lnTo>
                      <a:pt x="1006" y="59"/>
                    </a:lnTo>
                    <a:lnTo>
                      <a:pt x="1009" y="56"/>
                    </a:lnTo>
                    <a:lnTo>
                      <a:pt x="1011" y="54"/>
                    </a:lnTo>
                    <a:lnTo>
                      <a:pt x="1012" y="54"/>
                    </a:lnTo>
                    <a:lnTo>
                      <a:pt x="1018" y="51"/>
                    </a:lnTo>
                    <a:lnTo>
                      <a:pt x="1022" y="50"/>
                    </a:lnTo>
                    <a:lnTo>
                      <a:pt x="1026" y="50"/>
                    </a:lnTo>
                    <a:lnTo>
                      <a:pt x="1030" y="50"/>
                    </a:lnTo>
                    <a:lnTo>
                      <a:pt x="1034" y="52"/>
                    </a:lnTo>
                    <a:lnTo>
                      <a:pt x="1037" y="58"/>
                    </a:lnTo>
                    <a:lnTo>
                      <a:pt x="1038" y="63"/>
                    </a:lnTo>
                    <a:lnTo>
                      <a:pt x="1038" y="114"/>
                    </a:lnTo>
                    <a:lnTo>
                      <a:pt x="1037" y="117"/>
                    </a:lnTo>
                    <a:lnTo>
                      <a:pt x="1033" y="120"/>
                    </a:lnTo>
                    <a:lnTo>
                      <a:pt x="1030" y="121"/>
                    </a:lnTo>
                    <a:lnTo>
                      <a:pt x="1026" y="121"/>
                    </a:lnTo>
                    <a:lnTo>
                      <a:pt x="1026" y="123"/>
                    </a:lnTo>
                    <a:lnTo>
                      <a:pt x="1066" y="123"/>
                    </a:lnTo>
                    <a:lnTo>
                      <a:pt x="1066" y="121"/>
                    </a:lnTo>
                    <a:lnTo>
                      <a:pt x="1064" y="121"/>
                    </a:lnTo>
                    <a:lnTo>
                      <a:pt x="1062" y="120"/>
                    </a:lnTo>
                    <a:lnTo>
                      <a:pt x="1058" y="119"/>
                    </a:lnTo>
                    <a:lnTo>
                      <a:pt x="1056" y="118"/>
                    </a:lnTo>
                    <a:lnTo>
                      <a:pt x="1054" y="114"/>
                    </a:lnTo>
                    <a:lnTo>
                      <a:pt x="1053" y="112"/>
                    </a:lnTo>
                    <a:lnTo>
                      <a:pt x="1053" y="61"/>
                    </a:lnTo>
                    <a:lnTo>
                      <a:pt x="1055" y="58"/>
                    </a:lnTo>
                    <a:lnTo>
                      <a:pt x="1057" y="56"/>
                    </a:lnTo>
                    <a:lnTo>
                      <a:pt x="1058" y="55"/>
                    </a:lnTo>
                    <a:lnTo>
                      <a:pt x="1064" y="51"/>
                    </a:lnTo>
                    <a:lnTo>
                      <a:pt x="1068" y="50"/>
                    </a:lnTo>
                    <a:lnTo>
                      <a:pt x="1073" y="50"/>
                    </a:lnTo>
                    <a:lnTo>
                      <a:pt x="1077" y="50"/>
                    </a:lnTo>
                    <a:lnTo>
                      <a:pt x="1081" y="51"/>
                    </a:lnTo>
                    <a:lnTo>
                      <a:pt x="1084" y="55"/>
                    </a:lnTo>
                    <a:lnTo>
                      <a:pt x="1085" y="58"/>
                    </a:lnTo>
                    <a:lnTo>
                      <a:pt x="1086" y="64"/>
                    </a:lnTo>
                    <a:lnTo>
                      <a:pt x="1086" y="112"/>
                    </a:lnTo>
                    <a:lnTo>
                      <a:pt x="1086" y="114"/>
                    </a:lnTo>
                    <a:lnTo>
                      <a:pt x="1085" y="118"/>
                    </a:lnTo>
                    <a:lnTo>
                      <a:pt x="1083" y="119"/>
                    </a:lnTo>
                    <a:lnTo>
                      <a:pt x="1080" y="120"/>
                    </a:lnTo>
                    <a:lnTo>
                      <a:pt x="1078" y="120"/>
                    </a:lnTo>
                    <a:lnTo>
                      <a:pt x="1075" y="121"/>
                    </a:lnTo>
                    <a:lnTo>
                      <a:pt x="1075" y="123"/>
                    </a:lnTo>
                    <a:lnTo>
                      <a:pt x="1114" y="123"/>
                    </a:lnTo>
                    <a:lnTo>
                      <a:pt x="1114" y="121"/>
                    </a:lnTo>
                    <a:close/>
                    <a:moveTo>
                      <a:pt x="1198" y="88"/>
                    </a:moveTo>
                    <a:lnTo>
                      <a:pt x="1198" y="80"/>
                    </a:lnTo>
                    <a:lnTo>
                      <a:pt x="1197" y="69"/>
                    </a:lnTo>
                    <a:lnTo>
                      <a:pt x="1194" y="59"/>
                    </a:lnTo>
                    <a:lnTo>
                      <a:pt x="1181" y="47"/>
                    </a:lnTo>
                    <a:lnTo>
                      <a:pt x="1181" y="80"/>
                    </a:lnTo>
                    <a:lnTo>
                      <a:pt x="1181" y="96"/>
                    </a:lnTo>
                    <a:lnTo>
                      <a:pt x="1180" y="103"/>
                    </a:lnTo>
                    <a:lnTo>
                      <a:pt x="1176" y="112"/>
                    </a:lnTo>
                    <a:lnTo>
                      <a:pt x="1173" y="115"/>
                    </a:lnTo>
                    <a:lnTo>
                      <a:pt x="1167" y="119"/>
                    </a:lnTo>
                    <a:lnTo>
                      <a:pt x="1163" y="120"/>
                    </a:lnTo>
                    <a:lnTo>
                      <a:pt x="1160" y="120"/>
                    </a:lnTo>
                    <a:lnTo>
                      <a:pt x="1155" y="120"/>
                    </a:lnTo>
                    <a:lnTo>
                      <a:pt x="1150" y="118"/>
                    </a:lnTo>
                    <a:lnTo>
                      <a:pt x="1144" y="111"/>
                    </a:lnTo>
                    <a:lnTo>
                      <a:pt x="1141" y="107"/>
                    </a:lnTo>
                    <a:lnTo>
                      <a:pt x="1137" y="97"/>
                    </a:lnTo>
                    <a:lnTo>
                      <a:pt x="1136" y="92"/>
                    </a:lnTo>
                    <a:lnTo>
                      <a:pt x="1135" y="81"/>
                    </a:lnTo>
                    <a:lnTo>
                      <a:pt x="1134" y="77"/>
                    </a:lnTo>
                    <a:lnTo>
                      <a:pt x="1135" y="64"/>
                    </a:lnTo>
                    <a:lnTo>
                      <a:pt x="1137" y="57"/>
                    </a:lnTo>
                    <a:lnTo>
                      <a:pt x="1145" y="48"/>
                    </a:lnTo>
                    <a:lnTo>
                      <a:pt x="1150" y="46"/>
                    </a:lnTo>
                    <a:lnTo>
                      <a:pt x="1156" y="46"/>
                    </a:lnTo>
                    <a:lnTo>
                      <a:pt x="1161" y="46"/>
                    </a:lnTo>
                    <a:lnTo>
                      <a:pt x="1166" y="48"/>
                    </a:lnTo>
                    <a:lnTo>
                      <a:pt x="1174" y="55"/>
                    </a:lnTo>
                    <a:lnTo>
                      <a:pt x="1177" y="60"/>
                    </a:lnTo>
                    <a:lnTo>
                      <a:pt x="1180" y="73"/>
                    </a:lnTo>
                    <a:lnTo>
                      <a:pt x="1181" y="80"/>
                    </a:lnTo>
                    <a:lnTo>
                      <a:pt x="1181" y="47"/>
                    </a:lnTo>
                    <a:lnTo>
                      <a:pt x="1180" y="46"/>
                    </a:lnTo>
                    <a:lnTo>
                      <a:pt x="1179" y="44"/>
                    </a:lnTo>
                    <a:lnTo>
                      <a:pt x="1169" y="41"/>
                    </a:lnTo>
                    <a:lnTo>
                      <a:pt x="1157" y="41"/>
                    </a:lnTo>
                    <a:lnTo>
                      <a:pt x="1149" y="41"/>
                    </a:lnTo>
                    <a:lnTo>
                      <a:pt x="1142" y="43"/>
                    </a:lnTo>
                    <a:lnTo>
                      <a:pt x="1131" y="50"/>
                    </a:lnTo>
                    <a:lnTo>
                      <a:pt x="1126" y="55"/>
                    </a:lnTo>
                    <a:lnTo>
                      <a:pt x="1120" y="68"/>
                    </a:lnTo>
                    <a:lnTo>
                      <a:pt x="1118" y="75"/>
                    </a:lnTo>
                    <a:lnTo>
                      <a:pt x="1118" y="90"/>
                    </a:lnTo>
                    <a:lnTo>
                      <a:pt x="1120" y="98"/>
                    </a:lnTo>
                    <a:lnTo>
                      <a:pt x="1127" y="111"/>
                    </a:lnTo>
                    <a:lnTo>
                      <a:pt x="1131" y="116"/>
                    </a:lnTo>
                    <a:lnTo>
                      <a:pt x="1143" y="123"/>
                    </a:lnTo>
                    <a:lnTo>
                      <a:pt x="1150" y="125"/>
                    </a:lnTo>
                    <a:lnTo>
                      <a:pt x="1158" y="125"/>
                    </a:lnTo>
                    <a:lnTo>
                      <a:pt x="1167" y="125"/>
                    </a:lnTo>
                    <a:lnTo>
                      <a:pt x="1174" y="123"/>
                    </a:lnTo>
                    <a:lnTo>
                      <a:pt x="1177" y="120"/>
                    </a:lnTo>
                    <a:lnTo>
                      <a:pt x="1186" y="113"/>
                    </a:lnTo>
                    <a:lnTo>
                      <a:pt x="1190" y="108"/>
                    </a:lnTo>
                    <a:lnTo>
                      <a:pt x="1196" y="95"/>
                    </a:lnTo>
                    <a:lnTo>
                      <a:pt x="1198" y="88"/>
                    </a:lnTo>
                    <a:close/>
                    <a:moveTo>
                      <a:pt x="1265" y="47"/>
                    </a:moveTo>
                    <a:lnTo>
                      <a:pt x="1264" y="45"/>
                    </a:lnTo>
                    <a:lnTo>
                      <a:pt x="1261" y="41"/>
                    </a:lnTo>
                    <a:lnTo>
                      <a:pt x="1259" y="41"/>
                    </a:lnTo>
                    <a:lnTo>
                      <a:pt x="1255" y="41"/>
                    </a:lnTo>
                    <a:lnTo>
                      <a:pt x="1252" y="40"/>
                    </a:lnTo>
                    <a:lnTo>
                      <a:pt x="1249" y="42"/>
                    </a:lnTo>
                    <a:lnTo>
                      <a:pt x="1242" y="46"/>
                    </a:lnTo>
                    <a:lnTo>
                      <a:pt x="1238" y="51"/>
                    </a:lnTo>
                    <a:lnTo>
                      <a:pt x="1234" y="57"/>
                    </a:lnTo>
                    <a:lnTo>
                      <a:pt x="1234" y="52"/>
                    </a:lnTo>
                    <a:lnTo>
                      <a:pt x="1234" y="41"/>
                    </a:lnTo>
                    <a:lnTo>
                      <a:pt x="1233" y="41"/>
                    </a:lnTo>
                    <a:lnTo>
                      <a:pt x="1224" y="44"/>
                    </a:lnTo>
                    <a:lnTo>
                      <a:pt x="1215" y="47"/>
                    </a:lnTo>
                    <a:lnTo>
                      <a:pt x="1206" y="50"/>
                    </a:lnTo>
                    <a:lnTo>
                      <a:pt x="1206" y="53"/>
                    </a:lnTo>
                    <a:lnTo>
                      <a:pt x="1208" y="53"/>
                    </a:lnTo>
                    <a:lnTo>
                      <a:pt x="1210" y="52"/>
                    </a:lnTo>
                    <a:lnTo>
                      <a:pt x="1212" y="52"/>
                    </a:lnTo>
                    <a:lnTo>
                      <a:pt x="1214" y="52"/>
                    </a:lnTo>
                    <a:lnTo>
                      <a:pt x="1215" y="53"/>
                    </a:lnTo>
                    <a:lnTo>
                      <a:pt x="1218" y="55"/>
                    </a:lnTo>
                    <a:lnTo>
                      <a:pt x="1218" y="58"/>
                    </a:lnTo>
                    <a:lnTo>
                      <a:pt x="1219" y="108"/>
                    </a:lnTo>
                    <a:lnTo>
                      <a:pt x="1219" y="113"/>
                    </a:lnTo>
                    <a:lnTo>
                      <a:pt x="1218" y="116"/>
                    </a:lnTo>
                    <a:lnTo>
                      <a:pt x="1214" y="119"/>
                    </a:lnTo>
                    <a:lnTo>
                      <a:pt x="1211" y="120"/>
                    </a:lnTo>
                    <a:lnTo>
                      <a:pt x="1206" y="121"/>
                    </a:lnTo>
                    <a:lnTo>
                      <a:pt x="1206" y="123"/>
                    </a:lnTo>
                    <a:lnTo>
                      <a:pt x="1249" y="123"/>
                    </a:lnTo>
                    <a:lnTo>
                      <a:pt x="1249" y="121"/>
                    </a:lnTo>
                    <a:lnTo>
                      <a:pt x="1244" y="121"/>
                    </a:lnTo>
                    <a:lnTo>
                      <a:pt x="1241" y="120"/>
                    </a:lnTo>
                    <a:lnTo>
                      <a:pt x="1235" y="117"/>
                    </a:lnTo>
                    <a:lnTo>
                      <a:pt x="1234" y="113"/>
                    </a:lnTo>
                    <a:lnTo>
                      <a:pt x="1234" y="65"/>
                    </a:lnTo>
                    <a:lnTo>
                      <a:pt x="1235" y="62"/>
                    </a:lnTo>
                    <a:lnTo>
                      <a:pt x="1237" y="58"/>
                    </a:lnTo>
                    <a:lnTo>
                      <a:pt x="1238" y="57"/>
                    </a:lnTo>
                    <a:lnTo>
                      <a:pt x="1239" y="56"/>
                    </a:lnTo>
                    <a:lnTo>
                      <a:pt x="1243" y="53"/>
                    </a:lnTo>
                    <a:lnTo>
                      <a:pt x="1244" y="52"/>
                    </a:lnTo>
                    <a:lnTo>
                      <a:pt x="1246" y="52"/>
                    </a:lnTo>
                    <a:lnTo>
                      <a:pt x="1247" y="52"/>
                    </a:lnTo>
                    <a:lnTo>
                      <a:pt x="1249" y="53"/>
                    </a:lnTo>
                    <a:lnTo>
                      <a:pt x="1251" y="54"/>
                    </a:lnTo>
                    <a:lnTo>
                      <a:pt x="1252" y="56"/>
                    </a:lnTo>
                    <a:lnTo>
                      <a:pt x="1255" y="58"/>
                    </a:lnTo>
                    <a:lnTo>
                      <a:pt x="1256" y="58"/>
                    </a:lnTo>
                    <a:lnTo>
                      <a:pt x="1258" y="58"/>
                    </a:lnTo>
                    <a:lnTo>
                      <a:pt x="1260" y="58"/>
                    </a:lnTo>
                    <a:lnTo>
                      <a:pt x="1262" y="57"/>
                    </a:lnTo>
                    <a:lnTo>
                      <a:pt x="1265" y="54"/>
                    </a:lnTo>
                    <a:lnTo>
                      <a:pt x="1265" y="53"/>
                    </a:lnTo>
                    <a:lnTo>
                      <a:pt x="1265" y="52"/>
                    </a:lnTo>
                    <a:lnTo>
                      <a:pt x="1265" y="47"/>
                    </a:lnTo>
                    <a:close/>
                    <a:moveTo>
                      <a:pt x="1350" y="42"/>
                    </a:moveTo>
                    <a:lnTo>
                      <a:pt x="1325" y="42"/>
                    </a:lnTo>
                    <a:lnTo>
                      <a:pt x="1325" y="45"/>
                    </a:lnTo>
                    <a:lnTo>
                      <a:pt x="1331" y="45"/>
                    </a:lnTo>
                    <a:lnTo>
                      <a:pt x="1334" y="47"/>
                    </a:lnTo>
                    <a:lnTo>
                      <a:pt x="1334" y="51"/>
                    </a:lnTo>
                    <a:lnTo>
                      <a:pt x="1334" y="53"/>
                    </a:lnTo>
                    <a:lnTo>
                      <a:pt x="1330" y="62"/>
                    </a:lnTo>
                    <a:lnTo>
                      <a:pt x="1316" y="102"/>
                    </a:lnTo>
                    <a:lnTo>
                      <a:pt x="1295" y="57"/>
                    </a:lnTo>
                    <a:lnTo>
                      <a:pt x="1295" y="56"/>
                    </a:lnTo>
                    <a:lnTo>
                      <a:pt x="1294" y="55"/>
                    </a:lnTo>
                    <a:lnTo>
                      <a:pt x="1294" y="53"/>
                    </a:lnTo>
                    <a:lnTo>
                      <a:pt x="1293" y="51"/>
                    </a:lnTo>
                    <a:lnTo>
                      <a:pt x="1294" y="48"/>
                    </a:lnTo>
                    <a:lnTo>
                      <a:pt x="1295" y="47"/>
                    </a:lnTo>
                    <a:lnTo>
                      <a:pt x="1299" y="45"/>
                    </a:lnTo>
                    <a:lnTo>
                      <a:pt x="1302" y="45"/>
                    </a:lnTo>
                    <a:lnTo>
                      <a:pt x="1304" y="45"/>
                    </a:lnTo>
                    <a:lnTo>
                      <a:pt x="1304" y="42"/>
                    </a:lnTo>
                    <a:lnTo>
                      <a:pt x="1267" y="42"/>
                    </a:lnTo>
                    <a:lnTo>
                      <a:pt x="1267" y="45"/>
                    </a:lnTo>
                    <a:lnTo>
                      <a:pt x="1268" y="45"/>
                    </a:lnTo>
                    <a:lnTo>
                      <a:pt x="1270" y="45"/>
                    </a:lnTo>
                    <a:lnTo>
                      <a:pt x="1273" y="47"/>
                    </a:lnTo>
                    <a:lnTo>
                      <a:pt x="1275" y="48"/>
                    </a:lnTo>
                    <a:lnTo>
                      <a:pt x="1276" y="51"/>
                    </a:lnTo>
                    <a:lnTo>
                      <a:pt x="1297" y="97"/>
                    </a:lnTo>
                    <a:lnTo>
                      <a:pt x="1302" y="107"/>
                    </a:lnTo>
                    <a:lnTo>
                      <a:pt x="1304" y="110"/>
                    </a:lnTo>
                    <a:lnTo>
                      <a:pt x="1307" y="117"/>
                    </a:lnTo>
                    <a:lnTo>
                      <a:pt x="1308" y="119"/>
                    </a:lnTo>
                    <a:lnTo>
                      <a:pt x="1308" y="121"/>
                    </a:lnTo>
                    <a:lnTo>
                      <a:pt x="1307" y="122"/>
                    </a:lnTo>
                    <a:lnTo>
                      <a:pt x="1306" y="128"/>
                    </a:lnTo>
                    <a:lnTo>
                      <a:pt x="1304" y="131"/>
                    </a:lnTo>
                    <a:lnTo>
                      <a:pt x="1301" y="138"/>
                    </a:lnTo>
                    <a:lnTo>
                      <a:pt x="1300" y="141"/>
                    </a:lnTo>
                    <a:lnTo>
                      <a:pt x="1296" y="146"/>
                    </a:lnTo>
                    <a:lnTo>
                      <a:pt x="1293" y="147"/>
                    </a:lnTo>
                    <a:lnTo>
                      <a:pt x="1291" y="147"/>
                    </a:lnTo>
                    <a:lnTo>
                      <a:pt x="1290" y="147"/>
                    </a:lnTo>
                    <a:lnTo>
                      <a:pt x="1288" y="147"/>
                    </a:lnTo>
                    <a:lnTo>
                      <a:pt x="1283" y="145"/>
                    </a:lnTo>
                    <a:lnTo>
                      <a:pt x="1281" y="144"/>
                    </a:lnTo>
                    <a:lnTo>
                      <a:pt x="1278" y="144"/>
                    </a:lnTo>
                    <a:lnTo>
                      <a:pt x="1276" y="144"/>
                    </a:lnTo>
                    <a:lnTo>
                      <a:pt x="1274" y="145"/>
                    </a:lnTo>
                    <a:lnTo>
                      <a:pt x="1271" y="147"/>
                    </a:lnTo>
                    <a:lnTo>
                      <a:pt x="1270" y="148"/>
                    </a:lnTo>
                    <a:lnTo>
                      <a:pt x="1270" y="151"/>
                    </a:lnTo>
                    <a:lnTo>
                      <a:pt x="1270" y="155"/>
                    </a:lnTo>
                    <a:lnTo>
                      <a:pt x="1271" y="157"/>
                    </a:lnTo>
                    <a:lnTo>
                      <a:pt x="1275" y="161"/>
                    </a:lnTo>
                    <a:lnTo>
                      <a:pt x="1278" y="162"/>
                    </a:lnTo>
                    <a:lnTo>
                      <a:pt x="1283" y="163"/>
                    </a:lnTo>
                    <a:lnTo>
                      <a:pt x="1289" y="163"/>
                    </a:lnTo>
                    <a:lnTo>
                      <a:pt x="1295" y="160"/>
                    </a:lnTo>
                    <a:lnTo>
                      <a:pt x="1304" y="148"/>
                    </a:lnTo>
                    <a:lnTo>
                      <a:pt x="1304" y="147"/>
                    </a:lnTo>
                    <a:lnTo>
                      <a:pt x="1309" y="139"/>
                    </a:lnTo>
                    <a:lnTo>
                      <a:pt x="1313" y="127"/>
                    </a:lnTo>
                    <a:lnTo>
                      <a:pt x="1323" y="102"/>
                    </a:lnTo>
                    <a:lnTo>
                      <a:pt x="1341" y="53"/>
                    </a:lnTo>
                    <a:lnTo>
                      <a:pt x="1343" y="50"/>
                    </a:lnTo>
                    <a:lnTo>
                      <a:pt x="1344" y="47"/>
                    </a:lnTo>
                    <a:lnTo>
                      <a:pt x="1347" y="46"/>
                    </a:lnTo>
                    <a:lnTo>
                      <a:pt x="1349" y="45"/>
                    </a:lnTo>
                    <a:lnTo>
                      <a:pt x="1350" y="45"/>
                    </a:lnTo>
                    <a:lnTo>
                      <a:pt x="1350" y="42"/>
                    </a:lnTo>
                    <a:close/>
                    <a:moveTo>
                      <a:pt x="1432" y="7"/>
                    </a:moveTo>
                    <a:lnTo>
                      <a:pt x="1431" y="5"/>
                    </a:lnTo>
                    <a:lnTo>
                      <a:pt x="1427" y="1"/>
                    </a:lnTo>
                    <a:lnTo>
                      <a:pt x="1425" y="1"/>
                    </a:lnTo>
                    <a:lnTo>
                      <a:pt x="1422" y="0"/>
                    </a:lnTo>
                    <a:lnTo>
                      <a:pt x="1419" y="1"/>
                    </a:lnTo>
                    <a:lnTo>
                      <a:pt x="1417" y="2"/>
                    </a:lnTo>
                    <a:lnTo>
                      <a:pt x="1414" y="6"/>
                    </a:lnTo>
                    <a:lnTo>
                      <a:pt x="1413" y="8"/>
                    </a:lnTo>
                    <a:lnTo>
                      <a:pt x="1413" y="12"/>
                    </a:lnTo>
                    <a:lnTo>
                      <a:pt x="1414" y="13"/>
                    </a:lnTo>
                    <a:lnTo>
                      <a:pt x="1417" y="18"/>
                    </a:lnTo>
                    <a:lnTo>
                      <a:pt x="1419" y="19"/>
                    </a:lnTo>
                    <a:lnTo>
                      <a:pt x="1422" y="19"/>
                    </a:lnTo>
                    <a:lnTo>
                      <a:pt x="1425" y="19"/>
                    </a:lnTo>
                    <a:lnTo>
                      <a:pt x="1427" y="18"/>
                    </a:lnTo>
                    <a:lnTo>
                      <a:pt x="1431" y="14"/>
                    </a:lnTo>
                    <a:lnTo>
                      <a:pt x="1432" y="12"/>
                    </a:lnTo>
                    <a:lnTo>
                      <a:pt x="1432" y="7"/>
                    </a:lnTo>
                    <a:close/>
                    <a:moveTo>
                      <a:pt x="1445" y="121"/>
                    </a:moveTo>
                    <a:lnTo>
                      <a:pt x="1439" y="120"/>
                    </a:lnTo>
                    <a:lnTo>
                      <a:pt x="1435" y="119"/>
                    </a:lnTo>
                    <a:lnTo>
                      <a:pt x="1432" y="115"/>
                    </a:lnTo>
                    <a:lnTo>
                      <a:pt x="1431" y="111"/>
                    </a:lnTo>
                    <a:lnTo>
                      <a:pt x="1431" y="110"/>
                    </a:lnTo>
                    <a:lnTo>
                      <a:pt x="1431" y="52"/>
                    </a:lnTo>
                    <a:lnTo>
                      <a:pt x="1431" y="41"/>
                    </a:lnTo>
                    <a:lnTo>
                      <a:pt x="1422" y="44"/>
                    </a:lnTo>
                    <a:lnTo>
                      <a:pt x="1412" y="47"/>
                    </a:lnTo>
                    <a:lnTo>
                      <a:pt x="1403" y="50"/>
                    </a:lnTo>
                    <a:lnTo>
                      <a:pt x="1403" y="53"/>
                    </a:lnTo>
                    <a:lnTo>
                      <a:pt x="1405" y="53"/>
                    </a:lnTo>
                    <a:lnTo>
                      <a:pt x="1408" y="52"/>
                    </a:lnTo>
                    <a:lnTo>
                      <a:pt x="1410" y="52"/>
                    </a:lnTo>
                    <a:lnTo>
                      <a:pt x="1412" y="52"/>
                    </a:lnTo>
                    <a:lnTo>
                      <a:pt x="1413" y="53"/>
                    </a:lnTo>
                    <a:lnTo>
                      <a:pt x="1416" y="55"/>
                    </a:lnTo>
                    <a:lnTo>
                      <a:pt x="1416" y="58"/>
                    </a:lnTo>
                    <a:lnTo>
                      <a:pt x="1416" y="111"/>
                    </a:lnTo>
                    <a:lnTo>
                      <a:pt x="1416" y="113"/>
                    </a:lnTo>
                    <a:lnTo>
                      <a:pt x="1414" y="117"/>
                    </a:lnTo>
                    <a:lnTo>
                      <a:pt x="1413" y="119"/>
                    </a:lnTo>
                    <a:lnTo>
                      <a:pt x="1409" y="120"/>
                    </a:lnTo>
                    <a:lnTo>
                      <a:pt x="1406" y="121"/>
                    </a:lnTo>
                    <a:lnTo>
                      <a:pt x="1402" y="121"/>
                    </a:lnTo>
                    <a:lnTo>
                      <a:pt x="1402" y="123"/>
                    </a:lnTo>
                    <a:lnTo>
                      <a:pt x="1445" y="123"/>
                    </a:lnTo>
                    <a:lnTo>
                      <a:pt x="1445" y="121"/>
                    </a:lnTo>
                    <a:close/>
                    <a:moveTo>
                      <a:pt x="1537" y="121"/>
                    </a:moveTo>
                    <a:lnTo>
                      <a:pt x="1533" y="120"/>
                    </a:lnTo>
                    <a:lnTo>
                      <a:pt x="1530" y="119"/>
                    </a:lnTo>
                    <a:lnTo>
                      <a:pt x="1527" y="116"/>
                    </a:lnTo>
                    <a:lnTo>
                      <a:pt x="1526" y="113"/>
                    </a:lnTo>
                    <a:lnTo>
                      <a:pt x="1526" y="60"/>
                    </a:lnTo>
                    <a:lnTo>
                      <a:pt x="1525" y="55"/>
                    </a:lnTo>
                    <a:lnTo>
                      <a:pt x="1522" y="50"/>
                    </a:lnTo>
                    <a:lnTo>
                      <a:pt x="1520" y="47"/>
                    </a:lnTo>
                    <a:lnTo>
                      <a:pt x="1517" y="44"/>
                    </a:lnTo>
                    <a:lnTo>
                      <a:pt x="1511" y="41"/>
                    </a:lnTo>
                    <a:lnTo>
                      <a:pt x="1508" y="40"/>
                    </a:lnTo>
                    <a:lnTo>
                      <a:pt x="1505" y="41"/>
                    </a:lnTo>
                    <a:lnTo>
                      <a:pt x="1500" y="41"/>
                    </a:lnTo>
                    <a:lnTo>
                      <a:pt x="1495" y="42"/>
                    </a:lnTo>
                    <a:lnTo>
                      <a:pt x="1487" y="47"/>
                    </a:lnTo>
                    <a:lnTo>
                      <a:pt x="1483" y="51"/>
                    </a:lnTo>
                    <a:lnTo>
                      <a:pt x="1479" y="55"/>
                    </a:lnTo>
                    <a:lnTo>
                      <a:pt x="1479" y="51"/>
                    </a:lnTo>
                    <a:lnTo>
                      <a:pt x="1479" y="41"/>
                    </a:lnTo>
                    <a:lnTo>
                      <a:pt x="1477" y="41"/>
                    </a:lnTo>
                    <a:lnTo>
                      <a:pt x="1469" y="44"/>
                    </a:lnTo>
                    <a:lnTo>
                      <a:pt x="1461" y="46"/>
                    </a:lnTo>
                    <a:lnTo>
                      <a:pt x="1453" y="49"/>
                    </a:lnTo>
                    <a:lnTo>
                      <a:pt x="1453" y="52"/>
                    </a:lnTo>
                    <a:lnTo>
                      <a:pt x="1453" y="51"/>
                    </a:lnTo>
                    <a:lnTo>
                      <a:pt x="1455" y="51"/>
                    </a:lnTo>
                    <a:lnTo>
                      <a:pt x="1458" y="51"/>
                    </a:lnTo>
                    <a:lnTo>
                      <a:pt x="1459" y="51"/>
                    </a:lnTo>
                    <a:lnTo>
                      <a:pt x="1461" y="51"/>
                    </a:lnTo>
                    <a:lnTo>
                      <a:pt x="1463" y="54"/>
                    </a:lnTo>
                    <a:lnTo>
                      <a:pt x="1464" y="57"/>
                    </a:lnTo>
                    <a:lnTo>
                      <a:pt x="1464" y="110"/>
                    </a:lnTo>
                    <a:lnTo>
                      <a:pt x="1464" y="113"/>
                    </a:lnTo>
                    <a:lnTo>
                      <a:pt x="1463" y="116"/>
                    </a:lnTo>
                    <a:lnTo>
                      <a:pt x="1460" y="120"/>
                    </a:lnTo>
                    <a:lnTo>
                      <a:pt x="1457" y="121"/>
                    </a:lnTo>
                    <a:lnTo>
                      <a:pt x="1453" y="121"/>
                    </a:lnTo>
                    <a:lnTo>
                      <a:pt x="1453" y="123"/>
                    </a:lnTo>
                    <a:lnTo>
                      <a:pt x="1491" y="123"/>
                    </a:lnTo>
                    <a:lnTo>
                      <a:pt x="1491" y="121"/>
                    </a:lnTo>
                    <a:lnTo>
                      <a:pt x="1486" y="120"/>
                    </a:lnTo>
                    <a:lnTo>
                      <a:pt x="1483" y="120"/>
                    </a:lnTo>
                    <a:lnTo>
                      <a:pt x="1480" y="117"/>
                    </a:lnTo>
                    <a:lnTo>
                      <a:pt x="1479" y="114"/>
                    </a:lnTo>
                    <a:lnTo>
                      <a:pt x="1479" y="61"/>
                    </a:lnTo>
                    <a:lnTo>
                      <a:pt x="1485" y="55"/>
                    </a:lnTo>
                    <a:lnTo>
                      <a:pt x="1486" y="54"/>
                    </a:lnTo>
                    <a:lnTo>
                      <a:pt x="1492" y="51"/>
                    </a:lnTo>
                    <a:lnTo>
                      <a:pt x="1497" y="50"/>
                    </a:lnTo>
                    <a:lnTo>
                      <a:pt x="1502" y="50"/>
                    </a:lnTo>
                    <a:lnTo>
                      <a:pt x="1506" y="52"/>
                    </a:lnTo>
                    <a:lnTo>
                      <a:pt x="1510" y="58"/>
                    </a:lnTo>
                    <a:lnTo>
                      <a:pt x="1511" y="62"/>
                    </a:lnTo>
                    <a:lnTo>
                      <a:pt x="1511" y="110"/>
                    </a:lnTo>
                    <a:lnTo>
                      <a:pt x="1510" y="113"/>
                    </a:lnTo>
                    <a:lnTo>
                      <a:pt x="1508" y="117"/>
                    </a:lnTo>
                    <a:lnTo>
                      <a:pt x="1507" y="119"/>
                    </a:lnTo>
                    <a:lnTo>
                      <a:pt x="1504" y="120"/>
                    </a:lnTo>
                    <a:lnTo>
                      <a:pt x="1502" y="121"/>
                    </a:lnTo>
                    <a:lnTo>
                      <a:pt x="1500" y="121"/>
                    </a:lnTo>
                    <a:lnTo>
                      <a:pt x="1500" y="123"/>
                    </a:lnTo>
                    <a:lnTo>
                      <a:pt x="1537" y="123"/>
                    </a:lnTo>
                    <a:lnTo>
                      <a:pt x="1537" y="121"/>
                    </a:lnTo>
                    <a:close/>
                    <a:moveTo>
                      <a:pt x="1588" y="111"/>
                    </a:moveTo>
                    <a:lnTo>
                      <a:pt x="1586" y="109"/>
                    </a:lnTo>
                    <a:lnTo>
                      <a:pt x="1585" y="111"/>
                    </a:lnTo>
                    <a:lnTo>
                      <a:pt x="1583" y="112"/>
                    </a:lnTo>
                    <a:lnTo>
                      <a:pt x="1580" y="115"/>
                    </a:lnTo>
                    <a:lnTo>
                      <a:pt x="1578" y="116"/>
                    </a:lnTo>
                    <a:lnTo>
                      <a:pt x="1575" y="116"/>
                    </a:lnTo>
                    <a:lnTo>
                      <a:pt x="1572" y="116"/>
                    </a:lnTo>
                    <a:lnTo>
                      <a:pt x="1570" y="115"/>
                    </a:lnTo>
                    <a:lnTo>
                      <a:pt x="1567" y="111"/>
                    </a:lnTo>
                    <a:lnTo>
                      <a:pt x="1566" y="109"/>
                    </a:lnTo>
                    <a:lnTo>
                      <a:pt x="1566" y="104"/>
                    </a:lnTo>
                    <a:lnTo>
                      <a:pt x="1566" y="48"/>
                    </a:lnTo>
                    <a:lnTo>
                      <a:pt x="1584" y="48"/>
                    </a:lnTo>
                    <a:lnTo>
                      <a:pt x="1584" y="42"/>
                    </a:lnTo>
                    <a:lnTo>
                      <a:pt x="1566" y="42"/>
                    </a:lnTo>
                    <a:lnTo>
                      <a:pt x="1566" y="21"/>
                    </a:lnTo>
                    <a:lnTo>
                      <a:pt x="1566" y="20"/>
                    </a:lnTo>
                    <a:lnTo>
                      <a:pt x="1565" y="19"/>
                    </a:lnTo>
                    <a:lnTo>
                      <a:pt x="1564" y="19"/>
                    </a:lnTo>
                    <a:lnTo>
                      <a:pt x="1561" y="24"/>
                    </a:lnTo>
                    <a:lnTo>
                      <a:pt x="1559" y="27"/>
                    </a:lnTo>
                    <a:lnTo>
                      <a:pt x="1554" y="33"/>
                    </a:lnTo>
                    <a:lnTo>
                      <a:pt x="1551" y="36"/>
                    </a:lnTo>
                    <a:lnTo>
                      <a:pt x="1548" y="40"/>
                    </a:lnTo>
                    <a:lnTo>
                      <a:pt x="1546" y="42"/>
                    </a:lnTo>
                    <a:lnTo>
                      <a:pt x="1544" y="43"/>
                    </a:lnTo>
                    <a:lnTo>
                      <a:pt x="1541" y="45"/>
                    </a:lnTo>
                    <a:lnTo>
                      <a:pt x="1540" y="46"/>
                    </a:lnTo>
                    <a:lnTo>
                      <a:pt x="1540" y="47"/>
                    </a:lnTo>
                    <a:lnTo>
                      <a:pt x="1541" y="48"/>
                    </a:lnTo>
                    <a:lnTo>
                      <a:pt x="1550" y="48"/>
                    </a:lnTo>
                    <a:lnTo>
                      <a:pt x="1551" y="111"/>
                    </a:lnTo>
                    <a:lnTo>
                      <a:pt x="1552" y="117"/>
                    </a:lnTo>
                    <a:lnTo>
                      <a:pt x="1558" y="124"/>
                    </a:lnTo>
                    <a:lnTo>
                      <a:pt x="1562" y="125"/>
                    </a:lnTo>
                    <a:lnTo>
                      <a:pt x="1571" y="125"/>
                    </a:lnTo>
                    <a:lnTo>
                      <a:pt x="1575" y="124"/>
                    </a:lnTo>
                    <a:lnTo>
                      <a:pt x="1583" y="119"/>
                    </a:lnTo>
                    <a:lnTo>
                      <a:pt x="1585" y="116"/>
                    </a:lnTo>
                    <a:lnTo>
                      <a:pt x="1586" y="115"/>
                    </a:lnTo>
                    <a:lnTo>
                      <a:pt x="1588" y="111"/>
                    </a:lnTo>
                    <a:close/>
                    <a:moveTo>
                      <a:pt x="1665" y="95"/>
                    </a:moveTo>
                    <a:lnTo>
                      <a:pt x="1662" y="94"/>
                    </a:lnTo>
                    <a:lnTo>
                      <a:pt x="1660" y="96"/>
                    </a:lnTo>
                    <a:lnTo>
                      <a:pt x="1659" y="99"/>
                    </a:lnTo>
                    <a:lnTo>
                      <a:pt x="1654" y="105"/>
                    </a:lnTo>
                    <a:lnTo>
                      <a:pt x="1651" y="107"/>
                    </a:lnTo>
                    <a:lnTo>
                      <a:pt x="1644" y="111"/>
                    </a:lnTo>
                    <a:lnTo>
                      <a:pt x="1639" y="113"/>
                    </a:lnTo>
                    <a:lnTo>
                      <a:pt x="1630" y="113"/>
                    </a:lnTo>
                    <a:lnTo>
                      <a:pt x="1626" y="112"/>
                    </a:lnTo>
                    <a:lnTo>
                      <a:pt x="1617" y="108"/>
                    </a:lnTo>
                    <a:lnTo>
                      <a:pt x="1614" y="104"/>
                    </a:lnTo>
                    <a:lnTo>
                      <a:pt x="1608" y="92"/>
                    </a:lnTo>
                    <a:lnTo>
                      <a:pt x="1606" y="84"/>
                    </a:lnTo>
                    <a:lnTo>
                      <a:pt x="1605" y="73"/>
                    </a:lnTo>
                    <a:lnTo>
                      <a:pt x="1661" y="73"/>
                    </a:lnTo>
                    <a:lnTo>
                      <a:pt x="1661" y="68"/>
                    </a:lnTo>
                    <a:lnTo>
                      <a:pt x="1660" y="62"/>
                    </a:lnTo>
                    <a:lnTo>
                      <a:pt x="1657" y="53"/>
                    </a:lnTo>
                    <a:lnTo>
                      <a:pt x="1650" y="47"/>
                    </a:lnTo>
                    <a:lnTo>
                      <a:pt x="1645" y="43"/>
                    </a:lnTo>
                    <a:lnTo>
                      <a:pt x="1643" y="42"/>
                    </a:lnTo>
                    <a:lnTo>
                      <a:pt x="1643" y="68"/>
                    </a:lnTo>
                    <a:lnTo>
                      <a:pt x="1606" y="68"/>
                    </a:lnTo>
                    <a:lnTo>
                      <a:pt x="1607" y="60"/>
                    </a:lnTo>
                    <a:lnTo>
                      <a:pt x="1610" y="55"/>
                    </a:lnTo>
                    <a:lnTo>
                      <a:pt x="1616" y="48"/>
                    </a:lnTo>
                    <a:lnTo>
                      <a:pt x="1621" y="47"/>
                    </a:lnTo>
                    <a:lnTo>
                      <a:pt x="1630" y="47"/>
                    </a:lnTo>
                    <a:lnTo>
                      <a:pt x="1634" y="48"/>
                    </a:lnTo>
                    <a:lnTo>
                      <a:pt x="1638" y="53"/>
                    </a:lnTo>
                    <a:lnTo>
                      <a:pt x="1640" y="55"/>
                    </a:lnTo>
                    <a:lnTo>
                      <a:pt x="1642" y="62"/>
                    </a:lnTo>
                    <a:lnTo>
                      <a:pt x="1642" y="65"/>
                    </a:lnTo>
                    <a:lnTo>
                      <a:pt x="1643" y="68"/>
                    </a:lnTo>
                    <a:lnTo>
                      <a:pt x="1643" y="42"/>
                    </a:lnTo>
                    <a:lnTo>
                      <a:pt x="1638" y="41"/>
                    </a:lnTo>
                    <a:lnTo>
                      <a:pt x="1638" y="40"/>
                    </a:lnTo>
                    <a:lnTo>
                      <a:pt x="1629" y="41"/>
                    </a:lnTo>
                    <a:lnTo>
                      <a:pt x="1624" y="40"/>
                    </a:lnTo>
                    <a:lnTo>
                      <a:pt x="1619" y="42"/>
                    </a:lnTo>
                    <a:lnTo>
                      <a:pt x="1608" y="47"/>
                    </a:lnTo>
                    <a:lnTo>
                      <a:pt x="1603" y="52"/>
                    </a:lnTo>
                    <a:lnTo>
                      <a:pt x="1595" y="65"/>
                    </a:lnTo>
                    <a:lnTo>
                      <a:pt x="1593" y="74"/>
                    </a:lnTo>
                    <a:lnTo>
                      <a:pt x="1593" y="84"/>
                    </a:lnTo>
                    <a:lnTo>
                      <a:pt x="1593" y="98"/>
                    </a:lnTo>
                    <a:lnTo>
                      <a:pt x="1596" y="108"/>
                    </a:lnTo>
                    <a:lnTo>
                      <a:pt x="1608" y="121"/>
                    </a:lnTo>
                    <a:lnTo>
                      <a:pt x="1616" y="125"/>
                    </a:lnTo>
                    <a:lnTo>
                      <a:pt x="1626" y="125"/>
                    </a:lnTo>
                    <a:lnTo>
                      <a:pt x="1633" y="125"/>
                    </a:lnTo>
                    <a:lnTo>
                      <a:pt x="1638" y="124"/>
                    </a:lnTo>
                    <a:lnTo>
                      <a:pt x="1648" y="119"/>
                    </a:lnTo>
                    <a:lnTo>
                      <a:pt x="1652" y="116"/>
                    </a:lnTo>
                    <a:lnTo>
                      <a:pt x="1654" y="113"/>
                    </a:lnTo>
                    <a:lnTo>
                      <a:pt x="1658" y="109"/>
                    </a:lnTo>
                    <a:lnTo>
                      <a:pt x="1660" y="105"/>
                    </a:lnTo>
                    <a:lnTo>
                      <a:pt x="1663" y="99"/>
                    </a:lnTo>
                    <a:lnTo>
                      <a:pt x="1664" y="97"/>
                    </a:lnTo>
                    <a:lnTo>
                      <a:pt x="1665" y="95"/>
                    </a:lnTo>
                    <a:close/>
                    <a:moveTo>
                      <a:pt x="1728" y="47"/>
                    </a:moveTo>
                    <a:lnTo>
                      <a:pt x="1727" y="45"/>
                    </a:lnTo>
                    <a:lnTo>
                      <a:pt x="1724" y="41"/>
                    </a:lnTo>
                    <a:lnTo>
                      <a:pt x="1721" y="41"/>
                    </a:lnTo>
                    <a:lnTo>
                      <a:pt x="1718" y="41"/>
                    </a:lnTo>
                    <a:lnTo>
                      <a:pt x="1715" y="40"/>
                    </a:lnTo>
                    <a:lnTo>
                      <a:pt x="1711" y="42"/>
                    </a:lnTo>
                    <a:lnTo>
                      <a:pt x="1705" y="46"/>
                    </a:lnTo>
                    <a:lnTo>
                      <a:pt x="1701" y="51"/>
                    </a:lnTo>
                    <a:lnTo>
                      <a:pt x="1697" y="57"/>
                    </a:lnTo>
                    <a:lnTo>
                      <a:pt x="1696" y="57"/>
                    </a:lnTo>
                    <a:lnTo>
                      <a:pt x="1696" y="52"/>
                    </a:lnTo>
                    <a:lnTo>
                      <a:pt x="1696" y="41"/>
                    </a:lnTo>
                    <a:lnTo>
                      <a:pt x="1695" y="41"/>
                    </a:lnTo>
                    <a:lnTo>
                      <a:pt x="1686" y="44"/>
                    </a:lnTo>
                    <a:lnTo>
                      <a:pt x="1678" y="47"/>
                    </a:lnTo>
                    <a:lnTo>
                      <a:pt x="1669" y="50"/>
                    </a:lnTo>
                    <a:lnTo>
                      <a:pt x="1669" y="53"/>
                    </a:lnTo>
                    <a:lnTo>
                      <a:pt x="1670" y="53"/>
                    </a:lnTo>
                    <a:lnTo>
                      <a:pt x="1672" y="52"/>
                    </a:lnTo>
                    <a:lnTo>
                      <a:pt x="1675" y="52"/>
                    </a:lnTo>
                    <a:lnTo>
                      <a:pt x="1676" y="52"/>
                    </a:lnTo>
                    <a:lnTo>
                      <a:pt x="1678" y="53"/>
                    </a:lnTo>
                    <a:lnTo>
                      <a:pt x="1680" y="55"/>
                    </a:lnTo>
                    <a:lnTo>
                      <a:pt x="1681" y="58"/>
                    </a:lnTo>
                    <a:lnTo>
                      <a:pt x="1681" y="108"/>
                    </a:lnTo>
                    <a:lnTo>
                      <a:pt x="1681" y="113"/>
                    </a:lnTo>
                    <a:lnTo>
                      <a:pt x="1680" y="116"/>
                    </a:lnTo>
                    <a:lnTo>
                      <a:pt x="1677" y="119"/>
                    </a:lnTo>
                    <a:lnTo>
                      <a:pt x="1673" y="120"/>
                    </a:lnTo>
                    <a:lnTo>
                      <a:pt x="1668" y="121"/>
                    </a:lnTo>
                    <a:lnTo>
                      <a:pt x="1668" y="123"/>
                    </a:lnTo>
                    <a:lnTo>
                      <a:pt x="1712" y="123"/>
                    </a:lnTo>
                    <a:lnTo>
                      <a:pt x="1712" y="121"/>
                    </a:lnTo>
                    <a:lnTo>
                      <a:pt x="1707" y="121"/>
                    </a:lnTo>
                    <a:lnTo>
                      <a:pt x="1703" y="120"/>
                    </a:lnTo>
                    <a:lnTo>
                      <a:pt x="1698" y="117"/>
                    </a:lnTo>
                    <a:lnTo>
                      <a:pt x="1696" y="113"/>
                    </a:lnTo>
                    <a:lnTo>
                      <a:pt x="1696" y="65"/>
                    </a:lnTo>
                    <a:lnTo>
                      <a:pt x="1697" y="62"/>
                    </a:lnTo>
                    <a:lnTo>
                      <a:pt x="1700" y="58"/>
                    </a:lnTo>
                    <a:lnTo>
                      <a:pt x="1701" y="57"/>
                    </a:lnTo>
                    <a:lnTo>
                      <a:pt x="1702" y="56"/>
                    </a:lnTo>
                    <a:lnTo>
                      <a:pt x="1705" y="53"/>
                    </a:lnTo>
                    <a:lnTo>
                      <a:pt x="1707" y="52"/>
                    </a:lnTo>
                    <a:lnTo>
                      <a:pt x="1709" y="52"/>
                    </a:lnTo>
                    <a:lnTo>
                      <a:pt x="1710" y="52"/>
                    </a:lnTo>
                    <a:lnTo>
                      <a:pt x="1711" y="53"/>
                    </a:lnTo>
                    <a:lnTo>
                      <a:pt x="1713" y="54"/>
                    </a:lnTo>
                    <a:lnTo>
                      <a:pt x="1715" y="56"/>
                    </a:lnTo>
                    <a:lnTo>
                      <a:pt x="1717" y="58"/>
                    </a:lnTo>
                    <a:lnTo>
                      <a:pt x="1719" y="58"/>
                    </a:lnTo>
                    <a:lnTo>
                      <a:pt x="1721" y="58"/>
                    </a:lnTo>
                    <a:lnTo>
                      <a:pt x="1723" y="58"/>
                    </a:lnTo>
                    <a:lnTo>
                      <a:pt x="1725" y="57"/>
                    </a:lnTo>
                    <a:lnTo>
                      <a:pt x="1727" y="54"/>
                    </a:lnTo>
                    <a:lnTo>
                      <a:pt x="1728" y="53"/>
                    </a:lnTo>
                    <a:lnTo>
                      <a:pt x="1728" y="52"/>
                    </a:lnTo>
                    <a:lnTo>
                      <a:pt x="1728" y="47"/>
                    </a:lnTo>
                    <a:close/>
                    <a:moveTo>
                      <a:pt x="1796" y="8"/>
                    </a:moveTo>
                    <a:lnTo>
                      <a:pt x="1794" y="6"/>
                    </a:lnTo>
                    <a:lnTo>
                      <a:pt x="1794" y="5"/>
                    </a:lnTo>
                    <a:lnTo>
                      <a:pt x="1787" y="2"/>
                    </a:lnTo>
                    <a:lnTo>
                      <a:pt x="1783" y="1"/>
                    </a:lnTo>
                    <a:lnTo>
                      <a:pt x="1778" y="0"/>
                    </a:lnTo>
                    <a:lnTo>
                      <a:pt x="1770" y="1"/>
                    </a:lnTo>
                    <a:lnTo>
                      <a:pt x="1764" y="2"/>
                    </a:lnTo>
                    <a:lnTo>
                      <a:pt x="1755" y="9"/>
                    </a:lnTo>
                    <a:lnTo>
                      <a:pt x="1751" y="13"/>
                    </a:lnTo>
                    <a:lnTo>
                      <a:pt x="1747" y="22"/>
                    </a:lnTo>
                    <a:lnTo>
                      <a:pt x="1746" y="27"/>
                    </a:lnTo>
                    <a:lnTo>
                      <a:pt x="1745" y="36"/>
                    </a:lnTo>
                    <a:lnTo>
                      <a:pt x="1745" y="42"/>
                    </a:lnTo>
                    <a:lnTo>
                      <a:pt x="1731" y="42"/>
                    </a:lnTo>
                    <a:lnTo>
                      <a:pt x="1731" y="48"/>
                    </a:lnTo>
                    <a:lnTo>
                      <a:pt x="1745" y="48"/>
                    </a:lnTo>
                    <a:lnTo>
                      <a:pt x="1745" y="113"/>
                    </a:lnTo>
                    <a:lnTo>
                      <a:pt x="1745" y="116"/>
                    </a:lnTo>
                    <a:lnTo>
                      <a:pt x="1740" y="120"/>
                    </a:lnTo>
                    <a:lnTo>
                      <a:pt x="1736" y="121"/>
                    </a:lnTo>
                    <a:lnTo>
                      <a:pt x="1730" y="121"/>
                    </a:lnTo>
                    <a:lnTo>
                      <a:pt x="1730" y="123"/>
                    </a:lnTo>
                    <a:lnTo>
                      <a:pt x="1777" y="123"/>
                    </a:lnTo>
                    <a:lnTo>
                      <a:pt x="1777" y="121"/>
                    </a:lnTo>
                    <a:lnTo>
                      <a:pt x="1772" y="121"/>
                    </a:lnTo>
                    <a:lnTo>
                      <a:pt x="1768" y="120"/>
                    </a:lnTo>
                    <a:lnTo>
                      <a:pt x="1763" y="118"/>
                    </a:lnTo>
                    <a:lnTo>
                      <a:pt x="1762" y="116"/>
                    </a:lnTo>
                    <a:lnTo>
                      <a:pt x="1761" y="111"/>
                    </a:lnTo>
                    <a:lnTo>
                      <a:pt x="1761" y="48"/>
                    </a:lnTo>
                    <a:lnTo>
                      <a:pt x="1782" y="48"/>
                    </a:lnTo>
                    <a:lnTo>
                      <a:pt x="1782" y="42"/>
                    </a:lnTo>
                    <a:lnTo>
                      <a:pt x="1760" y="42"/>
                    </a:lnTo>
                    <a:lnTo>
                      <a:pt x="1760" y="19"/>
                    </a:lnTo>
                    <a:lnTo>
                      <a:pt x="1761" y="17"/>
                    </a:lnTo>
                    <a:lnTo>
                      <a:pt x="1761" y="12"/>
                    </a:lnTo>
                    <a:lnTo>
                      <a:pt x="1762" y="10"/>
                    </a:lnTo>
                    <a:lnTo>
                      <a:pt x="1766" y="6"/>
                    </a:lnTo>
                    <a:lnTo>
                      <a:pt x="1768" y="6"/>
                    </a:lnTo>
                    <a:lnTo>
                      <a:pt x="1771" y="5"/>
                    </a:lnTo>
                    <a:lnTo>
                      <a:pt x="1774" y="6"/>
                    </a:lnTo>
                    <a:lnTo>
                      <a:pt x="1776" y="7"/>
                    </a:lnTo>
                    <a:lnTo>
                      <a:pt x="1784" y="18"/>
                    </a:lnTo>
                    <a:lnTo>
                      <a:pt x="1786" y="19"/>
                    </a:lnTo>
                    <a:lnTo>
                      <a:pt x="1788" y="19"/>
                    </a:lnTo>
                    <a:lnTo>
                      <a:pt x="1790" y="19"/>
                    </a:lnTo>
                    <a:lnTo>
                      <a:pt x="1792" y="18"/>
                    </a:lnTo>
                    <a:lnTo>
                      <a:pt x="1795" y="16"/>
                    </a:lnTo>
                    <a:lnTo>
                      <a:pt x="1796" y="14"/>
                    </a:lnTo>
                    <a:lnTo>
                      <a:pt x="1796" y="8"/>
                    </a:lnTo>
                    <a:close/>
                    <a:moveTo>
                      <a:pt x="1864" y="111"/>
                    </a:moveTo>
                    <a:lnTo>
                      <a:pt x="1863" y="112"/>
                    </a:lnTo>
                    <a:lnTo>
                      <a:pt x="1862" y="113"/>
                    </a:lnTo>
                    <a:lnTo>
                      <a:pt x="1859" y="115"/>
                    </a:lnTo>
                    <a:lnTo>
                      <a:pt x="1858" y="115"/>
                    </a:lnTo>
                    <a:lnTo>
                      <a:pt x="1856" y="115"/>
                    </a:lnTo>
                    <a:lnTo>
                      <a:pt x="1853" y="115"/>
                    </a:lnTo>
                    <a:lnTo>
                      <a:pt x="1852" y="114"/>
                    </a:lnTo>
                    <a:lnTo>
                      <a:pt x="1851" y="112"/>
                    </a:lnTo>
                    <a:lnTo>
                      <a:pt x="1851" y="110"/>
                    </a:lnTo>
                    <a:lnTo>
                      <a:pt x="1851" y="75"/>
                    </a:lnTo>
                    <a:lnTo>
                      <a:pt x="1851" y="64"/>
                    </a:lnTo>
                    <a:lnTo>
                      <a:pt x="1850" y="62"/>
                    </a:lnTo>
                    <a:lnTo>
                      <a:pt x="1849" y="53"/>
                    </a:lnTo>
                    <a:lnTo>
                      <a:pt x="1847" y="49"/>
                    </a:lnTo>
                    <a:lnTo>
                      <a:pt x="1842" y="45"/>
                    </a:lnTo>
                    <a:lnTo>
                      <a:pt x="1839" y="42"/>
                    </a:lnTo>
                    <a:lnTo>
                      <a:pt x="1833" y="41"/>
                    </a:lnTo>
                    <a:lnTo>
                      <a:pt x="1824" y="41"/>
                    </a:lnTo>
                    <a:lnTo>
                      <a:pt x="1817" y="41"/>
                    </a:lnTo>
                    <a:lnTo>
                      <a:pt x="1811" y="42"/>
                    </a:lnTo>
                    <a:lnTo>
                      <a:pt x="1803" y="46"/>
                    </a:lnTo>
                    <a:lnTo>
                      <a:pt x="1799" y="49"/>
                    </a:lnTo>
                    <a:lnTo>
                      <a:pt x="1796" y="55"/>
                    </a:lnTo>
                    <a:lnTo>
                      <a:pt x="1795" y="58"/>
                    </a:lnTo>
                    <a:lnTo>
                      <a:pt x="1795" y="63"/>
                    </a:lnTo>
                    <a:lnTo>
                      <a:pt x="1795" y="64"/>
                    </a:lnTo>
                    <a:lnTo>
                      <a:pt x="1798" y="67"/>
                    </a:lnTo>
                    <a:lnTo>
                      <a:pt x="1800" y="68"/>
                    </a:lnTo>
                    <a:lnTo>
                      <a:pt x="1802" y="68"/>
                    </a:lnTo>
                    <a:lnTo>
                      <a:pt x="1805" y="68"/>
                    </a:lnTo>
                    <a:lnTo>
                      <a:pt x="1807" y="67"/>
                    </a:lnTo>
                    <a:lnTo>
                      <a:pt x="1810" y="64"/>
                    </a:lnTo>
                    <a:lnTo>
                      <a:pt x="1810" y="63"/>
                    </a:lnTo>
                    <a:lnTo>
                      <a:pt x="1810" y="59"/>
                    </a:lnTo>
                    <a:lnTo>
                      <a:pt x="1810" y="56"/>
                    </a:lnTo>
                    <a:lnTo>
                      <a:pt x="1810" y="51"/>
                    </a:lnTo>
                    <a:lnTo>
                      <a:pt x="1811" y="49"/>
                    </a:lnTo>
                    <a:lnTo>
                      <a:pt x="1816" y="46"/>
                    </a:lnTo>
                    <a:lnTo>
                      <a:pt x="1819" y="45"/>
                    </a:lnTo>
                    <a:lnTo>
                      <a:pt x="1822" y="45"/>
                    </a:lnTo>
                    <a:lnTo>
                      <a:pt x="1825" y="45"/>
                    </a:lnTo>
                    <a:lnTo>
                      <a:pt x="1828" y="46"/>
                    </a:lnTo>
                    <a:lnTo>
                      <a:pt x="1834" y="49"/>
                    </a:lnTo>
                    <a:lnTo>
                      <a:pt x="1836" y="54"/>
                    </a:lnTo>
                    <a:lnTo>
                      <a:pt x="1836" y="58"/>
                    </a:lnTo>
                    <a:lnTo>
                      <a:pt x="1836" y="71"/>
                    </a:lnTo>
                    <a:lnTo>
                      <a:pt x="1836" y="75"/>
                    </a:lnTo>
                    <a:lnTo>
                      <a:pt x="1836" y="105"/>
                    </a:lnTo>
                    <a:lnTo>
                      <a:pt x="1836" y="106"/>
                    </a:lnTo>
                    <a:lnTo>
                      <a:pt x="1834" y="109"/>
                    </a:lnTo>
                    <a:lnTo>
                      <a:pt x="1833" y="110"/>
                    </a:lnTo>
                    <a:lnTo>
                      <a:pt x="1829" y="112"/>
                    </a:lnTo>
                    <a:lnTo>
                      <a:pt x="1827" y="113"/>
                    </a:lnTo>
                    <a:lnTo>
                      <a:pt x="1823" y="114"/>
                    </a:lnTo>
                    <a:lnTo>
                      <a:pt x="1821" y="115"/>
                    </a:lnTo>
                    <a:lnTo>
                      <a:pt x="1819" y="115"/>
                    </a:lnTo>
                    <a:lnTo>
                      <a:pt x="1815" y="115"/>
                    </a:lnTo>
                    <a:lnTo>
                      <a:pt x="1813" y="113"/>
                    </a:lnTo>
                    <a:lnTo>
                      <a:pt x="1808" y="108"/>
                    </a:lnTo>
                    <a:lnTo>
                      <a:pt x="1807" y="105"/>
                    </a:lnTo>
                    <a:lnTo>
                      <a:pt x="1807" y="101"/>
                    </a:lnTo>
                    <a:lnTo>
                      <a:pt x="1807" y="98"/>
                    </a:lnTo>
                    <a:lnTo>
                      <a:pt x="1807" y="96"/>
                    </a:lnTo>
                    <a:lnTo>
                      <a:pt x="1810" y="90"/>
                    </a:lnTo>
                    <a:lnTo>
                      <a:pt x="1812" y="87"/>
                    </a:lnTo>
                    <a:lnTo>
                      <a:pt x="1821" y="81"/>
                    </a:lnTo>
                    <a:lnTo>
                      <a:pt x="1827" y="78"/>
                    </a:lnTo>
                    <a:lnTo>
                      <a:pt x="1836" y="75"/>
                    </a:lnTo>
                    <a:lnTo>
                      <a:pt x="1836" y="71"/>
                    </a:lnTo>
                    <a:lnTo>
                      <a:pt x="1826" y="75"/>
                    </a:lnTo>
                    <a:lnTo>
                      <a:pt x="1818" y="78"/>
                    </a:lnTo>
                    <a:lnTo>
                      <a:pt x="1805" y="84"/>
                    </a:lnTo>
                    <a:lnTo>
                      <a:pt x="1800" y="88"/>
                    </a:lnTo>
                    <a:lnTo>
                      <a:pt x="1793" y="96"/>
                    </a:lnTo>
                    <a:lnTo>
                      <a:pt x="1791" y="100"/>
                    </a:lnTo>
                    <a:lnTo>
                      <a:pt x="1791" y="112"/>
                    </a:lnTo>
                    <a:lnTo>
                      <a:pt x="1793" y="117"/>
                    </a:lnTo>
                    <a:lnTo>
                      <a:pt x="1801" y="124"/>
                    </a:lnTo>
                    <a:lnTo>
                      <a:pt x="1805" y="125"/>
                    </a:lnTo>
                    <a:lnTo>
                      <a:pt x="1810" y="125"/>
                    </a:lnTo>
                    <a:lnTo>
                      <a:pt x="1815" y="125"/>
                    </a:lnTo>
                    <a:lnTo>
                      <a:pt x="1820" y="124"/>
                    </a:lnTo>
                    <a:lnTo>
                      <a:pt x="1829" y="118"/>
                    </a:lnTo>
                    <a:lnTo>
                      <a:pt x="1833" y="115"/>
                    </a:lnTo>
                    <a:lnTo>
                      <a:pt x="1836" y="112"/>
                    </a:lnTo>
                    <a:lnTo>
                      <a:pt x="1837" y="116"/>
                    </a:lnTo>
                    <a:lnTo>
                      <a:pt x="1838" y="119"/>
                    </a:lnTo>
                    <a:lnTo>
                      <a:pt x="1840" y="123"/>
                    </a:lnTo>
                    <a:lnTo>
                      <a:pt x="1842" y="124"/>
                    </a:lnTo>
                    <a:lnTo>
                      <a:pt x="1845" y="125"/>
                    </a:lnTo>
                    <a:lnTo>
                      <a:pt x="1847" y="125"/>
                    </a:lnTo>
                    <a:lnTo>
                      <a:pt x="1848" y="125"/>
                    </a:lnTo>
                    <a:lnTo>
                      <a:pt x="1849" y="125"/>
                    </a:lnTo>
                    <a:lnTo>
                      <a:pt x="1850" y="125"/>
                    </a:lnTo>
                    <a:lnTo>
                      <a:pt x="1852" y="125"/>
                    </a:lnTo>
                    <a:lnTo>
                      <a:pt x="1857" y="123"/>
                    </a:lnTo>
                    <a:lnTo>
                      <a:pt x="1860" y="120"/>
                    </a:lnTo>
                    <a:lnTo>
                      <a:pt x="1864" y="116"/>
                    </a:lnTo>
                    <a:lnTo>
                      <a:pt x="1864" y="115"/>
                    </a:lnTo>
                    <a:lnTo>
                      <a:pt x="1864" y="111"/>
                    </a:lnTo>
                    <a:close/>
                    <a:moveTo>
                      <a:pt x="1941" y="97"/>
                    </a:moveTo>
                    <a:lnTo>
                      <a:pt x="1939" y="95"/>
                    </a:lnTo>
                    <a:lnTo>
                      <a:pt x="1936" y="100"/>
                    </a:lnTo>
                    <a:lnTo>
                      <a:pt x="1933" y="104"/>
                    </a:lnTo>
                    <a:lnTo>
                      <a:pt x="1925" y="110"/>
                    </a:lnTo>
                    <a:lnTo>
                      <a:pt x="1920" y="112"/>
                    </a:lnTo>
                    <a:lnTo>
                      <a:pt x="1913" y="112"/>
                    </a:lnTo>
                    <a:lnTo>
                      <a:pt x="1905" y="112"/>
                    </a:lnTo>
                    <a:lnTo>
                      <a:pt x="1899" y="109"/>
                    </a:lnTo>
                    <a:lnTo>
                      <a:pt x="1889" y="97"/>
                    </a:lnTo>
                    <a:lnTo>
                      <a:pt x="1886" y="88"/>
                    </a:lnTo>
                    <a:lnTo>
                      <a:pt x="1886" y="69"/>
                    </a:lnTo>
                    <a:lnTo>
                      <a:pt x="1887" y="63"/>
                    </a:lnTo>
                    <a:lnTo>
                      <a:pt x="1887" y="62"/>
                    </a:lnTo>
                    <a:lnTo>
                      <a:pt x="1893" y="53"/>
                    </a:lnTo>
                    <a:lnTo>
                      <a:pt x="1896" y="50"/>
                    </a:lnTo>
                    <a:lnTo>
                      <a:pt x="1903" y="46"/>
                    </a:lnTo>
                    <a:lnTo>
                      <a:pt x="1906" y="46"/>
                    </a:lnTo>
                    <a:lnTo>
                      <a:pt x="1909" y="46"/>
                    </a:lnTo>
                    <a:lnTo>
                      <a:pt x="1913" y="46"/>
                    </a:lnTo>
                    <a:lnTo>
                      <a:pt x="1916" y="47"/>
                    </a:lnTo>
                    <a:lnTo>
                      <a:pt x="1919" y="50"/>
                    </a:lnTo>
                    <a:lnTo>
                      <a:pt x="1920" y="52"/>
                    </a:lnTo>
                    <a:lnTo>
                      <a:pt x="1921" y="54"/>
                    </a:lnTo>
                    <a:lnTo>
                      <a:pt x="1922" y="58"/>
                    </a:lnTo>
                    <a:lnTo>
                      <a:pt x="1922" y="60"/>
                    </a:lnTo>
                    <a:lnTo>
                      <a:pt x="1923" y="62"/>
                    </a:lnTo>
                    <a:lnTo>
                      <a:pt x="1926" y="66"/>
                    </a:lnTo>
                    <a:lnTo>
                      <a:pt x="1928" y="67"/>
                    </a:lnTo>
                    <a:lnTo>
                      <a:pt x="1931" y="67"/>
                    </a:lnTo>
                    <a:lnTo>
                      <a:pt x="1933" y="66"/>
                    </a:lnTo>
                    <a:lnTo>
                      <a:pt x="1935" y="66"/>
                    </a:lnTo>
                    <a:lnTo>
                      <a:pt x="1938" y="63"/>
                    </a:lnTo>
                    <a:lnTo>
                      <a:pt x="1939" y="61"/>
                    </a:lnTo>
                    <a:lnTo>
                      <a:pt x="1939" y="57"/>
                    </a:lnTo>
                    <a:lnTo>
                      <a:pt x="1938" y="55"/>
                    </a:lnTo>
                    <a:lnTo>
                      <a:pt x="1936" y="50"/>
                    </a:lnTo>
                    <a:lnTo>
                      <a:pt x="1934" y="48"/>
                    </a:lnTo>
                    <a:lnTo>
                      <a:pt x="1931" y="46"/>
                    </a:lnTo>
                    <a:lnTo>
                      <a:pt x="1930" y="46"/>
                    </a:lnTo>
                    <a:lnTo>
                      <a:pt x="1929" y="45"/>
                    </a:lnTo>
                    <a:lnTo>
                      <a:pt x="1926" y="43"/>
                    </a:lnTo>
                    <a:lnTo>
                      <a:pt x="1919" y="41"/>
                    </a:lnTo>
                    <a:lnTo>
                      <a:pt x="1915" y="41"/>
                    </a:lnTo>
                    <a:lnTo>
                      <a:pt x="1905" y="41"/>
                    </a:lnTo>
                    <a:lnTo>
                      <a:pt x="1899" y="42"/>
                    </a:lnTo>
                    <a:lnTo>
                      <a:pt x="1887" y="49"/>
                    </a:lnTo>
                    <a:lnTo>
                      <a:pt x="1882" y="54"/>
                    </a:lnTo>
                    <a:lnTo>
                      <a:pt x="1874" y="67"/>
                    </a:lnTo>
                    <a:lnTo>
                      <a:pt x="1872" y="75"/>
                    </a:lnTo>
                    <a:lnTo>
                      <a:pt x="1872" y="95"/>
                    </a:lnTo>
                    <a:lnTo>
                      <a:pt x="1874" y="102"/>
                    </a:lnTo>
                    <a:lnTo>
                      <a:pt x="1881" y="114"/>
                    </a:lnTo>
                    <a:lnTo>
                      <a:pt x="1885" y="118"/>
                    </a:lnTo>
                    <a:lnTo>
                      <a:pt x="1895" y="124"/>
                    </a:lnTo>
                    <a:lnTo>
                      <a:pt x="1901" y="125"/>
                    </a:lnTo>
                    <a:lnTo>
                      <a:pt x="1905" y="125"/>
                    </a:lnTo>
                    <a:lnTo>
                      <a:pt x="1913" y="125"/>
                    </a:lnTo>
                    <a:lnTo>
                      <a:pt x="1919" y="123"/>
                    </a:lnTo>
                    <a:lnTo>
                      <a:pt x="1931" y="114"/>
                    </a:lnTo>
                    <a:lnTo>
                      <a:pt x="1933" y="112"/>
                    </a:lnTo>
                    <a:lnTo>
                      <a:pt x="1937" y="107"/>
                    </a:lnTo>
                    <a:lnTo>
                      <a:pt x="1941" y="97"/>
                    </a:lnTo>
                    <a:close/>
                    <a:moveTo>
                      <a:pt x="2023" y="95"/>
                    </a:moveTo>
                    <a:lnTo>
                      <a:pt x="2020" y="94"/>
                    </a:lnTo>
                    <a:lnTo>
                      <a:pt x="2019" y="96"/>
                    </a:lnTo>
                    <a:lnTo>
                      <a:pt x="2017" y="99"/>
                    </a:lnTo>
                    <a:lnTo>
                      <a:pt x="2012" y="105"/>
                    </a:lnTo>
                    <a:lnTo>
                      <a:pt x="2009" y="107"/>
                    </a:lnTo>
                    <a:lnTo>
                      <a:pt x="2002" y="111"/>
                    </a:lnTo>
                    <a:lnTo>
                      <a:pt x="1997" y="113"/>
                    </a:lnTo>
                    <a:lnTo>
                      <a:pt x="1988" y="113"/>
                    </a:lnTo>
                    <a:lnTo>
                      <a:pt x="1984" y="112"/>
                    </a:lnTo>
                    <a:lnTo>
                      <a:pt x="1976" y="108"/>
                    </a:lnTo>
                    <a:lnTo>
                      <a:pt x="1972" y="104"/>
                    </a:lnTo>
                    <a:lnTo>
                      <a:pt x="1966" y="92"/>
                    </a:lnTo>
                    <a:lnTo>
                      <a:pt x="1964" y="84"/>
                    </a:lnTo>
                    <a:lnTo>
                      <a:pt x="1963" y="73"/>
                    </a:lnTo>
                    <a:lnTo>
                      <a:pt x="2019" y="73"/>
                    </a:lnTo>
                    <a:lnTo>
                      <a:pt x="2019" y="68"/>
                    </a:lnTo>
                    <a:lnTo>
                      <a:pt x="2018" y="62"/>
                    </a:lnTo>
                    <a:lnTo>
                      <a:pt x="2015" y="53"/>
                    </a:lnTo>
                    <a:lnTo>
                      <a:pt x="2008" y="47"/>
                    </a:lnTo>
                    <a:lnTo>
                      <a:pt x="2003" y="43"/>
                    </a:lnTo>
                    <a:lnTo>
                      <a:pt x="2001" y="42"/>
                    </a:lnTo>
                    <a:lnTo>
                      <a:pt x="2001" y="68"/>
                    </a:lnTo>
                    <a:lnTo>
                      <a:pt x="1964" y="68"/>
                    </a:lnTo>
                    <a:lnTo>
                      <a:pt x="1965" y="60"/>
                    </a:lnTo>
                    <a:lnTo>
                      <a:pt x="1968" y="55"/>
                    </a:lnTo>
                    <a:lnTo>
                      <a:pt x="1975" y="48"/>
                    </a:lnTo>
                    <a:lnTo>
                      <a:pt x="1979" y="47"/>
                    </a:lnTo>
                    <a:lnTo>
                      <a:pt x="1988" y="47"/>
                    </a:lnTo>
                    <a:lnTo>
                      <a:pt x="1992" y="48"/>
                    </a:lnTo>
                    <a:lnTo>
                      <a:pt x="1997" y="53"/>
                    </a:lnTo>
                    <a:lnTo>
                      <a:pt x="1998" y="55"/>
                    </a:lnTo>
                    <a:lnTo>
                      <a:pt x="2000" y="62"/>
                    </a:lnTo>
                    <a:lnTo>
                      <a:pt x="2001" y="65"/>
                    </a:lnTo>
                    <a:lnTo>
                      <a:pt x="2001" y="68"/>
                    </a:lnTo>
                    <a:lnTo>
                      <a:pt x="2001" y="42"/>
                    </a:lnTo>
                    <a:lnTo>
                      <a:pt x="1997" y="41"/>
                    </a:lnTo>
                    <a:lnTo>
                      <a:pt x="1996" y="40"/>
                    </a:lnTo>
                    <a:lnTo>
                      <a:pt x="1988" y="41"/>
                    </a:lnTo>
                    <a:lnTo>
                      <a:pt x="1983" y="40"/>
                    </a:lnTo>
                    <a:lnTo>
                      <a:pt x="1977" y="42"/>
                    </a:lnTo>
                    <a:lnTo>
                      <a:pt x="1966" y="47"/>
                    </a:lnTo>
                    <a:lnTo>
                      <a:pt x="1961" y="52"/>
                    </a:lnTo>
                    <a:lnTo>
                      <a:pt x="1953" y="65"/>
                    </a:lnTo>
                    <a:lnTo>
                      <a:pt x="1951" y="74"/>
                    </a:lnTo>
                    <a:lnTo>
                      <a:pt x="1951" y="84"/>
                    </a:lnTo>
                    <a:lnTo>
                      <a:pt x="1951" y="98"/>
                    </a:lnTo>
                    <a:lnTo>
                      <a:pt x="1954" y="108"/>
                    </a:lnTo>
                    <a:lnTo>
                      <a:pt x="1966" y="121"/>
                    </a:lnTo>
                    <a:lnTo>
                      <a:pt x="1974" y="125"/>
                    </a:lnTo>
                    <a:lnTo>
                      <a:pt x="1985" y="125"/>
                    </a:lnTo>
                    <a:lnTo>
                      <a:pt x="1991" y="125"/>
                    </a:lnTo>
                    <a:lnTo>
                      <a:pt x="1997" y="124"/>
                    </a:lnTo>
                    <a:lnTo>
                      <a:pt x="2006" y="119"/>
                    </a:lnTo>
                    <a:lnTo>
                      <a:pt x="2010" y="116"/>
                    </a:lnTo>
                    <a:lnTo>
                      <a:pt x="2012" y="113"/>
                    </a:lnTo>
                    <a:lnTo>
                      <a:pt x="2016" y="109"/>
                    </a:lnTo>
                    <a:lnTo>
                      <a:pt x="2018" y="105"/>
                    </a:lnTo>
                    <a:lnTo>
                      <a:pt x="2021" y="99"/>
                    </a:lnTo>
                    <a:lnTo>
                      <a:pt x="2022" y="97"/>
                    </a:lnTo>
                    <a:lnTo>
                      <a:pt x="2023"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pic>
            <p:nvPicPr>
              <p:cNvPr id="10" name="Picture 9">
                <a:extLst>
                  <a:ext uri="{FF2B5EF4-FFF2-40B4-BE49-F238E27FC236}">
                    <a16:creationId xmlns:a16="http://schemas.microsoft.com/office/drawing/2014/main" id="{9251002E-9219-59DD-23AE-CA92F054460A}"/>
                  </a:ext>
                </a:extLst>
              </p:cNvPr>
              <p:cNvPicPr>
                <a:picLocks noChangeAspect="1" noEditPoint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771" y="3181"/>
                <a:ext cx="922"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10">
                <a:extLst>
                  <a:ext uri="{FF2B5EF4-FFF2-40B4-BE49-F238E27FC236}">
                    <a16:creationId xmlns:a16="http://schemas.microsoft.com/office/drawing/2014/main" id="{E6423F19-4EE6-D0EF-A5F6-6D06F353A99C}"/>
                  </a:ext>
                </a:extLst>
              </p:cNvPr>
              <p:cNvSpPr>
                <a:spLocks noChangeAspect="1" noEditPoints="1" noChangeArrowheads="1" noChangeShapeType="1" noTextEdit="1"/>
              </p:cNvSpPr>
              <p:nvPr/>
            </p:nvSpPr>
            <p:spPr bwMode="auto">
              <a:xfrm>
                <a:off x="3727" y="2896"/>
                <a:ext cx="2703" cy="231"/>
              </a:xfrm>
              <a:custGeom>
                <a:avLst/>
                <a:gdLst>
                  <a:gd name="T0" fmla="+- 0 6233 3727"/>
                  <a:gd name="T1" fmla="*/ T0 w 2703"/>
                  <a:gd name="T2" fmla="+- 0 3127 2897"/>
                  <a:gd name="T3" fmla="*/ 3127 h 231"/>
                  <a:gd name="T4" fmla="+- 0 6233 3727"/>
                  <a:gd name="T5" fmla="*/ T4 w 2703"/>
                  <a:gd name="T6" fmla="+- 0 3070 2897"/>
                  <a:gd name="T7" fmla="*/ 3070 h 231"/>
                  <a:gd name="T8" fmla="+- 0 3914 3727"/>
                  <a:gd name="T9" fmla="*/ T8 w 2703"/>
                  <a:gd name="T10" fmla="+- 0 3070 2897"/>
                  <a:gd name="T11" fmla="*/ 3070 h 231"/>
                  <a:gd name="T12" fmla="+- 0 3914 3727"/>
                  <a:gd name="T13" fmla="*/ T12 w 2703"/>
                  <a:gd name="T14" fmla="+- 0 3113 2897"/>
                  <a:gd name="T15" fmla="*/ 3113 h 231"/>
                  <a:gd name="T16" fmla="+- 0 3727 3727"/>
                  <a:gd name="T17" fmla="*/ T16 w 2703"/>
                  <a:gd name="T18" fmla="+- 0 3017 2897"/>
                  <a:gd name="T19" fmla="*/ 3017 h 231"/>
                  <a:gd name="T20" fmla="+- 0 3914 3727"/>
                  <a:gd name="T21" fmla="*/ T20 w 2703"/>
                  <a:gd name="T22" fmla="+- 0 2897 2897"/>
                  <a:gd name="T23" fmla="*/ 2897 h 231"/>
                  <a:gd name="T24" fmla="+- 0 3919 3727"/>
                  <a:gd name="T25" fmla="*/ T24 w 2703"/>
                  <a:gd name="T26" fmla="+- 0 2954 2897"/>
                  <a:gd name="T27" fmla="*/ 2954 h 231"/>
                  <a:gd name="T28" fmla="+- 0 6233 3727"/>
                  <a:gd name="T29" fmla="*/ T28 w 2703"/>
                  <a:gd name="T30" fmla="+- 0 2954 2897"/>
                  <a:gd name="T31" fmla="*/ 2954 h 231"/>
                  <a:gd name="T32" fmla="+- 0 6233 3727"/>
                  <a:gd name="T33" fmla="*/ T32 w 2703"/>
                  <a:gd name="T34" fmla="+- 0 2897 2897"/>
                  <a:gd name="T35" fmla="*/ 2897 h 231"/>
                  <a:gd name="T36" fmla="+- 0 6430 3727"/>
                  <a:gd name="T37" fmla="*/ T36 w 2703"/>
                  <a:gd name="T38" fmla="+- 0 3012 2897"/>
                  <a:gd name="T39" fmla="*/ 3012 h 231"/>
                  <a:gd name="T40" fmla="+- 0 6233 3727"/>
                  <a:gd name="T41" fmla="*/ T40 w 2703"/>
                  <a:gd name="T42" fmla="+- 0 3127 2897"/>
                  <a:gd name="T43" fmla="*/ 3127 h 231"/>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2703" h="231">
                    <a:moveTo>
                      <a:pt x="2506" y="230"/>
                    </a:moveTo>
                    <a:lnTo>
                      <a:pt x="2506" y="173"/>
                    </a:lnTo>
                    <a:lnTo>
                      <a:pt x="187" y="173"/>
                    </a:lnTo>
                    <a:lnTo>
                      <a:pt x="187" y="216"/>
                    </a:lnTo>
                    <a:lnTo>
                      <a:pt x="0" y="120"/>
                    </a:lnTo>
                    <a:lnTo>
                      <a:pt x="187" y="0"/>
                    </a:lnTo>
                    <a:lnTo>
                      <a:pt x="192" y="57"/>
                    </a:lnTo>
                    <a:lnTo>
                      <a:pt x="2506" y="57"/>
                    </a:lnTo>
                    <a:lnTo>
                      <a:pt x="2506" y="0"/>
                    </a:lnTo>
                    <a:lnTo>
                      <a:pt x="2703" y="115"/>
                    </a:lnTo>
                    <a:lnTo>
                      <a:pt x="2506" y="2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sp>
            <p:nvSpPr>
              <p:cNvPr id="12" name="AutoShape 346">
                <a:extLst>
                  <a:ext uri="{FF2B5EF4-FFF2-40B4-BE49-F238E27FC236}">
                    <a16:creationId xmlns:a16="http://schemas.microsoft.com/office/drawing/2014/main" id="{1EA03AC3-672C-6EFB-C56B-B8D0747FFFDA}"/>
                  </a:ext>
                </a:extLst>
              </p:cNvPr>
              <p:cNvSpPr>
                <a:spLocks noChangeAspect="1" noEditPoints="1" noChangeArrowheads="1" noChangeShapeType="1" noTextEdit="1"/>
              </p:cNvSpPr>
              <p:nvPr/>
            </p:nvSpPr>
            <p:spPr bwMode="auto">
              <a:xfrm>
                <a:off x="3712" y="1965"/>
                <a:ext cx="2732" cy="1177"/>
              </a:xfrm>
              <a:custGeom>
                <a:avLst/>
                <a:gdLst>
                  <a:gd name="T0" fmla="+- 0 4935 3713"/>
                  <a:gd name="T1" fmla="*/ T0 w 2732"/>
                  <a:gd name="T2" fmla="+- 0 2080 1965"/>
                  <a:gd name="T3" fmla="*/ 2080 h 1177"/>
                  <a:gd name="T4" fmla="+- 0 4949 3713"/>
                  <a:gd name="T5" fmla="*/ T4 w 2732"/>
                  <a:gd name="T6" fmla="+- 0 2023 1965"/>
                  <a:gd name="T7" fmla="*/ 2023 h 1177"/>
                  <a:gd name="T8" fmla="+- 0 4900 3713"/>
                  <a:gd name="T9" fmla="*/ T8 w 2732"/>
                  <a:gd name="T10" fmla="+- 0 2042 1965"/>
                  <a:gd name="T11" fmla="*/ 2042 h 1177"/>
                  <a:gd name="T12" fmla="+- 0 4886 3713"/>
                  <a:gd name="T13" fmla="*/ T12 w 2732"/>
                  <a:gd name="T14" fmla="+- 0 2018 1965"/>
                  <a:gd name="T15" fmla="*/ 2018 h 1177"/>
                  <a:gd name="T16" fmla="+- 0 4873 3713"/>
                  <a:gd name="T17" fmla="*/ T16 w 2732"/>
                  <a:gd name="T18" fmla="+- 0 2083 1965"/>
                  <a:gd name="T19" fmla="*/ 2083 h 1177"/>
                  <a:gd name="T20" fmla="+- 0 4906 3713"/>
                  <a:gd name="T21" fmla="*/ T20 w 2732"/>
                  <a:gd name="T22" fmla="+- 0 2040 1965"/>
                  <a:gd name="T23" fmla="*/ 2040 h 1177"/>
                  <a:gd name="T24" fmla="+- 0 4935 3713"/>
                  <a:gd name="T25" fmla="*/ T24 w 2732"/>
                  <a:gd name="T26" fmla="+- 0 2022 1965"/>
                  <a:gd name="T27" fmla="*/ 2022 h 1177"/>
                  <a:gd name="T28" fmla="+- 0 4921 3713"/>
                  <a:gd name="T29" fmla="*/ T28 w 2732"/>
                  <a:gd name="T30" fmla="+- 0 2084 1965"/>
                  <a:gd name="T31" fmla="*/ 2084 h 1177"/>
                  <a:gd name="T32" fmla="+- 0 4965 3713"/>
                  <a:gd name="T33" fmla="*/ T32 w 2732"/>
                  <a:gd name="T34" fmla="+- 0 2042 1965"/>
                  <a:gd name="T35" fmla="*/ 2042 h 1177"/>
                  <a:gd name="T36" fmla="+- 0 5086 3713"/>
                  <a:gd name="T37" fmla="*/ T36 w 2732"/>
                  <a:gd name="T38" fmla="+- 0 2056 1965"/>
                  <a:gd name="T39" fmla="*/ 2056 h 1177"/>
                  <a:gd name="T40" fmla="+- 0 5051 3713"/>
                  <a:gd name="T41" fmla="*/ T40 w 2732"/>
                  <a:gd name="T42" fmla="+- 0 2082 1965"/>
                  <a:gd name="T43" fmla="*/ 2082 h 1177"/>
                  <a:gd name="T44" fmla="+- 0 5061 3713"/>
                  <a:gd name="T45" fmla="*/ T44 w 2732"/>
                  <a:gd name="T46" fmla="+- 0 2017 1965"/>
                  <a:gd name="T47" fmla="*/ 2017 h 1177"/>
                  <a:gd name="T48" fmla="+- 0 5083 3713"/>
                  <a:gd name="T49" fmla="*/ T48 w 2732"/>
                  <a:gd name="T50" fmla="+- 0 2007 1965"/>
                  <a:gd name="T51" fmla="*/ 2007 h 1177"/>
                  <a:gd name="T52" fmla="+- 0 5045 3713"/>
                  <a:gd name="T53" fmla="*/ T52 w 2732"/>
                  <a:gd name="T54" fmla="+- 0 2020 1965"/>
                  <a:gd name="T55" fmla="*/ 2020 h 1177"/>
                  <a:gd name="T56" fmla="+- 0 5026 3713"/>
                  <a:gd name="T57" fmla="*/ T56 w 2732"/>
                  <a:gd name="T58" fmla="+- 0 1976 1965"/>
                  <a:gd name="T59" fmla="*/ 1976 h 1177"/>
                  <a:gd name="T60" fmla="+- 0 5058 3713"/>
                  <a:gd name="T61" fmla="*/ T60 w 2732"/>
                  <a:gd name="T62" fmla="+- 0 2090 1965"/>
                  <a:gd name="T63" fmla="*/ 2090 h 1177"/>
                  <a:gd name="T64" fmla="+- 0 5102 3713"/>
                  <a:gd name="T65" fmla="*/ T64 w 2732"/>
                  <a:gd name="T66" fmla="+- 0 2039 1965"/>
                  <a:gd name="T67" fmla="*/ 2039 h 1177"/>
                  <a:gd name="T68" fmla="+- 0 5122 3713"/>
                  <a:gd name="T69" fmla="*/ T68 w 2732"/>
                  <a:gd name="T70" fmla="+- 0 1976 1965"/>
                  <a:gd name="T71" fmla="*/ 1976 h 1177"/>
                  <a:gd name="T72" fmla="+- 0 5153 3713"/>
                  <a:gd name="T73" fmla="*/ T72 w 2732"/>
                  <a:gd name="T74" fmla="+- 0 2085 1965"/>
                  <a:gd name="T75" fmla="*/ 2085 h 1177"/>
                  <a:gd name="T76" fmla="+- 0 5121 3713"/>
                  <a:gd name="T77" fmla="*/ T76 w 2732"/>
                  <a:gd name="T78" fmla="+- 0 2012 1965"/>
                  <a:gd name="T79" fmla="*/ 2012 h 1177"/>
                  <a:gd name="T80" fmla="+- 0 5125 3713"/>
                  <a:gd name="T81" fmla="*/ T80 w 2732"/>
                  <a:gd name="T82" fmla="+- 0 2075 1965"/>
                  <a:gd name="T83" fmla="*/ 2075 h 1177"/>
                  <a:gd name="T84" fmla="+- 0 5208 3713"/>
                  <a:gd name="T85" fmla="*/ T84 w 2732"/>
                  <a:gd name="T86" fmla="+- 0 2076 1965"/>
                  <a:gd name="T87" fmla="*/ 2076 h 1177"/>
                  <a:gd name="T88" fmla="+- 0 5187 3713"/>
                  <a:gd name="T89" fmla="*/ T88 w 2732"/>
                  <a:gd name="T90" fmla="+- 0 2073 1965"/>
                  <a:gd name="T91" fmla="*/ 2073 h 1177"/>
                  <a:gd name="T92" fmla="+- 0 5182 3713"/>
                  <a:gd name="T93" fmla="*/ T92 w 2732"/>
                  <a:gd name="T94" fmla="+- 0 1988 1965"/>
                  <a:gd name="T95" fmla="*/ 1988 h 1177"/>
                  <a:gd name="T96" fmla="+- 0 5161 3713"/>
                  <a:gd name="T97" fmla="*/ T96 w 2732"/>
                  <a:gd name="T98" fmla="+- 0 2013 1965"/>
                  <a:gd name="T99" fmla="*/ 2013 h 1177"/>
                  <a:gd name="T100" fmla="+- 0 5206 3713"/>
                  <a:gd name="T101" fmla="*/ T100 w 2732"/>
                  <a:gd name="T102" fmla="+- 0 2080 1965"/>
                  <a:gd name="T103" fmla="*/ 2080 h 1177"/>
                  <a:gd name="T104" fmla="+- 0 5330 3713"/>
                  <a:gd name="T105" fmla="*/ T104 w 2732"/>
                  <a:gd name="T106" fmla="+- 0 1976 1965"/>
                  <a:gd name="T107" fmla="*/ 1976 h 1177"/>
                  <a:gd name="T108" fmla="+- 0 5313 3713"/>
                  <a:gd name="T109" fmla="*/ T108 w 2732"/>
                  <a:gd name="T110" fmla="+- 0 1977 1965"/>
                  <a:gd name="T111" fmla="*/ 1977 h 1177"/>
                  <a:gd name="T112" fmla="+- 0 5295 3713"/>
                  <a:gd name="T113" fmla="*/ T112 w 2732"/>
                  <a:gd name="T114" fmla="+- 0 2080 1965"/>
                  <a:gd name="T115" fmla="*/ 2080 h 1177"/>
                  <a:gd name="T116" fmla="+- 0 5289 3713"/>
                  <a:gd name="T117" fmla="*/ T116 w 2732"/>
                  <a:gd name="T118" fmla="+- 0 2011 1965"/>
                  <a:gd name="T119" fmla="*/ 2011 h 1177"/>
                  <a:gd name="T120" fmla="+- 0 5303 3713"/>
                  <a:gd name="T121" fmla="*/ T120 w 2732"/>
                  <a:gd name="T122" fmla="+- 0 2006 1965"/>
                  <a:gd name="T123" fmla="*/ 2006 h 1177"/>
                  <a:gd name="T124" fmla="+- 0 5260 3713"/>
                  <a:gd name="T125" fmla="*/ T124 w 2732"/>
                  <a:gd name="T126" fmla="+- 0 2066 1965"/>
                  <a:gd name="T127" fmla="*/ 2066 h 1177"/>
                  <a:gd name="T128" fmla="+- 0 5310 3713"/>
                  <a:gd name="T129" fmla="*/ T128 w 2732"/>
                  <a:gd name="T130" fmla="+- 0 2084 1965"/>
                  <a:gd name="T131" fmla="*/ 2084 h 1177"/>
                  <a:gd name="T132" fmla="+- 0 5342 3713"/>
                  <a:gd name="T133" fmla="*/ T132 w 2732"/>
                  <a:gd name="T134" fmla="+- 0 2078 1965"/>
                  <a:gd name="T135" fmla="*/ 2078 h 1177"/>
                  <a:gd name="T136" fmla="+- 0 5409 3713"/>
                  <a:gd name="T137" fmla="*/ T136 w 2732"/>
                  <a:gd name="T138" fmla="+- 0 2077 1965"/>
                  <a:gd name="T139" fmla="*/ 2077 h 1177"/>
                  <a:gd name="T140" fmla="+- 0 5381 3713"/>
                  <a:gd name="T141" fmla="*/ T140 w 2732"/>
                  <a:gd name="T142" fmla="+- 0 2005 1965"/>
                  <a:gd name="T143" fmla="*/ 2005 h 1177"/>
                  <a:gd name="T144" fmla="+- 0 5357 3713"/>
                  <a:gd name="T145" fmla="*/ T144 w 2732"/>
                  <a:gd name="T146" fmla="+- 0 2033 1965"/>
                  <a:gd name="T147" fmla="*/ 2033 h 1177"/>
                  <a:gd name="T148" fmla="+- 0 5374 3713"/>
                  <a:gd name="T149" fmla="*/ T148 w 2732"/>
                  <a:gd name="T150" fmla="+- 0 2010 1965"/>
                  <a:gd name="T151" fmla="*/ 2010 h 1177"/>
                  <a:gd name="T152" fmla="+- 0 5393 3713"/>
                  <a:gd name="T153" fmla="*/ T152 w 2732"/>
                  <a:gd name="T154" fmla="+- 0 2070 1965"/>
                  <a:gd name="T155" fmla="*/ 2070 h 1177"/>
                  <a:gd name="T156" fmla="+- 0 5370 3713"/>
                  <a:gd name="T157" fmla="*/ T156 w 2732"/>
                  <a:gd name="T158" fmla="+- 0 2078 1965"/>
                  <a:gd name="T159" fmla="*/ 2078 h 1177"/>
                  <a:gd name="T160" fmla="+- 0 5394 3713"/>
                  <a:gd name="T161" fmla="*/ T160 w 2732"/>
                  <a:gd name="T162" fmla="+- 0 2040 1965"/>
                  <a:gd name="T163" fmla="*/ 2040 h 1177"/>
                  <a:gd name="T164" fmla="+- 0 5358 3713"/>
                  <a:gd name="T165" fmla="*/ T164 w 2732"/>
                  <a:gd name="T166" fmla="+- 0 2088 1965"/>
                  <a:gd name="T167" fmla="*/ 2088 h 1177"/>
                  <a:gd name="T168" fmla="+- 0 5395 3713"/>
                  <a:gd name="T169" fmla="*/ T168 w 2732"/>
                  <a:gd name="T170" fmla="+- 0 2084 1965"/>
                  <a:gd name="T171" fmla="*/ 2084 h 1177"/>
                  <a:gd name="T172" fmla="+- 0 5418 3713"/>
                  <a:gd name="T173" fmla="*/ T172 w 2732"/>
                  <a:gd name="T174" fmla="+- 0 2085 1965"/>
                  <a:gd name="T175" fmla="*/ 2085 h 1177"/>
                  <a:gd name="T176" fmla="+- 0 5462 3713"/>
                  <a:gd name="T177" fmla="*/ T176 w 2732"/>
                  <a:gd name="T178" fmla="+- 0 2080 1965"/>
                  <a:gd name="T179" fmla="*/ 2080 h 1177"/>
                  <a:gd name="T180" fmla="+- 0 5452 3713"/>
                  <a:gd name="T181" fmla="*/ T180 w 2732"/>
                  <a:gd name="T182" fmla="+- 0 1986 1965"/>
                  <a:gd name="T183" fmla="*/ 1986 h 1177"/>
                  <a:gd name="T184" fmla="+- 0 5431 3713"/>
                  <a:gd name="T185" fmla="*/ T184 w 2732"/>
                  <a:gd name="T186" fmla="+- 0 2008 1965"/>
                  <a:gd name="T187" fmla="*/ 2008 h 1177"/>
                  <a:gd name="T188" fmla="+- 0 5449 3713"/>
                  <a:gd name="T189" fmla="*/ T188 w 2732"/>
                  <a:gd name="T190" fmla="+- 0 2090 1965"/>
                  <a:gd name="T191" fmla="*/ 2090 h 1177"/>
                  <a:gd name="T192" fmla="+- 0 5550 3713"/>
                  <a:gd name="T193" fmla="*/ T192 w 2732"/>
                  <a:gd name="T194" fmla="+- 0 2079 1965"/>
                  <a:gd name="T195" fmla="*/ 2079 h 1177"/>
                  <a:gd name="T196" fmla="+- 0 5540 3713"/>
                  <a:gd name="T197" fmla="*/ T196 w 2732"/>
                  <a:gd name="T198" fmla="+- 0 2017 1965"/>
                  <a:gd name="T199" fmla="*/ 2017 h 1177"/>
                  <a:gd name="T200" fmla="+- 0 5486 3713"/>
                  <a:gd name="T201" fmla="*/ T200 w 2732"/>
                  <a:gd name="T202" fmla="+- 0 2020 1965"/>
                  <a:gd name="T203" fmla="*/ 2020 h 1177"/>
                  <a:gd name="T204" fmla="+- 0 5501 3713"/>
                  <a:gd name="T205" fmla="*/ T204 w 2732"/>
                  <a:gd name="T206" fmla="+- 0 2027 1965"/>
                  <a:gd name="T207" fmla="*/ 2027 h 1177"/>
                  <a:gd name="T208" fmla="+- 0 5525 3713"/>
                  <a:gd name="T209" fmla="*/ T208 w 2732"/>
                  <a:gd name="T210" fmla="+- 0 2014 1965"/>
                  <a:gd name="T211" fmla="*/ 2014 h 1177"/>
                  <a:gd name="T212" fmla="+- 0 5518 3713"/>
                  <a:gd name="T213" fmla="*/ T212 w 2732"/>
                  <a:gd name="T214" fmla="+- 0 2077 1965"/>
                  <a:gd name="T215" fmla="*/ 2077 h 1177"/>
                  <a:gd name="T216" fmla="+- 0 5498 3713"/>
                  <a:gd name="T217" fmla="*/ T216 w 2732"/>
                  <a:gd name="T218" fmla="+- 0 2061 1965"/>
                  <a:gd name="T219" fmla="*/ 2061 h 1177"/>
                  <a:gd name="T220" fmla="+- 0 5490 3713"/>
                  <a:gd name="T221" fmla="*/ T220 w 2732"/>
                  <a:gd name="T222" fmla="+- 0 2053 1965"/>
                  <a:gd name="T223" fmla="*/ 2053 h 1177"/>
                  <a:gd name="T224" fmla="+- 0 5520 3713"/>
                  <a:gd name="T225" fmla="*/ T224 w 2732"/>
                  <a:gd name="T226" fmla="+- 0 2083 1965"/>
                  <a:gd name="T227" fmla="*/ 2083 h 1177"/>
                  <a:gd name="T228" fmla="+- 0 5539 3713"/>
                  <a:gd name="T229" fmla="*/ T228 w 2732"/>
                  <a:gd name="T230" fmla="+- 0 2090 1965"/>
                  <a:gd name="T231" fmla="*/ 2090 h 1177"/>
                  <a:gd name="T232" fmla="+- 0 6415 3713"/>
                  <a:gd name="T233" fmla="*/ T232 w 2732"/>
                  <a:gd name="T234" fmla="+- 0 2995 1965"/>
                  <a:gd name="T235" fmla="*/ 2995 h 1177"/>
                  <a:gd name="T236" fmla="+- 0 6240 3713"/>
                  <a:gd name="T237" fmla="*/ T236 w 2732"/>
                  <a:gd name="T238" fmla="+- 0 2962 1965"/>
                  <a:gd name="T239" fmla="*/ 2962 h 1177"/>
                  <a:gd name="T240" fmla="+- 0 3922 3713"/>
                  <a:gd name="T241" fmla="*/ T240 w 2732"/>
                  <a:gd name="T242" fmla="+- 0 2885 1965"/>
                  <a:gd name="T243" fmla="*/ 2885 h 1177"/>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 ang="0">
                    <a:pos x="T233" y="T235"/>
                  </a:cxn>
                  <a:cxn ang="0">
                    <a:pos x="T237" y="T239"/>
                  </a:cxn>
                  <a:cxn ang="0">
                    <a:pos x="T241" y="T243"/>
                  </a:cxn>
                </a:cxnLst>
                <a:rect l="0" t="0" r="r" b="b"/>
                <a:pathLst>
                  <a:path w="2732" h="1177">
                    <a:moveTo>
                      <a:pt x="1242" y="104"/>
                    </a:moveTo>
                    <a:lnTo>
                      <a:pt x="1239" y="102"/>
                    </a:lnTo>
                    <a:lnTo>
                      <a:pt x="1236" y="106"/>
                    </a:lnTo>
                    <a:lnTo>
                      <a:pt x="1233" y="110"/>
                    </a:lnTo>
                    <a:lnTo>
                      <a:pt x="1228" y="115"/>
                    </a:lnTo>
                    <a:lnTo>
                      <a:pt x="1226" y="116"/>
                    </a:lnTo>
                    <a:lnTo>
                      <a:pt x="1225" y="116"/>
                    </a:lnTo>
                    <a:lnTo>
                      <a:pt x="1224" y="116"/>
                    </a:lnTo>
                    <a:lnTo>
                      <a:pt x="1222" y="115"/>
                    </a:lnTo>
                    <a:lnTo>
                      <a:pt x="1222" y="114"/>
                    </a:lnTo>
                    <a:lnTo>
                      <a:pt x="1222" y="113"/>
                    </a:lnTo>
                    <a:lnTo>
                      <a:pt x="1222" y="112"/>
                    </a:lnTo>
                    <a:lnTo>
                      <a:pt x="1223" y="108"/>
                    </a:lnTo>
                    <a:lnTo>
                      <a:pt x="1225" y="98"/>
                    </a:lnTo>
                    <a:lnTo>
                      <a:pt x="1227" y="92"/>
                    </a:lnTo>
                    <a:lnTo>
                      <a:pt x="1231" y="79"/>
                    </a:lnTo>
                    <a:lnTo>
                      <a:pt x="1232" y="73"/>
                    </a:lnTo>
                    <a:lnTo>
                      <a:pt x="1235" y="62"/>
                    </a:lnTo>
                    <a:lnTo>
                      <a:pt x="1236" y="58"/>
                    </a:lnTo>
                    <a:lnTo>
                      <a:pt x="1236" y="56"/>
                    </a:lnTo>
                    <a:lnTo>
                      <a:pt x="1236" y="48"/>
                    </a:lnTo>
                    <a:lnTo>
                      <a:pt x="1232" y="44"/>
                    </a:lnTo>
                    <a:lnTo>
                      <a:pt x="1224" y="44"/>
                    </a:lnTo>
                    <a:lnTo>
                      <a:pt x="1219" y="44"/>
                    </a:lnTo>
                    <a:lnTo>
                      <a:pt x="1214" y="46"/>
                    </a:lnTo>
                    <a:lnTo>
                      <a:pt x="1204" y="55"/>
                    </a:lnTo>
                    <a:lnTo>
                      <a:pt x="1199" y="60"/>
                    </a:lnTo>
                    <a:lnTo>
                      <a:pt x="1190" y="72"/>
                    </a:lnTo>
                    <a:lnTo>
                      <a:pt x="1187" y="77"/>
                    </a:lnTo>
                    <a:lnTo>
                      <a:pt x="1184" y="82"/>
                    </a:lnTo>
                    <a:lnTo>
                      <a:pt x="1183" y="82"/>
                    </a:lnTo>
                    <a:lnTo>
                      <a:pt x="1195" y="44"/>
                    </a:lnTo>
                    <a:lnTo>
                      <a:pt x="1194" y="44"/>
                    </a:lnTo>
                    <a:lnTo>
                      <a:pt x="1185" y="46"/>
                    </a:lnTo>
                    <a:lnTo>
                      <a:pt x="1175" y="47"/>
                    </a:lnTo>
                    <a:lnTo>
                      <a:pt x="1165" y="49"/>
                    </a:lnTo>
                    <a:lnTo>
                      <a:pt x="1165" y="52"/>
                    </a:lnTo>
                    <a:lnTo>
                      <a:pt x="1170" y="52"/>
                    </a:lnTo>
                    <a:lnTo>
                      <a:pt x="1173" y="53"/>
                    </a:lnTo>
                    <a:lnTo>
                      <a:pt x="1176" y="54"/>
                    </a:lnTo>
                    <a:lnTo>
                      <a:pt x="1177" y="55"/>
                    </a:lnTo>
                    <a:lnTo>
                      <a:pt x="1177" y="57"/>
                    </a:lnTo>
                    <a:lnTo>
                      <a:pt x="1177" y="58"/>
                    </a:lnTo>
                    <a:lnTo>
                      <a:pt x="1176" y="61"/>
                    </a:lnTo>
                    <a:lnTo>
                      <a:pt x="1173" y="71"/>
                    </a:lnTo>
                    <a:lnTo>
                      <a:pt x="1168" y="91"/>
                    </a:lnTo>
                    <a:lnTo>
                      <a:pt x="1166" y="98"/>
                    </a:lnTo>
                    <a:lnTo>
                      <a:pt x="1162" y="112"/>
                    </a:lnTo>
                    <a:lnTo>
                      <a:pt x="1160" y="118"/>
                    </a:lnTo>
                    <a:lnTo>
                      <a:pt x="1159" y="123"/>
                    </a:lnTo>
                    <a:lnTo>
                      <a:pt x="1173" y="123"/>
                    </a:lnTo>
                    <a:lnTo>
                      <a:pt x="1175" y="115"/>
                    </a:lnTo>
                    <a:lnTo>
                      <a:pt x="1177" y="108"/>
                    </a:lnTo>
                    <a:lnTo>
                      <a:pt x="1180" y="98"/>
                    </a:lnTo>
                    <a:lnTo>
                      <a:pt x="1182" y="94"/>
                    </a:lnTo>
                    <a:lnTo>
                      <a:pt x="1186" y="86"/>
                    </a:lnTo>
                    <a:lnTo>
                      <a:pt x="1188" y="82"/>
                    </a:lnTo>
                    <a:lnTo>
                      <a:pt x="1191" y="78"/>
                    </a:lnTo>
                    <a:lnTo>
                      <a:pt x="1193" y="75"/>
                    </a:lnTo>
                    <a:lnTo>
                      <a:pt x="1195" y="71"/>
                    </a:lnTo>
                    <a:lnTo>
                      <a:pt x="1201" y="63"/>
                    </a:lnTo>
                    <a:lnTo>
                      <a:pt x="1204" y="60"/>
                    </a:lnTo>
                    <a:lnTo>
                      <a:pt x="1211" y="54"/>
                    </a:lnTo>
                    <a:lnTo>
                      <a:pt x="1214" y="53"/>
                    </a:lnTo>
                    <a:lnTo>
                      <a:pt x="1217" y="53"/>
                    </a:lnTo>
                    <a:lnTo>
                      <a:pt x="1219" y="53"/>
                    </a:lnTo>
                    <a:lnTo>
                      <a:pt x="1220" y="53"/>
                    </a:lnTo>
                    <a:lnTo>
                      <a:pt x="1221" y="56"/>
                    </a:lnTo>
                    <a:lnTo>
                      <a:pt x="1222" y="57"/>
                    </a:lnTo>
                    <a:lnTo>
                      <a:pt x="1222" y="59"/>
                    </a:lnTo>
                    <a:lnTo>
                      <a:pt x="1221" y="61"/>
                    </a:lnTo>
                    <a:lnTo>
                      <a:pt x="1221" y="64"/>
                    </a:lnTo>
                    <a:lnTo>
                      <a:pt x="1218" y="75"/>
                    </a:lnTo>
                    <a:lnTo>
                      <a:pt x="1217" y="81"/>
                    </a:lnTo>
                    <a:lnTo>
                      <a:pt x="1209" y="110"/>
                    </a:lnTo>
                    <a:lnTo>
                      <a:pt x="1208" y="113"/>
                    </a:lnTo>
                    <a:lnTo>
                      <a:pt x="1208" y="114"/>
                    </a:lnTo>
                    <a:lnTo>
                      <a:pt x="1208" y="117"/>
                    </a:lnTo>
                    <a:lnTo>
                      <a:pt x="1208" y="119"/>
                    </a:lnTo>
                    <a:lnTo>
                      <a:pt x="1210" y="123"/>
                    </a:lnTo>
                    <a:lnTo>
                      <a:pt x="1213" y="125"/>
                    </a:lnTo>
                    <a:lnTo>
                      <a:pt x="1217" y="125"/>
                    </a:lnTo>
                    <a:lnTo>
                      <a:pt x="1222" y="125"/>
                    </a:lnTo>
                    <a:lnTo>
                      <a:pt x="1226" y="123"/>
                    </a:lnTo>
                    <a:lnTo>
                      <a:pt x="1233" y="115"/>
                    </a:lnTo>
                    <a:lnTo>
                      <a:pt x="1238" y="110"/>
                    </a:lnTo>
                    <a:lnTo>
                      <a:pt x="1242" y="104"/>
                    </a:lnTo>
                    <a:close/>
                    <a:moveTo>
                      <a:pt x="1297" y="77"/>
                    </a:moveTo>
                    <a:lnTo>
                      <a:pt x="1252" y="77"/>
                    </a:lnTo>
                    <a:lnTo>
                      <a:pt x="1252" y="88"/>
                    </a:lnTo>
                    <a:lnTo>
                      <a:pt x="1297" y="88"/>
                    </a:lnTo>
                    <a:lnTo>
                      <a:pt x="1297" y="77"/>
                    </a:lnTo>
                    <a:close/>
                    <a:moveTo>
                      <a:pt x="1389" y="74"/>
                    </a:moveTo>
                    <a:lnTo>
                      <a:pt x="1388" y="67"/>
                    </a:lnTo>
                    <a:lnTo>
                      <a:pt x="1383" y="55"/>
                    </a:lnTo>
                    <a:lnTo>
                      <a:pt x="1381" y="52"/>
                    </a:lnTo>
                    <a:lnTo>
                      <a:pt x="1380" y="50"/>
                    </a:lnTo>
                    <a:lnTo>
                      <a:pt x="1373" y="45"/>
                    </a:lnTo>
                    <a:lnTo>
                      <a:pt x="1373" y="91"/>
                    </a:lnTo>
                    <a:lnTo>
                      <a:pt x="1373" y="95"/>
                    </a:lnTo>
                    <a:lnTo>
                      <a:pt x="1371" y="105"/>
                    </a:lnTo>
                    <a:lnTo>
                      <a:pt x="1368" y="110"/>
                    </a:lnTo>
                    <a:lnTo>
                      <a:pt x="1362" y="117"/>
                    </a:lnTo>
                    <a:lnTo>
                      <a:pt x="1357" y="119"/>
                    </a:lnTo>
                    <a:lnTo>
                      <a:pt x="1350" y="119"/>
                    </a:lnTo>
                    <a:lnTo>
                      <a:pt x="1348" y="119"/>
                    </a:lnTo>
                    <a:lnTo>
                      <a:pt x="1346" y="119"/>
                    </a:lnTo>
                    <a:lnTo>
                      <a:pt x="1341" y="118"/>
                    </a:lnTo>
                    <a:lnTo>
                      <a:pt x="1338" y="117"/>
                    </a:lnTo>
                    <a:lnTo>
                      <a:pt x="1334" y="114"/>
                    </a:lnTo>
                    <a:lnTo>
                      <a:pt x="1333" y="112"/>
                    </a:lnTo>
                    <a:lnTo>
                      <a:pt x="1332" y="65"/>
                    </a:lnTo>
                    <a:lnTo>
                      <a:pt x="1333" y="62"/>
                    </a:lnTo>
                    <a:lnTo>
                      <a:pt x="1334" y="59"/>
                    </a:lnTo>
                    <a:lnTo>
                      <a:pt x="1338" y="55"/>
                    </a:lnTo>
                    <a:lnTo>
                      <a:pt x="1339" y="55"/>
                    </a:lnTo>
                    <a:lnTo>
                      <a:pt x="1341" y="54"/>
                    </a:lnTo>
                    <a:lnTo>
                      <a:pt x="1346" y="52"/>
                    </a:lnTo>
                    <a:lnTo>
                      <a:pt x="1348" y="52"/>
                    </a:lnTo>
                    <a:lnTo>
                      <a:pt x="1350" y="52"/>
                    </a:lnTo>
                    <a:lnTo>
                      <a:pt x="1356" y="52"/>
                    </a:lnTo>
                    <a:lnTo>
                      <a:pt x="1360" y="53"/>
                    </a:lnTo>
                    <a:lnTo>
                      <a:pt x="1367" y="60"/>
                    </a:lnTo>
                    <a:lnTo>
                      <a:pt x="1369" y="65"/>
                    </a:lnTo>
                    <a:lnTo>
                      <a:pt x="1372" y="76"/>
                    </a:lnTo>
                    <a:lnTo>
                      <a:pt x="1373" y="81"/>
                    </a:lnTo>
                    <a:lnTo>
                      <a:pt x="1373" y="91"/>
                    </a:lnTo>
                    <a:lnTo>
                      <a:pt x="1373" y="45"/>
                    </a:lnTo>
                    <a:lnTo>
                      <a:pt x="1370" y="42"/>
                    </a:lnTo>
                    <a:lnTo>
                      <a:pt x="1364" y="40"/>
                    </a:lnTo>
                    <a:lnTo>
                      <a:pt x="1357" y="40"/>
                    </a:lnTo>
                    <a:lnTo>
                      <a:pt x="1353" y="40"/>
                    </a:lnTo>
                    <a:lnTo>
                      <a:pt x="1348" y="41"/>
                    </a:lnTo>
                    <a:lnTo>
                      <a:pt x="1341" y="45"/>
                    </a:lnTo>
                    <a:lnTo>
                      <a:pt x="1339" y="47"/>
                    </a:lnTo>
                    <a:lnTo>
                      <a:pt x="1334" y="51"/>
                    </a:lnTo>
                    <a:lnTo>
                      <a:pt x="1333" y="53"/>
                    </a:lnTo>
                    <a:lnTo>
                      <a:pt x="1333" y="55"/>
                    </a:lnTo>
                    <a:lnTo>
                      <a:pt x="1332" y="55"/>
                    </a:lnTo>
                    <a:lnTo>
                      <a:pt x="1332" y="11"/>
                    </a:lnTo>
                    <a:lnTo>
                      <a:pt x="1332" y="0"/>
                    </a:lnTo>
                    <a:lnTo>
                      <a:pt x="1323" y="3"/>
                    </a:lnTo>
                    <a:lnTo>
                      <a:pt x="1314" y="6"/>
                    </a:lnTo>
                    <a:lnTo>
                      <a:pt x="1305" y="8"/>
                    </a:lnTo>
                    <a:lnTo>
                      <a:pt x="1305" y="11"/>
                    </a:lnTo>
                    <a:lnTo>
                      <a:pt x="1307" y="11"/>
                    </a:lnTo>
                    <a:lnTo>
                      <a:pt x="1308" y="11"/>
                    </a:lnTo>
                    <a:lnTo>
                      <a:pt x="1313" y="11"/>
                    </a:lnTo>
                    <a:lnTo>
                      <a:pt x="1316" y="12"/>
                    </a:lnTo>
                    <a:lnTo>
                      <a:pt x="1317" y="15"/>
                    </a:lnTo>
                    <a:lnTo>
                      <a:pt x="1317" y="17"/>
                    </a:lnTo>
                    <a:lnTo>
                      <a:pt x="1317" y="116"/>
                    </a:lnTo>
                    <a:lnTo>
                      <a:pt x="1319" y="118"/>
                    </a:lnTo>
                    <a:lnTo>
                      <a:pt x="1326" y="121"/>
                    </a:lnTo>
                    <a:lnTo>
                      <a:pt x="1330" y="122"/>
                    </a:lnTo>
                    <a:lnTo>
                      <a:pt x="1338" y="124"/>
                    </a:lnTo>
                    <a:lnTo>
                      <a:pt x="1342" y="125"/>
                    </a:lnTo>
                    <a:lnTo>
                      <a:pt x="1345" y="125"/>
                    </a:lnTo>
                    <a:lnTo>
                      <a:pt x="1353" y="125"/>
                    </a:lnTo>
                    <a:lnTo>
                      <a:pt x="1360" y="123"/>
                    </a:lnTo>
                    <a:lnTo>
                      <a:pt x="1368" y="119"/>
                    </a:lnTo>
                    <a:lnTo>
                      <a:pt x="1372" y="117"/>
                    </a:lnTo>
                    <a:lnTo>
                      <a:pt x="1376" y="113"/>
                    </a:lnTo>
                    <a:lnTo>
                      <a:pt x="1383" y="104"/>
                    </a:lnTo>
                    <a:lnTo>
                      <a:pt x="1386" y="99"/>
                    </a:lnTo>
                    <a:lnTo>
                      <a:pt x="1388" y="89"/>
                    </a:lnTo>
                    <a:lnTo>
                      <a:pt x="1389" y="84"/>
                    </a:lnTo>
                    <a:lnTo>
                      <a:pt x="1389" y="74"/>
                    </a:lnTo>
                    <a:close/>
                    <a:moveTo>
                      <a:pt x="1427" y="7"/>
                    </a:moveTo>
                    <a:lnTo>
                      <a:pt x="1426" y="4"/>
                    </a:lnTo>
                    <a:lnTo>
                      <a:pt x="1423" y="1"/>
                    </a:lnTo>
                    <a:lnTo>
                      <a:pt x="1421" y="0"/>
                    </a:lnTo>
                    <a:lnTo>
                      <a:pt x="1418" y="0"/>
                    </a:lnTo>
                    <a:lnTo>
                      <a:pt x="1415" y="0"/>
                    </a:lnTo>
                    <a:lnTo>
                      <a:pt x="1413" y="1"/>
                    </a:lnTo>
                    <a:lnTo>
                      <a:pt x="1410" y="5"/>
                    </a:lnTo>
                    <a:lnTo>
                      <a:pt x="1409" y="7"/>
                    </a:lnTo>
                    <a:lnTo>
                      <a:pt x="1409" y="11"/>
                    </a:lnTo>
                    <a:lnTo>
                      <a:pt x="1410" y="13"/>
                    </a:lnTo>
                    <a:lnTo>
                      <a:pt x="1412" y="17"/>
                    </a:lnTo>
                    <a:lnTo>
                      <a:pt x="1415" y="18"/>
                    </a:lnTo>
                    <a:lnTo>
                      <a:pt x="1418" y="18"/>
                    </a:lnTo>
                    <a:lnTo>
                      <a:pt x="1421" y="18"/>
                    </a:lnTo>
                    <a:lnTo>
                      <a:pt x="1423" y="18"/>
                    </a:lnTo>
                    <a:lnTo>
                      <a:pt x="1426" y="14"/>
                    </a:lnTo>
                    <a:lnTo>
                      <a:pt x="1427" y="12"/>
                    </a:lnTo>
                    <a:lnTo>
                      <a:pt x="1427" y="7"/>
                    </a:lnTo>
                    <a:close/>
                    <a:moveTo>
                      <a:pt x="1440" y="120"/>
                    </a:moveTo>
                    <a:lnTo>
                      <a:pt x="1434" y="120"/>
                    </a:lnTo>
                    <a:lnTo>
                      <a:pt x="1431" y="119"/>
                    </a:lnTo>
                    <a:lnTo>
                      <a:pt x="1428" y="114"/>
                    </a:lnTo>
                    <a:lnTo>
                      <a:pt x="1427" y="110"/>
                    </a:lnTo>
                    <a:lnTo>
                      <a:pt x="1427" y="109"/>
                    </a:lnTo>
                    <a:lnTo>
                      <a:pt x="1427" y="52"/>
                    </a:lnTo>
                    <a:lnTo>
                      <a:pt x="1427" y="41"/>
                    </a:lnTo>
                    <a:lnTo>
                      <a:pt x="1426" y="40"/>
                    </a:lnTo>
                    <a:lnTo>
                      <a:pt x="1417" y="44"/>
                    </a:lnTo>
                    <a:lnTo>
                      <a:pt x="1408" y="47"/>
                    </a:lnTo>
                    <a:lnTo>
                      <a:pt x="1398" y="50"/>
                    </a:lnTo>
                    <a:lnTo>
                      <a:pt x="1398" y="53"/>
                    </a:lnTo>
                    <a:lnTo>
                      <a:pt x="1401" y="52"/>
                    </a:lnTo>
                    <a:lnTo>
                      <a:pt x="1403" y="52"/>
                    </a:lnTo>
                    <a:lnTo>
                      <a:pt x="1406" y="52"/>
                    </a:lnTo>
                    <a:lnTo>
                      <a:pt x="1407" y="52"/>
                    </a:lnTo>
                    <a:lnTo>
                      <a:pt x="1409" y="52"/>
                    </a:lnTo>
                    <a:lnTo>
                      <a:pt x="1411" y="55"/>
                    </a:lnTo>
                    <a:lnTo>
                      <a:pt x="1412" y="58"/>
                    </a:lnTo>
                    <a:lnTo>
                      <a:pt x="1412" y="110"/>
                    </a:lnTo>
                    <a:lnTo>
                      <a:pt x="1412" y="113"/>
                    </a:lnTo>
                    <a:lnTo>
                      <a:pt x="1410" y="117"/>
                    </a:lnTo>
                    <a:lnTo>
                      <a:pt x="1408" y="118"/>
                    </a:lnTo>
                    <a:lnTo>
                      <a:pt x="1404" y="120"/>
                    </a:lnTo>
                    <a:lnTo>
                      <a:pt x="1401" y="120"/>
                    </a:lnTo>
                    <a:lnTo>
                      <a:pt x="1398" y="120"/>
                    </a:lnTo>
                    <a:lnTo>
                      <a:pt x="1398" y="123"/>
                    </a:lnTo>
                    <a:lnTo>
                      <a:pt x="1440" y="123"/>
                    </a:lnTo>
                    <a:lnTo>
                      <a:pt x="1440" y="120"/>
                    </a:lnTo>
                    <a:close/>
                    <a:moveTo>
                      <a:pt x="1495" y="111"/>
                    </a:moveTo>
                    <a:lnTo>
                      <a:pt x="1493" y="109"/>
                    </a:lnTo>
                    <a:lnTo>
                      <a:pt x="1492" y="110"/>
                    </a:lnTo>
                    <a:lnTo>
                      <a:pt x="1491" y="112"/>
                    </a:lnTo>
                    <a:lnTo>
                      <a:pt x="1487" y="115"/>
                    </a:lnTo>
                    <a:lnTo>
                      <a:pt x="1485" y="115"/>
                    </a:lnTo>
                    <a:lnTo>
                      <a:pt x="1482" y="115"/>
                    </a:lnTo>
                    <a:lnTo>
                      <a:pt x="1479" y="115"/>
                    </a:lnTo>
                    <a:lnTo>
                      <a:pt x="1477" y="114"/>
                    </a:lnTo>
                    <a:lnTo>
                      <a:pt x="1474" y="111"/>
                    </a:lnTo>
                    <a:lnTo>
                      <a:pt x="1474" y="108"/>
                    </a:lnTo>
                    <a:lnTo>
                      <a:pt x="1473" y="103"/>
                    </a:lnTo>
                    <a:lnTo>
                      <a:pt x="1473" y="48"/>
                    </a:lnTo>
                    <a:lnTo>
                      <a:pt x="1491" y="48"/>
                    </a:lnTo>
                    <a:lnTo>
                      <a:pt x="1491" y="42"/>
                    </a:lnTo>
                    <a:lnTo>
                      <a:pt x="1473" y="42"/>
                    </a:lnTo>
                    <a:lnTo>
                      <a:pt x="1473" y="21"/>
                    </a:lnTo>
                    <a:lnTo>
                      <a:pt x="1473" y="20"/>
                    </a:lnTo>
                    <a:lnTo>
                      <a:pt x="1473" y="19"/>
                    </a:lnTo>
                    <a:lnTo>
                      <a:pt x="1472" y="19"/>
                    </a:lnTo>
                    <a:lnTo>
                      <a:pt x="1469" y="23"/>
                    </a:lnTo>
                    <a:lnTo>
                      <a:pt x="1466" y="27"/>
                    </a:lnTo>
                    <a:lnTo>
                      <a:pt x="1461" y="33"/>
                    </a:lnTo>
                    <a:lnTo>
                      <a:pt x="1459" y="36"/>
                    </a:lnTo>
                    <a:lnTo>
                      <a:pt x="1456" y="39"/>
                    </a:lnTo>
                    <a:lnTo>
                      <a:pt x="1453" y="41"/>
                    </a:lnTo>
                    <a:lnTo>
                      <a:pt x="1452" y="43"/>
                    </a:lnTo>
                    <a:lnTo>
                      <a:pt x="1449" y="45"/>
                    </a:lnTo>
                    <a:lnTo>
                      <a:pt x="1448" y="46"/>
                    </a:lnTo>
                    <a:lnTo>
                      <a:pt x="1448" y="47"/>
                    </a:lnTo>
                    <a:lnTo>
                      <a:pt x="1448" y="48"/>
                    </a:lnTo>
                    <a:lnTo>
                      <a:pt x="1458" y="48"/>
                    </a:lnTo>
                    <a:lnTo>
                      <a:pt x="1458" y="111"/>
                    </a:lnTo>
                    <a:lnTo>
                      <a:pt x="1460" y="117"/>
                    </a:lnTo>
                    <a:lnTo>
                      <a:pt x="1466" y="123"/>
                    </a:lnTo>
                    <a:lnTo>
                      <a:pt x="1470" y="125"/>
                    </a:lnTo>
                    <a:lnTo>
                      <a:pt x="1479" y="125"/>
                    </a:lnTo>
                    <a:lnTo>
                      <a:pt x="1483" y="123"/>
                    </a:lnTo>
                    <a:lnTo>
                      <a:pt x="1490" y="118"/>
                    </a:lnTo>
                    <a:lnTo>
                      <a:pt x="1493" y="115"/>
                    </a:lnTo>
                    <a:lnTo>
                      <a:pt x="1495" y="111"/>
                    </a:lnTo>
                    <a:close/>
                    <a:moveTo>
                      <a:pt x="1629" y="113"/>
                    </a:moveTo>
                    <a:lnTo>
                      <a:pt x="1625" y="113"/>
                    </a:lnTo>
                    <a:lnTo>
                      <a:pt x="1622" y="113"/>
                    </a:lnTo>
                    <a:lnTo>
                      <a:pt x="1619" y="111"/>
                    </a:lnTo>
                    <a:lnTo>
                      <a:pt x="1618" y="110"/>
                    </a:lnTo>
                    <a:lnTo>
                      <a:pt x="1617" y="107"/>
                    </a:lnTo>
                    <a:lnTo>
                      <a:pt x="1617" y="48"/>
                    </a:lnTo>
                    <a:lnTo>
                      <a:pt x="1617" y="11"/>
                    </a:lnTo>
                    <a:lnTo>
                      <a:pt x="1617" y="0"/>
                    </a:lnTo>
                    <a:lnTo>
                      <a:pt x="1616" y="0"/>
                    </a:lnTo>
                    <a:lnTo>
                      <a:pt x="1607" y="3"/>
                    </a:lnTo>
                    <a:lnTo>
                      <a:pt x="1599" y="6"/>
                    </a:lnTo>
                    <a:lnTo>
                      <a:pt x="1590" y="8"/>
                    </a:lnTo>
                    <a:lnTo>
                      <a:pt x="1590" y="11"/>
                    </a:lnTo>
                    <a:lnTo>
                      <a:pt x="1591" y="11"/>
                    </a:lnTo>
                    <a:lnTo>
                      <a:pt x="1593" y="11"/>
                    </a:lnTo>
                    <a:lnTo>
                      <a:pt x="1598" y="11"/>
                    </a:lnTo>
                    <a:lnTo>
                      <a:pt x="1600" y="12"/>
                    </a:lnTo>
                    <a:lnTo>
                      <a:pt x="1602" y="15"/>
                    </a:lnTo>
                    <a:lnTo>
                      <a:pt x="1602" y="17"/>
                    </a:lnTo>
                    <a:lnTo>
                      <a:pt x="1602" y="48"/>
                    </a:lnTo>
                    <a:lnTo>
                      <a:pt x="1602" y="63"/>
                    </a:lnTo>
                    <a:lnTo>
                      <a:pt x="1602" y="105"/>
                    </a:lnTo>
                    <a:lnTo>
                      <a:pt x="1601" y="108"/>
                    </a:lnTo>
                    <a:lnTo>
                      <a:pt x="1599" y="111"/>
                    </a:lnTo>
                    <a:lnTo>
                      <a:pt x="1593" y="114"/>
                    </a:lnTo>
                    <a:lnTo>
                      <a:pt x="1590" y="115"/>
                    </a:lnTo>
                    <a:lnTo>
                      <a:pt x="1582" y="115"/>
                    </a:lnTo>
                    <a:lnTo>
                      <a:pt x="1578" y="114"/>
                    </a:lnTo>
                    <a:lnTo>
                      <a:pt x="1570" y="109"/>
                    </a:lnTo>
                    <a:lnTo>
                      <a:pt x="1567" y="106"/>
                    </a:lnTo>
                    <a:lnTo>
                      <a:pt x="1562" y="95"/>
                    </a:lnTo>
                    <a:lnTo>
                      <a:pt x="1561" y="87"/>
                    </a:lnTo>
                    <a:lnTo>
                      <a:pt x="1561" y="70"/>
                    </a:lnTo>
                    <a:lnTo>
                      <a:pt x="1562" y="64"/>
                    </a:lnTo>
                    <a:lnTo>
                      <a:pt x="1567" y="54"/>
                    </a:lnTo>
                    <a:lnTo>
                      <a:pt x="1570" y="51"/>
                    </a:lnTo>
                    <a:lnTo>
                      <a:pt x="1576" y="46"/>
                    </a:lnTo>
                    <a:lnTo>
                      <a:pt x="1580" y="45"/>
                    </a:lnTo>
                    <a:lnTo>
                      <a:pt x="1588" y="45"/>
                    </a:lnTo>
                    <a:lnTo>
                      <a:pt x="1592" y="47"/>
                    </a:lnTo>
                    <a:lnTo>
                      <a:pt x="1599" y="53"/>
                    </a:lnTo>
                    <a:lnTo>
                      <a:pt x="1601" y="57"/>
                    </a:lnTo>
                    <a:lnTo>
                      <a:pt x="1602" y="63"/>
                    </a:lnTo>
                    <a:lnTo>
                      <a:pt x="1602" y="48"/>
                    </a:lnTo>
                    <a:lnTo>
                      <a:pt x="1599" y="45"/>
                    </a:lnTo>
                    <a:lnTo>
                      <a:pt x="1596" y="43"/>
                    </a:lnTo>
                    <a:lnTo>
                      <a:pt x="1590" y="41"/>
                    </a:lnTo>
                    <a:lnTo>
                      <a:pt x="1587" y="40"/>
                    </a:lnTo>
                    <a:lnTo>
                      <a:pt x="1583" y="40"/>
                    </a:lnTo>
                    <a:lnTo>
                      <a:pt x="1576" y="40"/>
                    </a:lnTo>
                    <a:lnTo>
                      <a:pt x="1570" y="42"/>
                    </a:lnTo>
                    <a:lnTo>
                      <a:pt x="1559" y="50"/>
                    </a:lnTo>
                    <a:lnTo>
                      <a:pt x="1554" y="56"/>
                    </a:lnTo>
                    <a:lnTo>
                      <a:pt x="1547" y="69"/>
                    </a:lnTo>
                    <a:lnTo>
                      <a:pt x="1546" y="77"/>
                    </a:lnTo>
                    <a:lnTo>
                      <a:pt x="1546" y="95"/>
                    </a:lnTo>
                    <a:lnTo>
                      <a:pt x="1547" y="101"/>
                    </a:lnTo>
                    <a:lnTo>
                      <a:pt x="1552" y="112"/>
                    </a:lnTo>
                    <a:lnTo>
                      <a:pt x="1556" y="116"/>
                    </a:lnTo>
                    <a:lnTo>
                      <a:pt x="1563" y="121"/>
                    </a:lnTo>
                    <a:lnTo>
                      <a:pt x="1567" y="123"/>
                    </a:lnTo>
                    <a:lnTo>
                      <a:pt x="1574" y="125"/>
                    </a:lnTo>
                    <a:lnTo>
                      <a:pt x="1576" y="125"/>
                    </a:lnTo>
                    <a:lnTo>
                      <a:pt x="1578" y="125"/>
                    </a:lnTo>
                    <a:lnTo>
                      <a:pt x="1585" y="125"/>
                    </a:lnTo>
                    <a:lnTo>
                      <a:pt x="1590" y="123"/>
                    </a:lnTo>
                    <a:lnTo>
                      <a:pt x="1597" y="119"/>
                    </a:lnTo>
                    <a:lnTo>
                      <a:pt x="1600" y="116"/>
                    </a:lnTo>
                    <a:lnTo>
                      <a:pt x="1600" y="115"/>
                    </a:lnTo>
                    <a:lnTo>
                      <a:pt x="1602" y="113"/>
                    </a:lnTo>
                    <a:lnTo>
                      <a:pt x="1602" y="124"/>
                    </a:lnTo>
                    <a:lnTo>
                      <a:pt x="1603" y="125"/>
                    </a:lnTo>
                    <a:lnTo>
                      <a:pt x="1620" y="119"/>
                    </a:lnTo>
                    <a:lnTo>
                      <a:pt x="1629" y="115"/>
                    </a:lnTo>
                    <a:lnTo>
                      <a:pt x="1629" y="113"/>
                    </a:lnTo>
                    <a:close/>
                    <a:moveTo>
                      <a:pt x="1708" y="111"/>
                    </a:moveTo>
                    <a:lnTo>
                      <a:pt x="1707" y="112"/>
                    </a:lnTo>
                    <a:lnTo>
                      <a:pt x="1706" y="113"/>
                    </a:lnTo>
                    <a:lnTo>
                      <a:pt x="1704" y="114"/>
                    </a:lnTo>
                    <a:lnTo>
                      <a:pt x="1702" y="115"/>
                    </a:lnTo>
                    <a:lnTo>
                      <a:pt x="1700" y="115"/>
                    </a:lnTo>
                    <a:lnTo>
                      <a:pt x="1698" y="114"/>
                    </a:lnTo>
                    <a:lnTo>
                      <a:pt x="1696" y="113"/>
                    </a:lnTo>
                    <a:lnTo>
                      <a:pt x="1696" y="112"/>
                    </a:lnTo>
                    <a:lnTo>
                      <a:pt x="1695" y="109"/>
                    </a:lnTo>
                    <a:lnTo>
                      <a:pt x="1695" y="75"/>
                    </a:lnTo>
                    <a:lnTo>
                      <a:pt x="1695" y="63"/>
                    </a:lnTo>
                    <a:lnTo>
                      <a:pt x="1695" y="61"/>
                    </a:lnTo>
                    <a:lnTo>
                      <a:pt x="1693" y="52"/>
                    </a:lnTo>
                    <a:lnTo>
                      <a:pt x="1691" y="48"/>
                    </a:lnTo>
                    <a:lnTo>
                      <a:pt x="1686" y="44"/>
                    </a:lnTo>
                    <a:lnTo>
                      <a:pt x="1683" y="42"/>
                    </a:lnTo>
                    <a:lnTo>
                      <a:pt x="1677" y="40"/>
                    </a:lnTo>
                    <a:lnTo>
                      <a:pt x="1668" y="40"/>
                    </a:lnTo>
                    <a:lnTo>
                      <a:pt x="1661" y="40"/>
                    </a:lnTo>
                    <a:lnTo>
                      <a:pt x="1656" y="42"/>
                    </a:lnTo>
                    <a:lnTo>
                      <a:pt x="1647" y="46"/>
                    </a:lnTo>
                    <a:lnTo>
                      <a:pt x="1644" y="49"/>
                    </a:lnTo>
                    <a:lnTo>
                      <a:pt x="1640" y="55"/>
                    </a:lnTo>
                    <a:lnTo>
                      <a:pt x="1639" y="58"/>
                    </a:lnTo>
                    <a:lnTo>
                      <a:pt x="1639" y="62"/>
                    </a:lnTo>
                    <a:lnTo>
                      <a:pt x="1640" y="63"/>
                    </a:lnTo>
                    <a:lnTo>
                      <a:pt x="1642" y="67"/>
                    </a:lnTo>
                    <a:lnTo>
                      <a:pt x="1644" y="68"/>
                    </a:lnTo>
                    <a:lnTo>
                      <a:pt x="1647" y="68"/>
                    </a:lnTo>
                    <a:lnTo>
                      <a:pt x="1649" y="68"/>
                    </a:lnTo>
                    <a:lnTo>
                      <a:pt x="1651" y="67"/>
                    </a:lnTo>
                    <a:lnTo>
                      <a:pt x="1654" y="64"/>
                    </a:lnTo>
                    <a:lnTo>
                      <a:pt x="1655" y="62"/>
                    </a:lnTo>
                    <a:lnTo>
                      <a:pt x="1655" y="58"/>
                    </a:lnTo>
                    <a:lnTo>
                      <a:pt x="1654" y="56"/>
                    </a:lnTo>
                    <a:lnTo>
                      <a:pt x="1654" y="51"/>
                    </a:lnTo>
                    <a:lnTo>
                      <a:pt x="1655" y="48"/>
                    </a:lnTo>
                    <a:lnTo>
                      <a:pt x="1661" y="45"/>
                    </a:lnTo>
                    <a:lnTo>
                      <a:pt x="1664" y="45"/>
                    </a:lnTo>
                    <a:lnTo>
                      <a:pt x="1667" y="45"/>
                    </a:lnTo>
                    <a:lnTo>
                      <a:pt x="1670" y="44"/>
                    </a:lnTo>
                    <a:lnTo>
                      <a:pt x="1673" y="45"/>
                    </a:lnTo>
                    <a:lnTo>
                      <a:pt x="1679" y="49"/>
                    </a:lnTo>
                    <a:lnTo>
                      <a:pt x="1680" y="53"/>
                    </a:lnTo>
                    <a:lnTo>
                      <a:pt x="1680" y="58"/>
                    </a:lnTo>
                    <a:lnTo>
                      <a:pt x="1681" y="70"/>
                    </a:lnTo>
                    <a:lnTo>
                      <a:pt x="1681" y="75"/>
                    </a:lnTo>
                    <a:lnTo>
                      <a:pt x="1680" y="105"/>
                    </a:lnTo>
                    <a:lnTo>
                      <a:pt x="1680" y="106"/>
                    </a:lnTo>
                    <a:lnTo>
                      <a:pt x="1679" y="108"/>
                    </a:lnTo>
                    <a:lnTo>
                      <a:pt x="1677" y="110"/>
                    </a:lnTo>
                    <a:lnTo>
                      <a:pt x="1673" y="112"/>
                    </a:lnTo>
                    <a:lnTo>
                      <a:pt x="1672" y="112"/>
                    </a:lnTo>
                    <a:lnTo>
                      <a:pt x="1667" y="114"/>
                    </a:lnTo>
                    <a:lnTo>
                      <a:pt x="1665" y="114"/>
                    </a:lnTo>
                    <a:lnTo>
                      <a:pt x="1663" y="114"/>
                    </a:lnTo>
                    <a:lnTo>
                      <a:pt x="1660" y="114"/>
                    </a:lnTo>
                    <a:lnTo>
                      <a:pt x="1657" y="113"/>
                    </a:lnTo>
                    <a:lnTo>
                      <a:pt x="1653" y="108"/>
                    </a:lnTo>
                    <a:lnTo>
                      <a:pt x="1651" y="105"/>
                    </a:lnTo>
                    <a:lnTo>
                      <a:pt x="1651" y="101"/>
                    </a:lnTo>
                    <a:lnTo>
                      <a:pt x="1651" y="98"/>
                    </a:lnTo>
                    <a:lnTo>
                      <a:pt x="1652" y="96"/>
                    </a:lnTo>
                    <a:lnTo>
                      <a:pt x="1654" y="90"/>
                    </a:lnTo>
                    <a:lnTo>
                      <a:pt x="1657" y="87"/>
                    </a:lnTo>
                    <a:lnTo>
                      <a:pt x="1665" y="81"/>
                    </a:lnTo>
                    <a:lnTo>
                      <a:pt x="1672" y="78"/>
                    </a:lnTo>
                    <a:lnTo>
                      <a:pt x="1681" y="75"/>
                    </a:lnTo>
                    <a:lnTo>
                      <a:pt x="1681" y="70"/>
                    </a:lnTo>
                    <a:lnTo>
                      <a:pt x="1671" y="74"/>
                    </a:lnTo>
                    <a:lnTo>
                      <a:pt x="1662" y="78"/>
                    </a:lnTo>
                    <a:lnTo>
                      <a:pt x="1649" y="84"/>
                    </a:lnTo>
                    <a:lnTo>
                      <a:pt x="1644" y="88"/>
                    </a:lnTo>
                    <a:lnTo>
                      <a:pt x="1637" y="95"/>
                    </a:lnTo>
                    <a:lnTo>
                      <a:pt x="1636" y="100"/>
                    </a:lnTo>
                    <a:lnTo>
                      <a:pt x="1636" y="112"/>
                    </a:lnTo>
                    <a:lnTo>
                      <a:pt x="1638" y="117"/>
                    </a:lnTo>
                    <a:lnTo>
                      <a:pt x="1645" y="123"/>
                    </a:lnTo>
                    <a:lnTo>
                      <a:pt x="1650" y="125"/>
                    </a:lnTo>
                    <a:lnTo>
                      <a:pt x="1655" y="125"/>
                    </a:lnTo>
                    <a:lnTo>
                      <a:pt x="1660" y="125"/>
                    </a:lnTo>
                    <a:lnTo>
                      <a:pt x="1664" y="123"/>
                    </a:lnTo>
                    <a:lnTo>
                      <a:pt x="1673" y="118"/>
                    </a:lnTo>
                    <a:lnTo>
                      <a:pt x="1677" y="115"/>
                    </a:lnTo>
                    <a:lnTo>
                      <a:pt x="1678" y="114"/>
                    </a:lnTo>
                    <a:lnTo>
                      <a:pt x="1681" y="112"/>
                    </a:lnTo>
                    <a:lnTo>
                      <a:pt x="1681" y="116"/>
                    </a:lnTo>
                    <a:lnTo>
                      <a:pt x="1682" y="119"/>
                    </a:lnTo>
                    <a:lnTo>
                      <a:pt x="1685" y="123"/>
                    </a:lnTo>
                    <a:lnTo>
                      <a:pt x="1686" y="124"/>
                    </a:lnTo>
                    <a:lnTo>
                      <a:pt x="1690" y="125"/>
                    </a:lnTo>
                    <a:lnTo>
                      <a:pt x="1691" y="125"/>
                    </a:lnTo>
                    <a:lnTo>
                      <a:pt x="1692" y="125"/>
                    </a:lnTo>
                    <a:lnTo>
                      <a:pt x="1694" y="125"/>
                    </a:lnTo>
                    <a:lnTo>
                      <a:pt x="1696" y="125"/>
                    </a:lnTo>
                    <a:lnTo>
                      <a:pt x="1701" y="123"/>
                    </a:lnTo>
                    <a:lnTo>
                      <a:pt x="1705" y="120"/>
                    </a:lnTo>
                    <a:lnTo>
                      <a:pt x="1708" y="116"/>
                    </a:lnTo>
                    <a:lnTo>
                      <a:pt x="1708" y="115"/>
                    </a:lnTo>
                    <a:lnTo>
                      <a:pt x="1708" y="111"/>
                    </a:lnTo>
                    <a:close/>
                    <a:moveTo>
                      <a:pt x="1762" y="111"/>
                    </a:moveTo>
                    <a:lnTo>
                      <a:pt x="1760" y="109"/>
                    </a:lnTo>
                    <a:lnTo>
                      <a:pt x="1759" y="110"/>
                    </a:lnTo>
                    <a:lnTo>
                      <a:pt x="1757" y="112"/>
                    </a:lnTo>
                    <a:lnTo>
                      <a:pt x="1754" y="115"/>
                    </a:lnTo>
                    <a:lnTo>
                      <a:pt x="1751" y="115"/>
                    </a:lnTo>
                    <a:lnTo>
                      <a:pt x="1749" y="115"/>
                    </a:lnTo>
                    <a:lnTo>
                      <a:pt x="1746" y="115"/>
                    </a:lnTo>
                    <a:lnTo>
                      <a:pt x="1743" y="114"/>
                    </a:lnTo>
                    <a:lnTo>
                      <a:pt x="1741" y="111"/>
                    </a:lnTo>
                    <a:lnTo>
                      <a:pt x="1740" y="108"/>
                    </a:lnTo>
                    <a:lnTo>
                      <a:pt x="1740" y="103"/>
                    </a:lnTo>
                    <a:lnTo>
                      <a:pt x="1739" y="48"/>
                    </a:lnTo>
                    <a:lnTo>
                      <a:pt x="1758" y="48"/>
                    </a:lnTo>
                    <a:lnTo>
                      <a:pt x="1758" y="42"/>
                    </a:lnTo>
                    <a:lnTo>
                      <a:pt x="1739" y="42"/>
                    </a:lnTo>
                    <a:lnTo>
                      <a:pt x="1739" y="21"/>
                    </a:lnTo>
                    <a:lnTo>
                      <a:pt x="1740" y="20"/>
                    </a:lnTo>
                    <a:lnTo>
                      <a:pt x="1739" y="19"/>
                    </a:lnTo>
                    <a:lnTo>
                      <a:pt x="1738" y="19"/>
                    </a:lnTo>
                    <a:lnTo>
                      <a:pt x="1735" y="23"/>
                    </a:lnTo>
                    <a:lnTo>
                      <a:pt x="1732" y="27"/>
                    </a:lnTo>
                    <a:lnTo>
                      <a:pt x="1728" y="33"/>
                    </a:lnTo>
                    <a:lnTo>
                      <a:pt x="1725" y="36"/>
                    </a:lnTo>
                    <a:lnTo>
                      <a:pt x="1722" y="39"/>
                    </a:lnTo>
                    <a:lnTo>
                      <a:pt x="1720" y="41"/>
                    </a:lnTo>
                    <a:lnTo>
                      <a:pt x="1718" y="43"/>
                    </a:lnTo>
                    <a:lnTo>
                      <a:pt x="1715" y="45"/>
                    </a:lnTo>
                    <a:lnTo>
                      <a:pt x="1714" y="46"/>
                    </a:lnTo>
                    <a:lnTo>
                      <a:pt x="1714" y="47"/>
                    </a:lnTo>
                    <a:lnTo>
                      <a:pt x="1714" y="48"/>
                    </a:lnTo>
                    <a:lnTo>
                      <a:pt x="1715" y="48"/>
                    </a:lnTo>
                    <a:lnTo>
                      <a:pt x="1724" y="48"/>
                    </a:lnTo>
                    <a:lnTo>
                      <a:pt x="1724" y="111"/>
                    </a:lnTo>
                    <a:lnTo>
                      <a:pt x="1726" y="117"/>
                    </a:lnTo>
                    <a:lnTo>
                      <a:pt x="1732" y="123"/>
                    </a:lnTo>
                    <a:lnTo>
                      <a:pt x="1736" y="125"/>
                    </a:lnTo>
                    <a:lnTo>
                      <a:pt x="1745" y="125"/>
                    </a:lnTo>
                    <a:lnTo>
                      <a:pt x="1749" y="123"/>
                    </a:lnTo>
                    <a:lnTo>
                      <a:pt x="1757" y="118"/>
                    </a:lnTo>
                    <a:lnTo>
                      <a:pt x="1759" y="115"/>
                    </a:lnTo>
                    <a:lnTo>
                      <a:pt x="1760" y="115"/>
                    </a:lnTo>
                    <a:lnTo>
                      <a:pt x="1762" y="111"/>
                    </a:lnTo>
                    <a:close/>
                    <a:moveTo>
                      <a:pt x="1842" y="111"/>
                    </a:moveTo>
                    <a:lnTo>
                      <a:pt x="1841" y="112"/>
                    </a:lnTo>
                    <a:lnTo>
                      <a:pt x="1840" y="113"/>
                    </a:lnTo>
                    <a:lnTo>
                      <a:pt x="1837" y="114"/>
                    </a:lnTo>
                    <a:lnTo>
                      <a:pt x="1835" y="115"/>
                    </a:lnTo>
                    <a:lnTo>
                      <a:pt x="1834" y="115"/>
                    </a:lnTo>
                    <a:lnTo>
                      <a:pt x="1831" y="114"/>
                    </a:lnTo>
                    <a:lnTo>
                      <a:pt x="1829" y="113"/>
                    </a:lnTo>
                    <a:lnTo>
                      <a:pt x="1829" y="112"/>
                    </a:lnTo>
                    <a:lnTo>
                      <a:pt x="1828" y="109"/>
                    </a:lnTo>
                    <a:lnTo>
                      <a:pt x="1828" y="75"/>
                    </a:lnTo>
                    <a:lnTo>
                      <a:pt x="1828" y="63"/>
                    </a:lnTo>
                    <a:lnTo>
                      <a:pt x="1828" y="61"/>
                    </a:lnTo>
                    <a:lnTo>
                      <a:pt x="1827" y="52"/>
                    </a:lnTo>
                    <a:lnTo>
                      <a:pt x="1824" y="48"/>
                    </a:lnTo>
                    <a:lnTo>
                      <a:pt x="1819" y="44"/>
                    </a:lnTo>
                    <a:lnTo>
                      <a:pt x="1817" y="42"/>
                    </a:lnTo>
                    <a:lnTo>
                      <a:pt x="1810" y="40"/>
                    </a:lnTo>
                    <a:lnTo>
                      <a:pt x="1801" y="40"/>
                    </a:lnTo>
                    <a:lnTo>
                      <a:pt x="1795" y="40"/>
                    </a:lnTo>
                    <a:lnTo>
                      <a:pt x="1789" y="42"/>
                    </a:lnTo>
                    <a:lnTo>
                      <a:pt x="1780" y="46"/>
                    </a:lnTo>
                    <a:lnTo>
                      <a:pt x="1777" y="49"/>
                    </a:lnTo>
                    <a:lnTo>
                      <a:pt x="1773" y="55"/>
                    </a:lnTo>
                    <a:lnTo>
                      <a:pt x="1772" y="58"/>
                    </a:lnTo>
                    <a:lnTo>
                      <a:pt x="1772" y="62"/>
                    </a:lnTo>
                    <a:lnTo>
                      <a:pt x="1773" y="63"/>
                    </a:lnTo>
                    <a:lnTo>
                      <a:pt x="1775" y="67"/>
                    </a:lnTo>
                    <a:lnTo>
                      <a:pt x="1777" y="68"/>
                    </a:lnTo>
                    <a:lnTo>
                      <a:pt x="1780" y="68"/>
                    </a:lnTo>
                    <a:lnTo>
                      <a:pt x="1782" y="68"/>
                    </a:lnTo>
                    <a:lnTo>
                      <a:pt x="1784" y="67"/>
                    </a:lnTo>
                    <a:lnTo>
                      <a:pt x="1787" y="64"/>
                    </a:lnTo>
                    <a:lnTo>
                      <a:pt x="1788" y="62"/>
                    </a:lnTo>
                    <a:lnTo>
                      <a:pt x="1788" y="58"/>
                    </a:lnTo>
                    <a:lnTo>
                      <a:pt x="1787" y="56"/>
                    </a:lnTo>
                    <a:lnTo>
                      <a:pt x="1787" y="51"/>
                    </a:lnTo>
                    <a:lnTo>
                      <a:pt x="1789" y="48"/>
                    </a:lnTo>
                    <a:lnTo>
                      <a:pt x="1794" y="45"/>
                    </a:lnTo>
                    <a:lnTo>
                      <a:pt x="1797" y="45"/>
                    </a:lnTo>
                    <a:lnTo>
                      <a:pt x="1800" y="45"/>
                    </a:lnTo>
                    <a:lnTo>
                      <a:pt x="1803" y="44"/>
                    </a:lnTo>
                    <a:lnTo>
                      <a:pt x="1806" y="45"/>
                    </a:lnTo>
                    <a:lnTo>
                      <a:pt x="1812" y="49"/>
                    </a:lnTo>
                    <a:lnTo>
                      <a:pt x="1813" y="53"/>
                    </a:lnTo>
                    <a:lnTo>
                      <a:pt x="1814" y="58"/>
                    </a:lnTo>
                    <a:lnTo>
                      <a:pt x="1814" y="70"/>
                    </a:lnTo>
                    <a:lnTo>
                      <a:pt x="1814" y="75"/>
                    </a:lnTo>
                    <a:lnTo>
                      <a:pt x="1814" y="105"/>
                    </a:lnTo>
                    <a:lnTo>
                      <a:pt x="1814" y="106"/>
                    </a:lnTo>
                    <a:lnTo>
                      <a:pt x="1812" y="108"/>
                    </a:lnTo>
                    <a:lnTo>
                      <a:pt x="1810" y="110"/>
                    </a:lnTo>
                    <a:lnTo>
                      <a:pt x="1807" y="112"/>
                    </a:lnTo>
                    <a:lnTo>
                      <a:pt x="1805" y="112"/>
                    </a:lnTo>
                    <a:lnTo>
                      <a:pt x="1801" y="114"/>
                    </a:lnTo>
                    <a:lnTo>
                      <a:pt x="1798" y="114"/>
                    </a:lnTo>
                    <a:lnTo>
                      <a:pt x="1796" y="114"/>
                    </a:lnTo>
                    <a:lnTo>
                      <a:pt x="1793" y="114"/>
                    </a:lnTo>
                    <a:lnTo>
                      <a:pt x="1790" y="113"/>
                    </a:lnTo>
                    <a:lnTo>
                      <a:pt x="1786" y="108"/>
                    </a:lnTo>
                    <a:lnTo>
                      <a:pt x="1785" y="105"/>
                    </a:lnTo>
                    <a:lnTo>
                      <a:pt x="1785" y="101"/>
                    </a:lnTo>
                    <a:lnTo>
                      <a:pt x="1784" y="98"/>
                    </a:lnTo>
                    <a:lnTo>
                      <a:pt x="1785" y="96"/>
                    </a:lnTo>
                    <a:lnTo>
                      <a:pt x="1787" y="90"/>
                    </a:lnTo>
                    <a:lnTo>
                      <a:pt x="1790" y="87"/>
                    </a:lnTo>
                    <a:lnTo>
                      <a:pt x="1798" y="81"/>
                    </a:lnTo>
                    <a:lnTo>
                      <a:pt x="1805" y="78"/>
                    </a:lnTo>
                    <a:lnTo>
                      <a:pt x="1814" y="75"/>
                    </a:lnTo>
                    <a:lnTo>
                      <a:pt x="1814" y="70"/>
                    </a:lnTo>
                    <a:lnTo>
                      <a:pt x="1804" y="74"/>
                    </a:lnTo>
                    <a:lnTo>
                      <a:pt x="1796" y="78"/>
                    </a:lnTo>
                    <a:lnTo>
                      <a:pt x="1782" y="84"/>
                    </a:lnTo>
                    <a:lnTo>
                      <a:pt x="1777" y="88"/>
                    </a:lnTo>
                    <a:lnTo>
                      <a:pt x="1770" y="95"/>
                    </a:lnTo>
                    <a:lnTo>
                      <a:pt x="1769" y="100"/>
                    </a:lnTo>
                    <a:lnTo>
                      <a:pt x="1769" y="112"/>
                    </a:lnTo>
                    <a:lnTo>
                      <a:pt x="1771" y="117"/>
                    </a:lnTo>
                    <a:lnTo>
                      <a:pt x="1778" y="123"/>
                    </a:lnTo>
                    <a:lnTo>
                      <a:pt x="1783" y="125"/>
                    </a:lnTo>
                    <a:lnTo>
                      <a:pt x="1788" y="125"/>
                    </a:lnTo>
                    <a:lnTo>
                      <a:pt x="1793" y="125"/>
                    </a:lnTo>
                    <a:lnTo>
                      <a:pt x="1798" y="123"/>
                    </a:lnTo>
                    <a:lnTo>
                      <a:pt x="1807" y="118"/>
                    </a:lnTo>
                    <a:lnTo>
                      <a:pt x="1811" y="115"/>
                    </a:lnTo>
                    <a:lnTo>
                      <a:pt x="1811" y="114"/>
                    </a:lnTo>
                    <a:lnTo>
                      <a:pt x="1814" y="112"/>
                    </a:lnTo>
                    <a:lnTo>
                      <a:pt x="1814" y="116"/>
                    </a:lnTo>
                    <a:lnTo>
                      <a:pt x="1815" y="119"/>
                    </a:lnTo>
                    <a:lnTo>
                      <a:pt x="1818" y="123"/>
                    </a:lnTo>
                    <a:lnTo>
                      <a:pt x="1820" y="124"/>
                    </a:lnTo>
                    <a:lnTo>
                      <a:pt x="1823" y="125"/>
                    </a:lnTo>
                    <a:lnTo>
                      <a:pt x="1824" y="125"/>
                    </a:lnTo>
                    <a:lnTo>
                      <a:pt x="1826" y="125"/>
                    </a:lnTo>
                    <a:lnTo>
                      <a:pt x="1827" y="125"/>
                    </a:lnTo>
                    <a:lnTo>
                      <a:pt x="1828" y="125"/>
                    </a:lnTo>
                    <a:lnTo>
                      <a:pt x="1829" y="125"/>
                    </a:lnTo>
                    <a:lnTo>
                      <a:pt x="1835" y="123"/>
                    </a:lnTo>
                    <a:lnTo>
                      <a:pt x="1838" y="120"/>
                    </a:lnTo>
                    <a:lnTo>
                      <a:pt x="1842" y="116"/>
                    </a:lnTo>
                    <a:lnTo>
                      <a:pt x="1842" y="115"/>
                    </a:lnTo>
                    <a:lnTo>
                      <a:pt x="1842" y="111"/>
                    </a:lnTo>
                    <a:close/>
                    <a:moveTo>
                      <a:pt x="2731" y="1047"/>
                    </a:moveTo>
                    <a:lnTo>
                      <a:pt x="2702" y="1030"/>
                    </a:lnTo>
                    <a:lnTo>
                      <a:pt x="2702" y="1047"/>
                    </a:lnTo>
                    <a:lnTo>
                      <a:pt x="2527" y="1150"/>
                    </a:lnTo>
                    <a:lnTo>
                      <a:pt x="2527" y="1112"/>
                    </a:lnTo>
                    <a:lnTo>
                      <a:pt x="2527" y="1097"/>
                    </a:lnTo>
                    <a:lnTo>
                      <a:pt x="194" y="1097"/>
                    </a:lnTo>
                    <a:lnTo>
                      <a:pt x="194" y="1137"/>
                    </a:lnTo>
                    <a:lnTo>
                      <a:pt x="29" y="1052"/>
                    </a:lnTo>
                    <a:lnTo>
                      <a:pt x="197" y="946"/>
                    </a:lnTo>
                    <a:lnTo>
                      <a:pt x="201" y="997"/>
                    </a:lnTo>
                    <a:lnTo>
                      <a:pt x="2527" y="997"/>
                    </a:lnTo>
                    <a:lnTo>
                      <a:pt x="2527" y="982"/>
                    </a:lnTo>
                    <a:lnTo>
                      <a:pt x="2527" y="946"/>
                    </a:lnTo>
                    <a:lnTo>
                      <a:pt x="2702" y="1047"/>
                    </a:lnTo>
                    <a:lnTo>
                      <a:pt x="2702" y="1030"/>
                    </a:lnTo>
                    <a:lnTo>
                      <a:pt x="2558" y="946"/>
                    </a:lnTo>
                    <a:lnTo>
                      <a:pt x="2513" y="920"/>
                    </a:lnTo>
                    <a:lnTo>
                      <a:pt x="2513" y="982"/>
                    </a:lnTo>
                    <a:lnTo>
                      <a:pt x="213" y="982"/>
                    </a:lnTo>
                    <a:lnTo>
                      <a:pt x="211" y="946"/>
                    </a:lnTo>
                    <a:lnTo>
                      <a:pt x="209" y="920"/>
                    </a:lnTo>
                    <a:lnTo>
                      <a:pt x="0" y="1054"/>
                    </a:lnTo>
                    <a:lnTo>
                      <a:pt x="199" y="1155"/>
                    </a:lnTo>
                    <a:lnTo>
                      <a:pt x="209" y="1160"/>
                    </a:lnTo>
                    <a:lnTo>
                      <a:pt x="209" y="1112"/>
                    </a:lnTo>
                    <a:lnTo>
                      <a:pt x="2513" y="1112"/>
                    </a:lnTo>
                    <a:lnTo>
                      <a:pt x="2513" y="1177"/>
                    </a:lnTo>
                    <a:lnTo>
                      <a:pt x="2557" y="1150"/>
                    </a:lnTo>
                    <a:lnTo>
                      <a:pt x="2731" y="10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sp>
            <p:nvSpPr>
              <p:cNvPr id="13" name="Freeform 12">
                <a:extLst>
                  <a:ext uri="{FF2B5EF4-FFF2-40B4-BE49-F238E27FC236}">
                    <a16:creationId xmlns:a16="http://schemas.microsoft.com/office/drawing/2014/main" id="{F6D3B71D-0E12-B76D-8FC5-A587AFCAE15B}"/>
                  </a:ext>
                </a:extLst>
              </p:cNvPr>
              <p:cNvSpPr>
                <a:spLocks noChangeAspect="1" noEditPoints="1" noChangeArrowheads="1" noChangeShapeType="1" noTextEdit="1"/>
              </p:cNvSpPr>
              <p:nvPr/>
            </p:nvSpPr>
            <p:spPr bwMode="auto">
              <a:xfrm>
                <a:off x="3727" y="2138"/>
                <a:ext cx="2703" cy="226"/>
              </a:xfrm>
              <a:custGeom>
                <a:avLst/>
                <a:gdLst>
                  <a:gd name="T0" fmla="+- 0 6233 3727"/>
                  <a:gd name="T1" fmla="*/ T0 w 2703"/>
                  <a:gd name="T2" fmla="+- 0 2364 2138"/>
                  <a:gd name="T3" fmla="*/ 2364 h 226"/>
                  <a:gd name="T4" fmla="+- 0 6233 3727"/>
                  <a:gd name="T5" fmla="*/ T4 w 2703"/>
                  <a:gd name="T6" fmla="+- 0 2306 2138"/>
                  <a:gd name="T7" fmla="*/ 2306 h 226"/>
                  <a:gd name="T8" fmla="+- 0 3914 3727"/>
                  <a:gd name="T9" fmla="*/ T8 w 2703"/>
                  <a:gd name="T10" fmla="+- 0 2306 2138"/>
                  <a:gd name="T11" fmla="*/ 2306 h 226"/>
                  <a:gd name="T12" fmla="+- 0 3914 3727"/>
                  <a:gd name="T13" fmla="*/ T12 w 2703"/>
                  <a:gd name="T14" fmla="+- 0 2354 2138"/>
                  <a:gd name="T15" fmla="*/ 2354 h 226"/>
                  <a:gd name="T16" fmla="+- 0 3727 3727"/>
                  <a:gd name="T17" fmla="*/ T16 w 2703"/>
                  <a:gd name="T18" fmla="+- 0 2258 2138"/>
                  <a:gd name="T19" fmla="*/ 2258 h 226"/>
                  <a:gd name="T20" fmla="+- 0 3914 3727"/>
                  <a:gd name="T21" fmla="*/ T20 w 2703"/>
                  <a:gd name="T22" fmla="+- 0 2138 2138"/>
                  <a:gd name="T23" fmla="*/ 2138 h 226"/>
                  <a:gd name="T24" fmla="+- 0 3919 3727"/>
                  <a:gd name="T25" fmla="*/ T24 w 2703"/>
                  <a:gd name="T26" fmla="+- 0 2196 2138"/>
                  <a:gd name="T27" fmla="*/ 2196 h 226"/>
                  <a:gd name="T28" fmla="+- 0 6233 3727"/>
                  <a:gd name="T29" fmla="*/ T28 w 2703"/>
                  <a:gd name="T30" fmla="+- 0 2196 2138"/>
                  <a:gd name="T31" fmla="*/ 2196 h 226"/>
                  <a:gd name="T32" fmla="+- 0 6233 3727"/>
                  <a:gd name="T33" fmla="*/ T32 w 2703"/>
                  <a:gd name="T34" fmla="+- 0 2138 2138"/>
                  <a:gd name="T35" fmla="*/ 2138 h 226"/>
                  <a:gd name="T36" fmla="+- 0 6430 3727"/>
                  <a:gd name="T37" fmla="*/ T36 w 2703"/>
                  <a:gd name="T38" fmla="+- 0 2254 2138"/>
                  <a:gd name="T39" fmla="*/ 2254 h 226"/>
                  <a:gd name="T40" fmla="+- 0 6233 3727"/>
                  <a:gd name="T41" fmla="*/ T40 w 2703"/>
                  <a:gd name="T42" fmla="+- 0 2364 2138"/>
                  <a:gd name="T43" fmla="*/ 2364 h 226"/>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Lst>
                <a:rect l="0" t="0" r="r" b="b"/>
                <a:pathLst>
                  <a:path w="2703" h="226">
                    <a:moveTo>
                      <a:pt x="2506" y="226"/>
                    </a:moveTo>
                    <a:lnTo>
                      <a:pt x="2506" y="168"/>
                    </a:lnTo>
                    <a:lnTo>
                      <a:pt x="187" y="168"/>
                    </a:lnTo>
                    <a:lnTo>
                      <a:pt x="187" y="216"/>
                    </a:lnTo>
                    <a:lnTo>
                      <a:pt x="0" y="120"/>
                    </a:lnTo>
                    <a:lnTo>
                      <a:pt x="187" y="0"/>
                    </a:lnTo>
                    <a:lnTo>
                      <a:pt x="192" y="58"/>
                    </a:lnTo>
                    <a:lnTo>
                      <a:pt x="2506" y="58"/>
                    </a:lnTo>
                    <a:lnTo>
                      <a:pt x="2506" y="0"/>
                    </a:lnTo>
                    <a:lnTo>
                      <a:pt x="2703" y="116"/>
                    </a:lnTo>
                    <a:lnTo>
                      <a:pt x="2506" y="22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sp>
            <p:nvSpPr>
              <p:cNvPr id="14" name="AutoShape 344">
                <a:extLst>
                  <a:ext uri="{FF2B5EF4-FFF2-40B4-BE49-F238E27FC236}">
                    <a16:creationId xmlns:a16="http://schemas.microsoft.com/office/drawing/2014/main" id="{927EE9E3-2AF9-5C09-52AD-66F95EB4C1C1}"/>
                  </a:ext>
                </a:extLst>
              </p:cNvPr>
              <p:cNvSpPr>
                <a:spLocks noChangeAspect="1" noEditPoints="1" noChangeArrowheads="1" noChangeShapeType="1" noTextEdit="1"/>
              </p:cNvSpPr>
              <p:nvPr/>
            </p:nvSpPr>
            <p:spPr bwMode="auto">
              <a:xfrm>
                <a:off x="3712" y="2126"/>
                <a:ext cx="2732" cy="250"/>
              </a:xfrm>
              <a:custGeom>
                <a:avLst/>
                <a:gdLst>
                  <a:gd name="T0" fmla="+- 0 3912 3713"/>
                  <a:gd name="T1" fmla="*/ T0 w 2732"/>
                  <a:gd name="T2" fmla="+- 0 2362 2126"/>
                  <a:gd name="T3" fmla="*/ 2362 h 250"/>
                  <a:gd name="T4" fmla="+- 0 3713 3713"/>
                  <a:gd name="T5" fmla="*/ T4 w 2732"/>
                  <a:gd name="T6" fmla="+- 0 2261 2126"/>
                  <a:gd name="T7" fmla="*/ 2261 h 250"/>
                  <a:gd name="T8" fmla="+- 0 3922 3713"/>
                  <a:gd name="T9" fmla="*/ T8 w 2732"/>
                  <a:gd name="T10" fmla="+- 0 2126 2126"/>
                  <a:gd name="T11" fmla="*/ 2126 h 250"/>
                  <a:gd name="T12" fmla="+- 0 3924 3713"/>
                  <a:gd name="T13" fmla="*/ T12 w 2732"/>
                  <a:gd name="T14" fmla="+- 0 2153 2126"/>
                  <a:gd name="T15" fmla="*/ 2153 h 250"/>
                  <a:gd name="T16" fmla="+- 0 3910 3713"/>
                  <a:gd name="T17" fmla="*/ T16 w 2732"/>
                  <a:gd name="T18" fmla="+- 0 2153 2126"/>
                  <a:gd name="T19" fmla="*/ 2153 h 250"/>
                  <a:gd name="T20" fmla="+- 0 3742 3713"/>
                  <a:gd name="T21" fmla="*/ T20 w 2732"/>
                  <a:gd name="T22" fmla="+- 0 2258 2126"/>
                  <a:gd name="T23" fmla="*/ 2258 h 250"/>
                  <a:gd name="T24" fmla="+- 0 3907 3713"/>
                  <a:gd name="T25" fmla="*/ T24 w 2732"/>
                  <a:gd name="T26" fmla="+- 0 2343 2126"/>
                  <a:gd name="T27" fmla="*/ 2343 h 250"/>
                  <a:gd name="T28" fmla="+- 0 3907 3713"/>
                  <a:gd name="T29" fmla="*/ T28 w 2732"/>
                  <a:gd name="T30" fmla="+- 0 2354 2126"/>
                  <a:gd name="T31" fmla="*/ 2354 h 250"/>
                  <a:gd name="T32" fmla="+- 0 3914 3713"/>
                  <a:gd name="T33" fmla="*/ T32 w 2732"/>
                  <a:gd name="T34" fmla="+- 0 2354 2126"/>
                  <a:gd name="T35" fmla="*/ 2354 h 250"/>
                  <a:gd name="T36" fmla="+- 0 3912 3713"/>
                  <a:gd name="T37" fmla="*/ T36 w 2732"/>
                  <a:gd name="T38" fmla="+- 0 2362 2126"/>
                  <a:gd name="T39" fmla="*/ 2362 h 250"/>
                  <a:gd name="T40" fmla="+- 0 6240 3713"/>
                  <a:gd name="T41" fmla="*/ T40 w 2732"/>
                  <a:gd name="T42" fmla="+- 0 2189 2126"/>
                  <a:gd name="T43" fmla="*/ 2189 h 250"/>
                  <a:gd name="T44" fmla="+- 0 6226 3713"/>
                  <a:gd name="T45" fmla="*/ T44 w 2732"/>
                  <a:gd name="T46" fmla="+- 0 2189 2126"/>
                  <a:gd name="T47" fmla="*/ 2189 h 250"/>
                  <a:gd name="T48" fmla="+- 0 6226 3713"/>
                  <a:gd name="T49" fmla="*/ T48 w 2732"/>
                  <a:gd name="T50" fmla="+- 0 2126 2126"/>
                  <a:gd name="T51" fmla="*/ 2126 h 250"/>
                  <a:gd name="T52" fmla="+- 0 6271 3713"/>
                  <a:gd name="T53" fmla="*/ T52 w 2732"/>
                  <a:gd name="T54" fmla="+- 0 2153 2126"/>
                  <a:gd name="T55" fmla="*/ 2153 h 250"/>
                  <a:gd name="T56" fmla="+- 0 6240 3713"/>
                  <a:gd name="T57" fmla="*/ T56 w 2732"/>
                  <a:gd name="T58" fmla="+- 0 2153 2126"/>
                  <a:gd name="T59" fmla="*/ 2153 h 250"/>
                  <a:gd name="T60" fmla="+- 0 6240 3713"/>
                  <a:gd name="T61" fmla="*/ T60 w 2732"/>
                  <a:gd name="T62" fmla="+- 0 2189 2126"/>
                  <a:gd name="T63" fmla="*/ 2189 h 250"/>
                  <a:gd name="T64" fmla="+- 0 6240 3713"/>
                  <a:gd name="T65" fmla="*/ T64 w 2732"/>
                  <a:gd name="T66" fmla="+- 0 2203 2126"/>
                  <a:gd name="T67" fmla="*/ 2203 h 250"/>
                  <a:gd name="T68" fmla="+- 0 3914 3713"/>
                  <a:gd name="T69" fmla="*/ T68 w 2732"/>
                  <a:gd name="T70" fmla="+- 0 2203 2126"/>
                  <a:gd name="T71" fmla="*/ 2203 h 250"/>
                  <a:gd name="T72" fmla="+- 0 3910 3713"/>
                  <a:gd name="T73" fmla="*/ T72 w 2732"/>
                  <a:gd name="T74" fmla="+- 0 2153 2126"/>
                  <a:gd name="T75" fmla="*/ 2153 h 250"/>
                  <a:gd name="T76" fmla="+- 0 3924 3713"/>
                  <a:gd name="T77" fmla="*/ T76 w 2732"/>
                  <a:gd name="T78" fmla="+- 0 2153 2126"/>
                  <a:gd name="T79" fmla="*/ 2153 h 250"/>
                  <a:gd name="T80" fmla="+- 0 3926 3713"/>
                  <a:gd name="T81" fmla="*/ T80 w 2732"/>
                  <a:gd name="T82" fmla="+- 0 2189 2126"/>
                  <a:gd name="T83" fmla="*/ 2189 h 250"/>
                  <a:gd name="T84" fmla="+- 0 6240 3713"/>
                  <a:gd name="T85" fmla="*/ T84 w 2732"/>
                  <a:gd name="T86" fmla="+- 0 2189 2126"/>
                  <a:gd name="T87" fmla="*/ 2189 h 250"/>
                  <a:gd name="T88" fmla="+- 0 6240 3713"/>
                  <a:gd name="T89" fmla="*/ T88 w 2732"/>
                  <a:gd name="T90" fmla="+- 0 2203 2126"/>
                  <a:gd name="T91" fmla="*/ 2203 h 250"/>
                  <a:gd name="T92" fmla="+- 0 6268 3713"/>
                  <a:gd name="T93" fmla="*/ T92 w 2732"/>
                  <a:gd name="T94" fmla="+- 0 2352 2126"/>
                  <a:gd name="T95" fmla="*/ 2352 h 250"/>
                  <a:gd name="T96" fmla="+- 0 6240 3713"/>
                  <a:gd name="T97" fmla="*/ T96 w 2732"/>
                  <a:gd name="T98" fmla="+- 0 2352 2126"/>
                  <a:gd name="T99" fmla="*/ 2352 h 250"/>
                  <a:gd name="T100" fmla="+- 0 6415 3713"/>
                  <a:gd name="T101" fmla="*/ T100 w 2732"/>
                  <a:gd name="T102" fmla="+- 0 2254 2126"/>
                  <a:gd name="T103" fmla="*/ 2254 h 250"/>
                  <a:gd name="T104" fmla="+- 0 6240 3713"/>
                  <a:gd name="T105" fmla="*/ T104 w 2732"/>
                  <a:gd name="T106" fmla="+- 0 2153 2126"/>
                  <a:gd name="T107" fmla="*/ 2153 h 250"/>
                  <a:gd name="T108" fmla="+- 0 6271 3713"/>
                  <a:gd name="T109" fmla="*/ T108 w 2732"/>
                  <a:gd name="T110" fmla="+- 0 2153 2126"/>
                  <a:gd name="T111" fmla="*/ 2153 h 250"/>
                  <a:gd name="T112" fmla="+- 0 6444 3713"/>
                  <a:gd name="T113" fmla="*/ T112 w 2732"/>
                  <a:gd name="T114" fmla="+- 0 2254 2126"/>
                  <a:gd name="T115" fmla="*/ 2254 h 250"/>
                  <a:gd name="T116" fmla="+- 0 6268 3713"/>
                  <a:gd name="T117" fmla="*/ T116 w 2732"/>
                  <a:gd name="T118" fmla="+- 0 2352 2126"/>
                  <a:gd name="T119" fmla="*/ 2352 h 250"/>
                  <a:gd name="T120" fmla="+- 0 3922 3713"/>
                  <a:gd name="T121" fmla="*/ T120 w 2732"/>
                  <a:gd name="T122" fmla="+- 0 2366 2126"/>
                  <a:gd name="T123" fmla="*/ 2366 h 250"/>
                  <a:gd name="T124" fmla="+- 0 3912 3713"/>
                  <a:gd name="T125" fmla="*/ T124 w 2732"/>
                  <a:gd name="T126" fmla="+- 0 2362 2126"/>
                  <a:gd name="T127" fmla="*/ 2362 h 250"/>
                  <a:gd name="T128" fmla="+- 0 3914 3713"/>
                  <a:gd name="T129" fmla="*/ T128 w 2732"/>
                  <a:gd name="T130" fmla="+- 0 2354 2126"/>
                  <a:gd name="T131" fmla="*/ 2354 h 250"/>
                  <a:gd name="T132" fmla="+- 0 3919 3713"/>
                  <a:gd name="T133" fmla="*/ T132 w 2732"/>
                  <a:gd name="T134" fmla="+- 0 2350 2126"/>
                  <a:gd name="T135" fmla="*/ 2350 h 250"/>
                  <a:gd name="T136" fmla="+- 0 3907 3713"/>
                  <a:gd name="T137" fmla="*/ T136 w 2732"/>
                  <a:gd name="T138" fmla="+- 0 2343 2126"/>
                  <a:gd name="T139" fmla="*/ 2343 h 250"/>
                  <a:gd name="T140" fmla="+- 0 3907 3713"/>
                  <a:gd name="T141" fmla="*/ T140 w 2732"/>
                  <a:gd name="T142" fmla="+- 0 2299 2126"/>
                  <a:gd name="T143" fmla="*/ 2299 h 250"/>
                  <a:gd name="T144" fmla="+- 0 6240 3713"/>
                  <a:gd name="T145" fmla="*/ T144 w 2732"/>
                  <a:gd name="T146" fmla="+- 0 2299 2126"/>
                  <a:gd name="T147" fmla="*/ 2299 h 250"/>
                  <a:gd name="T148" fmla="+- 0 6240 3713"/>
                  <a:gd name="T149" fmla="*/ T148 w 2732"/>
                  <a:gd name="T150" fmla="+- 0 2314 2126"/>
                  <a:gd name="T151" fmla="*/ 2314 h 250"/>
                  <a:gd name="T152" fmla="+- 0 3922 3713"/>
                  <a:gd name="T153" fmla="*/ T152 w 2732"/>
                  <a:gd name="T154" fmla="+- 0 2314 2126"/>
                  <a:gd name="T155" fmla="*/ 2314 h 250"/>
                  <a:gd name="T156" fmla="+- 0 3922 3713"/>
                  <a:gd name="T157" fmla="*/ T156 w 2732"/>
                  <a:gd name="T158" fmla="+- 0 2366 2126"/>
                  <a:gd name="T159" fmla="*/ 2366 h 250"/>
                  <a:gd name="T160" fmla="+- 0 6226 3713"/>
                  <a:gd name="T161" fmla="*/ T160 w 2732"/>
                  <a:gd name="T162" fmla="+- 0 2376 2126"/>
                  <a:gd name="T163" fmla="*/ 2376 h 250"/>
                  <a:gd name="T164" fmla="+- 0 6226 3713"/>
                  <a:gd name="T165" fmla="*/ T164 w 2732"/>
                  <a:gd name="T166" fmla="+- 0 2314 2126"/>
                  <a:gd name="T167" fmla="*/ 2314 h 250"/>
                  <a:gd name="T168" fmla="+- 0 6240 3713"/>
                  <a:gd name="T169" fmla="*/ T168 w 2732"/>
                  <a:gd name="T170" fmla="+- 0 2314 2126"/>
                  <a:gd name="T171" fmla="*/ 2314 h 250"/>
                  <a:gd name="T172" fmla="+- 0 6240 3713"/>
                  <a:gd name="T173" fmla="*/ T172 w 2732"/>
                  <a:gd name="T174" fmla="+- 0 2352 2126"/>
                  <a:gd name="T175" fmla="*/ 2352 h 250"/>
                  <a:gd name="T176" fmla="+- 0 6268 3713"/>
                  <a:gd name="T177" fmla="*/ T176 w 2732"/>
                  <a:gd name="T178" fmla="+- 0 2352 2126"/>
                  <a:gd name="T179" fmla="*/ 2352 h 250"/>
                  <a:gd name="T180" fmla="+- 0 6226 3713"/>
                  <a:gd name="T181" fmla="*/ T180 w 2732"/>
                  <a:gd name="T182" fmla="+- 0 2376 2126"/>
                  <a:gd name="T183" fmla="*/ 2376 h 250"/>
                  <a:gd name="T184" fmla="+- 0 3914 3713"/>
                  <a:gd name="T185" fmla="*/ T184 w 2732"/>
                  <a:gd name="T186" fmla="+- 0 2354 2126"/>
                  <a:gd name="T187" fmla="*/ 2354 h 250"/>
                  <a:gd name="T188" fmla="+- 0 3907 3713"/>
                  <a:gd name="T189" fmla="*/ T188 w 2732"/>
                  <a:gd name="T190" fmla="+- 0 2354 2126"/>
                  <a:gd name="T191" fmla="*/ 2354 h 250"/>
                  <a:gd name="T192" fmla="+- 0 3907 3713"/>
                  <a:gd name="T193" fmla="*/ T192 w 2732"/>
                  <a:gd name="T194" fmla="+- 0 2343 2126"/>
                  <a:gd name="T195" fmla="*/ 2343 h 250"/>
                  <a:gd name="T196" fmla="+- 0 3919 3713"/>
                  <a:gd name="T197" fmla="*/ T196 w 2732"/>
                  <a:gd name="T198" fmla="+- 0 2350 2126"/>
                  <a:gd name="T199" fmla="*/ 2350 h 250"/>
                  <a:gd name="T200" fmla="+- 0 3914 3713"/>
                  <a:gd name="T201" fmla="*/ T200 w 2732"/>
                  <a:gd name="T202" fmla="+- 0 2354 2126"/>
                  <a:gd name="T203" fmla="*/ 2354 h 25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Lst>
                <a:rect l="0" t="0" r="r" b="b"/>
                <a:pathLst>
                  <a:path w="2732" h="250">
                    <a:moveTo>
                      <a:pt x="199" y="236"/>
                    </a:moveTo>
                    <a:lnTo>
                      <a:pt x="0" y="135"/>
                    </a:lnTo>
                    <a:lnTo>
                      <a:pt x="209" y="0"/>
                    </a:lnTo>
                    <a:lnTo>
                      <a:pt x="211" y="27"/>
                    </a:lnTo>
                    <a:lnTo>
                      <a:pt x="197" y="27"/>
                    </a:lnTo>
                    <a:lnTo>
                      <a:pt x="29" y="132"/>
                    </a:lnTo>
                    <a:lnTo>
                      <a:pt x="194" y="217"/>
                    </a:lnTo>
                    <a:lnTo>
                      <a:pt x="194" y="228"/>
                    </a:lnTo>
                    <a:lnTo>
                      <a:pt x="201" y="228"/>
                    </a:lnTo>
                    <a:lnTo>
                      <a:pt x="199" y="236"/>
                    </a:lnTo>
                    <a:close/>
                    <a:moveTo>
                      <a:pt x="2527" y="63"/>
                    </a:moveTo>
                    <a:lnTo>
                      <a:pt x="2513" y="63"/>
                    </a:lnTo>
                    <a:lnTo>
                      <a:pt x="2513" y="0"/>
                    </a:lnTo>
                    <a:lnTo>
                      <a:pt x="2558" y="27"/>
                    </a:lnTo>
                    <a:lnTo>
                      <a:pt x="2527" y="27"/>
                    </a:lnTo>
                    <a:lnTo>
                      <a:pt x="2527" y="63"/>
                    </a:lnTo>
                    <a:close/>
                    <a:moveTo>
                      <a:pt x="2527" y="77"/>
                    </a:moveTo>
                    <a:lnTo>
                      <a:pt x="201" y="77"/>
                    </a:lnTo>
                    <a:lnTo>
                      <a:pt x="197" y="27"/>
                    </a:lnTo>
                    <a:lnTo>
                      <a:pt x="211" y="27"/>
                    </a:lnTo>
                    <a:lnTo>
                      <a:pt x="213" y="63"/>
                    </a:lnTo>
                    <a:lnTo>
                      <a:pt x="2527" y="63"/>
                    </a:lnTo>
                    <a:lnTo>
                      <a:pt x="2527" y="77"/>
                    </a:lnTo>
                    <a:close/>
                    <a:moveTo>
                      <a:pt x="2555" y="226"/>
                    </a:moveTo>
                    <a:lnTo>
                      <a:pt x="2527" y="226"/>
                    </a:lnTo>
                    <a:lnTo>
                      <a:pt x="2702" y="128"/>
                    </a:lnTo>
                    <a:lnTo>
                      <a:pt x="2527" y="27"/>
                    </a:lnTo>
                    <a:lnTo>
                      <a:pt x="2558" y="27"/>
                    </a:lnTo>
                    <a:lnTo>
                      <a:pt x="2731" y="128"/>
                    </a:lnTo>
                    <a:lnTo>
                      <a:pt x="2555" y="226"/>
                    </a:lnTo>
                    <a:close/>
                    <a:moveTo>
                      <a:pt x="209" y="240"/>
                    </a:moveTo>
                    <a:lnTo>
                      <a:pt x="199" y="236"/>
                    </a:lnTo>
                    <a:lnTo>
                      <a:pt x="201" y="228"/>
                    </a:lnTo>
                    <a:lnTo>
                      <a:pt x="206" y="224"/>
                    </a:lnTo>
                    <a:lnTo>
                      <a:pt x="194" y="217"/>
                    </a:lnTo>
                    <a:lnTo>
                      <a:pt x="194" y="173"/>
                    </a:lnTo>
                    <a:lnTo>
                      <a:pt x="2527" y="173"/>
                    </a:lnTo>
                    <a:lnTo>
                      <a:pt x="2527" y="188"/>
                    </a:lnTo>
                    <a:lnTo>
                      <a:pt x="209" y="188"/>
                    </a:lnTo>
                    <a:lnTo>
                      <a:pt x="209" y="240"/>
                    </a:lnTo>
                    <a:close/>
                    <a:moveTo>
                      <a:pt x="2513" y="250"/>
                    </a:moveTo>
                    <a:lnTo>
                      <a:pt x="2513" y="188"/>
                    </a:lnTo>
                    <a:lnTo>
                      <a:pt x="2527" y="188"/>
                    </a:lnTo>
                    <a:lnTo>
                      <a:pt x="2527" y="226"/>
                    </a:lnTo>
                    <a:lnTo>
                      <a:pt x="2555" y="226"/>
                    </a:lnTo>
                    <a:lnTo>
                      <a:pt x="2513" y="250"/>
                    </a:lnTo>
                    <a:close/>
                    <a:moveTo>
                      <a:pt x="201" y="228"/>
                    </a:moveTo>
                    <a:lnTo>
                      <a:pt x="194" y="228"/>
                    </a:lnTo>
                    <a:lnTo>
                      <a:pt x="194" y="217"/>
                    </a:lnTo>
                    <a:lnTo>
                      <a:pt x="206" y="224"/>
                    </a:lnTo>
                    <a:lnTo>
                      <a:pt x="201" y="2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pic>
            <p:nvPicPr>
              <p:cNvPr id="15" name="Picture 14">
                <a:extLst>
                  <a:ext uri="{FF2B5EF4-FFF2-40B4-BE49-F238E27FC236}">
                    <a16:creationId xmlns:a16="http://schemas.microsoft.com/office/drawing/2014/main" id="{97799832-37AF-F66F-F209-7E60D54D0E68}"/>
                  </a:ext>
                </a:extLst>
              </p:cNvPr>
              <p:cNvPicPr>
                <a:picLocks noChangeAspect="1" noEditPoints="1" noChangeArrowheads="1" noChangeShapeType="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778" y="1228"/>
                <a:ext cx="90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Freeform 15">
                <a:extLst>
                  <a:ext uri="{FF2B5EF4-FFF2-40B4-BE49-F238E27FC236}">
                    <a16:creationId xmlns:a16="http://schemas.microsoft.com/office/drawing/2014/main" id="{75D82C28-9ECE-264F-2C26-CABAE7664298}"/>
                  </a:ext>
                </a:extLst>
              </p:cNvPr>
              <p:cNvSpPr>
                <a:spLocks noChangeAspect="1" noEditPoints="1" noChangeArrowheads="1" noChangeShapeType="1" noTextEdit="1"/>
              </p:cNvSpPr>
              <p:nvPr/>
            </p:nvSpPr>
            <p:spPr bwMode="auto">
              <a:xfrm>
                <a:off x="3727" y="1423"/>
                <a:ext cx="2703" cy="226"/>
              </a:xfrm>
              <a:custGeom>
                <a:avLst/>
                <a:gdLst>
                  <a:gd name="T0" fmla="+- 0 6233 3727"/>
                  <a:gd name="T1" fmla="*/ T0 w 2703"/>
                  <a:gd name="T2" fmla="+- 0 1649 1423"/>
                  <a:gd name="T3" fmla="*/ 1649 h 226"/>
                  <a:gd name="T4" fmla="+- 0 6233 3727"/>
                  <a:gd name="T5" fmla="*/ T4 w 2703"/>
                  <a:gd name="T6" fmla="+- 0 1596 1423"/>
                  <a:gd name="T7" fmla="*/ 1596 h 226"/>
                  <a:gd name="T8" fmla="+- 0 3727 3727"/>
                  <a:gd name="T9" fmla="*/ T8 w 2703"/>
                  <a:gd name="T10" fmla="+- 0 1596 1423"/>
                  <a:gd name="T11" fmla="*/ 1596 h 226"/>
                  <a:gd name="T12" fmla="+- 0 3727 3727"/>
                  <a:gd name="T13" fmla="*/ T12 w 2703"/>
                  <a:gd name="T14" fmla="+- 0 1481 1423"/>
                  <a:gd name="T15" fmla="*/ 1481 h 226"/>
                  <a:gd name="T16" fmla="+- 0 6233 3727"/>
                  <a:gd name="T17" fmla="*/ T16 w 2703"/>
                  <a:gd name="T18" fmla="+- 0 1481 1423"/>
                  <a:gd name="T19" fmla="*/ 1481 h 226"/>
                  <a:gd name="T20" fmla="+- 0 6233 3727"/>
                  <a:gd name="T21" fmla="*/ T20 w 2703"/>
                  <a:gd name="T22" fmla="+- 0 1423 1423"/>
                  <a:gd name="T23" fmla="*/ 1423 h 226"/>
                  <a:gd name="T24" fmla="+- 0 6430 3727"/>
                  <a:gd name="T25" fmla="*/ T24 w 2703"/>
                  <a:gd name="T26" fmla="+- 0 1538 1423"/>
                  <a:gd name="T27" fmla="*/ 1538 h 226"/>
                  <a:gd name="T28" fmla="+- 0 6233 3727"/>
                  <a:gd name="T29" fmla="*/ T28 w 2703"/>
                  <a:gd name="T30" fmla="+- 0 1649 1423"/>
                  <a:gd name="T31" fmla="*/ 1649 h 226"/>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2703" h="226">
                    <a:moveTo>
                      <a:pt x="2506" y="226"/>
                    </a:moveTo>
                    <a:lnTo>
                      <a:pt x="2506" y="173"/>
                    </a:lnTo>
                    <a:lnTo>
                      <a:pt x="0" y="173"/>
                    </a:lnTo>
                    <a:lnTo>
                      <a:pt x="0" y="58"/>
                    </a:lnTo>
                    <a:lnTo>
                      <a:pt x="2506" y="58"/>
                    </a:lnTo>
                    <a:lnTo>
                      <a:pt x="2506" y="0"/>
                    </a:lnTo>
                    <a:lnTo>
                      <a:pt x="2703" y="115"/>
                    </a:lnTo>
                    <a:lnTo>
                      <a:pt x="2506" y="22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sp>
            <p:nvSpPr>
              <p:cNvPr id="17" name="Freeform 16">
                <a:extLst>
                  <a:ext uri="{FF2B5EF4-FFF2-40B4-BE49-F238E27FC236}">
                    <a16:creationId xmlns:a16="http://schemas.microsoft.com/office/drawing/2014/main" id="{6592E367-AFFC-4AAF-980B-F07DD9E9019E}"/>
                  </a:ext>
                </a:extLst>
              </p:cNvPr>
              <p:cNvSpPr>
                <a:spLocks noChangeAspect="1" noEditPoints="1" noChangeArrowheads="1" noChangeShapeType="1" noTextEdit="1"/>
              </p:cNvSpPr>
              <p:nvPr/>
            </p:nvSpPr>
            <p:spPr bwMode="auto">
              <a:xfrm>
                <a:off x="3727" y="1411"/>
                <a:ext cx="2717" cy="250"/>
              </a:xfrm>
              <a:custGeom>
                <a:avLst/>
                <a:gdLst>
                  <a:gd name="T0" fmla="+- 0 6226 3727"/>
                  <a:gd name="T1" fmla="*/ T0 w 2717"/>
                  <a:gd name="T2" fmla="+- 0 1661 1411"/>
                  <a:gd name="T3" fmla="*/ 1661 h 250"/>
                  <a:gd name="T4" fmla="+- 0 6226 3727"/>
                  <a:gd name="T5" fmla="*/ T4 w 2717"/>
                  <a:gd name="T6" fmla="+- 0 1603 1411"/>
                  <a:gd name="T7" fmla="*/ 1603 h 250"/>
                  <a:gd name="T8" fmla="+- 0 3727 3727"/>
                  <a:gd name="T9" fmla="*/ T8 w 2717"/>
                  <a:gd name="T10" fmla="+- 0 1603 1411"/>
                  <a:gd name="T11" fmla="*/ 1603 h 250"/>
                  <a:gd name="T12" fmla="+- 0 3727 3727"/>
                  <a:gd name="T13" fmla="*/ T12 w 2717"/>
                  <a:gd name="T14" fmla="+- 0 1589 1411"/>
                  <a:gd name="T15" fmla="*/ 1589 h 250"/>
                  <a:gd name="T16" fmla="+- 0 6240 3727"/>
                  <a:gd name="T17" fmla="*/ T16 w 2717"/>
                  <a:gd name="T18" fmla="+- 0 1589 1411"/>
                  <a:gd name="T19" fmla="*/ 1589 h 250"/>
                  <a:gd name="T20" fmla="+- 0 6240 3727"/>
                  <a:gd name="T21" fmla="*/ T20 w 2717"/>
                  <a:gd name="T22" fmla="+- 0 1637 1411"/>
                  <a:gd name="T23" fmla="*/ 1637 h 250"/>
                  <a:gd name="T24" fmla="+- 0 6415 3727"/>
                  <a:gd name="T25" fmla="*/ T24 w 2717"/>
                  <a:gd name="T26" fmla="+- 0 1538 1411"/>
                  <a:gd name="T27" fmla="*/ 1538 h 250"/>
                  <a:gd name="T28" fmla="+- 0 6240 3727"/>
                  <a:gd name="T29" fmla="*/ T28 w 2717"/>
                  <a:gd name="T30" fmla="+- 0 1438 1411"/>
                  <a:gd name="T31" fmla="*/ 1438 h 250"/>
                  <a:gd name="T32" fmla="+- 0 6240 3727"/>
                  <a:gd name="T33" fmla="*/ T32 w 2717"/>
                  <a:gd name="T34" fmla="+- 0 1488 1411"/>
                  <a:gd name="T35" fmla="*/ 1488 h 250"/>
                  <a:gd name="T36" fmla="+- 0 3727 3727"/>
                  <a:gd name="T37" fmla="*/ T36 w 2717"/>
                  <a:gd name="T38" fmla="+- 0 1488 1411"/>
                  <a:gd name="T39" fmla="*/ 1488 h 250"/>
                  <a:gd name="T40" fmla="+- 0 3727 3727"/>
                  <a:gd name="T41" fmla="*/ T40 w 2717"/>
                  <a:gd name="T42" fmla="+- 0 1474 1411"/>
                  <a:gd name="T43" fmla="*/ 1474 h 250"/>
                  <a:gd name="T44" fmla="+- 0 6226 3727"/>
                  <a:gd name="T45" fmla="*/ T44 w 2717"/>
                  <a:gd name="T46" fmla="+- 0 1474 1411"/>
                  <a:gd name="T47" fmla="*/ 1474 h 250"/>
                  <a:gd name="T48" fmla="+- 0 6226 3727"/>
                  <a:gd name="T49" fmla="*/ T48 w 2717"/>
                  <a:gd name="T50" fmla="+- 0 1411 1411"/>
                  <a:gd name="T51" fmla="*/ 1411 h 250"/>
                  <a:gd name="T52" fmla="+- 0 6444 3727"/>
                  <a:gd name="T53" fmla="*/ T52 w 2717"/>
                  <a:gd name="T54" fmla="+- 0 1538 1411"/>
                  <a:gd name="T55" fmla="*/ 1538 h 250"/>
                  <a:gd name="T56" fmla="+- 0 6226 3727"/>
                  <a:gd name="T57" fmla="*/ T56 w 2717"/>
                  <a:gd name="T58" fmla="+- 0 1661 1411"/>
                  <a:gd name="T59" fmla="*/ 1661 h 25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Lst>
                <a:rect l="0" t="0" r="r" b="b"/>
                <a:pathLst>
                  <a:path w="2717" h="250">
                    <a:moveTo>
                      <a:pt x="2499" y="250"/>
                    </a:moveTo>
                    <a:lnTo>
                      <a:pt x="2499" y="192"/>
                    </a:lnTo>
                    <a:lnTo>
                      <a:pt x="0" y="192"/>
                    </a:lnTo>
                    <a:lnTo>
                      <a:pt x="0" y="178"/>
                    </a:lnTo>
                    <a:lnTo>
                      <a:pt x="2513" y="178"/>
                    </a:lnTo>
                    <a:lnTo>
                      <a:pt x="2513" y="226"/>
                    </a:lnTo>
                    <a:lnTo>
                      <a:pt x="2688" y="127"/>
                    </a:lnTo>
                    <a:lnTo>
                      <a:pt x="2513" y="27"/>
                    </a:lnTo>
                    <a:lnTo>
                      <a:pt x="2513" y="77"/>
                    </a:lnTo>
                    <a:lnTo>
                      <a:pt x="0" y="77"/>
                    </a:lnTo>
                    <a:lnTo>
                      <a:pt x="0" y="63"/>
                    </a:lnTo>
                    <a:lnTo>
                      <a:pt x="2499" y="63"/>
                    </a:lnTo>
                    <a:lnTo>
                      <a:pt x="2499" y="0"/>
                    </a:lnTo>
                    <a:lnTo>
                      <a:pt x="2717" y="127"/>
                    </a:lnTo>
                    <a:lnTo>
                      <a:pt x="2499" y="2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sp>
            <p:nvSpPr>
              <p:cNvPr id="18" name="Rectangle 17">
                <a:extLst>
                  <a:ext uri="{FF2B5EF4-FFF2-40B4-BE49-F238E27FC236}">
                    <a16:creationId xmlns:a16="http://schemas.microsoft.com/office/drawing/2014/main" id="{F30DA174-B92F-191C-429D-8B7D194B1E0A}"/>
                  </a:ext>
                </a:extLst>
              </p:cNvPr>
              <p:cNvSpPr>
                <a:spLocks noChangeAspect="1" noEditPoints="1" noChangeArrowheads="1" noChangeShapeType="1" noTextEdit="1"/>
              </p:cNvSpPr>
              <p:nvPr/>
            </p:nvSpPr>
            <p:spPr bwMode="auto">
              <a:xfrm>
                <a:off x="3367" y="1356"/>
                <a:ext cx="363" cy="17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9" name="AutoShape 339">
                <a:extLst>
                  <a:ext uri="{FF2B5EF4-FFF2-40B4-BE49-F238E27FC236}">
                    <a16:creationId xmlns:a16="http://schemas.microsoft.com/office/drawing/2014/main" id="{A343CDAB-6A86-648B-7103-36AA8EECF188}"/>
                  </a:ext>
                </a:extLst>
              </p:cNvPr>
              <p:cNvSpPr>
                <a:spLocks noChangeAspect="1" noEditPoints="1" noChangeArrowheads="1" noChangeShapeType="1" noTextEdit="1"/>
              </p:cNvSpPr>
              <p:nvPr/>
            </p:nvSpPr>
            <p:spPr bwMode="auto">
              <a:xfrm>
                <a:off x="3359" y="783"/>
                <a:ext cx="5065" cy="2912"/>
              </a:xfrm>
              <a:custGeom>
                <a:avLst/>
                <a:gdLst>
                  <a:gd name="T0" fmla="+- 0 3720 3360"/>
                  <a:gd name="T1" fmla="*/ T0 w 5065"/>
                  <a:gd name="T2" fmla="+- 0 1348 783"/>
                  <a:gd name="T3" fmla="*/ 1348 h 2912"/>
                  <a:gd name="T4" fmla="+- 0 3734 3360"/>
                  <a:gd name="T5" fmla="*/ T4 w 5065"/>
                  <a:gd name="T6" fmla="+- 0 1364 783"/>
                  <a:gd name="T7" fmla="*/ 1364 h 2912"/>
                  <a:gd name="T8" fmla="+- 0 4852 3360"/>
                  <a:gd name="T9" fmla="*/ T8 w 5065"/>
                  <a:gd name="T10" fmla="+- 0 3465 783"/>
                  <a:gd name="T11" fmla="*/ 3465 h 2912"/>
                  <a:gd name="T12" fmla="+- 0 4845 3360"/>
                  <a:gd name="T13" fmla="*/ T12 w 5065"/>
                  <a:gd name="T14" fmla="+- 0 3540 783"/>
                  <a:gd name="T15" fmla="*/ 3540 h 2912"/>
                  <a:gd name="T16" fmla="+- 0 4884 3360"/>
                  <a:gd name="T17" fmla="*/ T16 w 5065"/>
                  <a:gd name="T18" fmla="+- 0 3586 783"/>
                  <a:gd name="T19" fmla="*/ 3586 h 2912"/>
                  <a:gd name="T20" fmla="+- 0 4855 3360"/>
                  <a:gd name="T21" fmla="*/ T20 w 5065"/>
                  <a:gd name="T22" fmla="+- 0 3516 783"/>
                  <a:gd name="T23" fmla="*/ 3516 h 2912"/>
                  <a:gd name="T24" fmla="+- 0 4886 3360"/>
                  <a:gd name="T25" fmla="*/ T24 w 5065"/>
                  <a:gd name="T26" fmla="+- 0 3436 783"/>
                  <a:gd name="T27" fmla="*/ 3436 h 2912"/>
                  <a:gd name="T28" fmla="+- 0 4956 3360"/>
                  <a:gd name="T29" fmla="*/ T28 w 5065"/>
                  <a:gd name="T30" fmla="+- 0 3497 783"/>
                  <a:gd name="T31" fmla="*/ 3497 h 2912"/>
                  <a:gd name="T32" fmla="+- 0 4989 3360"/>
                  <a:gd name="T33" fmla="*/ T32 w 5065"/>
                  <a:gd name="T34" fmla="+- 0 3467 783"/>
                  <a:gd name="T35" fmla="*/ 3467 h 2912"/>
                  <a:gd name="T36" fmla="+- 0 4969 3360"/>
                  <a:gd name="T37" fmla="*/ T36 w 5065"/>
                  <a:gd name="T38" fmla="+- 0 3475 783"/>
                  <a:gd name="T39" fmla="*/ 3475 h 2912"/>
                  <a:gd name="T40" fmla="+- 0 4928 3360"/>
                  <a:gd name="T41" fmla="*/ T40 w 5065"/>
                  <a:gd name="T42" fmla="+- 0 3444 783"/>
                  <a:gd name="T43" fmla="*/ 3444 h 2912"/>
                  <a:gd name="T44" fmla="+- 0 4963 3360"/>
                  <a:gd name="T45" fmla="*/ T44 w 5065"/>
                  <a:gd name="T46" fmla="+- 0 3449 783"/>
                  <a:gd name="T47" fmla="*/ 3449 h 2912"/>
                  <a:gd name="T48" fmla="+- 0 4894 3360"/>
                  <a:gd name="T49" fmla="*/ T48 w 5065"/>
                  <a:gd name="T50" fmla="+- 0 3435 783"/>
                  <a:gd name="T51" fmla="*/ 3435 h 2912"/>
                  <a:gd name="T52" fmla="+- 0 4908 3360"/>
                  <a:gd name="T53" fmla="*/ T52 w 5065"/>
                  <a:gd name="T54" fmla="+- 0 3546 783"/>
                  <a:gd name="T55" fmla="*/ 3546 h 2912"/>
                  <a:gd name="T56" fmla="+- 0 4937 3360"/>
                  <a:gd name="T57" fmla="*/ T56 w 5065"/>
                  <a:gd name="T58" fmla="+- 0 3551 783"/>
                  <a:gd name="T59" fmla="*/ 3551 h 2912"/>
                  <a:gd name="T60" fmla="+- 0 5009 3360"/>
                  <a:gd name="T61" fmla="*/ T60 w 5065"/>
                  <a:gd name="T62" fmla="+- 0 3554 783"/>
                  <a:gd name="T63" fmla="*/ 3554 h 2912"/>
                  <a:gd name="T64" fmla="+- 0 5194 3360"/>
                  <a:gd name="T65" fmla="*/ T64 w 5065"/>
                  <a:gd name="T66" fmla="+- 0 3435 783"/>
                  <a:gd name="T67" fmla="*/ 3435 h 2912"/>
                  <a:gd name="T68" fmla="+- 0 5204 3360"/>
                  <a:gd name="T69" fmla="*/ T68 w 5065"/>
                  <a:gd name="T70" fmla="+- 0 3458 783"/>
                  <a:gd name="T71" fmla="*/ 3458 h 2912"/>
                  <a:gd name="T72" fmla="+- 0 5154 3360"/>
                  <a:gd name="T73" fmla="*/ T72 w 5065"/>
                  <a:gd name="T74" fmla="+- 0 3441 783"/>
                  <a:gd name="T75" fmla="*/ 3441 h 2912"/>
                  <a:gd name="T76" fmla="+- 0 5121 3360"/>
                  <a:gd name="T77" fmla="*/ T76 w 5065"/>
                  <a:gd name="T78" fmla="+- 0 3439 783"/>
                  <a:gd name="T79" fmla="*/ 3439 h 2912"/>
                  <a:gd name="T80" fmla="+- 0 5123 3360"/>
                  <a:gd name="T81" fmla="*/ T80 w 5065"/>
                  <a:gd name="T82" fmla="+- 0 3520 783"/>
                  <a:gd name="T83" fmla="*/ 3520 h 2912"/>
                  <a:gd name="T84" fmla="+- 0 5107 3360"/>
                  <a:gd name="T85" fmla="*/ T84 w 5065"/>
                  <a:gd name="T86" fmla="+- 0 3439 783"/>
                  <a:gd name="T87" fmla="*/ 3439 h 2912"/>
                  <a:gd name="T88" fmla="+- 0 5081 3360"/>
                  <a:gd name="T89" fmla="*/ T88 w 5065"/>
                  <a:gd name="T90" fmla="+- 0 3460 783"/>
                  <a:gd name="T91" fmla="*/ 3460 h 2912"/>
                  <a:gd name="T92" fmla="+- 0 5132 3360"/>
                  <a:gd name="T93" fmla="*/ T92 w 5065"/>
                  <a:gd name="T94" fmla="+- 0 3520 783"/>
                  <a:gd name="T95" fmla="*/ 3520 h 2912"/>
                  <a:gd name="T96" fmla="+- 0 5182 3360"/>
                  <a:gd name="T97" fmla="*/ T96 w 5065"/>
                  <a:gd name="T98" fmla="+- 0 3543 783"/>
                  <a:gd name="T99" fmla="*/ 3543 h 2912"/>
                  <a:gd name="T100" fmla="+- 0 5215 3360"/>
                  <a:gd name="T101" fmla="*/ T100 w 5065"/>
                  <a:gd name="T102" fmla="+- 0 3450 783"/>
                  <a:gd name="T103" fmla="*/ 3450 h 2912"/>
                  <a:gd name="T104" fmla="+- 0 5062 3360"/>
                  <a:gd name="T105" fmla="*/ T104 w 5065"/>
                  <a:gd name="T106" fmla="+- 0 3403 783"/>
                  <a:gd name="T107" fmla="*/ 3403 h 2912"/>
                  <a:gd name="T108" fmla="+- 0 5243 3360"/>
                  <a:gd name="T109" fmla="*/ T108 w 5065"/>
                  <a:gd name="T110" fmla="+- 0 3538 783"/>
                  <a:gd name="T111" fmla="*/ 3538 h 2912"/>
                  <a:gd name="T112" fmla="+- 0 5225 3360"/>
                  <a:gd name="T113" fmla="*/ T112 w 5065"/>
                  <a:gd name="T114" fmla="+- 0 3550 783"/>
                  <a:gd name="T115" fmla="*/ 3550 h 2912"/>
                  <a:gd name="T116" fmla="+- 0 5239 3360"/>
                  <a:gd name="T117" fmla="*/ T116 w 5065"/>
                  <a:gd name="T118" fmla="+- 0 3555 783"/>
                  <a:gd name="T119" fmla="*/ 3555 h 2912"/>
                  <a:gd name="T120" fmla="+- 0 5234 3360"/>
                  <a:gd name="T121" fmla="*/ T120 w 5065"/>
                  <a:gd name="T122" fmla="+- 0 3573 783"/>
                  <a:gd name="T123" fmla="*/ 3573 h 2912"/>
                  <a:gd name="T124" fmla="+- 0 5250 3360"/>
                  <a:gd name="T125" fmla="*/ T124 w 5065"/>
                  <a:gd name="T126" fmla="+- 0 3558 783"/>
                  <a:gd name="T127" fmla="*/ 3558 h 2912"/>
                  <a:gd name="T128" fmla="+- 0 5360 3360"/>
                  <a:gd name="T129" fmla="*/ T128 w 5065"/>
                  <a:gd name="T130" fmla="+- 0 3543 783"/>
                  <a:gd name="T131" fmla="*/ 3543 h 2912"/>
                  <a:gd name="T132" fmla="+- 0 5322 3360"/>
                  <a:gd name="T133" fmla="*/ T132 w 5065"/>
                  <a:gd name="T134" fmla="+- 0 3505 783"/>
                  <a:gd name="T135" fmla="*/ 3505 h 2912"/>
                  <a:gd name="T136" fmla="+- 0 5359 3360"/>
                  <a:gd name="T137" fmla="*/ T136 w 5065"/>
                  <a:gd name="T138" fmla="+- 0 3499 783"/>
                  <a:gd name="T139" fmla="*/ 3499 h 2912"/>
                  <a:gd name="T140" fmla="+- 0 5355 3360"/>
                  <a:gd name="T141" fmla="*/ T140 w 5065"/>
                  <a:gd name="T142" fmla="+- 0 3484 783"/>
                  <a:gd name="T143" fmla="*/ 3484 h 2912"/>
                  <a:gd name="T144" fmla="+- 0 5346 3360"/>
                  <a:gd name="T145" fmla="*/ T144 w 5065"/>
                  <a:gd name="T146" fmla="+- 0 3472 783"/>
                  <a:gd name="T147" fmla="*/ 3472 h 2912"/>
                  <a:gd name="T148" fmla="+- 0 5309 3360"/>
                  <a:gd name="T149" fmla="*/ T148 w 5065"/>
                  <a:gd name="T150" fmla="+- 0 3529 783"/>
                  <a:gd name="T151" fmla="*/ 3529 h 2912"/>
                  <a:gd name="T152" fmla="+- 0 5368 3360"/>
                  <a:gd name="T153" fmla="*/ T152 w 5065"/>
                  <a:gd name="T154" fmla="+- 0 3547 783"/>
                  <a:gd name="T155" fmla="*/ 3547 h 2912"/>
                  <a:gd name="T156" fmla="+- 0 5433 3360"/>
                  <a:gd name="T157" fmla="*/ T156 w 5065"/>
                  <a:gd name="T158" fmla="+- 0 3541 783"/>
                  <a:gd name="T159" fmla="*/ 3541 h 2912"/>
                  <a:gd name="T160" fmla="+- 0 5415 3360"/>
                  <a:gd name="T161" fmla="*/ T160 w 5065"/>
                  <a:gd name="T162" fmla="+- 0 3542 783"/>
                  <a:gd name="T163" fmla="*/ 3542 h 2912"/>
                  <a:gd name="T164" fmla="+- 0 5414 3360"/>
                  <a:gd name="T165" fmla="*/ T164 w 5065"/>
                  <a:gd name="T166" fmla="+- 0 3451 783"/>
                  <a:gd name="T167" fmla="*/ 3451 h 2912"/>
                  <a:gd name="T168" fmla="+- 0 5394 3360"/>
                  <a:gd name="T169" fmla="*/ T168 w 5065"/>
                  <a:gd name="T170" fmla="+- 0 3473 783"/>
                  <a:gd name="T171" fmla="*/ 3473 h 2912"/>
                  <a:gd name="T172" fmla="+- 0 5398 3360"/>
                  <a:gd name="T173" fmla="*/ T172 w 5065"/>
                  <a:gd name="T174" fmla="+- 0 3542 783"/>
                  <a:gd name="T175" fmla="*/ 3542 h 2912"/>
                  <a:gd name="T176" fmla="+- 0 5434 3360"/>
                  <a:gd name="T177" fmla="*/ T176 w 5065"/>
                  <a:gd name="T178" fmla="+- 0 3547 783"/>
                  <a:gd name="T179" fmla="*/ 3547 h 2912"/>
                  <a:gd name="T180" fmla="+- 0 5482 3360"/>
                  <a:gd name="T181" fmla="*/ T180 w 5065"/>
                  <a:gd name="T182" fmla="+- 0 3543 783"/>
                  <a:gd name="T183" fmla="*/ 3543 h 2912"/>
                  <a:gd name="T184" fmla="+- 0 5462 3360"/>
                  <a:gd name="T185" fmla="*/ T184 w 5065"/>
                  <a:gd name="T186" fmla="+- 0 3484 783"/>
                  <a:gd name="T187" fmla="*/ 3484 h 2912"/>
                  <a:gd name="T188" fmla="+- 0 5489 3360"/>
                  <a:gd name="T189" fmla="*/ T188 w 5065"/>
                  <a:gd name="T190" fmla="+- 0 3483 783"/>
                  <a:gd name="T191" fmla="*/ 3483 h 2912"/>
                  <a:gd name="T192" fmla="+- 0 5502 3360"/>
                  <a:gd name="T193" fmla="*/ T192 w 5065"/>
                  <a:gd name="T194" fmla="+- 0 3498 783"/>
                  <a:gd name="T195" fmla="*/ 3498 h 2912"/>
                  <a:gd name="T196" fmla="+- 0 5500 3360"/>
                  <a:gd name="T197" fmla="*/ T196 w 5065"/>
                  <a:gd name="T198" fmla="+- 0 3477 783"/>
                  <a:gd name="T199" fmla="*/ 3477 h 2912"/>
                  <a:gd name="T200" fmla="+- 0 5456 3360"/>
                  <a:gd name="T201" fmla="*/ T200 w 5065"/>
                  <a:gd name="T202" fmla="+- 0 3480 783"/>
                  <a:gd name="T203" fmla="*/ 3480 h 2912"/>
                  <a:gd name="T204" fmla="+- 0 5464 3360"/>
                  <a:gd name="T205" fmla="*/ T204 w 5065"/>
                  <a:gd name="T206" fmla="+- 0 3555 783"/>
                  <a:gd name="T207" fmla="*/ 3555 h 2912"/>
                  <a:gd name="T208" fmla="+- 0 5510 3360"/>
                  <a:gd name="T209" fmla="*/ T208 w 5065"/>
                  <a:gd name="T210" fmla="+- 0 3528 783"/>
                  <a:gd name="T211" fmla="*/ 3528 h 2912"/>
                  <a:gd name="T212" fmla="+- 0 5533 3360"/>
                  <a:gd name="T213" fmla="*/ T212 w 5065"/>
                  <a:gd name="T214" fmla="+- 0 3538 783"/>
                  <a:gd name="T215" fmla="*/ 3538 h 2912"/>
                  <a:gd name="T216" fmla="+- 0 5542 3360"/>
                  <a:gd name="T217" fmla="*/ T216 w 5065"/>
                  <a:gd name="T218" fmla="+- 0 3556 783"/>
                  <a:gd name="T219" fmla="*/ 3556 h 2912"/>
                  <a:gd name="T220" fmla="+- 0 5602 3360"/>
                  <a:gd name="T221" fmla="*/ T220 w 5065"/>
                  <a:gd name="T222" fmla="+- 0 3470 783"/>
                  <a:gd name="T223" fmla="*/ 3470 h 2912"/>
                  <a:gd name="T224" fmla="+- 0 5565 3360"/>
                  <a:gd name="T225" fmla="*/ T224 w 5065"/>
                  <a:gd name="T226" fmla="+- 0 3436 783"/>
                  <a:gd name="T227" fmla="*/ 3436 h 2912"/>
                  <a:gd name="T228" fmla="+- 0 5596 3360"/>
                  <a:gd name="T229" fmla="*/ T228 w 5065"/>
                  <a:gd name="T230" fmla="+- 0 3528 783"/>
                  <a:gd name="T231" fmla="*/ 3528 h 2912"/>
                  <a:gd name="T232" fmla="+- 0 5577 3360"/>
                  <a:gd name="T233" fmla="*/ T232 w 5065"/>
                  <a:gd name="T234" fmla="+- 0 3580 783"/>
                  <a:gd name="T235" fmla="*/ 3580 h 2912"/>
                  <a:gd name="T236" fmla="+- 0 5611 3360"/>
                  <a:gd name="T237" fmla="*/ T236 w 5065"/>
                  <a:gd name="T238" fmla="+- 0 3503 783"/>
                  <a:gd name="T239" fmla="*/ 3503 h 2912"/>
                  <a:gd name="T240" fmla="+- 0 8390 3360"/>
                  <a:gd name="T241" fmla="*/ T240 w 5065"/>
                  <a:gd name="T242" fmla="+- 0 783 783"/>
                  <a:gd name="T243" fmla="*/ 783 h 2912"/>
                  <a:gd name="T244" fmla="+- 0 8424 3360"/>
                  <a:gd name="T245" fmla="*/ T244 w 5065"/>
                  <a:gd name="T246" fmla="+- 0 815 783"/>
                  <a:gd name="T247" fmla="*/ 815 h 291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 ang="0">
                    <a:pos x="T221" y="T223"/>
                  </a:cxn>
                  <a:cxn ang="0">
                    <a:pos x="T225" y="T227"/>
                  </a:cxn>
                  <a:cxn ang="0">
                    <a:pos x="T229" y="T231"/>
                  </a:cxn>
                  <a:cxn ang="0">
                    <a:pos x="T233" y="T235"/>
                  </a:cxn>
                  <a:cxn ang="0">
                    <a:pos x="T237" y="T239"/>
                  </a:cxn>
                  <a:cxn ang="0">
                    <a:pos x="T241" y="T243"/>
                  </a:cxn>
                  <a:cxn ang="0">
                    <a:pos x="T245" y="T247"/>
                  </a:cxn>
                </a:cxnLst>
                <a:rect l="0" t="0" r="r" b="b"/>
                <a:pathLst>
                  <a:path w="5065" h="2912">
                    <a:moveTo>
                      <a:pt x="374" y="565"/>
                    </a:moveTo>
                    <a:lnTo>
                      <a:pt x="360" y="565"/>
                    </a:lnTo>
                    <a:lnTo>
                      <a:pt x="360" y="581"/>
                    </a:lnTo>
                    <a:lnTo>
                      <a:pt x="360" y="2341"/>
                    </a:lnTo>
                    <a:lnTo>
                      <a:pt x="14" y="2341"/>
                    </a:lnTo>
                    <a:lnTo>
                      <a:pt x="14" y="581"/>
                    </a:lnTo>
                    <a:lnTo>
                      <a:pt x="360" y="581"/>
                    </a:lnTo>
                    <a:lnTo>
                      <a:pt x="360" y="565"/>
                    </a:lnTo>
                    <a:lnTo>
                      <a:pt x="7" y="565"/>
                    </a:lnTo>
                    <a:lnTo>
                      <a:pt x="0" y="565"/>
                    </a:lnTo>
                    <a:lnTo>
                      <a:pt x="0" y="581"/>
                    </a:lnTo>
                    <a:lnTo>
                      <a:pt x="0" y="2341"/>
                    </a:lnTo>
                    <a:lnTo>
                      <a:pt x="0" y="2357"/>
                    </a:lnTo>
                    <a:lnTo>
                      <a:pt x="374" y="2357"/>
                    </a:lnTo>
                    <a:lnTo>
                      <a:pt x="374" y="2341"/>
                    </a:lnTo>
                    <a:lnTo>
                      <a:pt x="374" y="581"/>
                    </a:lnTo>
                    <a:lnTo>
                      <a:pt x="374" y="573"/>
                    </a:lnTo>
                    <a:lnTo>
                      <a:pt x="374" y="565"/>
                    </a:lnTo>
                    <a:close/>
                    <a:moveTo>
                      <a:pt x="1526" y="2653"/>
                    </a:moveTo>
                    <a:lnTo>
                      <a:pt x="1524" y="2650"/>
                    </a:lnTo>
                    <a:lnTo>
                      <a:pt x="1514" y="2657"/>
                    </a:lnTo>
                    <a:lnTo>
                      <a:pt x="1506" y="2664"/>
                    </a:lnTo>
                    <a:lnTo>
                      <a:pt x="1498" y="2672"/>
                    </a:lnTo>
                    <a:lnTo>
                      <a:pt x="1492" y="2682"/>
                    </a:lnTo>
                    <a:lnTo>
                      <a:pt x="1487" y="2692"/>
                    </a:lnTo>
                    <a:lnTo>
                      <a:pt x="1483" y="2702"/>
                    </a:lnTo>
                    <a:lnTo>
                      <a:pt x="1481" y="2713"/>
                    </a:lnTo>
                    <a:lnTo>
                      <a:pt x="1480" y="2723"/>
                    </a:lnTo>
                    <a:lnTo>
                      <a:pt x="1480" y="2733"/>
                    </a:lnTo>
                    <a:lnTo>
                      <a:pt x="1480" y="2740"/>
                    </a:lnTo>
                    <a:lnTo>
                      <a:pt x="1483" y="2752"/>
                    </a:lnTo>
                    <a:lnTo>
                      <a:pt x="1485" y="2757"/>
                    </a:lnTo>
                    <a:lnTo>
                      <a:pt x="1489" y="2766"/>
                    </a:lnTo>
                    <a:lnTo>
                      <a:pt x="1492" y="2771"/>
                    </a:lnTo>
                    <a:lnTo>
                      <a:pt x="1495" y="2775"/>
                    </a:lnTo>
                    <a:lnTo>
                      <a:pt x="1498" y="2780"/>
                    </a:lnTo>
                    <a:lnTo>
                      <a:pt x="1503" y="2786"/>
                    </a:lnTo>
                    <a:lnTo>
                      <a:pt x="1513" y="2796"/>
                    </a:lnTo>
                    <a:lnTo>
                      <a:pt x="1518" y="2800"/>
                    </a:lnTo>
                    <a:lnTo>
                      <a:pt x="1524" y="2803"/>
                    </a:lnTo>
                    <a:lnTo>
                      <a:pt x="1526" y="2800"/>
                    </a:lnTo>
                    <a:lnTo>
                      <a:pt x="1518" y="2795"/>
                    </a:lnTo>
                    <a:lnTo>
                      <a:pt x="1512" y="2789"/>
                    </a:lnTo>
                    <a:lnTo>
                      <a:pt x="1504" y="2776"/>
                    </a:lnTo>
                    <a:lnTo>
                      <a:pt x="1501" y="2769"/>
                    </a:lnTo>
                    <a:lnTo>
                      <a:pt x="1497" y="2754"/>
                    </a:lnTo>
                    <a:lnTo>
                      <a:pt x="1496" y="2747"/>
                    </a:lnTo>
                    <a:lnTo>
                      <a:pt x="1495" y="2733"/>
                    </a:lnTo>
                    <a:lnTo>
                      <a:pt x="1495" y="2724"/>
                    </a:lnTo>
                    <a:lnTo>
                      <a:pt x="1495" y="2708"/>
                    </a:lnTo>
                    <a:lnTo>
                      <a:pt x="1497" y="2696"/>
                    </a:lnTo>
                    <a:lnTo>
                      <a:pt x="1503" y="2678"/>
                    </a:lnTo>
                    <a:lnTo>
                      <a:pt x="1507" y="2671"/>
                    </a:lnTo>
                    <a:lnTo>
                      <a:pt x="1517" y="2660"/>
                    </a:lnTo>
                    <a:lnTo>
                      <a:pt x="1521" y="2656"/>
                    </a:lnTo>
                    <a:lnTo>
                      <a:pt x="1526" y="2653"/>
                    </a:lnTo>
                    <a:close/>
                    <a:moveTo>
                      <a:pt x="1649" y="2768"/>
                    </a:moveTo>
                    <a:lnTo>
                      <a:pt x="1646" y="2768"/>
                    </a:lnTo>
                    <a:lnTo>
                      <a:pt x="1643" y="2767"/>
                    </a:lnTo>
                    <a:lnTo>
                      <a:pt x="1638" y="2764"/>
                    </a:lnTo>
                    <a:lnTo>
                      <a:pt x="1635" y="2762"/>
                    </a:lnTo>
                    <a:lnTo>
                      <a:pt x="1634" y="2760"/>
                    </a:lnTo>
                    <a:lnTo>
                      <a:pt x="1598" y="2716"/>
                    </a:lnTo>
                    <a:lnTo>
                      <a:pt x="1596" y="2714"/>
                    </a:lnTo>
                    <a:lnTo>
                      <a:pt x="1600" y="2714"/>
                    </a:lnTo>
                    <a:lnTo>
                      <a:pt x="1604" y="2712"/>
                    </a:lnTo>
                    <a:lnTo>
                      <a:pt x="1612" y="2710"/>
                    </a:lnTo>
                    <a:lnTo>
                      <a:pt x="1614" y="2709"/>
                    </a:lnTo>
                    <a:lnTo>
                      <a:pt x="1619" y="2706"/>
                    </a:lnTo>
                    <a:lnTo>
                      <a:pt x="1627" y="2698"/>
                    </a:lnTo>
                    <a:lnTo>
                      <a:pt x="1629" y="2692"/>
                    </a:lnTo>
                    <a:lnTo>
                      <a:pt x="1629" y="2684"/>
                    </a:lnTo>
                    <a:lnTo>
                      <a:pt x="1629" y="2677"/>
                    </a:lnTo>
                    <a:lnTo>
                      <a:pt x="1627" y="2671"/>
                    </a:lnTo>
                    <a:lnTo>
                      <a:pt x="1621" y="2663"/>
                    </a:lnTo>
                    <a:lnTo>
                      <a:pt x="1617" y="2660"/>
                    </a:lnTo>
                    <a:lnTo>
                      <a:pt x="1615" y="2659"/>
                    </a:lnTo>
                    <a:lnTo>
                      <a:pt x="1609" y="2656"/>
                    </a:lnTo>
                    <a:lnTo>
                      <a:pt x="1609" y="2678"/>
                    </a:lnTo>
                    <a:lnTo>
                      <a:pt x="1609" y="2692"/>
                    </a:lnTo>
                    <a:lnTo>
                      <a:pt x="1607" y="2698"/>
                    </a:lnTo>
                    <a:lnTo>
                      <a:pt x="1597" y="2705"/>
                    </a:lnTo>
                    <a:lnTo>
                      <a:pt x="1591" y="2708"/>
                    </a:lnTo>
                    <a:lnTo>
                      <a:pt x="1578" y="2709"/>
                    </a:lnTo>
                    <a:lnTo>
                      <a:pt x="1573" y="2710"/>
                    </a:lnTo>
                    <a:lnTo>
                      <a:pt x="1567" y="2710"/>
                    </a:lnTo>
                    <a:lnTo>
                      <a:pt x="1567" y="2663"/>
                    </a:lnTo>
                    <a:lnTo>
                      <a:pt x="1568" y="2661"/>
                    </a:lnTo>
                    <a:lnTo>
                      <a:pt x="1571" y="2659"/>
                    </a:lnTo>
                    <a:lnTo>
                      <a:pt x="1574" y="2659"/>
                    </a:lnTo>
                    <a:lnTo>
                      <a:pt x="1580" y="2659"/>
                    </a:lnTo>
                    <a:lnTo>
                      <a:pt x="1583" y="2659"/>
                    </a:lnTo>
                    <a:lnTo>
                      <a:pt x="1590" y="2660"/>
                    </a:lnTo>
                    <a:lnTo>
                      <a:pt x="1593" y="2661"/>
                    </a:lnTo>
                    <a:lnTo>
                      <a:pt x="1600" y="2664"/>
                    </a:lnTo>
                    <a:lnTo>
                      <a:pt x="1603" y="2666"/>
                    </a:lnTo>
                    <a:lnTo>
                      <a:pt x="1608" y="2673"/>
                    </a:lnTo>
                    <a:lnTo>
                      <a:pt x="1609" y="2678"/>
                    </a:lnTo>
                    <a:lnTo>
                      <a:pt x="1609" y="2656"/>
                    </a:lnTo>
                    <a:lnTo>
                      <a:pt x="1607" y="2656"/>
                    </a:lnTo>
                    <a:lnTo>
                      <a:pt x="1602" y="2654"/>
                    </a:lnTo>
                    <a:lnTo>
                      <a:pt x="1592" y="2653"/>
                    </a:lnTo>
                    <a:lnTo>
                      <a:pt x="1587" y="2652"/>
                    </a:lnTo>
                    <a:lnTo>
                      <a:pt x="1534" y="2652"/>
                    </a:lnTo>
                    <a:lnTo>
                      <a:pt x="1534" y="2656"/>
                    </a:lnTo>
                    <a:lnTo>
                      <a:pt x="1540" y="2656"/>
                    </a:lnTo>
                    <a:lnTo>
                      <a:pt x="1544" y="2657"/>
                    </a:lnTo>
                    <a:lnTo>
                      <a:pt x="1548" y="2661"/>
                    </a:lnTo>
                    <a:lnTo>
                      <a:pt x="1549" y="2665"/>
                    </a:lnTo>
                    <a:lnTo>
                      <a:pt x="1549" y="2754"/>
                    </a:lnTo>
                    <a:lnTo>
                      <a:pt x="1549" y="2758"/>
                    </a:lnTo>
                    <a:lnTo>
                      <a:pt x="1548" y="2763"/>
                    </a:lnTo>
                    <a:lnTo>
                      <a:pt x="1546" y="2765"/>
                    </a:lnTo>
                    <a:lnTo>
                      <a:pt x="1542" y="2767"/>
                    </a:lnTo>
                    <a:lnTo>
                      <a:pt x="1538" y="2768"/>
                    </a:lnTo>
                    <a:lnTo>
                      <a:pt x="1534" y="2768"/>
                    </a:lnTo>
                    <a:lnTo>
                      <a:pt x="1534" y="2771"/>
                    </a:lnTo>
                    <a:lnTo>
                      <a:pt x="1584" y="2771"/>
                    </a:lnTo>
                    <a:lnTo>
                      <a:pt x="1584" y="2768"/>
                    </a:lnTo>
                    <a:lnTo>
                      <a:pt x="1577" y="2768"/>
                    </a:lnTo>
                    <a:lnTo>
                      <a:pt x="1572" y="2767"/>
                    </a:lnTo>
                    <a:lnTo>
                      <a:pt x="1568" y="2762"/>
                    </a:lnTo>
                    <a:lnTo>
                      <a:pt x="1567" y="2758"/>
                    </a:lnTo>
                    <a:lnTo>
                      <a:pt x="1567" y="2754"/>
                    </a:lnTo>
                    <a:lnTo>
                      <a:pt x="1567" y="2716"/>
                    </a:lnTo>
                    <a:lnTo>
                      <a:pt x="1577" y="2716"/>
                    </a:lnTo>
                    <a:lnTo>
                      <a:pt x="1620" y="2771"/>
                    </a:lnTo>
                    <a:lnTo>
                      <a:pt x="1649" y="2771"/>
                    </a:lnTo>
                    <a:lnTo>
                      <a:pt x="1649" y="2768"/>
                    </a:lnTo>
                    <a:close/>
                    <a:moveTo>
                      <a:pt x="1703" y="2650"/>
                    </a:moveTo>
                    <a:lnTo>
                      <a:pt x="1691" y="2650"/>
                    </a:lnTo>
                    <a:lnTo>
                      <a:pt x="1650" y="2774"/>
                    </a:lnTo>
                    <a:lnTo>
                      <a:pt x="1662" y="2774"/>
                    </a:lnTo>
                    <a:lnTo>
                      <a:pt x="1703" y="2650"/>
                    </a:lnTo>
                    <a:close/>
                    <a:moveTo>
                      <a:pt x="1869" y="2652"/>
                    </a:moveTo>
                    <a:lnTo>
                      <a:pt x="1834" y="2652"/>
                    </a:lnTo>
                    <a:lnTo>
                      <a:pt x="1834" y="2656"/>
                    </a:lnTo>
                    <a:lnTo>
                      <a:pt x="1837" y="2656"/>
                    </a:lnTo>
                    <a:lnTo>
                      <a:pt x="1840" y="2656"/>
                    </a:lnTo>
                    <a:lnTo>
                      <a:pt x="1845" y="2658"/>
                    </a:lnTo>
                    <a:lnTo>
                      <a:pt x="1846" y="2661"/>
                    </a:lnTo>
                    <a:lnTo>
                      <a:pt x="1846" y="2668"/>
                    </a:lnTo>
                    <a:lnTo>
                      <a:pt x="1845" y="2673"/>
                    </a:lnTo>
                    <a:lnTo>
                      <a:pt x="1844" y="2675"/>
                    </a:lnTo>
                    <a:lnTo>
                      <a:pt x="1821" y="2738"/>
                    </a:lnTo>
                    <a:lnTo>
                      <a:pt x="1805" y="2697"/>
                    </a:lnTo>
                    <a:lnTo>
                      <a:pt x="1797" y="2677"/>
                    </a:lnTo>
                    <a:lnTo>
                      <a:pt x="1793" y="2666"/>
                    </a:lnTo>
                    <a:lnTo>
                      <a:pt x="1792" y="2665"/>
                    </a:lnTo>
                    <a:lnTo>
                      <a:pt x="1792" y="2662"/>
                    </a:lnTo>
                    <a:lnTo>
                      <a:pt x="1792" y="2659"/>
                    </a:lnTo>
                    <a:lnTo>
                      <a:pt x="1794" y="2658"/>
                    </a:lnTo>
                    <a:lnTo>
                      <a:pt x="1800" y="2656"/>
                    </a:lnTo>
                    <a:lnTo>
                      <a:pt x="1803" y="2656"/>
                    </a:lnTo>
                    <a:lnTo>
                      <a:pt x="1806" y="2656"/>
                    </a:lnTo>
                    <a:lnTo>
                      <a:pt x="1806" y="2652"/>
                    </a:lnTo>
                    <a:lnTo>
                      <a:pt x="1758" y="2652"/>
                    </a:lnTo>
                    <a:lnTo>
                      <a:pt x="1758" y="2656"/>
                    </a:lnTo>
                    <a:lnTo>
                      <a:pt x="1761" y="2656"/>
                    </a:lnTo>
                    <a:lnTo>
                      <a:pt x="1764" y="2656"/>
                    </a:lnTo>
                    <a:lnTo>
                      <a:pt x="1768" y="2657"/>
                    </a:lnTo>
                    <a:lnTo>
                      <a:pt x="1769" y="2659"/>
                    </a:lnTo>
                    <a:lnTo>
                      <a:pt x="1772" y="2663"/>
                    </a:lnTo>
                    <a:lnTo>
                      <a:pt x="1774" y="2667"/>
                    </a:lnTo>
                    <a:lnTo>
                      <a:pt x="1776" y="2672"/>
                    </a:lnTo>
                    <a:lnTo>
                      <a:pt x="1782" y="2687"/>
                    </a:lnTo>
                    <a:lnTo>
                      <a:pt x="1763" y="2737"/>
                    </a:lnTo>
                    <a:lnTo>
                      <a:pt x="1737" y="2670"/>
                    </a:lnTo>
                    <a:lnTo>
                      <a:pt x="1736" y="2667"/>
                    </a:lnTo>
                    <a:lnTo>
                      <a:pt x="1735" y="2665"/>
                    </a:lnTo>
                    <a:lnTo>
                      <a:pt x="1735" y="2659"/>
                    </a:lnTo>
                    <a:lnTo>
                      <a:pt x="1736" y="2658"/>
                    </a:lnTo>
                    <a:lnTo>
                      <a:pt x="1740" y="2656"/>
                    </a:lnTo>
                    <a:lnTo>
                      <a:pt x="1743" y="2656"/>
                    </a:lnTo>
                    <a:lnTo>
                      <a:pt x="1747" y="2656"/>
                    </a:lnTo>
                    <a:lnTo>
                      <a:pt x="1747" y="2652"/>
                    </a:lnTo>
                    <a:lnTo>
                      <a:pt x="1703" y="2652"/>
                    </a:lnTo>
                    <a:lnTo>
                      <a:pt x="1703" y="2656"/>
                    </a:lnTo>
                    <a:lnTo>
                      <a:pt x="1707" y="2656"/>
                    </a:lnTo>
                    <a:lnTo>
                      <a:pt x="1711" y="2658"/>
                    </a:lnTo>
                    <a:lnTo>
                      <a:pt x="1716" y="2664"/>
                    </a:lnTo>
                    <a:lnTo>
                      <a:pt x="1718" y="2669"/>
                    </a:lnTo>
                    <a:lnTo>
                      <a:pt x="1721" y="2677"/>
                    </a:lnTo>
                    <a:lnTo>
                      <a:pt x="1723" y="2681"/>
                    </a:lnTo>
                    <a:lnTo>
                      <a:pt x="1725" y="2688"/>
                    </a:lnTo>
                    <a:lnTo>
                      <a:pt x="1741" y="2731"/>
                    </a:lnTo>
                    <a:lnTo>
                      <a:pt x="1743" y="2737"/>
                    </a:lnTo>
                    <a:lnTo>
                      <a:pt x="1753" y="2766"/>
                    </a:lnTo>
                    <a:lnTo>
                      <a:pt x="1756" y="2773"/>
                    </a:lnTo>
                    <a:lnTo>
                      <a:pt x="1758" y="2773"/>
                    </a:lnTo>
                    <a:lnTo>
                      <a:pt x="1772" y="2737"/>
                    </a:lnTo>
                    <a:lnTo>
                      <a:pt x="1786" y="2697"/>
                    </a:lnTo>
                    <a:lnTo>
                      <a:pt x="1789" y="2704"/>
                    </a:lnTo>
                    <a:lnTo>
                      <a:pt x="1799" y="2731"/>
                    </a:lnTo>
                    <a:lnTo>
                      <a:pt x="1810" y="2759"/>
                    </a:lnTo>
                    <a:lnTo>
                      <a:pt x="1813" y="2767"/>
                    </a:lnTo>
                    <a:lnTo>
                      <a:pt x="1815" y="2773"/>
                    </a:lnTo>
                    <a:lnTo>
                      <a:pt x="1818" y="2773"/>
                    </a:lnTo>
                    <a:lnTo>
                      <a:pt x="1822" y="2760"/>
                    </a:lnTo>
                    <a:lnTo>
                      <a:pt x="1826" y="2747"/>
                    </a:lnTo>
                    <a:lnTo>
                      <a:pt x="1829" y="2738"/>
                    </a:lnTo>
                    <a:lnTo>
                      <a:pt x="1831" y="2733"/>
                    </a:lnTo>
                    <a:lnTo>
                      <a:pt x="1836" y="2720"/>
                    </a:lnTo>
                    <a:lnTo>
                      <a:pt x="1841" y="2706"/>
                    </a:lnTo>
                    <a:lnTo>
                      <a:pt x="1846" y="2693"/>
                    </a:lnTo>
                    <a:lnTo>
                      <a:pt x="1850" y="2680"/>
                    </a:lnTo>
                    <a:lnTo>
                      <a:pt x="1855" y="2667"/>
                    </a:lnTo>
                    <a:lnTo>
                      <a:pt x="1856" y="2663"/>
                    </a:lnTo>
                    <a:lnTo>
                      <a:pt x="1858" y="2661"/>
                    </a:lnTo>
                    <a:lnTo>
                      <a:pt x="1862" y="2657"/>
                    </a:lnTo>
                    <a:lnTo>
                      <a:pt x="1865" y="2656"/>
                    </a:lnTo>
                    <a:lnTo>
                      <a:pt x="1869" y="2656"/>
                    </a:lnTo>
                    <a:lnTo>
                      <a:pt x="1869" y="2652"/>
                    </a:lnTo>
                    <a:close/>
                    <a:moveTo>
                      <a:pt x="1872" y="2620"/>
                    </a:moveTo>
                    <a:lnTo>
                      <a:pt x="1702" y="2620"/>
                    </a:lnTo>
                    <a:lnTo>
                      <a:pt x="1702" y="2637"/>
                    </a:lnTo>
                    <a:lnTo>
                      <a:pt x="1872" y="2637"/>
                    </a:lnTo>
                    <a:lnTo>
                      <a:pt x="1872" y="2620"/>
                    </a:lnTo>
                    <a:close/>
                    <a:moveTo>
                      <a:pt x="1890" y="2772"/>
                    </a:moveTo>
                    <a:lnTo>
                      <a:pt x="1890" y="2765"/>
                    </a:lnTo>
                    <a:lnTo>
                      <a:pt x="1889" y="2762"/>
                    </a:lnTo>
                    <a:lnTo>
                      <a:pt x="1885" y="2757"/>
                    </a:lnTo>
                    <a:lnTo>
                      <a:pt x="1883" y="2755"/>
                    </a:lnTo>
                    <a:lnTo>
                      <a:pt x="1878" y="2753"/>
                    </a:lnTo>
                    <a:lnTo>
                      <a:pt x="1877" y="2753"/>
                    </a:lnTo>
                    <a:lnTo>
                      <a:pt x="1875" y="2753"/>
                    </a:lnTo>
                    <a:lnTo>
                      <a:pt x="1873" y="2753"/>
                    </a:lnTo>
                    <a:lnTo>
                      <a:pt x="1870" y="2754"/>
                    </a:lnTo>
                    <a:lnTo>
                      <a:pt x="1866" y="2757"/>
                    </a:lnTo>
                    <a:lnTo>
                      <a:pt x="1865" y="2760"/>
                    </a:lnTo>
                    <a:lnTo>
                      <a:pt x="1865" y="2767"/>
                    </a:lnTo>
                    <a:lnTo>
                      <a:pt x="1866" y="2769"/>
                    </a:lnTo>
                    <a:lnTo>
                      <a:pt x="1871" y="2772"/>
                    </a:lnTo>
                    <a:lnTo>
                      <a:pt x="1873" y="2773"/>
                    </a:lnTo>
                    <a:lnTo>
                      <a:pt x="1876" y="2773"/>
                    </a:lnTo>
                    <a:lnTo>
                      <a:pt x="1877" y="2773"/>
                    </a:lnTo>
                    <a:lnTo>
                      <a:pt x="1878" y="2772"/>
                    </a:lnTo>
                    <a:lnTo>
                      <a:pt x="1879" y="2772"/>
                    </a:lnTo>
                    <a:lnTo>
                      <a:pt x="1880" y="2772"/>
                    </a:lnTo>
                    <a:lnTo>
                      <a:pt x="1882" y="2772"/>
                    </a:lnTo>
                    <a:lnTo>
                      <a:pt x="1882" y="2773"/>
                    </a:lnTo>
                    <a:lnTo>
                      <a:pt x="1883" y="2775"/>
                    </a:lnTo>
                    <a:lnTo>
                      <a:pt x="1883" y="2776"/>
                    </a:lnTo>
                    <a:lnTo>
                      <a:pt x="1882" y="2779"/>
                    </a:lnTo>
                    <a:lnTo>
                      <a:pt x="1878" y="2786"/>
                    </a:lnTo>
                    <a:lnTo>
                      <a:pt x="1874" y="2790"/>
                    </a:lnTo>
                    <a:lnTo>
                      <a:pt x="1868" y="2793"/>
                    </a:lnTo>
                    <a:lnTo>
                      <a:pt x="1870" y="2797"/>
                    </a:lnTo>
                    <a:lnTo>
                      <a:pt x="1871" y="2796"/>
                    </a:lnTo>
                    <a:lnTo>
                      <a:pt x="1874" y="2795"/>
                    </a:lnTo>
                    <a:lnTo>
                      <a:pt x="1880" y="2790"/>
                    </a:lnTo>
                    <a:lnTo>
                      <a:pt x="1883" y="2786"/>
                    </a:lnTo>
                    <a:lnTo>
                      <a:pt x="1888" y="2779"/>
                    </a:lnTo>
                    <a:lnTo>
                      <a:pt x="1890" y="2775"/>
                    </a:lnTo>
                    <a:lnTo>
                      <a:pt x="1890" y="2772"/>
                    </a:lnTo>
                    <a:close/>
                    <a:moveTo>
                      <a:pt x="2021" y="2743"/>
                    </a:moveTo>
                    <a:lnTo>
                      <a:pt x="2018" y="2742"/>
                    </a:lnTo>
                    <a:lnTo>
                      <a:pt x="2017" y="2744"/>
                    </a:lnTo>
                    <a:lnTo>
                      <a:pt x="2015" y="2747"/>
                    </a:lnTo>
                    <a:lnTo>
                      <a:pt x="2010" y="2753"/>
                    </a:lnTo>
                    <a:lnTo>
                      <a:pt x="2007" y="2755"/>
                    </a:lnTo>
                    <a:lnTo>
                      <a:pt x="2000" y="2760"/>
                    </a:lnTo>
                    <a:lnTo>
                      <a:pt x="1995" y="2761"/>
                    </a:lnTo>
                    <a:lnTo>
                      <a:pt x="1986" y="2761"/>
                    </a:lnTo>
                    <a:lnTo>
                      <a:pt x="1982" y="2760"/>
                    </a:lnTo>
                    <a:lnTo>
                      <a:pt x="1974" y="2756"/>
                    </a:lnTo>
                    <a:lnTo>
                      <a:pt x="1970" y="2752"/>
                    </a:lnTo>
                    <a:lnTo>
                      <a:pt x="1964" y="2740"/>
                    </a:lnTo>
                    <a:lnTo>
                      <a:pt x="1962" y="2732"/>
                    </a:lnTo>
                    <a:lnTo>
                      <a:pt x="1962" y="2722"/>
                    </a:lnTo>
                    <a:lnTo>
                      <a:pt x="2018" y="2722"/>
                    </a:lnTo>
                    <a:lnTo>
                      <a:pt x="2017" y="2716"/>
                    </a:lnTo>
                    <a:lnTo>
                      <a:pt x="2016" y="2710"/>
                    </a:lnTo>
                    <a:lnTo>
                      <a:pt x="2013" y="2702"/>
                    </a:lnTo>
                    <a:lnTo>
                      <a:pt x="2006" y="2695"/>
                    </a:lnTo>
                    <a:lnTo>
                      <a:pt x="2002" y="2691"/>
                    </a:lnTo>
                    <a:lnTo>
                      <a:pt x="1999" y="2690"/>
                    </a:lnTo>
                    <a:lnTo>
                      <a:pt x="1999" y="2716"/>
                    </a:lnTo>
                    <a:lnTo>
                      <a:pt x="1962" y="2716"/>
                    </a:lnTo>
                    <a:lnTo>
                      <a:pt x="1964" y="2708"/>
                    </a:lnTo>
                    <a:lnTo>
                      <a:pt x="1966" y="2703"/>
                    </a:lnTo>
                    <a:lnTo>
                      <a:pt x="1973" y="2697"/>
                    </a:lnTo>
                    <a:lnTo>
                      <a:pt x="1977" y="2695"/>
                    </a:lnTo>
                    <a:lnTo>
                      <a:pt x="1987" y="2695"/>
                    </a:lnTo>
                    <a:lnTo>
                      <a:pt x="1990" y="2696"/>
                    </a:lnTo>
                    <a:lnTo>
                      <a:pt x="1995" y="2701"/>
                    </a:lnTo>
                    <a:lnTo>
                      <a:pt x="1996" y="2704"/>
                    </a:lnTo>
                    <a:lnTo>
                      <a:pt x="1998" y="2710"/>
                    </a:lnTo>
                    <a:lnTo>
                      <a:pt x="1999" y="2713"/>
                    </a:lnTo>
                    <a:lnTo>
                      <a:pt x="1999" y="2716"/>
                    </a:lnTo>
                    <a:lnTo>
                      <a:pt x="1999" y="2690"/>
                    </a:lnTo>
                    <a:lnTo>
                      <a:pt x="1995" y="2689"/>
                    </a:lnTo>
                    <a:lnTo>
                      <a:pt x="1994" y="2689"/>
                    </a:lnTo>
                    <a:lnTo>
                      <a:pt x="1986" y="2689"/>
                    </a:lnTo>
                    <a:lnTo>
                      <a:pt x="1981" y="2689"/>
                    </a:lnTo>
                    <a:lnTo>
                      <a:pt x="1975" y="2690"/>
                    </a:lnTo>
                    <a:lnTo>
                      <a:pt x="1964" y="2696"/>
                    </a:lnTo>
                    <a:lnTo>
                      <a:pt x="1960" y="2700"/>
                    </a:lnTo>
                    <a:lnTo>
                      <a:pt x="1951" y="2713"/>
                    </a:lnTo>
                    <a:lnTo>
                      <a:pt x="1949" y="2722"/>
                    </a:lnTo>
                    <a:lnTo>
                      <a:pt x="1949" y="2732"/>
                    </a:lnTo>
                    <a:lnTo>
                      <a:pt x="1949" y="2746"/>
                    </a:lnTo>
                    <a:lnTo>
                      <a:pt x="1952" y="2756"/>
                    </a:lnTo>
                    <a:lnTo>
                      <a:pt x="1964" y="2770"/>
                    </a:lnTo>
                    <a:lnTo>
                      <a:pt x="1973" y="2773"/>
                    </a:lnTo>
                    <a:lnTo>
                      <a:pt x="1983" y="2773"/>
                    </a:lnTo>
                    <a:lnTo>
                      <a:pt x="1989" y="2773"/>
                    </a:lnTo>
                    <a:lnTo>
                      <a:pt x="1995" y="2772"/>
                    </a:lnTo>
                    <a:lnTo>
                      <a:pt x="2004" y="2767"/>
                    </a:lnTo>
                    <a:lnTo>
                      <a:pt x="2008" y="2764"/>
                    </a:lnTo>
                    <a:lnTo>
                      <a:pt x="2010" y="2761"/>
                    </a:lnTo>
                    <a:lnTo>
                      <a:pt x="2014" y="2757"/>
                    </a:lnTo>
                    <a:lnTo>
                      <a:pt x="2016" y="2754"/>
                    </a:lnTo>
                    <a:lnTo>
                      <a:pt x="2019" y="2747"/>
                    </a:lnTo>
                    <a:lnTo>
                      <a:pt x="2020" y="2745"/>
                    </a:lnTo>
                    <a:lnTo>
                      <a:pt x="2021" y="2743"/>
                    </a:lnTo>
                    <a:close/>
                    <a:moveTo>
                      <a:pt x="2076" y="2760"/>
                    </a:moveTo>
                    <a:lnTo>
                      <a:pt x="2073" y="2758"/>
                    </a:lnTo>
                    <a:lnTo>
                      <a:pt x="2073" y="2759"/>
                    </a:lnTo>
                    <a:lnTo>
                      <a:pt x="2071" y="2760"/>
                    </a:lnTo>
                    <a:lnTo>
                      <a:pt x="2068" y="2763"/>
                    </a:lnTo>
                    <a:lnTo>
                      <a:pt x="2065" y="2764"/>
                    </a:lnTo>
                    <a:lnTo>
                      <a:pt x="2063" y="2764"/>
                    </a:lnTo>
                    <a:lnTo>
                      <a:pt x="2060" y="2764"/>
                    </a:lnTo>
                    <a:lnTo>
                      <a:pt x="2057" y="2763"/>
                    </a:lnTo>
                    <a:lnTo>
                      <a:pt x="2055" y="2759"/>
                    </a:lnTo>
                    <a:lnTo>
                      <a:pt x="2054" y="2757"/>
                    </a:lnTo>
                    <a:lnTo>
                      <a:pt x="2053" y="2752"/>
                    </a:lnTo>
                    <a:lnTo>
                      <a:pt x="2053" y="2696"/>
                    </a:lnTo>
                    <a:lnTo>
                      <a:pt x="2072" y="2696"/>
                    </a:lnTo>
                    <a:lnTo>
                      <a:pt x="2072" y="2690"/>
                    </a:lnTo>
                    <a:lnTo>
                      <a:pt x="2053" y="2690"/>
                    </a:lnTo>
                    <a:lnTo>
                      <a:pt x="2053" y="2670"/>
                    </a:lnTo>
                    <a:lnTo>
                      <a:pt x="2054" y="2668"/>
                    </a:lnTo>
                    <a:lnTo>
                      <a:pt x="2053" y="2667"/>
                    </a:lnTo>
                    <a:lnTo>
                      <a:pt x="2052" y="2667"/>
                    </a:lnTo>
                    <a:lnTo>
                      <a:pt x="2049" y="2672"/>
                    </a:lnTo>
                    <a:lnTo>
                      <a:pt x="2046" y="2676"/>
                    </a:lnTo>
                    <a:lnTo>
                      <a:pt x="2042" y="2681"/>
                    </a:lnTo>
                    <a:lnTo>
                      <a:pt x="2039" y="2684"/>
                    </a:lnTo>
                    <a:lnTo>
                      <a:pt x="2036" y="2688"/>
                    </a:lnTo>
                    <a:lnTo>
                      <a:pt x="2034" y="2690"/>
                    </a:lnTo>
                    <a:lnTo>
                      <a:pt x="2032" y="2691"/>
                    </a:lnTo>
                    <a:lnTo>
                      <a:pt x="2029" y="2693"/>
                    </a:lnTo>
                    <a:lnTo>
                      <a:pt x="2028" y="2694"/>
                    </a:lnTo>
                    <a:lnTo>
                      <a:pt x="2028" y="2696"/>
                    </a:lnTo>
                    <a:lnTo>
                      <a:pt x="2029" y="2696"/>
                    </a:lnTo>
                    <a:lnTo>
                      <a:pt x="2038" y="2696"/>
                    </a:lnTo>
                    <a:lnTo>
                      <a:pt x="2038" y="2759"/>
                    </a:lnTo>
                    <a:lnTo>
                      <a:pt x="2040" y="2765"/>
                    </a:lnTo>
                    <a:lnTo>
                      <a:pt x="2046" y="2772"/>
                    </a:lnTo>
                    <a:lnTo>
                      <a:pt x="2050" y="2773"/>
                    </a:lnTo>
                    <a:lnTo>
                      <a:pt x="2059" y="2773"/>
                    </a:lnTo>
                    <a:lnTo>
                      <a:pt x="2063" y="2772"/>
                    </a:lnTo>
                    <a:lnTo>
                      <a:pt x="2071" y="2767"/>
                    </a:lnTo>
                    <a:lnTo>
                      <a:pt x="2073" y="2764"/>
                    </a:lnTo>
                    <a:lnTo>
                      <a:pt x="2074" y="2764"/>
                    </a:lnTo>
                    <a:lnTo>
                      <a:pt x="2076" y="2760"/>
                    </a:lnTo>
                    <a:close/>
                    <a:moveTo>
                      <a:pt x="2150" y="2745"/>
                    </a:moveTo>
                    <a:lnTo>
                      <a:pt x="2148" y="2743"/>
                    </a:lnTo>
                    <a:lnTo>
                      <a:pt x="2145" y="2748"/>
                    </a:lnTo>
                    <a:lnTo>
                      <a:pt x="2141" y="2752"/>
                    </a:lnTo>
                    <a:lnTo>
                      <a:pt x="2133" y="2759"/>
                    </a:lnTo>
                    <a:lnTo>
                      <a:pt x="2128" y="2760"/>
                    </a:lnTo>
                    <a:lnTo>
                      <a:pt x="2122" y="2760"/>
                    </a:lnTo>
                    <a:lnTo>
                      <a:pt x="2114" y="2760"/>
                    </a:lnTo>
                    <a:lnTo>
                      <a:pt x="2108" y="2757"/>
                    </a:lnTo>
                    <a:lnTo>
                      <a:pt x="2097" y="2745"/>
                    </a:lnTo>
                    <a:lnTo>
                      <a:pt x="2095" y="2736"/>
                    </a:lnTo>
                    <a:lnTo>
                      <a:pt x="2094" y="2717"/>
                    </a:lnTo>
                    <a:lnTo>
                      <a:pt x="2096" y="2711"/>
                    </a:lnTo>
                    <a:lnTo>
                      <a:pt x="2096" y="2710"/>
                    </a:lnTo>
                    <a:lnTo>
                      <a:pt x="2102" y="2701"/>
                    </a:lnTo>
                    <a:lnTo>
                      <a:pt x="2105" y="2698"/>
                    </a:lnTo>
                    <a:lnTo>
                      <a:pt x="2112" y="2695"/>
                    </a:lnTo>
                    <a:lnTo>
                      <a:pt x="2115" y="2694"/>
                    </a:lnTo>
                    <a:lnTo>
                      <a:pt x="2118" y="2694"/>
                    </a:lnTo>
                    <a:lnTo>
                      <a:pt x="2122" y="2694"/>
                    </a:lnTo>
                    <a:lnTo>
                      <a:pt x="2125" y="2695"/>
                    </a:lnTo>
                    <a:lnTo>
                      <a:pt x="2128" y="2698"/>
                    </a:lnTo>
                    <a:lnTo>
                      <a:pt x="2129" y="2700"/>
                    </a:lnTo>
                    <a:lnTo>
                      <a:pt x="2129" y="2703"/>
                    </a:lnTo>
                    <a:lnTo>
                      <a:pt x="2131" y="2706"/>
                    </a:lnTo>
                    <a:lnTo>
                      <a:pt x="2131" y="2709"/>
                    </a:lnTo>
                    <a:lnTo>
                      <a:pt x="2132" y="2710"/>
                    </a:lnTo>
                    <a:lnTo>
                      <a:pt x="2135" y="2714"/>
                    </a:lnTo>
                    <a:lnTo>
                      <a:pt x="2137" y="2715"/>
                    </a:lnTo>
                    <a:lnTo>
                      <a:pt x="2139" y="2715"/>
                    </a:lnTo>
                    <a:lnTo>
                      <a:pt x="2142" y="2715"/>
                    </a:lnTo>
                    <a:lnTo>
                      <a:pt x="2144" y="2714"/>
                    </a:lnTo>
                    <a:lnTo>
                      <a:pt x="2147" y="2711"/>
                    </a:lnTo>
                    <a:lnTo>
                      <a:pt x="2148" y="2709"/>
                    </a:lnTo>
                    <a:lnTo>
                      <a:pt x="2148" y="2705"/>
                    </a:lnTo>
                    <a:lnTo>
                      <a:pt x="2147" y="2703"/>
                    </a:lnTo>
                    <a:lnTo>
                      <a:pt x="2144" y="2698"/>
                    </a:lnTo>
                    <a:lnTo>
                      <a:pt x="2143" y="2696"/>
                    </a:lnTo>
                    <a:lnTo>
                      <a:pt x="2140" y="2694"/>
                    </a:lnTo>
                    <a:lnTo>
                      <a:pt x="2139" y="2694"/>
                    </a:lnTo>
                    <a:lnTo>
                      <a:pt x="2138" y="2693"/>
                    </a:lnTo>
                    <a:lnTo>
                      <a:pt x="2135" y="2692"/>
                    </a:lnTo>
                    <a:lnTo>
                      <a:pt x="2128" y="2689"/>
                    </a:lnTo>
                    <a:lnTo>
                      <a:pt x="2124" y="2689"/>
                    </a:lnTo>
                    <a:lnTo>
                      <a:pt x="2114" y="2689"/>
                    </a:lnTo>
                    <a:lnTo>
                      <a:pt x="2108" y="2690"/>
                    </a:lnTo>
                    <a:lnTo>
                      <a:pt x="2096" y="2697"/>
                    </a:lnTo>
                    <a:lnTo>
                      <a:pt x="2091" y="2702"/>
                    </a:lnTo>
                    <a:lnTo>
                      <a:pt x="2083" y="2715"/>
                    </a:lnTo>
                    <a:lnTo>
                      <a:pt x="2081" y="2723"/>
                    </a:lnTo>
                    <a:lnTo>
                      <a:pt x="2081" y="2743"/>
                    </a:lnTo>
                    <a:lnTo>
                      <a:pt x="2082" y="2750"/>
                    </a:lnTo>
                    <a:lnTo>
                      <a:pt x="2090" y="2762"/>
                    </a:lnTo>
                    <a:lnTo>
                      <a:pt x="2094" y="2766"/>
                    </a:lnTo>
                    <a:lnTo>
                      <a:pt x="2104" y="2772"/>
                    </a:lnTo>
                    <a:lnTo>
                      <a:pt x="2109" y="2773"/>
                    </a:lnTo>
                    <a:lnTo>
                      <a:pt x="2114" y="2773"/>
                    </a:lnTo>
                    <a:lnTo>
                      <a:pt x="2121" y="2773"/>
                    </a:lnTo>
                    <a:lnTo>
                      <a:pt x="2128" y="2771"/>
                    </a:lnTo>
                    <a:lnTo>
                      <a:pt x="2140" y="2763"/>
                    </a:lnTo>
                    <a:lnTo>
                      <a:pt x="2142" y="2760"/>
                    </a:lnTo>
                    <a:lnTo>
                      <a:pt x="2145" y="2755"/>
                    </a:lnTo>
                    <a:lnTo>
                      <a:pt x="2150" y="2745"/>
                    </a:lnTo>
                    <a:close/>
                    <a:moveTo>
                      <a:pt x="2188" y="2764"/>
                    </a:moveTo>
                    <a:lnTo>
                      <a:pt x="2188" y="2761"/>
                    </a:lnTo>
                    <a:lnTo>
                      <a:pt x="2187" y="2758"/>
                    </a:lnTo>
                    <a:lnTo>
                      <a:pt x="2183" y="2755"/>
                    </a:lnTo>
                    <a:lnTo>
                      <a:pt x="2180" y="2754"/>
                    </a:lnTo>
                    <a:lnTo>
                      <a:pt x="2178" y="2753"/>
                    </a:lnTo>
                    <a:lnTo>
                      <a:pt x="2175" y="2754"/>
                    </a:lnTo>
                    <a:lnTo>
                      <a:pt x="2173" y="2755"/>
                    </a:lnTo>
                    <a:lnTo>
                      <a:pt x="2169" y="2758"/>
                    </a:lnTo>
                    <a:lnTo>
                      <a:pt x="2168" y="2761"/>
                    </a:lnTo>
                    <a:lnTo>
                      <a:pt x="2168" y="2767"/>
                    </a:lnTo>
                    <a:lnTo>
                      <a:pt x="2169" y="2770"/>
                    </a:lnTo>
                    <a:lnTo>
                      <a:pt x="2174" y="2773"/>
                    </a:lnTo>
                    <a:lnTo>
                      <a:pt x="2176" y="2773"/>
                    </a:lnTo>
                    <a:lnTo>
                      <a:pt x="2180" y="2773"/>
                    </a:lnTo>
                    <a:lnTo>
                      <a:pt x="2182" y="2773"/>
                    </a:lnTo>
                    <a:lnTo>
                      <a:pt x="2186" y="2770"/>
                    </a:lnTo>
                    <a:lnTo>
                      <a:pt x="2188" y="2767"/>
                    </a:lnTo>
                    <a:lnTo>
                      <a:pt x="2188" y="2764"/>
                    </a:lnTo>
                    <a:close/>
                    <a:moveTo>
                      <a:pt x="2251" y="2720"/>
                    </a:moveTo>
                    <a:lnTo>
                      <a:pt x="2251" y="2714"/>
                    </a:lnTo>
                    <a:lnTo>
                      <a:pt x="2248" y="2702"/>
                    </a:lnTo>
                    <a:lnTo>
                      <a:pt x="2247" y="2696"/>
                    </a:lnTo>
                    <a:lnTo>
                      <a:pt x="2242" y="2687"/>
                    </a:lnTo>
                    <a:lnTo>
                      <a:pt x="2240" y="2682"/>
                    </a:lnTo>
                    <a:lnTo>
                      <a:pt x="2237" y="2678"/>
                    </a:lnTo>
                    <a:lnTo>
                      <a:pt x="2233" y="2673"/>
                    </a:lnTo>
                    <a:lnTo>
                      <a:pt x="2229" y="2667"/>
                    </a:lnTo>
                    <a:lnTo>
                      <a:pt x="2218" y="2657"/>
                    </a:lnTo>
                    <a:lnTo>
                      <a:pt x="2213" y="2653"/>
                    </a:lnTo>
                    <a:lnTo>
                      <a:pt x="2208" y="2650"/>
                    </a:lnTo>
                    <a:lnTo>
                      <a:pt x="2205" y="2653"/>
                    </a:lnTo>
                    <a:lnTo>
                      <a:pt x="2213" y="2658"/>
                    </a:lnTo>
                    <a:lnTo>
                      <a:pt x="2219" y="2664"/>
                    </a:lnTo>
                    <a:lnTo>
                      <a:pt x="2227" y="2677"/>
                    </a:lnTo>
                    <a:lnTo>
                      <a:pt x="2230" y="2684"/>
                    </a:lnTo>
                    <a:lnTo>
                      <a:pt x="2234" y="2699"/>
                    </a:lnTo>
                    <a:lnTo>
                      <a:pt x="2235" y="2706"/>
                    </a:lnTo>
                    <a:lnTo>
                      <a:pt x="2236" y="2720"/>
                    </a:lnTo>
                    <a:lnTo>
                      <a:pt x="2236" y="2745"/>
                    </a:lnTo>
                    <a:lnTo>
                      <a:pt x="2234" y="2757"/>
                    </a:lnTo>
                    <a:lnTo>
                      <a:pt x="2228" y="2775"/>
                    </a:lnTo>
                    <a:lnTo>
                      <a:pt x="2224" y="2783"/>
                    </a:lnTo>
                    <a:lnTo>
                      <a:pt x="2215" y="2793"/>
                    </a:lnTo>
                    <a:lnTo>
                      <a:pt x="2210" y="2797"/>
                    </a:lnTo>
                    <a:lnTo>
                      <a:pt x="2205" y="2800"/>
                    </a:lnTo>
                    <a:lnTo>
                      <a:pt x="2207" y="2803"/>
                    </a:lnTo>
                    <a:lnTo>
                      <a:pt x="2217" y="2797"/>
                    </a:lnTo>
                    <a:lnTo>
                      <a:pt x="2226" y="2789"/>
                    </a:lnTo>
                    <a:lnTo>
                      <a:pt x="2233" y="2781"/>
                    </a:lnTo>
                    <a:lnTo>
                      <a:pt x="2240" y="2771"/>
                    </a:lnTo>
                    <a:lnTo>
                      <a:pt x="2245" y="2762"/>
                    </a:lnTo>
                    <a:lnTo>
                      <a:pt x="2248" y="2751"/>
                    </a:lnTo>
                    <a:lnTo>
                      <a:pt x="2251" y="2740"/>
                    </a:lnTo>
                    <a:lnTo>
                      <a:pt x="2251" y="2730"/>
                    </a:lnTo>
                    <a:lnTo>
                      <a:pt x="2251" y="2720"/>
                    </a:lnTo>
                    <a:close/>
                    <a:moveTo>
                      <a:pt x="5064" y="0"/>
                    </a:moveTo>
                    <a:lnTo>
                      <a:pt x="5030" y="0"/>
                    </a:lnTo>
                    <a:lnTo>
                      <a:pt x="5030" y="32"/>
                    </a:lnTo>
                    <a:lnTo>
                      <a:pt x="5030" y="2880"/>
                    </a:lnTo>
                    <a:lnTo>
                      <a:pt x="3086" y="2880"/>
                    </a:lnTo>
                    <a:lnTo>
                      <a:pt x="3086" y="32"/>
                    </a:lnTo>
                    <a:lnTo>
                      <a:pt x="5030" y="32"/>
                    </a:lnTo>
                    <a:lnTo>
                      <a:pt x="5030" y="0"/>
                    </a:lnTo>
                    <a:lnTo>
                      <a:pt x="3070" y="0"/>
                    </a:lnTo>
                    <a:lnTo>
                      <a:pt x="3053" y="0"/>
                    </a:lnTo>
                    <a:lnTo>
                      <a:pt x="3053" y="32"/>
                    </a:lnTo>
                    <a:lnTo>
                      <a:pt x="3053" y="2880"/>
                    </a:lnTo>
                    <a:lnTo>
                      <a:pt x="3053" y="2912"/>
                    </a:lnTo>
                    <a:lnTo>
                      <a:pt x="5064" y="2912"/>
                    </a:lnTo>
                    <a:lnTo>
                      <a:pt x="5064" y="2880"/>
                    </a:lnTo>
                    <a:lnTo>
                      <a:pt x="5064" y="32"/>
                    </a:lnTo>
                    <a:lnTo>
                      <a:pt x="5064" y="16"/>
                    </a:lnTo>
                    <a:lnTo>
                      <a:pt x="50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grpSp>
        <p:pic>
          <p:nvPicPr>
            <p:cNvPr id="20" name="image66.png">
              <a:extLst>
                <a:ext uri="{FF2B5EF4-FFF2-40B4-BE49-F238E27FC236}">
                  <a16:creationId xmlns:a16="http://schemas.microsoft.com/office/drawing/2014/main" id="{FAD01771-C13C-8F1E-6C95-839D0E9F82BA}"/>
                </a:ext>
              </a:extLst>
            </p:cNvPr>
            <p:cNvPicPr>
              <a:picLocks noChangeAspect="1"/>
            </p:cNvPicPr>
            <p:nvPr/>
          </p:nvPicPr>
          <p:blipFill>
            <a:blip r:embed="rId4" cstate="print"/>
            <a:stretch>
              <a:fillRect/>
            </a:stretch>
          </p:blipFill>
          <p:spPr>
            <a:xfrm>
              <a:off x="7167720" y="3155712"/>
              <a:ext cx="1525231" cy="377197"/>
            </a:xfrm>
            <a:prstGeom prst="rect">
              <a:avLst/>
            </a:prstGeom>
          </p:spPr>
        </p:pic>
        <p:pic>
          <p:nvPicPr>
            <p:cNvPr id="21" name="image68.png">
              <a:extLst>
                <a:ext uri="{FF2B5EF4-FFF2-40B4-BE49-F238E27FC236}">
                  <a16:creationId xmlns:a16="http://schemas.microsoft.com/office/drawing/2014/main" id="{92232940-F070-DEAD-4140-C23175C12CC2}"/>
                </a:ext>
              </a:extLst>
            </p:cNvPr>
            <p:cNvPicPr>
              <a:picLocks noChangeAspect="1"/>
            </p:cNvPicPr>
            <p:nvPr/>
          </p:nvPicPr>
          <p:blipFill>
            <a:blip r:embed="rId5" cstate="print"/>
            <a:stretch>
              <a:fillRect/>
            </a:stretch>
          </p:blipFill>
          <p:spPr>
            <a:xfrm>
              <a:off x="7167721" y="3828111"/>
              <a:ext cx="1366781" cy="258269"/>
            </a:xfrm>
            <a:prstGeom prst="rect">
              <a:avLst/>
            </a:prstGeom>
          </p:spPr>
        </p:pic>
      </p:grpSp>
      <p:sp>
        <p:nvSpPr>
          <p:cNvPr id="24" name="TextBox 23">
            <a:extLst>
              <a:ext uri="{FF2B5EF4-FFF2-40B4-BE49-F238E27FC236}">
                <a16:creationId xmlns:a16="http://schemas.microsoft.com/office/drawing/2014/main" id="{10A65B3F-3731-9CC7-8C58-5D013F5E85E8}"/>
              </a:ext>
            </a:extLst>
          </p:cNvPr>
          <p:cNvSpPr txBox="1"/>
          <p:nvPr/>
        </p:nvSpPr>
        <p:spPr>
          <a:xfrm>
            <a:off x="655953" y="4407621"/>
            <a:ext cx="10901286" cy="2031325"/>
          </a:xfrm>
          <a:prstGeom prst="rect">
            <a:avLst/>
          </a:prstGeom>
          <a:noFill/>
        </p:spPr>
        <p:txBody>
          <a:bodyPr wrap="square">
            <a:spAutoFit/>
          </a:bodyPr>
          <a:lstStyle/>
          <a:p>
            <a:pPr marL="285750" indent="-285750" algn="just">
              <a:buFont typeface="Arial" panose="020B0604020202020204" pitchFamily="34" charset="0"/>
              <a:buChar char="•"/>
            </a:pPr>
            <a:r>
              <a:rPr lang="en-US" sz="1800" b="1" dirty="0">
                <a:latin typeface="AppleMyungjo" pitchFamily="2" charset="-127"/>
                <a:ea typeface="AppleMyungjo" pitchFamily="2" charset="-127"/>
              </a:rPr>
              <a:t>Address lines</a:t>
            </a:r>
            <a:r>
              <a:rPr lang="en-US" sz="1800" dirty="0">
                <a:latin typeface="AppleMyungjo" pitchFamily="2" charset="-127"/>
                <a:ea typeface="AppleMyungjo" pitchFamily="2" charset="-127"/>
              </a:rPr>
              <a:t>: specify memory location involved in data transfer operation.</a:t>
            </a:r>
          </a:p>
          <a:p>
            <a:pPr marL="285750" indent="-285750" algn="just">
              <a:buFont typeface="Arial" panose="020B0604020202020204" pitchFamily="34" charset="0"/>
              <a:buChar char="•"/>
            </a:pPr>
            <a:r>
              <a:rPr lang="en-US" b="1" dirty="0">
                <a:latin typeface="AppleMyungjo" pitchFamily="2" charset="-127"/>
                <a:ea typeface="AppleMyungjo" pitchFamily="2" charset="-127"/>
              </a:rPr>
              <a:t>Data lines</a:t>
            </a:r>
            <a:r>
              <a:rPr lang="en-US" sz="1800" dirty="0">
                <a:latin typeface="AppleMyungjo" pitchFamily="2" charset="-127"/>
                <a:ea typeface="AppleMyungjo" pitchFamily="2" charset="-127"/>
              </a:rPr>
              <a:t>: transfer the data</a:t>
            </a:r>
          </a:p>
          <a:p>
            <a:pPr marL="285750" indent="-285750" algn="just">
              <a:buFont typeface="Arial" panose="020B0604020202020204" pitchFamily="34" charset="0"/>
              <a:buChar char="•"/>
            </a:pPr>
            <a:r>
              <a:rPr lang="en-US" b="1" dirty="0">
                <a:latin typeface="AppleMyungjo" pitchFamily="2" charset="-127"/>
                <a:ea typeface="AppleMyungjo" pitchFamily="2" charset="-127"/>
              </a:rPr>
              <a:t>Control lines</a:t>
            </a:r>
            <a:r>
              <a:rPr lang="en-US" dirty="0">
                <a:latin typeface="AppleMyungjo" pitchFamily="2" charset="-127"/>
                <a:ea typeface="AppleMyungjo" pitchFamily="2" charset="-127"/>
              </a:rPr>
              <a:t>: carry commands to indicate RD or WR operation. Also, provide timing information.</a:t>
            </a:r>
          </a:p>
          <a:p>
            <a:pPr marL="285750" indent="-285750" algn="just">
              <a:buFont typeface="Arial" panose="020B0604020202020204" pitchFamily="34" charset="0"/>
              <a:buChar char="•"/>
            </a:pPr>
            <a:r>
              <a:rPr lang="en-US" sz="1800" dirty="0">
                <a:latin typeface="AppleMyungjo" pitchFamily="2" charset="-127"/>
                <a:ea typeface="AppleMyungjo" pitchFamily="2" charset="-127"/>
              </a:rPr>
              <a:t>The CPU of a computer can process instructions and data faster than they can be fetched from the main memory. </a:t>
            </a:r>
          </a:p>
          <a:p>
            <a:pPr marL="285750" indent="-285750" algn="just">
              <a:buFont typeface="Arial" panose="020B0604020202020204" pitchFamily="34" charset="0"/>
              <a:buChar char="•"/>
            </a:pPr>
            <a:r>
              <a:rPr lang="en-US" sz="1800" dirty="0">
                <a:latin typeface="AppleMyungjo" pitchFamily="2" charset="-127"/>
                <a:ea typeface="AppleMyungjo" pitchFamily="2" charset="-127"/>
              </a:rPr>
              <a:t>Hence, memory access time is the bottleneck in the systems. </a:t>
            </a:r>
          </a:p>
          <a:p>
            <a:pPr marL="285750" indent="-285750" algn="just">
              <a:buFont typeface="Arial" panose="020B0604020202020204" pitchFamily="34" charset="0"/>
              <a:buChar char="•"/>
            </a:pPr>
            <a:r>
              <a:rPr lang="en-US" sz="1800" dirty="0">
                <a:latin typeface="AppleMyungjo" pitchFamily="2" charset="-127"/>
                <a:ea typeface="AppleMyungjo" pitchFamily="2" charset="-127"/>
              </a:rPr>
              <a:t>Techniques to reduce access time are to use cache memory</a:t>
            </a:r>
            <a:r>
              <a:rPr lang="en-US" dirty="0">
                <a:latin typeface="AppleMyungjo" pitchFamily="2" charset="-127"/>
                <a:ea typeface="AppleMyungjo" pitchFamily="2" charset="-127"/>
              </a:rPr>
              <a:t>, </a:t>
            </a:r>
            <a:r>
              <a:rPr lang="en-US" sz="1800" dirty="0">
                <a:latin typeface="AppleMyungjo" pitchFamily="2" charset="-127"/>
                <a:ea typeface="AppleMyungjo" pitchFamily="2" charset="-127"/>
              </a:rPr>
              <a:t>Virtual memory…</a:t>
            </a:r>
          </a:p>
        </p:txBody>
      </p:sp>
    </p:spTree>
    <p:extLst>
      <p:ext uri="{BB962C8B-B14F-4D97-AF65-F5344CB8AC3E}">
        <p14:creationId xmlns:p14="http://schemas.microsoft.com/office/powerpoint/2010/main" val="745826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7C67C-3D17-CC4C-4955-3702972854B5}"/>
              </a:ext>
            </a:extLst>
          </p:cNvPr>
          <p:cNvSpPr>
            <a:spLocks noGrp="1"/>
          </p:cNvSpPr>
          <p:nvPr>
            <p:ph type="title"/>
          </p:nvPr>
        </p:nvSpPr>
        <p:spPr>
          <a:xfrm>
            <a:off x="838200" y="180068"/>
            <a:ext cx="10515600" cy="1325563"/>
          </a:xfrm>
        </p:spPr>
        <p:txBody>
          <a:bodyPr>
            <a:normAutofit/>
          </a:bodyPr>
          <a:lstStyle/>
          <a:p>
            <a:pPr algn="ctr"/>
            <a:r>
              <a:rPr lang="en-US" sz="3200" dirty="0">
                <a:latin typeface="AppleMyungjo" pitchFamily="2" charset="-127"/>
                <a:ea typeface="AppleMyungjo" pitchFamily="2" charset="-127"/>
                <a:cs typeface="+mn-cs"/>
              </a:rPr>
              <a:t>Memory – Characteristics</a:t>
            </a:r>
          </a:p>
        </p:txBody>
      </p:sp>
      <p:sp>
        <p:nvSpPr>
          <p:cNvPr id="3" name="Content Placeholder 2">
            <a:extLst>
              <a:ext uri="{FF2B5EF4-FFF2-40B4-BE49-F238E27FC236}">
                <a16:creationId xmlns:a16="http://schemas.microsoft.com/office/drawing/2014/main" id="{61B3542F-AE9E-49B2-0BED-52BA5CDCB5FD}"/>
              </a:ext>
            </a:extLst>
          </p:cNvPr>
          <p:cNvSpPr>
            <a:spLocks noGrp="1"/>
          </p:cNvSpPr>
          <p:nvPr>
            <p:ph idx="1"/>
          </p:nvPr>
        </p:nvSpPr>
        <p:spPr>
          <a:xfrm>
            <a:off x="838200" y="769710"/>
            <a:ext cx="10515600" cy="5908221"/>
          </a:xfrm>
        </p:spPr>
        <p:txBody>
          <a:bodyPr>
            <a:normAutofit fontScale="92500" lnSpcReduction="20000"/>
          </a:bodyPr>
          <a:lstStyle/>
          <a:p>
            <a:pPr marL="0" indent="0">
              <a:lnSpc>
                <a:spcPct val="150000"/>
              </a:lnSpc>
              <a:spcBef>
                <a:spcPts val="400"/>
              </a:spcBef>
              <a:buNone/>
            </a:pPr>
            <a:endParaRPr lang="en-IN" sz="2000" dirty="0">
              <a:effectLst/>
              <a:latin typeface="AppleMyungjo" pitchFamily="2" charset="-127"/>
              <a:ea typeface="AppleMyungjo" pitchFamily="2" charset="-127"/>
            </a:endParaRPr>
          </a:p>
          <a:p>
            <a:pPr marL="0" indent="0">
              <a:lnSpc>
                <a:spcPct val="150000"/>
              </a:lnSpc>
              <a:spcBef>
                <a:spcPts val="400"/>
              </a:spcBef>
              <a:buNone/>
            </a:pPr>
            <a:r>
              <a:rPr lang="en-IN" sz="2200" dirty="0">
                <a:effectLst/>
                <a:latin typeface="AppleMyungjo" pitchFamily="2" charset="-127"/>
                <a:ea typeface="AppleMyungjo" pitchFamily="2" charset="-127"/>
              </a:rPr>
              <a:t>The memory system can be </a:t>
            </a:r>
            <a:r>
              <a:rPr lang="en-IN" sz="2200" b="1" dirty="0">
                <a:effectLst/>
                <a:latin typeface="AppleMyungjo" pitchFamily="2" charset="-127"/>
                <a:ea typeface="AppleMyungjo" pitchFamily="2" charset="-127"/>
              </a:rPr>
              <a:t>characterized </a:t>
            </a:r>
            <a:r>
              <a:rPr lang="en-IN" sz="2200" dirty="0">
                <a:effectLst/>
                <a:latin typeface="AppleMyungjo" pitchFamily="2" charset="-127"/>
                <a:ea typeface="AppleMyungjo" pitchFamily="2" charset="-127"/>
              </a:rPr>
              <a:t>with </a:t>
            </a:r>
          </a:p>
          <a:p>
            <a:pPr>
              <a:lnSpc>
                <a:spcPct val="150000"/>
              </a:lnSpc>
              <a:spcBef>
                <a:spcPts val="400"/>
              </a:spcBef>
            </a:pPr>
            <a:r>
              <a:rPr lang="en-IN" sz="2200" b="1" i="1" dirty="0">
                <a:effectLst/>
                <a:latin typeface="AppleMyungjo" pitchFamily="2" charset="-127"/>
                <a:ea typeface="AppleMyungjo" pitchFamily="2" charset="-127"/>
              </a:rPr>
              <a:t>Location: </a:t>
            </a:r>
            <a:r>
              <a:rPr lang="en-IN" sz="2200" dirty="0">
                <a:effectLst/>
                <a:latin typeface="AppleMyungjo" pitchFamily="2" charset="-127"/>
                <a:ea typeface="AppleMyungjo" pitchFamily="2" charset="-127"/>
              </a:rPr>
              <a:t>Where it can be located - Internal(Processor registers, cache, main memory)or External-(magnetic disks, tapes) . </a:t>
            </a:r>
          </a:p>
          <a:p>
            <a:pPr>
              <a:lnSpc>
                <a:spcPct val="150000"/>
              </a:lnSpc>
              <a:spcBef>
                <a:spcPts val="400"/>
              </a:spcBef>
            </a:pPr>
            <a:r>
              <a:rPr lang="en-IN" sz="2200" b="1" i="1" dirty="0">
                <a:effectLst/>
                <a:latin typeface="AppleMyungjo" pitchFamily="2" charset="-127"/>
                <a:ea typeface="AppleMyungjo" pitchFamily="2" charset="-127"/>
              </a:rPr>
              <a:t>Capacity: </a:t>
            </a:r>
            <a:r>
              <a:rPr lang="en-IN" sz="2200" dirty="0">
                <a:effectLst/>
                <a:latin typeface="AppleMyungjo" pitchFamily="2" charset="-127"/>
                <a:ea typeface="AppleMyungjo" pitchFamily="2" charset="-127"/>
              </a:rPr>
              <a:t>size in terms of bytes - KB, MB, GB, etc.. </a:t>
            </a:r>
          </a:p>
          <a:p>
            <a:pPr>
              <a:lnSpc>
                <a:spcPct val="150000"/>
              </a:lnSpc>
              <a:spcBef>
                <a:spcPts val="400"/>
              </a:spcBef>
            </a:pPr>
            <a:r>
              <a:rPr lang="en-IN" sz="2200" b="1" i="1" dirty="0">
                <a:effectLst/>
                <a:latin typeface="AppleMyungjo" pitchFamily="2" charset="-127"/>
                <a:ea typeface="AppleMyungjo" pitchFamily="2" charset="-127"/>
              </a:rPr>
              <a:t>Unit of transfer: </a:t>
            </a:r>
            <a:r>
              <a:rPr lang="en-IN" sz="2200" dirty="0">
                <a:effectLst/>
                <a:latin typeface="AppleMyungjo" pitchFamily="2" charset="-127"/>
                <a:ea typeface="AppleMyungjo" pitchFamily="2" charset="-127"/>
              </a:rPr>
              <a:t>How many bits can be moved like bytes, words, Blocks, etc.. </a:t>
            </a:r>
          </a:p>
          <a:p>
            <a:pPr>
              <a:lnSpc>
                <a:spcPct val="150000"/>
              </a:lnSpc>
              <a:spcBef>
                <a:spcPts val="400"/>
              </a:spcBef>
            </a:pPr>
            <a:r>
              <a:rPr lang="en-IN" sz="2200" b="1" i="1" dirty="0">
                <a:effectLst/>
                <a:latin typeface="AppleMyungjo" pitchFamily="2" charset="-127"/>
                <a:ea typeface="AppleMyungjo" pitchFamily="2" charset="-127"/>
              </a:rPr>
              <a:t>Access method: </a:t>
            </a:r>
            <a:r>
              <a:rPr lang="en-IN" sz="2200" dirty="0">
                <a:effectLst/>
                <a:latin typeface="AppleMyungjo" pitchFamily="2" charset="-127"/>
                <a:ea typeface="AppleMyungjo" pitchFamily="2" charset="-127"/>
              </a:rPr>
              <a:t>How you pick data - Sequential, Direct, Random, etc.. </a:t>
            </a:r>
          </a:p>
          <a:p>
            <a:pPr>
              <a:lnSpc>
                <a:spcPct val="150000"/>
              </a:lnSpc>
              <a:spcBef>
                <a:spcPts val="400"/>
              </a:spcBef>
            </a:pPr>
            <a:r>
              <a:rPr lang="en-IN" sz="2200" b="1" i="1" dirty="0">
                <a:effectLst/>
                <a:latin typeface="AppleMyungjo" pitchFamily="2" charset="-127"/>
                <a:ea typeface="AppleMyungjo" pitchFamily="2" charset="-127"/>
              </a:rPr>
              <a:t>Performance: </a:t>
            </a:r>
            <a:r>
              <a:rPr lang="en-IN" sz="2200" dirty="0">
                <a:latin typeface="AppleMyungjo" pitchFamily="2" charset="-127"/>
                <a:ea typeface="AppleMyungjo" pitchFamily="2" charset="-127"/>
              </a:rPr>
              <a:t>Access rate, </a:t>
            </a:r>
            <a:r>
              <a:rPr lang="en-IN" sz="2200" dirty="0">
                <a:effectLst/>
                <a:latin typeface="AppleMyungjo" pitchFamily="2" charset="-127"/>
                <a:ea typeface="AppleMyungjo" pitchFamily="2" charset="-127"/>
              </a:rPr>
              <a:t>Transfer rate in terms of bps </a:t>
            </a:r>
          </a:p>
          <a:p>
            <a:pPr>
              <a:lnSpc>
                <a:spcPct val="150000"/>
              </a:lnSpc>
              <a:spcBef>
                <a:spcPts val="400"/>
              </a:spcBef>
            </a:pPr>
            <a:r>
              <a:rPr lang="en-IN" sz="2200" b="1" i="1" dirty="0">
                <a:effectLst/>
                <a:latin typeface="AppleMyungjo" pitchFamily="2" charset="-127"/>
                <a:ea typeface="AppleMyungjo" pitchFamily="2" charset="-127"/>
              </a:rPr>
              <a:t>Physical type: </a:t>
            </a:r>
            <a:r>
              <a:rPr lang="en-IN" sz="2200" dirty="0">
                <a:effectLst/>
                <a:latin typeface="AppleMyungjo" pitchFamily="2" charset="-127"/>
                <a:ea typeface="AppleMyungjo" pitchFamily="2" charset="-127"/>
              </a:rPr>
              <a:t>Which material we are using like semiconductor, Magnetic, Optical, etc</a:t>
            </a:r>
            <a:r>
              <a:rPr lang="en-IN" sz="2200" dirty="0">
                <a:latin typeface="AppleMyungjo" pitchFamily="2" charset="-127"/>
                <a:ea typeface="AppleMyungjo" pitchFamily="2" charset="-127"/>
              </a:rPr>
              <a:t>..</a:t>
            </a:r>
            <a:endParaRPr lang="en-IN" sz="2200" dirty="0">
              <a:effectLst/>
              <a:latin typeface="AppleMyungjo" pitchFamily="2" charset="-127"/>
              <a:ea typeface="AppleMyungjo" pitchFamily="2" charset="-127"/>
            </a:endParaRPr>
          </a:p>
          <a:p>
            <a:pPr>
              <a:lnSpc>
                <a:spcPct val="150000"/>
              </a:lnSpc>
              <a:spcBef>
                <a:spcPts val="400"/>
              </a:spcBef>
            </a:pPr>
            <a:r>
              <a:rPr lang="en-IN" sz="2200" b="1" i="1" dirty="0">
                <a:effectLst/>
                <a:latin typeface="AppleMyungjo" pitchFamily="2" charset="-127"/>
                <a:ea typeface="AppleMyungjo" pitchFamily="2" charset="-127"/>
              </a:rPr>
              <a:t>Physical characteristics:</a:t>
            </a:r>
            <a:r>
              <a:rPr lang="en-IN" sz="2200" dirty="0">
                <a:effectLst/>
                <a:latin typeface="AppleMyungjo" pitchFamily="2" charset="-127"/>
                <a:ea typeface="AppleMyungjo" pitchFamily="2" charset="-127"/>
              </a:rPr>
              <a:t> power consumption, information loss, volatile/non-volatile etc.. </a:t>
            </a:r>
          </a:p>
          <a:p>
            <a:pPr>
              <a:lnSpc>
                <a:spcPct val="150000"/>
              </a:lnSpc>
              <a:spcBef>
                <a:spcPts val="400"/>
              </a:spcBef>
            </a:pPr>
            <a:r>
              <a:rPr lang="en-IN" sz="2200" b="1" i="1" dirty="0">
                <a:effectLst/>
                <a:latin typeface="AppleMyungjo" pitchFamily="2" charset="-127"/>
                <a:ea typeface="AppleMyungjo" pitchFamily="2" charset="-127"/>
              </a:rPr>
              <a:t>Organization: </a:t>
            </a:r>
            <a:r>
              <a:rPr lang="en-IN" sz="2200" dirty="0">
                <a:effectLst/>
                <a:latin typeface="AppleMyungjo" pitchFamily="2" charset="-127"/>
                <a:ea typeface="AppleMyungjo" pitchFamily="2" charset="-127"/>
              </a:rPr>
              <a:t>How it stored like continuous, interleaved, etc.. </a:t>
            </a:r>
          </a:p>
          <a:p>
            <a:pPr>
              <a:lnSpc>
                <a:spcPct val="150000"/>
              </a:lnSpc>
              <a:spcBef>
                <a:spcPts val="400"/>
              </a:spcBef>
            </a:pPr>
            <a:endParaRPr lang="en-US" sz="2000" dirty="0">
              <a:latin typeface="AppleMyungjo" pitchFamily="2" charset="-127"/>
              <a:ea typeface="AppleMyungjo" pitchFamily="2" charset="-127"/>
            </a:endParaRPr>
          </a:p>
        </p:txBody>
      </p:sp>
    </p:spTree>
    <p:extLst>
      <p:ext uri="{BB962C8B-B14F-4D97-AF65-F5344CB8AC3E}">
        <p14:creationId xmlns:p14="http://schemas.microsoft.com/office/powerpoint/2010/main" val="1235276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C0C0-58C8-F984-B6BB-695911770419}"/>
              </a:ext>
            </a:extLst>
          </p:cNvPr>
          <p:cNvSpPr>
            <a:spLocks noGrp="1"/>
          </p:cNvSpPr>
          <p:nvPr>
            <p:ph type="title"/>
          </p:nvPr>
        </p:nvSpPr>
        <p:spPr/>
        <p:txBody>
          <a:bodyPr/>
          <a:lstStyle/>
          <a:p>
            <a:pPr algn="ctr"/>
            <a:r>
              <a:rPr lang="en-US" sz="3200" dirty="0">
                <a:latin typeface="AppleMyungjo" pitchFamily="2" charset="-127"/>
                <a:ea typeface="AppleMyungjo" pitchFamily="2" charset="-127"/>
                <a:cs typeface="+mn-cs"/>
              </a:rPr>
              <a:t>Computer Memory</a:t>
            </a:r>
          </a:p>
        </p:txBody>
      </p:sp>
      <p:pic>
        <p:nvPicPr>
          <p:cNvPr id="2050" name="Picture 2" descr="memory in computer">
            <a:extLst>
              <a:ext uri="{FF2B5EF4-FFF2-40B4-BE49-F238E27FC236}">
                <a16:creationId xmlns:a16="http://schemas.microsoft.com/office/drawing/2014/main" id="{5D010FCB-42EA-5454-CF0D-AC5B5FBCE343}"/>
              </a:ext>
            </a:extLst>
          </p:cNvPr>
          <p:cNvPicPr>
            <a:picLocks noGrp="1" noChangeAspect="1" noChangeArrowheads="1"/>
          </p:cNvPicPr>
          <p:nvPr>
            <p:ph idx="1"/>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9373"/>
          <a:stretch/>
        </p:blipFill>
        <p:spPr bwMode="auto">
          <a:xfrm>
            <a:off x="1724890" y="1616634"/>
            <a:ext cx="8742219" cy="4502728"/>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644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603F2-D69B-3706-36B7-B66EA61D596C}"/>
              </a:ext>
            </a:extLst>
          </p:cNvPr>
          <p:cNvSpPr>
            <a:spLocks noGrp="1"/>
          </p:cNvSpPr>
          <p:nvPr>
            <p:ph type="title"/>
          </p:nvPr>
        </p:nvSpPr>
        <p:spPr>
          <a:xfrm>
            <a:off x="1143001" y="-694630"/>
            <a:ext cx="10515600" cy="1325563"/>
          </a:xfrm>
        </p:spPr>
        <p:txBody>
          <a:bodyPr>
            <a:normAutofit fontScale="90000"/>
          </a:bodyPr>
          <a:lstStyle/>
          <a:p>
            <a:pPr algn="ctr"/>
            <a:br>
              <a:rPr lang="en-IN" dirty="0">
                <a:effectLst/>
                <a:latin typeface="Arial" panose="020B0604020202020204" pitchFamily="34" charset="0"/>
              </a:rPr>
            </a:br>
            <a:br>
              <a:rPr lang="en-IN" dirty="0">
                <a:effectLst/>
                <a:latin typeface="Arial" panose="020B0604020202020204" pitchFamily="34" charset="0"/>
              </a:rPr>
            </a:br>
            <a:br>
              <a:rPr lang="en-IN" dirty="0">
                <a:effectLst/>
                <a:latin typeface="Arial" panose="020B0604020202020204" pitchFamily="34" charset="0"/>
              </a:rPr>
            </a:br>
            <a:br>
              <a:rPr lang="en-IN" sz="3600" dirty="0">
                <a:latin typeface="AppleMyungjo" pitchFamily="2" charset="-127"/>
                <a:ea typeface="AppleMyungjo" pitchFamily="2" charset="-127"/>
                <a:cs typeface="+mn-cs"/>
              </a:rPr>
            </a:br>
            <a:r>
              <a:rPr lang="en-IN" sz="3600" dirty="0">
                <a:latin typeface="AppleMyungjo" pitchFamily="2" charset="-127"/>
                <a:ea typeface="AppleMyungjo" pitchFamily="2" charset="-127"/>
                <a:cs typeface="+mn-cs"/>
              </a:rPr>
              <a:t>Memory Hierarchy </a:t>
            </a:r>
            <a:br>
              <a:rPr lang="en-IN" sz="3600" dirty="0">
                <a:latin typeface="AppleMyungjo" pitchFamily="2" charset="-127"/>
                <a:ea typeface="AppleMyungjo" pitchFamily="2" charset="-127"/>
                <a:cs typeface="+mn-cs"/>
              </a:rPr>
            </a:br>
            <a:endParaRPr lang="en-US" sz="3600" dirty="0">
              <a:latin typeface="AppleMyungjo" pitchFamily="2" charset="-127"/>
              <a:ea typeface="AppleMyungjo" pitchFamily="2" charset="-127"/>
              <a:cs typeface="+mn-cs"/>
            </a:endParaRPr>
          </a:p>
        </p:txBody>
      </p:sp>
      <p:sp>
        <p:nvSpPr>
          <p:cNvPr id="3" name="Content Placeholder 2">
            <a:extLst>
              <a:ext uri="{FF2B5EF4-FFF2-40B4-BE49-F238E27FC236}">
                <a16:creationId xmlns:a16="http://schemas.microsoft.com/office/drawing/2014/main" id="{9C8204C7-6CE8-DDC9-4189-913ECFEC0F60}"/>
              </a:ext>
            </a:extLst>
          </p:cNvPr>
          <p:cNvSpPr>
            <a:spLocks noGrp="1"/>
          </p:cNvSpPr>
          <p:nvPr>
            <p:ph idx="1"/>
          </p:nvPr>
        </p:nvSpPr>
        <p:spPr>
          <a:xfrm>
            <a:off x="631880" y="1129763"/>
            <a:ext cx="10729396" cy="4351338"/>
          </a:xfrm>
        </p:spPr>
        <p:txBody>
          <a:bodyPr>
            <a:normAutofit/>
          </a:bodyPr>
          <a:lstStyle/>
          <a:p>
            <a:pPr algn="just">
              <a:lnSpc>
                <a:spcPct val="100000"/>
              </a:lnSpc>
            </a:pPr>
            <a:r>
              <a:rPr lang="en-IN" sz="2000" dirty="0">
                <a:latin typeface="AppleMyungjo" pitchFamily="2" charset="-127"/>
                <a:ea typeface="AppleMyungjo" pitchFamily="2" charset="-127"/>
              </a:rPr>
              <a:t>Memory hierarchy consists of all storage devices employed in a computer system from the </a:t>
            </a:r>
            <a:r>
              <a:rPr lang="en-IN" sz="2000" b="1" dirty="0">
                <a:solidFill>
                  <a:srgbClr val="7030A0"/>
                </a:solidFill>
                <a:latin typeface="AppleMyungjo" pitchFamily="2" charset="-127"/>
                <a:ea typeface="AppleMyungjo" pitchFamily="2" charset="-127"/>
              </a:rPr>
              <a:t>slow but high capacity auxiliary memory </a:t>
            </a:r>
            <a:r>
              <a:rPr lang="en-IN" sz="2000" dirty="0">
                <a:latin typeface="AppleMyungjo" pitchFamily="2" charset="-127"/>
                <a:ea typeface="AppleMyungjo" pitchFamily="2" charset="-127"/>
              </a:rPr>
              <a:t>to a </a:t>
            </a:r>
            <a:r>
              <a:rPr lang="en-IN" sz="2000" b="1" dirty="0">
                <a:solidFill>
                  <a:srgbClr val="0070C0"/>
                </a:solidFill>
                <a:latin typeface="AppleMyungjo" pitchFamily="2" charset="-127"/>
                <a:ea typeface="AppleMyungjo" pitchFamily="2" charset="-127"/>
              </a:rPr>
              <a:t>relatively faster main memory</a:t>
            </a:r>
            <a:r>
              <a:rPr lang="en-IN" sz="2000" dirty="0">
                <a:latin typeface="AppleMyungjo" pitchFamily="2" charset="-127"/>
                <a:ea typeface="AppleMyungjo" pitchFamily="2" charset="-127"/>
              </a:rPr>
              <a:t>, to an even </a:t>
            </a:r>
            <a:r>
              <a:rPr lang="en-IN" sz="2000" b="1" dirty="0">
                <a:solidFill>
                  <a:schemeClr val="accent6">
                    <a:lumMod val="75000"/>
                  </a:schemeClr>
                </a:solidFill>
                <a:latin typeface="AppleMyungjo" pitchFamily="2" charset="-127"/>
                <a:ea typeface="AppleMyungjo" pitchFamily="2" charset="-127"/>
              </a:rPr>
              <a:t>smaller and faster cache memory </a:t>
            </a:r>
            <a:r>
              <a:rPr lang="en-IN" sz="2000" dirty="0">
                <a:latin typeface="AppleMyungjo" pitchFamily="2" charset="-127"/>
                <a:ea typeface="AppleMyungjo" pitchFamily="2" charset="-127"/>
              </a:rPr>
              <a:t>accessible to the high speed processing logic.</a:t>
            </a:r>
          </a:p>
        </p:txBody>
      </p:sp>
      <p:pic>
        <p:nvPicPr>
          <p:cNvPr id="4" name="Picture 3">
            <a:extLst>
              <a:ext uri="{FF2B5EF4-FFF2-40B4-BE49-F238E27FC236}">
                <a16:creationId xmlns:a16="http://schemas.microsoft.com/office/drawing/2014/main" id="{8290E2F6-264E-9CA0-0FCC-19C372ABC127}"/>
              </a:ext>
            </a:extLst>
          </p:cNvPr>
          <p:cNvPicPr>
            <a:picLocks noChangeAspect="1"/>
          </p:cNvPicPr>
          <p:nvPr/>
        </p:nvPicPr>
        <p:blipFill>
          <a:blip r:embed="rId2"/>
          <a:stretch>
            <a:fillRect/>
          </a:stretch>
        </p:blipFill>
        <p:spPr>
          <a:xfrm>
            <a:off x="486578" y="3147116"/>
            <a:ext cx="3860759" cy="3196588"/>
          </a:xfrm>
          <a:prstGeom prst="rect">
            <a:avLst/>
          </a:prstGeom>
        </p:spPr>
      </p:pic>
      <p:pic>
        <p:nvPicPr>
          <p:cNvPr id="1026" name="Picture 2">
            <a:extLst>
              <a:ext uri="{FF2B5EF4-FFF2-40B4-BE49-F238E27FC236}">
                <a16:creationId xmlns:a16="http://schemas.microsoft.com/office/drawing/2014/main" id="{0FFC68EA-5D10-BDD6-D661-8686A1DE9E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0030" y="2309462"/>
            <a:ext cx="3697712" cy="22390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tworks &amp; Communications: Memory Hierarchy">
            <a:extLst>
              <a:ext uri="{FF2B5EF4-FFF2-40B4-BE49-F238E27FC236}">
                <a16:creationId xmlns:a16="http://schemas.microsoft.com/office/drawing/2014/main" id="{85FC2AEE-D755-0C52-D81D-BDD3AD61C8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0436" y="3147116"/>
            <a:ext cx="3428165" cy="3196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839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982D1-5B49-597E-A6BB-130B2FC75803}"/>
              </a:ext>
            </a:extLst>
          </p:cNvPr>
          <p:cNvSpPr>
            <a:spLocks noGrp="1"/>
          </p:cNvSpPr>
          <p:nvPr>
            <p:ph type="title"/>
          </p:nvPr>
        </p:nvSpPr>
        <p:spPr>
          <a:xfrm>
            <a:off x="838200" y="130025"/>
            <a:ext cx="10515600" cy="1325563"/>
          </a:xfrm>
        </p:spPr>
        <p:txBody>
          <a:bodyPr>
            <a:normAutofit/>
          </a:bodyPr>
          <a:lstStyle/>
          <a:p>
            <a:pPr algn="ctr"/>
            <a:r>
              <a:rPr lang="en-IN" sz="3600" dirty="0">
                <a:latin typeface="AppleMyungjo" pitchFamily="2" charset="-127"/>
                <a:ea typeface="AppleMyungjo" pitchFamily="2" charset="-127"/>
                <a:cs typeface="+mn-cs"/>
              </a:rPr>
              <a:t>Memory Hierarchy </a:t>
            </a:r>
            <a:endParaRPr lang="en-US" sz="3600" dirty="0"/>
          </a:p>
        </p:txBody>
      </p:sp>
      <p:grpSp>
        <p:nvGrpSpPr>
          <p:cNvPr id="4" name="Group 3">
            <a:extLst>
              <a:ext uri="{FF2B5EF4-FFF2-40B4-BE49-F238E27FC236}">
                <a16:creationId xmlns:a16="http://schemas.microsoft.com/office/drawing/2014/main" id="{640E5995-659F-05F0-F812-C330D581FE26}"/>
              </a:ext>
            </a:extLst>
          </p:cNvPr>
          <p:cNvGrpSpPr/>
          <p:nvPr/>
        </p:nvGrpSpPr>
        <p:grpSpPr>
          <a:xfrm>
            <a:off x="2838966" y="1249363"/>
            <a:ext cx="5343525" cy="4784725"/>
            <a:chOff x="2628901" y="1706563"/>
            <a:chExt cx="5343525" cy="4784725"/>
          </a:xfrm>
        </p:grpSpPr>
        <p:sp>
          <p:nvSpPr>
            <p:cNvPr id="5" name="Rectangle 3">
              <a:extLst>
                <a:ext uri="{FF2B5EF4-FFF2-40B4-BE49-F238E27FC236}">
                  <a16:creationId xmlns:a16="http://schemas.microsoft.com/office/drawing/2014/main" id="{E6B035A5-5BD8-ABA3-2853-93AFBA6B57C3}"/>
                </a:ext>
              </a:extLst>
            </p:cNvPr>
            <p:cNvSpPr>
              <a:spLocks noChangeArrowheads="1"/>
            </p:cNvSpPr>
            <p:nvPr/>
          </p:nvSpPr>
          <p:spPr bwMode="auto">
            <a:xfrm>
              <a:off x="2927350" y="1917701"/>
              <a:ext cx="804708" cy="422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dirty="0">
                  <a:solidFill>
                    <a:srgbClr val="000000"/>
                  </a:solidFill>
                  <a:latin typeface="Arial" panose="020B0604020202020204" pitchFamily="34" charset="0"/>
                </a:rPr>
                <a:t>Magnetic</a:t>
              </a:r>
            </a:p>
            <a:p>
              <a:pPr eaLnBrk="1" latinLnBrk="0">
                <a:lnSpc>
                  <a:spcPct val="90000"/>
                </a:lnSpc>
              </a:pPr>
              <a:endParaRPr lang="en-US" altLang="ko-KR" sz="1200" dirty="0">
                <a:solidFill>
                  <a:srgbClr val="000000"/>
                </a:solidFill>
                <a:latin typeface="Arial" panose="020B0604020202020204" pitchFamily="34" charset="0"/>
              </a:endParaRPr>
            </a:p>
          </p:txBody>
        </p:sp>
        <p:sp>
          <p:nvSpPr>
            <p:cNvPr id="6" name="Rectangle 4">
              <a:extLst>
                <a:ext uri="{FF2B5EF4-FFF2-40B4-BE49-F238E27FC236}">
                  <a16:creationId xmlns:a16="http://schemas.microsoft.com/office/drawing/2014/main" id="{F36A631C-4C82-1C22-8E91-FF991B70360D}"/>
                </a:ext>
              </a:extLst>
            </p:cNvPr>
            <p:cNvSpPr>
              <a:spLocks noChangeArrowheads="1"/>
            </p:cNvSpPr>
            <p:nvPr/>
          </p:nvSpPr>
          <p:spPr bwMode="auto">
            <a:xfrm>
              <a:off x="3074988" y="2081213"/>
              <a:ext cx="57785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tapes</a:t>
              </a:r>
            </a:p>
          </p:txBody>
        </p:sp>
        <p:sp>
          <p:nvSpPr>
            <p:cNvPr id="7" name="Rectangle 5">
              <a:extLst>
                <a:ext uri="{FF2B5EF4-FFF2-40B4-BE49-F238E27FC236}">
                  <a16:creationId xmlns:a16="http://schemas.microsoft.com/office/drawing/2014/main" id="{A8FE4A6B-8338-EF59-6B27-500E1446E090}"/>
                </a:ext>
              </a:extLst>
            </p:cNvPr>
            <p:cNvSpPr>
              <a:spLocks noChangeArrowheads="1"/>
            </p:cNvSpPr>
            <p:nvPr/>
          </p:nvSpPr>
          <p:spPr bwMode="auto">
            <a:xfrm>
              <a:off x="2928938" y="2417764"/>
              <a:ext cx="804708" cy="422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Magnetic</a:t>
              </a:r>
            </a:p>
            <a:p>
              <a:pPr eaLnBrk="1" latinLnBrk="0">
                <a:lnSpc>
                  <a:spcPct val="90000"/>
                </a:lnSpc>
              </a:pPr>
              <a:endParaRPr lang="en-US" altLang="ko-KR" sz="1200">
                <a:solidFill>
                  <a:srgbClr val="000000"/>
                </a:solidFill>
                <a:latin typeface="Arial" panose="020B0604020202020204" pitchFamily="34" charset="0"/>
              </a:endParaRPr>
            </a:p>
          </p:txBody>
        </p:sp>
        <p:sp>
          <p:nvSpPr>
            <p:cNvPr id="8" name="Rectangle 6">
              <a:extLst>
                <a:ext uri="{FF2B5EF4-FFF2-40B4-BE49-F238E27FC236}">
                  <a16:creationId xmlns:a16="http://schemas.microsoft.com/office/drawing/2014/main" id="{0D2CE864-0385-49AA-F2BB-2EB6EE4FB192}"/>
                </a:ext>
              </a:extLst>
            </p:cNvPr>
            <p:cNvSpPr>
              <a:spLocks noChangeArrowheads="1"/>
            </p:cNvSpPr>
            <p:nvPr/>
          </p:nvSpPr>
          <p:spPr bwMode="auto">
            <a:xfrm>
              <a:off x="3101975" y="2571750"/>
              <a:ext cx="532198" cy="255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disks</a:t>
              </a:r>
            </a:p>
          </p:txBody>
        </p:sp>
        <p:sp>
          <p:nvSpPr>
            <p:cNvPr id="9" name="Rectangle 7">
              <a:extLst>
                <a:ext uri="{FF2B5EF4-FFF2-40B4-BE49-F238E27FC236}">
                  <a16:creationId xmlns:a16="http://schemas.microsoft.com/office/drawing/2014/main" id="{C32EC9AC-14B0-56FE-29A6-4890D8B81C9C}"/>
                </a:ext>
              </a:extLst>
            </p:cNvPr>
            <p:cNvSpPr>
              <a:spLocks noChangeArrowheads="1"/>
            </p:cNvSpPr>
            <p:nvPr/>
          </p:nvSpPr>
          <p:spPr bwMode="auto">
            <a:xfrm>
              <a:off x="5148264" y="2071689"/>
              <a:ext cx="389531" cy="422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I/O</a:t>
              </a:r>
            </a:p>
            <a:p>
              <a:pPr eaLnBrk="1" latinLnBrk="0">
                <a:lnSpc>
                  <a:spcPct val="90000"/>
                </a:lnSpc>
              </a:pPr>
              <a:endParaRPr lang="en-US" altLang="ko-KR" sz="1200">
                <a:solidFill>
                  <a:srgbClr val="000000"/>
                </a:solidFill>
                <a:latin typeface="Arial" panose="020B0604020202020204" pitchFamily="34" charset="0"/>
              </a:endParaRPr>
            </a:p>
          </p:txBody>
        </p:sp>
        <p:sp>
          <p:nvSpPr>
            <p:cNvPr id="10" name="Rectangle 8">
              <a:extLst>
                <a:ext uri="{FF2B5EF4-FFF2-40B4-BE49-F238E27FC236}">
                  <a16:creationId xmlns:a16="http://schemas.microsoft.com/office/drawing/2014/main" id="{48C5323F-C749-2F5D-537A-B7389B5A3CE2}"/>
                </a:ext>
              </a:extLst>
            </p:cNvPr>
            <p:cNvSpPr>
              <a:spLocks noChangeArrowheads="1"/>
            </p:cNvSpPr>
            <p:nvPr/>
          </p:nvSpPr>
          <p:spPr bwMode="auto">
            <a:xfrm>
              <a:off x="4835526" y="2235200"/>
              <a:ext cx="856005" cy="255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processor</a:t>
              </a:r>
            </a:p>
          </p:txBody>
        </p:sp>
        <p:sp>
          <p:nvSpPr>
            <p:cNvPr id="11" name="Rectangle 9">
              <a:extLst>
                <a:ext uri="{FF2B5EF4-FFF2-40B4-BE49-F238E27FC236}">
                  <a16:creationId xmlns:a16="http://schemas.microsoft.com/office/drawing/2014/main" id="{FF6D0727-112D-4DF7-19ED-212EECD6AD2A}"/>
                </a:ext>
              </a:extLst>
            </p:cNvPr>
            <p:cNvSpPr>
              <a:spLocks noChangeArrowheads="1"/>
            </p:cNvSpPr>
            <p:nvPr/>
          </p:nvSpPr>
          <p:spPr bwMode="auto">
            <a:xfrm>
              <a:off x="5016500" y="3022600"/>
              <a:ext cx="506550" cy="255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CPU</a:t>
              </a:r>
            </a:p>
          </p:txBody>
        </p:sp>
        <p:sp>
          <p:nvSpPr>
            <p:cNvPr id="12" name="Rectangle 10">
              <a:extLst>
                <a:ext uri="{FF2B5EF4-FFF2-40B4-BE49-F238E27FC236}">
                  <a16:creationId xmlns:a16="http://schemas.microsoft.com/office/drawing/2014/main" id="{FE90C9D3-5CF8-8DD6-CFB5-EB2FC9D5227E}"/>
                </a:ext>
              </a:extLst>
            </p:cNvPr>
            <p:cNvSpPr>
              <a:spLocks noChangeArrowheads="1"/>
            </p:cNvSpPr>
            <p:nvPr/>
          </p:nvSpPr>
          <p:spPr bwMode="auto">
            <a:xfrm>
              <a:off x="7124700" y="2071688"/>
              <a:ext cx="528638"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Main</a:t>
              </a:r>
            </a:p>
            <a:p>
              <a:pPr eaLnBrk="1" latinLnBrk="0">
                <a:lnSpc>
                  <a:spcPct val="90000"/>
                </a:lnSpc>
              </a:pPr>
              <a:endParaRPr lang="en-US" altLang="ko-KR" sz="1200">
                <a:solidFill>
                  <a:srgbClr val="000000"/>
                </a:solidFill>
                <a:latin typeface="Arial" panose="020B0604020202020204" pitchFamily="34" charset="0"/>
              </a:endParaRPr>
            </a:p>
          </p:txBody>
        </p:sp>
        <p:sp>
          <p:nvSpPr>
            <p:cNvPr id="13" name="Rectangle 11">
              <a:extLst>
                <a:ext uri="{FF2B5EF4-FFF2-40B4-BE49-F238E27FC236}">
                  <a16:creationId xmlns:a16="http://schemas.microsoft.com/office/drawing/2014/main" id="{0DEE7E5D-6FEE-CA19-8451-D33694E3B88B}"/>
                </a:ext>
              </a:extLst>
            </p:cNvPr>
            <p:cNvSpPr>
              <a:spLocks noChangeArrowheads="1"/>
            </p:cNvSpPr>
            <p:nvPr/>
          </p:nvSpPr>
          <p:spPr bwMode="auto">
            <a:xfrm>
              <a:off x="7034213" y="2225675"/>
              <a:ext cx="737382" cy="255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memory</a:t>
              </a:r>
            </a:p>
          </p:txBody>
        </p:sp>
        <p:sp>
          <p:nvSpPr>
            <p:cNvPr id="14" name="Rectangle 12">
              <a:extLst>
                <a:ext uri="{FF2B5EF4-FFF2-40B4-BE49-F238E27FC236}">
                  <a16:creationId xmlns:a16="http://schemas.microsoft.com/office/drawing/2014/main" id="{3191718A-8CF8-7765-F525-D3665E3989AA}"/>
                </a:ext>
              </a:extLst>
            </p:cNvPr>
            <p:cNvSpPr>
              <a:spLocks noChangeArrowheads="1"/>
            </p:cNvSpPr>
            <p:nvPr/>
          </p:nvSpPr>
          <p:spPr bwMode="auto">
            <a:xfrm>
              <a:off x="7102475" y="2986088"/>
              <a:ext cx="636588"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Cache</a:t>
              </a:r>
            </a:p>
            <a:p>
              <a:pPr eaLnBrk="1" latinLnBrk="0">
                <a:lnSpc>
                  <a:spcPct val="90000"/>
                </a:lnSpc>
              </a:pPr>
              <a:endParaRPr lang="en-US" altLang="ko-KR" sz="1200">
                <a:solidFill>
                  <a:srgbClr val="000000"/>
                </a:solidFill>
                <a:latin typeface="Arial" panose="020B0604020202020204" pitchFamily="34" charset="0"/>
              </a:endParaRPr>
            </a:p>
          </p:txBody>
        </p:sp>
        <p:sp>
          <p:nvSpPr>
            <p:cNvPr id="15" name="Rectangle 13">
              <a:extLst>
                <a:ext uri="{FF2B5EF4-FFF2-40B4-BE49-F238E27FC236}">
                  <a16:creationId xmlns:a16="http://schemas.microsoft.com/office/drawing/2014/main" id="{2C5BA598-0696-9A2B-3CE8-405E638289A2}"/>
                </a:ext>
              </a:extLst>
            </p:cNvPr>
            <p:cNvSpPr>
              <a:spLocks noChangeArrowheads="1"/>
            </p:cNvSpPr>
            <p:nvPr/>
          </p:nvSpPr>
          <p:spPr bwMode="auto">
            <a:xfrm>
              <a:off x="7043738" y="3128963"/>
              <a:ext cx="737382" cy="255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memory</a:t>
              </a:r>
            </a:p>
          </p:txBody>
        </p:sp>
        <p:sp>
          <p:nvSpPr>
            <p:cNvPr id="16" name="Rectangle 14">
              <a:extLst>
                <a:ext uri="{FF2B5EF4-FFF2-40B4-BE49-F238E27FC236}">
                  <a16:creationId xmlns:a16="http://schemas.microsoft.com/office/drawing/2014/main" id="{E1CC10FC-7F23-3879-60C3-19E99BA16FF7}"/>
                </a:ext>
              </a:extLst>
            </p:cNvPr>
            <p:cNvSpPr>
              <a:spLocks noChangeArrowheads="1"/>
            </p:cNvSpPr>
            <p:nvPr/>
          </p:nvSpPr>
          <p:spPr bwMode="auto">
            <a:xfrm>
              <a:off x="2628901" y="1706563"/>
              <a:ext cx="1359347" cy="255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Auxiliary memory</a:t>
              </a:r>
            </a:p>
          </p:txBody>
        </p:sp>
        <p:sp>
          <p:nvSpPr>
            <p:cNvPr id="17" name="Rectangle 15">
              <a:extLst>
                <a:ext uri="{FF2B5EF4-FFF2-40B4-BE49-F238E27FC236}">
                  <a16:creationId xmlns:a16="http://schemas.microsoft.com/office/drawing/2014/main" id="{CC99AF30-BDCC-87EE-36EE-9120B975458C}"/>
                </a:ext>
              </a:extLst>
            </p:cNvPr>
            <p:cNvSpPr>
              <a:spLocks noChangeArrowheads="1"/>
            </p:cNvSpPr>
            <p:nvPr/>
          </p:nvSpPr>
          <p:spPr bwMode="auto">
            <a:xfrm>
              <a:off x="2811464" y="1920876"/>
              <a:ext cx="1150937" cy="365125"/>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16">
              <a:extLst>
                <a:ext uri="{FF2B5EF4-FFF2-40B4-BE49-F238E27FC236}">
                  <a16:creationId xmlns:a16="http://schemas.microsoft.com/office/drawing/2014/main" id="{66FA560F-60EA-B0AA-54D6-F7299781CED4}"/>
                </a:ext>
              </a:extLst>
            </p:cNvPr>
            <p:cNvSpPr>
              <a:spLocks noChangeArrowheads="1"/>
            </p:cNvSpPr>
            <p:nvPr/>
          </p:nvSpPr>
          <p:spPr bwMode="auto">
            <a:xfrm>
              <a:off x="2811464" y="2420938"/>
              <a:ext cx="1150937" cy="35560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Rectangle 17">
              <a:extLst>
                <a:ext uri="{FF2B5EF4-FFF2-40B4-BE49-F238E27FC236}">
                  <a16:creationId xmlns:a16="http://schemas.microsoft.com/office/drawing/2014/main" id="{29F24275-AFAC-56EE-7773-28580084F626}"/>
                </a:ext>
              </a:extLst>
            </p:cNvPr>
            <p:cNvSpPr>
              <a:spLocks noChangeArrowheads="1"/>
            </p:cNvSpPr>
            <p:nvPr/>
          </p:nvSpPr>
          <p:spPr bwMode="auto">
            <a:xfrm>
              <a:off x="4768850" y="1949450"/>
              <a:ext cx="1150938" cy="63500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Rectangle 18">
              <a:extLst>
                <a:ext uri="{FF2B5EF4-FFF2-40B4-BE49-F238E27FC236}">
                  <a16:creationId xmlns:a16="http://schemas.microsoft.com/office/drawing/2014/main" id="{EB4F5645-9A37-E3F9-B1FD-5409558546BD}"/>
                </a:ext>
              </a:extLst>
            </p:cNvPr>
            <p:cNvSpPr>
              <a:spLocks noChangeArrowheads="1"/>
            </p:cNvSpPr>
            <p:nvPr/>
          </p:nvSpPr>
          <p:spPr bwMode="auto">
            <a:xfrm>
              <a:off x="4768850" y="2765426"/>
              <a:ext cx="1150938" cy="644525"/>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Arc 19">
              <a:extLst>
                <a:ext uri="{FF2B5EF4-FFF2-40B4-BE49-F238E27FC236}">
                  <a16:creationId xmlns:a16="http://schemas.microsoft.com/office/drawing/2014/main" id="{2A9A02C8-CA7B-E278-451C-0573833ECE55}"/>
                </a:ext>
              </a:extLst>
            </p:cNvPr>
            <p:cNvSpPr>
              <a:spLocks/>
            </p:cNvSpPr>
            <p:nvPr/>
          </p:nvSpPr>
          <p:spPr bwMode="auto">
            <a:xfrm>
              <a:off x="4630738" y="2149475"/>
              <a:ext cx="133350" cy="71438"/>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0" y="5733"/>
                    <a:pt x="630" y="2754"/>
                    <a:pt x="1849" y="-1"/>
                  </a:cubicBezTo>
                </a:path>
                <a:path w="21600" h="17255" stroke="0" extrusionOk="0">
                  <a:moveTo>
                    <a:pt x="1746" y="17254"/>
                  </a:moveTo>
                  <a:cubicBezTo>
                    <a:pt x="594" y="14566"/>
                    <a:pt x="0" y="11671"/>
                    <a:pt x="0" y="8746"/>
                  </a:cubicBezTo>
                  <a:cubicBezTo>
                    <a:pt x="0" y="5733"/>
                    <a:pt x="630" y="2754"/>
                    <a:pt x="1849" y="-1"/>
                  </a:cubicBezTo>
                  <a:lnTo>
                    <a:pt x="21600" y="8746"/>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Arc 20">
              <a:extLst>
                <a:ext uri="{FF2B5EF4-FFF2-40B4-BE49-F238E27FC236}">
                  <a16:creationId xmlns:a16="http://schemas.microsoft.com/office/drawing/2014/main" id="{7B97ACD1-908A-CDEE-420D-4F50814F406C}"/>
                </a:ext>
              </a:extLst>
            </p:cNvPr>
            <p:cNvSpPr>
              <a:spLocks/>
            </p:cNvSpPr>
            <p:nvPr/>
          </p:nvSpPr>
          <p:spPr bwMode="auto">
            <a:xfrm>
              <a:off x="3984626" y="2149475"/>
              <a:ext cx="131763" cy="71438"/>
            </a:xfrm>
            <a:custGeom>
              <a:avLst/>
              <a:gdLst>
                <a:gd name="G0" fmla="+- 0 0 0"/>
                <a:gd name="G1" fmla="+- 8852 0 0"/>
                <a:gd name="G2" fmla="+- 21600 0 0"/>
                <a:gd name="T0" fmla="*/ 19703 w 21600"/>
                <a:gd name="T1" fmla="*/ 0 h 17464"/>
                <a:gd name="T2" fmla="*/ 19809 w 21600"/>
                <a:gd name="T3" fmla="*/ 17464 h 17464"/>
                <a:gd name="T4" fmla="*/ 0 w 21600"/>
                <a:gd name="T5" fmla="*/ 8852 h 17464"/>
              </a:gdLst>
              <a:ahLst/>
              <a:cxnLst>
                <a:cxn ang="0">
                  <a:pos x="T0" y="T1"/>
                </a:cxn>
                <a:cxn ang="0">
                  <a:pos x="T2" y="T3"/>
                </a:cxn>
                <a:cxn ang="0">
                  <a:pos x="T4" y="T5"/>
                </a:cxn>
              </a:cxnLst>
              <a:rect l="0" t="0" r="r" b="b"/>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1">
              <a:extLst>
                <a:ext uri="{FF2B5EF4-FFF2-40B4-BE49-F238E27FC236}">
                  <a16:creationId xmlns:a16="http://schemas.microsoft.com/office/drawing/2014/main" id="{5FE3408C-993B-CC6F-B077-FFF3334F5299}"/>
                </a:ext>
              </a:extLst>
            </p:cNvPr>
            <p:cNvSpPr>
              <a:spLocks noChangeShapeType="1"/>
            </p:cNvSpPr>
            <p:nvPr/>
          </p:nvSpPr>
          <p:spPr bwMode="auto">
            <a:xfrm>
              <a:off x="4097339" y="2182813"/>
              <a:ext cx="568325"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Arc 22">
              <a:extLst>
                <a:ext uri="{FF2B5EF4-FFF2-40B4-BE49-F238E27FC236}">
                  <a16:creationId xmlns:a16="http://schemas.microsoft.com/office/drawing/2014/main" id="{B37F0C4D-1BD5-B9FC-CEEC-49E2EAC2F9A6}"/>
                </a:ext>
              </a:extLst>
            </p:cNvPr>
            <p:cNvSpPr>
              <a:spLocks/>
            </p:cNvSpPr>
            <p:nvPr/>
          </p:nvSpPr>
          <p:spPr bwMode="auto">
            <a:xfrm>
              <a:off x="4630738" y="2474913"/>
              <a:ext cx="133350" cy="74612"/>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0" y="5733"/>
                    <a:pt x="630" y="2754"/>
                    <a:pt x="1849" y="-1"/>
                  </a:cubicBezTo>
                </a:path>
                <a:path w="21600" h="17255" stroke="0" extrusionOk="0">
                  <a:moveTo>
                    <a:pt x="1746" y="17254"/>
                  </a:moveTo>
                  <a:cubicBezTo>
                    <a:pt x="594" y="14566"/>
                    <a:pt x="0" y="11671"/>
                    <a:pt x="0" y="8746"/>
                  </a:cubicBezTo>
                  <a:cubicBezTo>
                    <a:pt x="0" y="5733"/>
                    <a:pt x="630" y="2754"/>
                    <a:pt x="1849" y="-1"/>
                  </a:cubicBezTo>
                  <a:lnTo>
                    <a:pt x="21600" y="8746"/>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Arc 23">
              <a:extLst>
                <a:ext uri="{FF2B5EF4-FFF2-40B4-BE49-F238E27FC236}">
                  <a16:creationId xmlns:a16="http://schemas.microsoft.com/office/drawing/2014/main" id="{F0D441AA-5D8F-9B8C-985C-B0B2E9CD7691}"/>
                </a:ext>
              </a:extLst>
            </p:cNvPr>
            <p:cNvSpPr>
              <a:spLocks/>
            </p:cNvSpPr>
            <p:nvPr/>
          </p:nvSpPr>
          <p:spPr bwMode="auto">
            <a:xfrm>
              <a:off x="3984626" y="2474913"/>
              <a:ext cx="131763" cy="74612"/>
            </a:xfrm>
            <a:custGeom>
              <a:avLst/>
              <a:gdLst>
                <a:gd name="G0" fmla="+- 0 0 0"/>
                <a:gd name="G1" fmla="+- 8852 0 0"/>
                <a:gd name="G2" fmla="+- 21600 0 0"/>
                <a:gd name="T0" fmla="*/ 19703 w 21600"/>
                <a:gd name="T1" fmla="*/ 0 h 17464"/>
                <a:gd name="T2" fmla="*/ 19809 w 21600"/>
                <a:gd name="T3" fmla="*/ 17464 h 17464"/>
                <a:gd name="T4" fmla="*/ 0 w 21600"/>
                <a:gd name="T5" fmla="*/ 8852 h 17464"/>
              </a:gdLst>
              <a:ahLst/>
              <a:cxnLst>
                <a:cxn ang="0">
                  <a:pos x="T0" y="T1"/>
                </a:cxn>
                <a:cxn ang="0">
                  <a:pos x="T2" y="T3"/>
                </a:cxn>
                <a:cxn ang="0">
                  <a:pos x="T4" y="T5"/>
                </a:cxn>
              </a:cxnLst>
              <a:rect l="0" t="0" r="r" b="b"/>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Line 24">
              <a:extLst>
                <a:ext uri="{FF2B5EF4-FFF2-40B4-BE49-F238E27FC236}">
                  <a16:creationId xmlns:a16="http://schemas.microsoft.com/office/drawing/2014/main" id="{3CC46599-C1CD-6379-4796-960C1E17F360}"/>
                </a:ext>
              </a:extLst>
            </p:cNvPr>
            <p:cNvSpPr>
              <a:spLocks noChangeShapeType="1"/>
            </p:cNvSpPr>
            <p:nvPr/>
          </p:nvSpPr>
          <p:spPr bwMode="auto">
            <a:xfrm>
              <a:off x="4087813" y="2509838"/>
              <a:ext cx="582612"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Rectangle 25">
              <a:extLst>
                <a:ext uri="{FF2B5EF4-FFF2-40B4-BE49-F238E27FC236}">
                  <a16:creationId xmlns:a16="http://schemas.microsoft.com/office/drawing/2014/main" id="{8464FB4F-85D2-729F-CA53-3F01E9EC1177}"/>
                </a:ext>
              </a:extLst>
            </p:cNvPr>
            <p:cNvSpPr>
              <a:spLocks noChangeArrowheads="1"/>
            </p:cNvSpPr>
            <p:nvPr/>
          </p:nvSpPr>
          <p:spPr bwMode="auto">
            <a:xfrm>
              <a:off x="6889751" y="1949450"/>
              <a:ext cx="1082675" cy="63500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Rectangle 26">
              <a:extLst>
                <a:ext uri="{FF2B5EF4-FFF2-40B4-BE49-F238E27FC236}">
                  <a16:creationId xmlns:a16="http://schemas.microsoft.com/office/drawing/2014/main" id="{4528CBA9-685B-771B-7292-B6943B777664}"/>
                </a:ext>
              </a:extLst>
            </p:cNvPr>
            <p:cNvSpPr>
              <a:spLocks noChangeArrowheads="1"/>
            </p:cNvSpPr>
            <p:nvPr/>
          </p:nvSpPr>
          <p:spPr bwMode="auto">
            <a:xfrm>
              <a:off x="7056439" y="2986088"/>
              <a:ext cx="765175" cy="366712"/>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Arc 27">
              <a:extLst>
                <a:ext uri="{FF2B5EF4-FFF2-40B4-BE49-F238E27FC236}">
                  <a16:creationId xmlns:a16="http://schemas.microsoft.com/office/drawing/2014/main" id="{28737485-E26B-15CE-D3E9-1CC344377FA6}"/>
                </a:ext>
              </a:extLst>
            </p:cNvPr>
            <p:cNvSpPr>
              <a:spLocks/>
            </p:cNvSpPr>
            <p:nvPr/>
          </p:nvSpPr>
          <p:spPr bwMode="auto">
            <a:xfrm>
              <a:off x="6753226" y="2120901"/>
              <a:ext cx="131763" cy="73025"/>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0" y="5733"/>
                    <a:pt x="630" y="2754"/>
                    <a:pt x="1849" y="-1"/>
                  </a:cubicBezTo>
                </a:path>
                <a:path w="21600" h="17255" stroke="0" extrusionOk="0">
                  <a:moveTo>
                    <a:pt x="1746" y="17254"/>
                  </a:moveTo>
                  <a:cubicBezTo>
                    <a:pt x="594" y="14566"/>
                    <a:pt x="0" y="11671"/>
                    <a:pt x="0" y="8746"/>
                  </a:cubicBezTo>
                  <a:cubicBezTo>
                    <a:pt x="0" y="5733"/>
                    <a:pt x="630" y="2754"/>
                    <a:pt x="1849" y="-1"/>
                  </a:cubicBezTo>
                  <a:lnTo>
                    <a:pt x="21600" y="8746"/>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Arc 28">
              <a:extLst>
                <a:ext uri="{FF2B5EF4-FFF2-40B4-BE49-F238E27FC236}">
                  <a16:creationId xmlns:a16="http://schemas.microsoft.com/office/drawing/2014/main" id="{A1FCDDCD-45AF-20F0-26BD-B846DE6F9132}"/>
                </a:ext>
              </a:extLst>
            </p:cNvPr>
            <p:cNvSpPr>
              <a:spLocks/>
            </p:cNvSpPr>
            <p:nvPr/>
          </p:nvSpPr>
          <p:spPr bwMode="auto">
            <a:xfrm>
              <a:off x="5940426" y="2120901"/>
              <a:ext cx="131763" cy="73025"/>
            </a:xfrm>
            <a:custGeom>
              <a:avLst/>
              <a:gdLst>
                <a:gd name="G0" fmla="+- 0 0 0"/>
                <a:gd name="G1" fmla="+- 8852 0 0"/>
                <a:gd name="G2" fmla="+- 21600 0 0"/>
                <a:gd name="T0" fmla="*/ 19703 w 21600"/>
                <a:gd name="T1" fmla="*/ 0 h 17464"/>
                <a:gd name="T2" fmla="*/ 19809 w 21600"/>
                <a:gd name="T3" fmla="*/ 17464 h 17464"/>
                <a:gd name="T4" fmla="*/ 0 w 21600"/>
                <a:gd name="T5" fmla="*/ 8852 h 17464"/>
              </a:gdLst>
              <a:ahLst/>
              <a:cxnLst>
                <a:cxn ang="0">
                  <a:pos x="T0" y="T1"/>
                </a:cxn>
                <a:cxn ang="0">
                  <a:pos x="T2" y="T3"/>
                </a:cxn>
                <a:cxn ang="0">
                  <a:pos x="T4" y="T5"/>
                </a:cxn>
              </a:cxnLst>
              <a:rect l="0" t="0" r="r" b="b"/>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29">
              <a:extLst>
                <a:ext uri="{FF2B5EF4-FFF2-40B4-BE49-F238E27FC236}">
                  <a16:creationId xmlns:a16="http://schemas.microsoft.com/office/drawing/2014/main" id="{C749A620-6681-89D4-A601-7A79C561CEB0}"/>
                </a:ext>
              </a:extLst>
            </p:cNvPr>
            <p:cNvSpPr>
              <a:spLocks noChangeShapeType="1"/>
            </p:cNvSpPr>
            <p:nvPr/>
          </p:nvSpPr>
          <p:spPr bwMode="auto">
            <a:xfrm>
              <a:off x="6057900" y="2155825"/>
              <a:ext cx="69373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Arc 30">
              <a:extLst>
                <a:ext uri="{FF2B5EF4-FFF2-40B4-BE49-F238E27FC236}">
                  <a16:creationId xmlns:a16="http://schemas.microsoft.com/office/drawing/2014/main" id="{12CD74AA-DB65-D3A0-CB61-F667C227DC77}"/>
                </a:ext>
              </a:extLst>
            </p:cNvPr>
            <p:cNvSpPr>
              <a:spLocks/>
            </p:cNvSpPr>
            <p:nvPr/>
          </p:nvSpPr>
          <p:spPr bwMode="auto">
            <a:xfrm>
              <a:off x="6748463" y="2400301"/>
              <a:ext cx="131762" cy="73025"/>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0" y="5733"/>
                    <a:pt x="630" y="2754"/>
                    <a:pt x="1849" y="-1"/>
                  </a:cubicBezTo>
                </a:path>
                <a:path w="21600" h="17255" stroke="0" extrusionOk="0">
                  <a:moveTo>
                    <a:pt x="1746" y="17254"/>
                  </a:moveTo>
                  <a:cubicBezTo>
                    <a:pt x="594" y="14566"/>
                    <a:pt x="0" y="11671"/>
                    <a:pt x="0" y="8746"/>
                  </a:cubicBezTo>
                  <a:cubicBezTo>
                    <a:pt x="0" y="5733"/>
                    <a:pt x="630" y="2754"/>
                    <a:pt x="1849" y="-1"/>
                  </a:cubicBezTo>
                  <a:lnTo>
                    <a:pt x="21600" y="8746"/>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31">
              <a:extLst>
                <a:ext uri="{FF2B5EF4-FFF2-40B4-BE49-F238E27FC236}">
                  <a16:creationId xmlns:a16="http://schemas.microsoft.com/office/drawing/2014/main" id="{F41B20DC-C555-5441-717F-ADE6DEBDB9DB}"/>
                </a:ext>
              </a:extLst>
            </p:cNvPr>
            <p:cNvSpPr>
              <a:spLocks noChangeShapeType="1"/>
            </p:cNvSpPr>
            <p:nvPr/>
          </p:nvSpPr>
          <p:spPr bwMode="auto">
            <a:xfrm>
              <a:off x="6491288" y="2435225"/>
              <a:ext cx="26670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32">
              <a:extLst>
                <a:ext uri="{FF2B5EF4-FFF2-40B4-BE49-F238E27FC236}">
                  <a16:creationId xmlns:a16="http://schemas.microsoft.com/office/drawing/2014/main" id="{4EA7C03D-A03B-05E6-0C59-0F54711108F2}"/>
                </a:ext>
              </a:extLst>
            </p:cNvPr>
            <p:cNvSpPr>
              <a:spLocks noChangeShapeType="1"/>
            </p:cNvSpPr>
            <p:nvPr/>
          </p:nvSpPr>
          <p:spPr bwMode="auto">
            <a:xfrm>
              <a:off x="6496050" y="2439988"/>
              <a:ext cx="0" cy="5270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Arc 33">
              <a:extLst>
                <a:ext uri="{FF2B5EF4-FFF2-40B4-BE49-F238E27FC236}">
                  <a16:creationId xmlns:a16="http://schemas.microsoft.com/office/drawing/2014/main" id="{B7B16491-7658-961B-94E1-09F2C3ACF02C}"/>
                </a:ext>
              </a:extLst>
            </p:cNvPr>
            <p:cNvSpPr>
              <a:spLocks/>
            </p:cNvSpPr>
            <p:nvPr/>
          </p:nvSpPr>
          <p:spPr bwMode="auto">
            <a:xfrm>
              <a:off x="5940426" y="2943226"/>
              <a:ext cx="131763" cy="74613"/>
            </a:xfrm>
            <a:custGeom>
              <a:avLst/>
              <a:gdLst>
                <a:gd name="G0" fmla="+- 0 0 0"/>
                <a:gd name="G1" fmla="+- 8852 0 0"/>
                <a:gd name="G2" fmla="+- 21600 0 0"/>
                <a:gd name="T0" fmla="*/ 19703 w 21600"/>
                <a:gd name="T1" fmla="*/ 0 h 17464"/>
                <a:gd name="T2" fmla="*/ 19809 w 21600"/>
                <a:gd name="T3" fmla="*/ 17464 h 17464"/>
                <a:gd name="T4" fmla="*/ 0 w 21600"/>
                <a:gd name="T5" fmla="*/ 8852 h 17464"/>
              </a:gdLst>
              <a:ahLst/>
              <a:cxnLst>
                <a:cxn ang="0">
                  <a:pos x="T0" y="T1"/>
                </a:cxn>
                <a:cxn ang="0">
                  <a:pos x="T2" y="T3"/>
                </a:cxn>
                <a:cxn ang="0">
                  <a:pos x="T4" y="T5"/>
                </a:cxn>
              </a:cxnLst>
              <a:rect l="0" t="0" r="r" b="b"/>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Line 34">
              <a:extLst>
                <a:ext uri="{FF2B5EF4-FFF2-40B4-BE49-F238E27FC236}">
                  <a16:creationId xmlns:a16="http://schemas.microsoft.com/office/drawing/2014/main" id="{50C6E58E-1BDA-9626-8A74-4FDFF3C3E130}"/>
                </a:ext>
              </a:extLst>
            </p:cNvPr>
            <p:cNvSpPr>
              <a:spLocks noChangeShapeType="1"/>
            </p:cNvSpPr>
            <p:nvPr/>
          </p:nvSpPr>
          <p:spPr bwMode="auto">
            <a:xfrm flipH="1">
              <a:off x="6040439" y="2973388"/>
              <a:ext cx="473075"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Arc 35">
              <a:extLst>
                <a:ext uri="{FF2B5EF4-FFF2-40B4-BE49-F238E27FC236}">
                  <a16:creationId xmlns:a16="http://schemas.microsoft.com/office/drawing/2014/main" id="{96F4E6A2-0DC8-C92B-5701-4BFC4C3E3147}"/>
                </a:ext>
              </a:extLst>
            </p:cNvPr>
            <p:cNvSpPr>
              <a:spLocks/>
            </p:cNvSpPr>
            <p:nvPr/>
          </p:nvSpPr>
          <p:spPr bwMode="auto">
            <a:xfrm>
              <a:off x="6919913" y="3157539"/>
              <a:ext cx="131762" cy="73025"/>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0" y="5733"/>
                    <a:pt x="630" y="2754"/>
                    <a:pt x="1849" y="-1"/>
                  </a:cubicBezTo>
                </a:path>
                <a:path w="21600" h="17255" stroke="0" extrusionOk="0">
                  <a:moveTo>
                    <a:pt x="1746" y="17254"/>
                  </a:moveTo>
                  <a:cubicBezTo>
                    <a:pt x="594" y="14566"/>
                    <a:pt x="0" y="11671"/>
                    <a:pt x="0" y="8746"/>
                  </a:cubicBezTo>
                  <a:cubicBezTo>
                    <a:pt x="0" y="5733"/>
                    <a:pt x="630" y="2754"/>
                    <a:pt x="1849" y="-1"/>
                  </a:cubicBezTo>
                  <a:lnTo>
                    <a:pt x="21600" y="8746"/>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Arc 36">
              <a:extLst>
                <a:ext uri="{FF2B5EF4-FFF2-40B4-BE49-F238E27FC236}">
                  <a16:creationId xmlns:a16="http://schemas.microsoft.com/office/drawing/2014/main" id="{E453383D-CE75-EEEE-BF65-65F2995A777B}"/>
                </a:ext>
              </a:extLst>
            </p:cNvPr>
            <p:cNvSpPr>
              <a:spLocks/>
            </p:cNvSpPr>
            <p:nvPr/>
          </p:nvSpPr>
          <p:spPr bwMode="auto">
            <a:xfrm>
              <a:off x="5940426" y="3157539"/>
              <a:ext cx="131763" cy="73025"/>
            </a:xfrm>
            <a:custGeom>
              <a:avLst/>
              <a:gdLst>
                <a:gd name="G0" fmla="+- 0 0 0"/>
                <a:gd name="G1" fmla="+- 8852 0 0"/>
                <a:gd name="G2" fmla="+- 21600 0 0"/>
                <a:gd name="T0" fmla="*/ 19703 w 21600"/>
                <a:gd name="T1" fmla="*/ 0 h 17464"/>
                <a:gd name="T2" fmla="*/ 19809 w 21600"/>
                <a:gd name="T3" fmla="*/ 17464 h 17464"/>
                <a:gd name="T4" fmla="*/ 0 w 21600"/>
                <a:gd name="T5" fmla="*/ 8852 h 17464"/>
              </a:gdLst>
              <a:ahLst/>
              <a:cxnLst>
                <a:cxn ang="0">
                  <a:pos x="T0" y="T1"/>
                </a:cxn>
                <a:cxn ang="0">
                  <a:pos x="T2" y="T3"/>
                </a:cxn>
                <a:cxn ang="0">
                  <a:pos x="T4" y="T5"/>
                </a:cxn>
              </a:cxnLst>
              <a:rect l="0" t="0" r="r" b="b"/>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Line 37">
              <a:extLst>
                <a:ext uri="{FF2B5EF4-FFF2-40B4-BE49-F238E27FC236}">
                  <a16:creationId xmlns:a16="http://schemas.microsoft.com/office/drawing/2014/main" id="{8A862EA6-8A8C-8347-1C18-8713EA5A6E6B}"/>
                </a:ext>
              </a:extLst>
            </p:cNvPr>
            <p:cNvSpPr>
              <a:spLocks noChangeShapeType="1"/>
            </p:cNvSpPr>
            <p:nvPr/>
          </p:nvSpPr>
          <p:spPr bwMode="auto">
            <a:xfrm>
              <a:off x="6059488" y="3192463"/>
              <a:ext cx="87630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Arc 38">
              <a:extLst>
                <a:ext uri="{FF2B5EF4-FFF2-40B4-BE49-F238E27FC236}">
                  <a16:creationId xmlns:a16="http://schemas.microsoft.com/office/drawing/2014/main" id="{39F4B8E1-DD5B-5453-8BC8-A2F54FF28DE1}"/>
                </a:ext>
              </a:extLst>
            </p:cNvPr>
            <p:cNvSpPr>
              <a:spLocks/>
            </p:cNvSpPr>
            <p:nvPr/>
          </p:nvSpPr>
          <p:spPr bwMode="auto">
            <a:xfrm>
              <a:off x="7386638" y="2882900"/>
              <a:ext cx="106362" cy="90488"/>
            </a:xfrm>
            <a:custGeom>
              <a:avLst/>
              <a:gdLst>
                <a:gd name="G0" fmla="+- 8746 0 0"/>
                <a:gd name="G1" fmla="+- 21600 0 0"/>
                <a:gd name="G2" fmla="+- 21600 0 0"/>
                <a:gd name="T0" fmla="*/ 0 w 17255"/>
                <a:gd name="T1" fmla="*/ 1850 h 21600"/>
                <a:gd name="T2" fmla="*/ 17255 w 17255"/>
                <a:gd name="T3" fmla="*/ 1746 h 21600"/>
                <a:gd name="T4" fmla="*/ 8746 w 17255"/>
                <a:gd name="T5" fmla="*/ 21600 h 21600"/>
              </a:gdLst>
              <a:ahLst/>
              <a:cxnLst>
                <a:cxn ang="0">
                  <a:pos x="T0" y="T1"/>
                </a:cxn>
                <a:cxn ang="0">
                  <a:pos x="T2" y="T3"/>
                </a:cxn>
                <a:cxn ang="0">
                  <a:pos x="T4" y="T5"/>
                </a:cxn>
              </a:cxnLst>
              <a:rect l="0" t="0" r="r" b="b"/>
              <a:pathLst>
                <a:path w="17255" h="21600" fill="none" extrusionOk="0">
                  <a:moveTo>
                    <a:pt x="-1" y="1849"/>
                  </a:moveTo>
                  <a:cubicBezTo>
                    <a:pt x="2754" y="630"/>
                    <a:pt x="5733" y="0"/>
                    <a:pt x="8746" y="0"/>
                  </a:cubicBezTo>
                  <a:cubicBezTo>
                    <a:pt x="11671" y="0"/>
                    <a:pt x="14566" y="594"/>
                    <a:pt x="17254" y="1746"/>
                  </a:cubicBezTo>
                </a:path>
                <a:path w="17255" h="21600" stroke="0" extrusionOk="0">
                  <a:moveTo>
                    <a:pt x="-1" y="1849"/>
                  </a:moveTo>
                  <a:cubicBezTo>
                    <a:pt x="2754" y="630"/>
                    <a:pt x="5733" y="0"/>
                    <a:pt x="8746" y="0"/>
                  </a:cubicBezTo>
                  <a:cubicBezTo>
                    <a:pt x="11671" y="0"/>
                    <a:pt x="14566" y="594"/>
                    <a:pt x="17254" y="1746"/>
                  </a:cubicBezTo>
                  <a:lnTo>
                    <a:pt x="8746" y="2160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Arc 39">
              <a:extLst>
                <a:ext uri="{FF2B5EF4-FFF2-40B4-BE49-F238E27FC236}">
                  <a16:creationId xmlns:a16="http://schemas.microsoft.com/office/drawing/2014/main" id="{92488BC2-09C8-87A0-C167-7F407739AA46}"/>
                </a:ext>
              </a:extLst>
            </p:cNvPr>
            <p:cNvSpPr>
              <a:spLocks/>
            </p:cNvSpPr>
            <p:nvPr/>
          </p:nvSpPr>
          <p:spPr bwMode="auto">
            <a:xfrm>
              <a:off x="7386638" y="2589214"/>
              <a:ext cx="106362" cy="90487"/>
            </a:xfrm>
            <a:custGeom>
              <a:avLst/>
              <a:gdLst>
                <a:gd name="G0" fmla="+- 8852 0 0"/>
                <a:gd name="G1" fmla="+- 0 0 0"/>
                <a:gd name="G2" fmla="+- 21600 0 0"/>
                <a:gd name="T0" fmla="*/ 17464 w 17464"/>
                <a:gd name="T1" fmla="*/ 19809 h 21600"/>
                <a:gd name="T2" fmla="*/ 0 w 17464"/>
                <a:gd name="T3" fmla="*/ 19703 h 21600"/>
                <a:gd name="T4" fmla="*/ 8852 w 17464"/>
                <a:gd name="T5" fmla="*/ 0 h 21600"/>
              </a:gdLst>
              <a:ahLst/>
              <a:cxnLst>
                <a:cxn ang="0">
                  <a:pos x="T0" y="T1"/>
                </a:cxn>
                <a:cxn ang="0">
                  <a:pos x="T2" y="T3"/>
                </a:cxn>
                <a:cxn ang="0">
                  <a:pos x="T4" y="T5"/>
                </a:cxn>
              </a:cxnLst>
              <a:rect l="0" t="0" r="r" b="b"/>
              <a:pathLst>
                <a:path w="17464" h="21600" fill="none" extrusionOk="0">
                  <a:moveTo>
                    <a:pt x="17463" y="19808"/>
                  </a:moveTo>
                  <a:cubicBezTo>
                    <a:pt x="14746" y="20990"/>
                    <a:pt x="11815" y="21600"/>
                    <a:pt x="8852" y="21600"/>
                  </a:cubicBezTo>
                  <a:cubicBezTo>
                    <a:pt x="5800" y="21600"/>
                    <a:pt x="2783" y="20953"/>
                    <a:pt x="0" y="19702"/>
                  </a:cubicBezTo>
                </a:path>
                <a:path w="17464" h="21600" stroke="0" extrusionOk="0">
                  <a:moveTo>
                    <a:pt x="17463" y="19808"/>
                  </a:moveTo>
                  <a:cubicBezTo>
                    <a:pt x="14746" y="20990"/>
                    <a:pt x="11815" y="21600"/>
                    <a:pt x="8852" y="21600"/>
                  </a:cubicBezTo>
                  <a:cubicBezTo>
                    <a:pt x="5800" y="21600"/>
                    <a:pt x="2783" y="20953"/>
                    <a:pt x="0" y="19702"/>
                  </a:cubicBezTo>
                  <a:lnTo>
                    <a:pt x="8852" y="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40">
              <a:extLst>
                <a:ext uri="{FF2B5EF4-FFF2-40B4-BE49-F238E27FC236}">
                  <a16:creationId xmlns:a16="http://schemas.microsoft.com/office/drawing/2014/main" id="{639B5FA7-3A66-578E-1EC4-38A5F95D6243}"/>
                </a:ext>
              </a:extLst>
            </p:cNvPr>
            <p:cNvSpPr>
              <a:spLocks noChangeShapeType="1"/>
            </p:cNvSpPr>
            <p:nvPr/>
          </p:nvSpPr>
          <p:spPr bwMode="auto">
            <a:xfrm>
              <a:off x="7439025" y="2679700"/>
              <a:ext cx="0" cy="21113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Rectangle 42">
              <a:extLst>
                <a:ext uri="{FF2B5EF4-FFF2-40B4-BE49-F238E27FC236}">
                  <a16:creationId xmlns:a16="http://schemas.microsoft.com/office/drawing/2014/main" id="{6F5368BB-1E0C-519C-3187-63B01EA9915C}"/>
                </a:ext>
              </a:extLst>
            </p:cNvPr>
            <p:cNvSpPr>
              <a:spLocks noChangeArrowheads="1"/>
            </p:cNvSpPr>
            <p:nvPr/>
          </p:nvSpPr>
          <p:spPr bwMode="auto">
            <a:xfrm>
              <a:off x="4730751" y="4230689"/>
              <a:ext cx="1489075" cy="211137"/>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Rectangle 43">
              <a:extLst>
                <a:ext uri="{FF2B5EF4-FFF2-40B4-BE49-F238E27FC236}">
                  <a16:creationId xmlns:a16="http://schemas.microsoft.com/office/drawing/2014/main" id="{E8FB5488-5DE3-29F5-CF17-988B49146438}"/>
                </a:ext>
              </a:extLst>
            </p:cNvPr>
            <p:cNvSpPr>
              <a:spLocks noChangeArrowheads="1"/>
            </p:cNvSpPr>
            <p:nvPr/>
          </p:nvSpPr>
          <p:spPr bwMode="auto">
            <a:xfrm>
              <a:off x="4884738" y="3698875"/>
              <a:ext cx="1166812" cy="21113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Rectangle 44">
              <a:extLst>
                <a:ext uri="{FF2B5EF4-FFF2-40B4-BE49-F238E27FC236}">
                  <a16:creationId xmlns:a16="http://schemas.microsoft.com/office/drawing/2014/main" id="{E76087B5-4E32-8230-4878-15A932D00E9E}"/>
                </a:ext>
              </a:extLst>
            </p:cNvPr>
            <p:cNvSpPr>
              <a:spLocks noChangeArrowheads="1"/>
            </p:cNvSpPr>
            <p:nvPr/>
          </p:nvSpPr>
          <p:spPr bwMode="auto">
            <a:xfrm>
              <a:off x="5072063" y="3686175"/>
              <a:ext cx="753412" cy="255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Register</a:t>
              </a:r>
            </a:p>
          </p:txBody>
        </p:sp>
        <p:sp>
          <p:nvSpPr>
            <p:cNvPr id="46" name="Rectangle 45">
              <a:extLst>
                <a:ext uri="{FF2B5EF4-FFF2-40B4-BE49-F238E27FC236}">
                  <a16:creationId xmlns:a16="http://schemas.microsoft.com/office/drawing/2014/main" id="{C233D04A-15B8-E484-4AF0-D10C682FB95F}"/>
                </a:ext>
              </a:extLst>
            </p:cNvPr>
            <p:cNvSpPr>
              <a:spLocks noChangeArrowheads="1"/>
            </p:cNvSpPr>
            <p:nvPr/>
          </p:nvSpPr>
          <p:spPr bwMode="auto">
            <a:xfrm>
              <a:off x="5164139" y="4211638"/>
              <a:ext cx="636587"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Cache</a:t>
              </a:r>
            </a:p>
          </p:txBody>
        </p:sp>
        <p:sp>
          <p:nvSpPr>
            <p:cNvPr id="47" name="Arc 46">
              <a:extLst>
                <a:ext uri="{FF2B5EF4-FFF2-40B4-BE49-F238E27FC236}">
                  <a16:creationId xmlns:a16="http://schemas.microsoft.com/office/drawing/2014/main" id="{5F1B07EA-5F3A-79B1-622F-774CF4E07C58}"/>
                </a:ext>
              </a:extLst>
            </p:cNvPr>
            <p:cNvSpPr>
              <a:spLocks/>
            </p:cNvSpPr>
            <p:nvPr/>
          </p:nvSpPr>
          <p:spPr bwMode="auto">
            <a:xfrm>
              <a:off x="5232400" y="4122738"/>
              <a:ext cx="107950" cy="95250"/>
            </a:xfrm>
            <a:custGeom>
              <a:avLst/>
              <a:gdLst>
                <a:gd name="G0" fmla="+- 8746 0 0"/>
                <a:gd name="G1" fmla="+- 21600 0 0"/>
                <a:gd name="G2" fmla="+- 21600 0 0"/>
                <a:gd name="T0" fmla="*/ 0 w 17255"/>
                <a:gd name="T1" fmla="*/ 1850 h 21600"/>
                <a:gd name="T2" fmla="*/ 17255 w 17255"/>
                <a:gd name="T3" fmla="*/ 1746 h 21600"/>
                <a:gd name="T4" fmla="*/ 8746 w 17255"/>
                <a:gd name="T5" fmla="*/ 21600 h 21600"/>
              </a:gdLst>
              <a:ahLst/>
              <a:cxnLst>
                <a:cxn ang="0">
                  <a:pos x="T0" y="T1"/>
                </a:cxn>
                <a:cxn ang="0">
                  <a:pos x="T2" y="T3"/>
                </a:cxn>
                <a:cxn ang="0">
                  <a:pos x="T4" y="T5"/>
                </a:cxn>
              </a:cxnLst>
              <a:rect l="0" t="0" r="r" b="b"/>
              <a:pathLst>
                <a:path w="17255" h="21600" fill="none" extrusionOk="0">
                  <a:moveTo>
                    <a:pt x="-1" y="1849"/>
                  </a:moveTo>
                  <a:cubicBezTo>
                    <a:pt x="2754" y="630"/>
                    <a:pt x="5733" y="0"/>
                    <a:pt x="8746" y="0"/>
                  </a:cubicBezTo>
                  <a:cubicBezTo>
                    <a:pt x="11671" y="0"/>
                    <a:pt x="14566" y="594"/>
                    <a:pt x="17254" y="1746"/>
                  </a:cubicBezTo>
                </a:path>
                <a:path w="17255" h="21600" stroke="0" extrusionOk="0">
                  <a:moveTo>
                    <a:pt x="-1" y="1849"/>
                  </a:moveTo>
                  <a:cubicBezTo>
                    <a:pt x="2754" y="630"/>
                    <a:pt x="5733" y="0"/>
                    <a:pt x="8746" y="0"/>
                  </a:cubicBezTo>
                  <a:cubicBezTo>
                    <a:pt x="11671" y="0"/>
                    <a:pt x="14566" y="594"/>
                    <a:pt x="17254" y="1746"/>
                  </a:cubicBezTo>
                  <a:lnTo>
                    <a:pt x="8746" y="2160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Arc 47">
              <a:extLst>
                <a:ext uri="{FF2B5EF4-FFF2-40B4-BE49-F238E27FC236}">
                  <a16:creationId xmlns:a16="http://schemas.microsoft.com/office/drawing/2014/main" id="{7EC71BAC-E95F-8D11-D6B7-107210E947F2}"/>
                </a:ext>
              </a:extLst>
            </p:cNvPr>
            <p:cNvSpPr>
              <a:spLocks/>
            </p:cNvSpPr>
            <p:nvPr/>
          </p:nvSpPr>
          <p:spPr bwMode="auto">
            <a:xfrm>
              <a:off x="5232400" y="3914775"/>
              <a:ext cx="107950" cy="95250"/>
            </a:xfrm>
            <a:custGeom>
              <a:avLst/>
              <a:gdLst>
                <a:gd name="G0" fmla="+- 8852 0 0"/>
                <a:gd name="G1" fmla="+- 0 0 0"/>
                <a:gd name="G2" fmla="+- 21600 0 0"/>
                <a:gd name="T0" fmla="*/ 17464 w 17464"/>
                <a:gd name="T1" fmla="*/ 19809 h 21600"/>
                <a:gd name="T2" fmla="*/ 0 w 17464"/>
                <a:gd name="T3" fmla="*/ 19703 h 21600"/>
                <a:gd name="T4" fmla="*/ 8852 w 17464"/>
                <a:gd name="T5" fmla="*/ 0 h 21600"/>
              </a:gdLst>
              <a:ahLst/>
              <a:cxnLst>
                <a:cxn ang="0">
                  <a:pos x="T0" y="T1"/>
                </a:cxn>
                <a:cxn ang="0">
                  <a:pos x="T2" y="T3"/>
                </a:cxn>
                <a:cxn ang="0">
                  <a:pos x="T4" y="T5"/>
                </a:cxn>
              </a:cxnLst>
              <a:rect l="0" t="0" r="r" b="b"/>
              <a:pathLst>
                <a:path w="17464" h="21600" fill="none" extrusionOk="0">
                  <a:moveTo>
                    <a:pt x="17463" y="19808"/>
                  </a:moveTo>
                  <a:cubicBezTo>
                    <a:pt x="14746" y="20990"/>
                    <a:pt x="11815" y="21600"/>
                    <a:pt x="8852" y="21600"/>
                  </a:cubicBezTo>
                  <a:cubicBezTo>
                    <a:pt x="5800" y="21600"/>
                    <a:pt x="2783" y="20953"/>
                    <a:pt x="0" y="19702"/>
                  </a:cubicBezTo>
                </a:path>
                <a:path w="17464" h="21600" stroke="0" extrusionOk="0">
                  <a:moveTo>
                    <a:pt x="17463" y="19808"/>
                  </a:moveTo>
                  <a:cubicBezTo>
                    <a:pt x="14746" y="20990"/>
                    <a:pt x="11815" y="21600"/>
                    <a:pt x="8852" y="21600"/>
                  </a:cubicBezTo>
                  <a:cubicBezTo>
                    <a:pt x="5800" y="21600"/>
                    <a:pt x="2783" y="20953"/>
                    <a:pt x="0" y="19702"/>
                  </a:cubicBezTo>
                  <a:lnTo>
                    <a:pt x="8852" y="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Line 48">
              <a:extLst>
                <a:ext uri="{FF2B5EF4-FFF2-40B4-BE49-F238E27FC236}">
                  <a16:creationId xmlns:a16="http://schemas.microsoft.com/office/drawing/2014/main" id="{69674A75-D552-D0A3-10D3-04586582BFF9}"/>
                </a:ext>
              </a:extLst>
            </p:cNvPr>
            <p:cNvSpPr>
              <a:spLocks noChangeShapeType="1"/>
            </p:cNvSpPr>
            <p:nvPr/>
          </p:nvSpPr>
          <p:spPr bwMode="auto">
            <a:xfrm>
              <a:off x="5284788" y="4010025"/>
              <a:ext cx="0" cy="1206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Arc 49">
              <a:extLst>
                <a:ext uri="{FF2B5EF4-FFF2-40B4-BE49-F238E27FC236}">
                  <a16:creationId xmlns:a16="http://schemas.microsoft.com/office/drawing/2014/main" id="{00292BE8-57FF-BA27-0771-C1603866649B}"/>
                </a:ext>
              </a:extLst>
            </p:cNvPr>
            <p:cNvSpPr>
              <a:spLocks/>
            </p:cNvSpPr>
            <p:nvPr/>
          </p:nvSpPr>
          <p:spPr bwMode="auto">
            <a:xfrm>
              <a:off x="5626100" y="4122738"/>
              <a:ext cx="107950" cy="95250"/>
            </a:xfrm>
            <a:custGeom>
              <a:avLst/>
              <a:gdLst>
                <a:gd name="G0" fmla="+- 8746 0 0"/>
                <a:gd name="G1" fmla="+- 21600 0 0"/>
                <a:gd name="G2" fmla="+- 21600 0 0"/>
                <a:gd name="T0" fmla="*/ 0 w 17255"/>
                <a:gd name="T1" fmla="*/ 1850 h 21600"/>
                <a:gd name="T2" fmla="*/ 17255 w 17255"/>
                <a:gd name="T3" fmla="*/ 1746 h 21600"/>
                <a:gd name="T4" fmla="*/ 8746 w 17255"/>
                <a:gd name="T5" fmla="*/ 21600 h 21600"/>
              </a:gdLst>
              <a:ahLst/>
              <a:cxnLst>
                <a:cxn ang="0">
                  <a:pos x="T0" y="T1"/>
                </a:cxn>
                <a:cxn ang="0">
                  <a:pos x="T2" y="T3"/>
                </a:cxn>
                <a:cxn ang="0">
                  <a:pos x="T4" y="T5"/>
                </a:cxn>
              </a:cxnLst>
              <a:rect l="0" t="0" r="r" b="b"/>
              <a:pathLst>
                <a:path w="17255" h="21600" fill="none" extrusionOk="0">
                  <a:moveTo>
                    <a:pt x="-1" y="1849"/>
                  </a:moveTo>
                  <a:cubicBezTo>
                    <a:pt x="2754" y="630"/>
                    <a:pt x="5733" y="0"/>
                    <a:pt x="8746" y="0"/>
                  </a:cubicBezTo>
                  <a:cubicBezTo>
                    <a:pt x="11671" y="0"/>
                    <a:pt x="14566" y="594"/>
                    <a:pt x="17254" y="1746"/>
                  </a:cubicBezTo>
                </a:path>
                <a:path w="17255" h="21600" stroke="0" extrusionOk="0">
                  <a:moveTo>
                    <a:pt x="-1" y="1849"/>
                  </a:moveTo>
                  <a:cubicBezTo>
                    <a:pt x="2754" y="630"/>
                    <a:pt x="5733" y="0"/>
                    <a:pt x="8746" y="0"/>
                  </a:cubicBezTo>
                  <a:cubicBezTo>
                    <a:pt x="11671" y="0"/>
                    <a:pt x="14566" y="594"/>
                    <a:pt x="17254" y="1746"/>
                  </a:cubicBezTo>
                  <a:lnTo>
                    <a:pt x="8746" y="2160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Arc 50">
              <a:extLst>
                <a:ext uri="{FF2B5EF4-FFF2-40B4-BE49-F238E27FC236}">
                  <a16:creationId xmlns:a16="http://schemas.microsoft.com/office/drawing/2014/main" id="{C6A30265-D893-A271-1D33-A6E94307808F}"/>
                </a:ext>
              </a:extLst>
            </p:cNvPr>
            <p:cNvSpPr>
              <a:spLocks/>
            </p:cNvSpPr>
            <p:nvPr/>
          </p:nvSpPr>
          <p:spPr bwMode="auto">
            <a:xfrm>
              <a:off x="5626100" y="3914775"/>
              <a:ext cx="107950" cy="95250"/>
            </a:xfrm>
            <a:custGeom>
              <a:avLst/>
              <a:gdLst>
                <a:gd name="G0" fmla="+- 8852 0 0"/>
                <a:gd name="G1" fmla="+- 0 0 0"/>
                <a:gd name="G2" fmla="+- 21600 0 0"/>
                <a:gd name="T0" fmla="*/ 17464 w 17464"/>
                <a:gd name="T1" fmla="*/ 19809 h 21600"/>
                <a:gd name="T2" fmla="*/ 0 w 17464"/>
                <a:gd name="T3" fmla="*/ 19703 h 21600"/>
                <a:gd name="T4" fmla="*/ 8852 w 17464"/>
                <a:gd name="T5" fmla="*/ 0 h 21600"/>
              </a:gdLst>
              <a:ahLst/>
              <a:cxnLst>
                <a:cxn ang="0">
                  <a:pos x="T0" y="T1"/>
                </a:cxn>
                <a:cxn ang="0">
                  <a:pos x="T2" y="T3"/>
                </a:cxn>
                <a:cxn ang="0">
                  <a:pos x="T4" y="T5"/>
                </a:cxn>
              </a:cxnLst>
              <a:rect l="0" t="0" r="r" b="b"/>
              <a:pathLst>
                <a:path w="17464" h="21600" fill="none" extrusionOk="0">
                  <a:moveTo>
                    <a:pt x="17463" y="19808"/>
                  </a:moveTo>
                  <a:cubicBezTo>
                    <a:pt x="14746" y="20990"/>
                    <a:pt x="11815" y="21600"/>
                    <a:pt x="8852" y="21600"/>
                  </a:cubicBezTo>
                  <a:cubicBezTo>
                    <a:pt x="5800" y="21600"/>
                    <a:pt x="2783" y="20953"/>
                    <a:pt x="0" y="19702"/>
                  </a:cubicBezTo>
                </a:path>
                <a:path w="17464" h="21600" stroke="0" extrusionOk="0">
                  <a:moveTo>
                    <a:pt x="17463" y="19808"/>
                  </a:moveTo>
                  <a:cubicBezTo>
                    <a:pt x="14746" y="20990"/>
                    <a:pt x="11815" y="21600"/>
                    <a:pt x="8852" y="21600"/>
                  </a:cubicBezTo>
                  <a:cubicBezTo>
                    <a:pt x="5800" y="21600"/>
                    <a:pt x="2783" y="20953"/>
                    <a:pt x="0" y="19702"/>
                  </a:cubicBezTo>
                  <a:lnTo>
                    <a:pt x="8852" y="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Line 51">
              <a:extLst>
                <a:ext uri="{FF2B5EF4-FFF2-40B4-BE49-F238E27FC236}">
                  <a16:creationId xmlns:a16="http://schemas.microsoft.com/office/drawing/2014/main" id="{9A95A048-D781-5FB5-75CD-714619E1706E}"/>
                </a:ext>
              </a:extLst>
            </p:cNvPr>
            <p:cNvSpPr>
              <a:spLocks noChangeShapeType="1"/>
            </p:cNvSpPr>
            <p:nvPr/>
          </p:nvSpPr>
          <p:spPr bwMode="auto">
            <a:xfrm>
              <a:off x="5678488" y="4010025"/>
              <a:ext cx="0" cy="1206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Arc 52">
              <a:extLst>
                <a:ext uri="{FF2B5EF4-FFF2-40B4-BE49-F238E27FC236}">
                  <a16:creationId xmlns:a16="http://schemas.microsoft.com/office/drawing/2014/main" id="{4A893148-9B07-3022-6D49-02AADAE91620}"/>
                </a:ext>
              </a:extLst>
            </p:cNvPr>
            <p:cNvSpPr>
              <a:spLocks/>
            </p:cNvSpPr>
            <p:nvPr/>
          </p:nvSpPr>
          <p:spPr bwMode="auto">
            <a:xfrm>
              <a:off x="5232400" y="4654550"/>
              <a:ext cx="107950" cy="95250"/>
            </a:xfrm>
            <a:custGeom>
              <a:avLst/>
              <a:gdLst>
                <a:gd name="G0" fmla="+- 8746 0 0"/>
                <a:gd name="G1" fmla="+- 21600 0 0"/>
                <a:gd name="G2" fmla="+- 21600 0 0"/>
                <a:gd name="T0" fmla="*/ 0 w 17255"/>
                <a:gd name="T1" fmla="*/ 1850 h 21600"/>
                <a:gd name="T2" fmla="*/ 17255 w 17255"/>
                <a:gd name="T3" fmla="*/ 1746 h 21600"/>
                <a:gd name="T4" fmla="*/ 8746 w 17255"/>
                <a:gd name="T5" fmla="*/ 21600 h 21600"/>
              </a:gdLst>
              <a:ahLst/>
              <a:cxnLst>
                <a:cxn ang="0">
                  <a:pos x="T0" y="T1"/>
                </a:cxn>
                <a:cxn ang="0">
                  <a:pos x="T2" y="T3"/>
                </a:cxn>
                <a:cxn ang="0">
                  <a:pos x="T4" y="T5"/>
                </a:cxn>
              </a:cxnLst>
              <a:rect l="0" t="0" r="r" b="b"/>
              <a:pathLst>
                <a:path w="17255" h="21600" fill="none" extrusionOk="0">
                  <a:moveTo>
                    <a:pt x="-1" y="1849"/>
                  </a:moveTo>
                  <a:cubicBezTo>
                    <a:pt x="2754" y="630"/>
                    <a:pt x="5733" y="0"/>
                    <a:pt x="8746" y="0"/>
                  </a:cubicBezTo>
                  <a:cubicBezTo>
                    <a:pt x="11671" y="0"/>
                    <a:pt x="14566" y="594"/>
                    <a:pt x="17254" y="1746"/>
                  </a:cubicBezTo>
                </a:path>
                <a:path w="17255" h="21600" stroke="0" extrusionOk="0">
                  <a:moveTo>
                    <a:pt x="-1" y="1849"/>
                  </a:moveTo>
                  <a:cubicBezTo>
                    <a:pt x="2754" y="630"/>
                    <a:pt x="5733" y="0"/>
                    <a:pt x="8746" y="0"/>
                  </a:cubicBezTo>
                  <a:cubicBezTo>
                    <a:pt x="11671" y="0"/>
                    <a:pt x="14566" y="594"/>
                    <a:pt x="17254" y="1746"/>
                  </a:cubicBezTo>
                  <a:lnTo>
                    <a:pt x="8746" y="2160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 name="Arc 53">
              <a:extLst>
                <a:ext uri="{FF2B5EF4-FFF2-40B4-BE49-F238E27FC236}">
                  <a16:creationId xmlns:a16="http://schemas.microsoft.com/office/drawing/2014/main" id="{25DC1582-46E2-1997-CAA8-203C2EC0F6E5}"/>
                </a:ext>
              </a:extLst>
            </p:cNvPr>
            <p:cNvSpPr>
              <a:spLocks/>
            </p:cNvSpPr>
            <p:nvPr/>
          </p:nvSpPr>
          <p:spPr bwMode="auto">
            <a:xfrm>
              <a:off x="5232400" y="4446588"/>
              <a:ext cx="107950" cy="95250"/>
            </a:xfrm>
            <a:custGeom>
              <a:avLst/>
              <a:gdLst>
                <a:gd name="G0" fmla="+- 8852 0 0"/>
                <a:gd name="G1" fmla="+- 0 0 0"/>
                <a:gd name="G2" fmla="+- 21600 0 0"/>
                <a:gd name="T0" fmla="*/ 17464 w 17464"/>
                <a:gd name="T1" fmla="*/ 19809 h 21600"/>
                <a:gd name="T2" fmla="*/ 0 w 17464"/>
                <a:gd name="T3" fmla="*/ 19703 h 21600"/>
                <a:gd name="T4" fmla="*/ 8852 w 17464"/>
                <a:gd name="T5" fmla="*/ 0 h 21600"/>
              </a:gdLst>
              <a:ahLst/>
              <a:cxnLst>
                <a:cxn ang="0">
                  <a:pos x="T0" y="T1"/>
                </a:cxn>
                <a:cxn ang="0">
                  <a:pos x="T2" y="T3"/>
                </a:cxn>
                <a:cxn ang="0">
                  <a:pos x="T4" y="T5"/>
                </a:cxn>
              </a:cxnLst>
              <a:rect l="0" t="0" r="r" b="b"/>
              <a:pathLst>
                <a:path w="17464" h="21600" fill="none" extrusionOk="0">
                  <a:moveTo>
                    <a:pt x="17463" y="19808"/>
                  </a:moveTo>
                  <a:cubicBezTo>
                    <a:pt x="14746" y="20990"/>
                    <a:pt x="11815" y="21600"/>
                    <a:pt x="8852" y="21600"/>
                  </a:cubicBezTo>
                  <a:cubicBezTo>
                    <a:pt x="5800" y="21600"/>
                    <a:pt x="2783" y="20953"/>
                    <a:pt x="0" y="19702"/>
                  </a:cubicBezTo>
                </a:path>
                <a:path w="17464" h="21600" stroke="0" extrusionOk="0">
                  <a:moveTo>
                    <a:pt x="17463" y="19808"/>
                  </a:moveTo>
                  <a:cubicBezTo>
                    <a:pt x="14746" y="20990"/>
                    <a:pt x="11815" y="21600"/>
                    <a:pt x="8852" y="21600"/>
                  </a:cubicBezTo>
                  <a:cubicBezTo>
                    <a:pt x="5800" y="21600"/>
                    <a:pt x="2783" y="20953"/>
                    <a:pt x="0" y="19702"/>
                  </a:cubicBezTo>
                  <a:lnTo>
                    <a:pt x="8852" y="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Line 54">
              <a:extLst>
                <a:ext uri="{FF2B5EF4-FFF2-40B4-BE49-F238E27FC236}">
                  <a16:creationId xmlns:a16="http://schemas.microsoft.com/office/drawing/2014/main" id="{F8E90621-AEFE-115E-9995-EC2434A2745D}"/>
                </a:ext>
              </a:extLst>
            </p:cNvPr>
            <p:cNvSpPr>
              <a:spLocks noChangeShapeType="1"/>
            </p:cNvSpPr>
            <p:nvPr/>
          </p:nvSpPr>
          <p:spPr bwMode="auto">
            <a:xfrm>
              <a:off x="5284788" y="4541838"/>
              <a:ext cx="0" cy="1206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Arc 55">
              <a:extLst>
                <a:ext uri="{FF2B5EF4-FFF2-40B4-BE49-F238E27FC236}">
                  <a16:creationId xmlns:a16="http://schemas.microsoft.com/office/drawing/2014/main" id="{28CB3E19-4944-AC2E-CE5C-AF053CC9F4B2}"/>
                </a:ext>
              </a:extLst>
            </p:cNvPr>
            <p:cNvSpPr>
              <a:spLocks/>
            </p:cNvSpPr>
            <p:nvPr/>
          </p:nvSpPr>
          <p:spPr bwMode="auto">
            <a:xfrm>
              <a:off x="5626100" y="4654550"/>
              <a:ext cx="107950" cy="95250"/>
            </a:xfrm>
            <a:custGeom>
              <a:avLst/>
              <a:gdLst>
                <a:gd name="G0" fmla="+- 8746 0 0"/>
                <a:gd name="G1" fmla="+- 21600 0 0"/>
                <a:gd name="G2" fmla="+- 21600 0 0"/>
                <a:gd name="T0" fmla="*/ 0 w 17255"/>
                <a:gd name="T1" fmla="*/ 1850 h 21600"/>
                <a:gd name="T2" fmla="*/ 17255 w 17255"/>
                <a:gd name="T3" fmla="*/ 1746 h 21600"/>
                <a:gd name="T4" fmla="*/ 8746 w 17255"/>
                <a:gd name="T5" fmla="*/ 21600 h 21600"/>
              </a:gdLst>
              <a:ahLst/>
              <a:cxnLst>
                <a:cxn ang="0">
                  <a:pos x="T0" y="T1"/>
                </a:cxn>
                <a:cxn ang="0">
                  <a:pos x="T2" y="T3"/>
                </a:cxn>
                <a:cxn ang="0">
                  <a:pos x="T4" y="T5"/>
                </a:cxn>
              </a:cxnLst>
              <a:rect l="0" t="0" r="r" b="b"/>
              <a:pathLst>
                <a:path w="17255" h="21600" fill="none" extrusionOk="0">
                  <a:moveTo>
                    <a:pt x="-1" y="1849"/>
                  </a:moveTo>
                  <a:cubicBezTo>
                    <a:pt x="2754" y="630"/>
                    <a:pt x="5733" y="0"/>
                    <a:pt x="8746" y="0"/>
                  </a:cubicBezTo>
                  <a:cubicBezTo>
                    <a:pt x="11671" y="0"/>
                    <a:pt x="14566" y="594"/>
                    <a:pt x="17254" y="1746"/>
                  </a:cubicBezTo>
                </a:path>
                <a:path w="17255" h="21600" stroke="0" extrusionOk="0">
                  <a:moveTo>
                    <a:pt x="-1" y="1849"/>
                  </a:moveTo>
                  <a:cubicBezTo>
                    <a:pt x="2754" y="630"/>
                    <a:pt x="5733" y="0"/>
                    <a:pt x="8746" y="0"/>
                  </a:cubicBezTo>
                  <a:cubicBezTo>
                    <a:pt x="11671" y="0"/>
                    <a:pt x="14566" y="594"/>
                    <a:pt x="17254" y="1746"/>
                  </a:cubicBezTo>
                  <a:lnTo>
                    <a:pt x="8746" y="2160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Arc 56">
              <a:extLst>
                <a:ext uri="{FF2B5EF4-FFF2-40B4-BE49-F238E27FC236}">
                  <a16:creationId xmlns:a16="http://schemas.microsoft.com/office/drawing/2014/main" id="{496243AD-9BEE-F855-25A0-2F2D5EA8DECE}"/>
                </a:ext>
              </a:extLst>
            </p:cNvPr>
            <p:cNvSpPr>
              <a:spLocks/>
            </p:cNvSpPr>
            <p:nvPr/>
          </p:nvSpPr>
          <p:spPr bwMode="auto">
            <a:xfrm>
              <a:off x="5626100" y="4446588"/>
              <a:ext cx="107950" cy="95250"/>
            </a:xfrm>
            <a:custGeom>
              <a:avLst/>
              <a:gdLst>
                <a:gd name="G0" fmla="+- 8852 0 0"/>
                <a:gd name="G1" fmla="+- 0 0 0"/>
                <a:gd name="G2" fmla="+- 21600 0 0"/>
                <a:gd name="T0" fmla="*/ 17464 w 17464"/>
                <a:gd name="T1" fmla="*/ 19809 h 21600"/>
                <a:gd name="T2" fmla="*/ 0 w 17464"/>
                <a:gd name="T3" fmla="*/ 19703 h 21600"/>
                <a:gd name="T4" fmla="*/ 8852 w 17464"/>
                <a:gd name="T5" fmla="*/ 0 h 21600"/>
              </a:gdLst>
              <a:ahLst/>
              <a:cxnLst>
                <a:cxn ang="0">
                  <a:pos x="T0" y="T1"/>
                </a:cxn>
                <a:cxn ang="0">
                  <a:pos x="T2" y="T3"/>
                </a:cxn>
                <a:cxn ang="0">
                  <a:pos x="T4" y="T5"/>
                </a:cxn>
              </a:cxnLst>
              <a:rect l="0" t="0" r="r" b="b"/>
              <a:pathLst>
                <a:path w="17464" h="21600" fill="none" extrusionOk="0">
                  <a:moveTo>
                    <a:pt x="17463" y="19808"/>
                  </a:moveTo>
                  <a:cubicBezTo>
                    <a:pt x="14746" y="20990"/>
                    <a:pt x="11815" y="21600"/>
                    <a:pt x="8852" y="21600"/>
                  </a:cubicBezTo>
                  <a:cubicBezTo>
                    <a:pt x="5800" y="21600"/>
                    <a:pt x="2783" y="20953"/>
                    <a:pt x="0" y="19702"/>
                  </a:cubicBezTo>
                </a:path>
                <a:path w="17464" h="21600" stroke="0" extrusionOk="0">
                  <a:moveTo>
                    <a:pt x="17463" y="19808"/>
                  </a:moveTo>
                  <a:cubicBezTo>
                    <a:pt x="14746" y="20990"/>
                    <a:pt x="11815" y="21600"/>
                    <a:pt x="8852" y="21600"/>
                  </a:cubicBezTo>
                  <a:cubicBezTo>
                    <a:pt x="5800" y="21600"/>
                    <a:pt x="2783" y="20953"/>
                    <a:pt x="0" y="19702"/>
                  </a:cubicBezTo>
                  <a:lnTo>
                    <a:pt x="8852" y="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Line 57">
              <a:extLst>
                <a:ext uri="{FF2B5EF4-FFF2-40B4-BE49-F238E27FC236}">
                  <a16:creationId xmlns:a16="http://schemas.microsoft.com/office/drawing/2014/main" id="{7F61614F-7837-7F19-F616-46A94590173B}"/>
                </a:ext>
              </a:extLst>
            </p:cNvPr>
            <p:cNvSpPr>
              <a:spLocks noChangeShapeType="1"/>
            </p:cNvSpPr>
            <p:nvPr/>
          </p:nvSpPr>
          <p:spPr bwMode="auto">
            <a:xfrm>
              <a:off x="5678488" y="4541838"/>
              <a:ext cx="0" cy="1206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Rectangle 58">
              <a:extLst>
                <a:ext uri="{FF2B5EF4-FFF2-40B4-BE49-F238E27FC236}">
                  <a16:creationId xmlns:a16="http://schemas.microsoft.com/office/drawing/2014/main" id="{5E05DF4C-B9E3-BEFA-5450-0B603763AFE9}"/>
                </a:ext>
              </a:extLst>
            </p:cNvPr>
            <p:cNvSpPr>
              <a:spLocks noChangeArrowheads="1"/>
            </p:cNvSpPr>
            <p:nvPr/>
          </p:nvSpPr>
          <p:spPr bwMode="auto">
            <a:xfrm>
              <a:off x="4911726" y="4783138"/>
              <a:ext cx="1154113"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Main Memory</a:t>
              </a:r>
            </a:p>
          </p:txBody>
        </p:sp>
        <p:sp>
          <p:nvSpPr>
            <p:cNvPr id="60" name="Rectangle 59">
              <a:extLst>
                <a:ext uri="{FF2B5EF4-FFF2-40B4-BE49-F238E27FC236}">
                  <a16:creationId xmlns:a16="http://schemas.microsoft.com/office/drawing/2014/main" id="{0C8E4357-96F2-0CB7-9A59-A65F805F7E76}"/>
                </a:ext>
              </a:extLst>
            </p:cNvPr>
            <p:cNvSpPr>
              <a:spLocks noChangeArrowheads="1"/>
            </p:cNvSpPr>
            <p:nvPr/>
          </p:nvSpPr>
          <p:spPr bwMode="auto">
            <a:xfrm>
              <a:off x="4491038" y="4764089"/>
              <a:ext cx="1968500" cy="301625"/>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Arc 60">
              <a:extLst>
                <a:ext uri="{FF2B5EF4-FFF2-40B4-BE49-F238E27FC236}">
                  <a16:creationId xmlns:a16="http://schemas.microsoft.com/office/drawing/2014/main" id="{D1DAAAB9-ED48-C436-DC78-A5B5756D4D08}"/>
                </a:ext>
              </a:extLst>
            </p:cNvPr>
            <p:cNvSpPr>
              <a:spLocks/>
            </p:cNvSpPr>
            <p:nvPr/>
          </p:nvSpPr>
          <p:spPr bwMode="auto">
            <a:xfrm>
              <a:off x="5232400" y="5276850"/>
              <a:ext cx="107950" cy="95250"/>
            </a:xfrm>
            <a:custGeom>
              <a:avLst/>
              <a:gdLst>
                <a:gd name="G0" fmla="+- 8746 0 0"/>
                <a:gd name="G1" fmla="+- 21600 0 0"/>
                <a:gd name="G2" fmla="+- 21600 0 0"/>
                <a:gd name="T0" fmla="*/ 0 w 17255"/>
                <a:gd name="T1" fmla="*/ 1850 h 21600"/>
                <a:gd name="T2" fmla="*/ 17255 w 17255"/>
                <a:gd name="T3" fmla="*/ 1746 h 21600"/>
                <a:gd name="T4" fmla="*/ 8746 w 17255"/>
                <a:gd name="T5" fmla="*/ 21600 h 21600"/>
              </a:gdLst>
              <a:ahLst/>
              <a:cxnLst>
                <a:cxn ang="0">
                  <a:pos x="T0" y="T1"/>
                </a:cxn>
                <a:cxn ang="0">
                  <a:pos x="T2" y="T3"/>
                </a:cxn>
                <a:cxn ang="0">
                  <a:pos x="T4" y="T5"/>
                </a:cxn>
              </a:cxnLst>
              <a:rect l="0" t="0" r="r" b="b"/>
              <a:pathLst>
                <a:path w="17255" h="21600" fill="none" extrusionOk="0">
                  <a:moveTo>
                    <a:pt x="-1" y="1849"/>
                  </a:moveTo>
                  <a:cubicBezTo>
                    <a:pt x="2754" y="630"/>
                    <a:pt x="5733" y="0"/>
                    <a:pt x="8746" y="0"/>
                  </a:cubicBezTo>
                  <a:cubicBezTo>
                    <a:pt x="11671" y="0"/>
                    <a:pt x="14566" y="594"/>
                    <a:pt x="17254" y="1746"/>
                  </a:cubicBezTo>
                </a:path>
                <a:path w="17255" h="21600" stroke="0" extrusionOk="0">
                  <a:moveTo>
                    <a:pt x="-1" y="1849"/>
                  </a:moveTo>
                  <a:cubicBezTo>
                    <a:pt x="2754" y="630"/>
                    <a:pt x="5733" y="0"/>
                    <a:pt x="8746" y="0"/>
                  </a:cubicBezTo>
                  <a:cubicBezTo>
                    <a:pt x="11671" y="0"/>
                    <a:pt x="14566" y="594"/>
                    <a:pt x="17254" y="1746"/>
                  </a:cubicBezTo>
                  <a:lnTo>
                    <a:pt x="8746" y="2160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 name="Arc 61">
              <a:extLst>
                <a:ext uri="{FF2B5EF4-FFF2-40B4-BE49-F238E27FC236}">
                  <a16:creationId xmlns:a16="http://schemas.microsoft.com/office/drawing/2014/main" id="{441B9AAD-6608-A927-5D34-C32764A67810}"/>
                </a:ext>
              </a:extLst>
            </p:cNvPr>
            <p:cNvSpPr>
              <a:spLocks/>
            </p:cNvSpPr>
            <p:nvPr/>
          </p:nvSpPr>
          <p:spPr bwMode="auto">
            <a:xfrm>
              <a:off x="5232400" y="5070475"/>
              <a:ext cx="107950" cy="95250"/>
            </a:xfrm>
            <a:custGeom>
              <a:avLst/>
              <a:gdLst>
                <a:gd name="G0" fmla="+- 8852 0 0"/>
                <a:gd name="G1" fmla="+- 0 0 0"/>
                <a:gd name="G2" fmla="+- 21600 0 0"/>
                <a:gd name="T0" fmla="*/ 17464 w 17464"/>
                <a:gd name="T1" fmla="*/ 19809 h 21600"/>
                <a:gd name="T2" fmla="*/ 0 w 17464"/>
                <a:gd name="T3" fmla="*/ 19703 h 21600"/>
                <a:gd name="T4" fmla="*/ 8852 w 17464"/>
                <a:gd name="T5" fmla="*/ 0 h 21600"/>
              </a:gdLst>
              <a:ahLst/>
              <a:cxnLst>
                <a:cxn ang="0">
                  <a:pos x="T0" y="T1"/>
                </a:cxn>
                <a:cxn ang="0">
                  <a:pos x="T2" y="T3"/>
                </a:cxn>
                <a:cxn ang="0">
                  <a:pos x="T4" y="T5"/>
                </a:cxn>
              </a:cxnLst>
              <a:rect l="0" t="0" r="r" b="b"/>
              <a:pathLst>
                <a:path w="17464" h="21600" fill="none" extrusionOk="0">
                  <a:moveTo>
                    <a:pt x="17463" y="19808"/>
                  </a:moveTo>
                  <a:cubicBezTo>
                    <a:pt x="14746" y="20990"/>
                    <a:pt x="11815" y="21600"/>
                    <a:pt x="8852" y="21600"/>
                  </a:cubicBezTo>
                  <a:cubicBezTo>
                    <a:pt x="5800" y="21600"/>
                    <a:pt x="2783" y="20953"/>
                    <a:pt x="0" y="19702"/>
                  </a:cubicBezTo>
                </a:path>
                <a:path w="17464" h="21600" stroke="0" extrusionOk="0">
                  <a:moveTo>
                    <a:pt x="17463" y="19808"/>
                  </a:moveTo>
                  <a:cubicBezTo>
                    <a:pt x="14746" y="20990"/>
                    <a:pt x="11815" y="21600"/>
                    <a:pt x="8852" y="21600"/>
                  </a:cubicBezTo>
                  <a:cubicBezTo>
                    <a:pt x="5800" y="21600"/>
                    <a:pt x="2783" y="20953"/>
                    <a:pt x="0" y="19702"/>
                  </a:cubicBezTo>
                  <a:lnTo>
                    <a:pt x="8852" y="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 name="Line 62">
              <a:extLst>
                <a:ext uri="{FF2B5EF4-FFF2-40B4-BE49-F238E27FC236}">
                  <a16:creationId xmlns:a16="http://schemas.microsoft.com/office/drawing/2014/main" id="{ECFBB44C-C830-2D9F-BF88-98702AE8F52A}"/>
                </a:ext>
              </a:extLst>
            </p:cNvPr>
            <p:cNvSpPr>
              <a:spLocks noChangeShapeType="1"/>
            </p:cNvSpPr>
            <p:nvPr/>
          </p:nvSpPr>
          <p:spPr bwMode="auto">
            <a:xfrm>
              <a:off x="5284788" y="5165725"/>
              <a:ext cx="0" cy="1206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 name="Arc 63">
              <a:extLst>
                <a:ext uri="{FF2B5EF4-FFF2-40B4-BE49-F238E27FC236}">
                  <a16:creationId xmlns:a16="http://schemas.microsoft.com/office/drawing/2014/main" id="{36255A85-1742-046C-F476-572714B7837A}"/>
                </a:ext>
              </a:extLst>
            </p:cNvPr>
            <p:cNvSpPr>
              <a:spLocks/>
            </p:cNvSpPr>
            <p:nvPr/>
          </p:nvSpPr>
          <p:spPr bwMode="auto">
            <a:xfrm>
              <a:off x="5626100" y="5276850"/>
              <a:ext cx="107950" cy="95250"/>
            </a:xfrm>
            <a:custGeom>
              <a:avLst/>
              <a:gdLst>
                <a:gd name="G0" fmla="+- 8746 0 0"/>
                <a:gd name="G1" fmla="+- 21600 0 0"/>
                <a:gd name="G2" fmla="+- 21600 0 0"/>
                <a:gd name="T0" fmla="*/ 0 w 17255"/>
                <a:gd name="T1" fmla="*/ 1850 h 21600"/>
                <a:gd name="T2" fmla="*/ 17255 w 17255"/>
                <a:gd name="T3" fmla="*/ 1746 h 21600"/>
                <a:gd name="T4" fmla="*/ 8746 w 17255"/>
                <a:gd name="T5" fmla="*/ 21600 h 21600"/>
              </a:gdLst>
              <a:ahLst/>
              <a:cxnLst>
                <a:cxn ang="0">
                  <a:pos x="T0" y="T1"/>
                </a:cxn>
                <a:cxn ang="0">
                  <a:pos x="T2" y="T3"/>
                </a:cxn>
                <a:cxn ang="0">
                  <a:pos x="T4" y="T5"/>
                </a:cxn>
              </a:cxnLst>
              <a:rect l="0" t="0" r="r" b="b"/>
              <a:pathLst>
                <a:path w="17255" h="21600" fill="none" extrusionOk="0">
                  <a:moveTo>
                    <a:pt x="-1" y="1849"/>
                  </a:moveTo>
                  <a:cubicBezTo>
                    <a:pt x="2754" y="630"/>
                    <a:pt x="5733" y="0"/>
                    <a:pt x="8746" y="0"/>
                  </a:cubicBezTo>
                  <a:cubicBezTo>
                    <a:pt x="11671" y="0"/>
                    <a:pt x="14566" y="594"/>
                    <a:pt x="17254" y="1746"/>
                  </a:cubicBezTo>
                </a:path>
                <a:path w="17255" h="21600" stroke="0" extrusionOk="0">
                  <a:moveTo>
                    <a:pt x="-1" y="1849"/>
                  </a:moveTo>
                  <a:cubicBezTo>
                    <a:pt x="2754" y="630"/>
                    <a:pt x="5733" y="0"/>
                    <a:pt x="8746" y="0"/>
                  </a:cubicBezTo>
                  <a:cubicBezTo>
                    <a:pt x="11671" y="0"/>
                    <a:pt x="14566" y="594"/>
                    <a:pt x="17254" y="1746"/>
                  </a:cubicBezTo>
                  <a:lnTo>
                    <a:pt x="8746" y="2160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 name="Arc 64">
              <a:extLst>
                <a:ext uri="{FF2B5EF4-FFF2-40B4-BE49-F238E27FC236}">
                  <a16:creationId xmlns:a16="http://schemas.microsoft.com/office/drawing/2014/main" id="{21B5D758-C8C1-679B-A0A4-327A15E8941D}"/>
                </a:ext>
              </a:extLst>
            </p:cNvPr>
            <p:cNvSpPr>
              <a:spLocks/>
            </p:cNvSpPr>
            <p:nvPr/>
          </p:nvSpPr>
          <p:spPr bwMode="auto">
            <a:xfrm>
              <a:off x="5626100" y="5070475"/>
              <a:ext cx="107950" cy="95250"/>
            </a:xfrm>
            <a:custGeom>
              <a:avLst/>
              <a:gdLst>
                <a:gd name="G0" fmla="+- 8852 0 0"/>
                <a:gd name="G1" fmla="+- 0 0 0"/>
                <a:gd name="G2" fmla="+- 21600 0 0"/>
                <a:gd name="T0" fmla="*/ 17464 w 17464"/>
                <a:gd name="T1" fmla="*/ 19809 h 21600"/>
                <a:gd name="T2" fmla="*/ 0 w 17464"/>
                <a:gd name="T3" fmla="*/ 19703 h 21600"/>
                <a:gd name="T4" fmla="*/ 8852 w 17464"/>
                <a:gd name="T5" fmla="*/ 0 h 21600"/>
              </a:gdLst>
              <a:ahLst/>
              <a:cxnLst>
                <a:cxn ang="0">
                  <a:pos x="T0" y="T1"/>
                </a:cxn>
                <a:cxn ang="0">
                  <a:pos x="T2" y="T3"/>
                </a:cxn>
                <a:cxn ang="0">
                  <a:pos x="T4" y="T5"/>
                </a:cxn>
              </a:cxnLst>
              <a:rect l="0" t="0" r="r" b="b"/>
              <a:pathLst>
                <a:path w="17464" h="21600" fill="none" extrusionOk="0">
                  <a:moveTo>
                    <a:pt x="17463" y="19808"/>
                  </a:moveTo>
                  <a:cubicBezTo>
                    <a:pt x="14746" y="20990"/>
                    <a:pt x="11815" y="21600"/>
                    <a:pt x="8852" y="21600"/>
                  </a:cubicBezTo>
                  <a:cubicBezTo>
                    <a:pt x="5800" y="21600"/>
                    <a:pt x="2783" y="20953"/>
                    <a:pt x="0" y="19702"/>
                  </a:cubicBezTo>
                </a:path>
                <a:path w="17464" h="21600" stroke="0" extrusionOk="0">
                  <a:moveTo>
                    <a:pt x="17463" y="19808"/>
                  </a:moveTo>
                  <a:cubicBezTo>
                    <a:pt x="14746" y="20990"/>
                    <a:pt x="11815" y="21600"/>
                    <a:pt x="8852" y="21600"/>
                  </a:cubicBezTo>
                  <a:cubicBezTo>
                    <a:pt x="5800" y="21600"/>
                    <a:pt x="2783" y="20953"/>
                    <a:pt x="0" y="19702"/>
                  </a:cubicBezTo>
                  <a:lnTo>
                    <a:pt x="8852" y="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Line 65">
              <a:extLst>
                <a:ext uri="{FF2B5EF4-FFF2-40B4-BE49-F238E27FC236}">
                  <a16:creationId xmlns:a16="http://schemas.microsoft.com/office/drawing/2014/main" id="{2B342CF7-1E99-5C03-8582-D2EF2FD383BA}"/>
                </a:ext>
              </a:extLst>
            </p:cNvPr>
            <p:cNvSpPr>
              <a:spLocks noChangeShapeType="1"/>
            </p:cNvSpPr>
            <p:nvPr/>
          </p:nvSpPr>
          <p:spPr bwMode="auto">
            <a:xfrm>
              <a:off x="5678488" y="5165725"/>
              <a:ext cx="0" cy="1206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 name="Rectangle 66">
              <a:extLst>
                <a:ext uri="{FF2B5EF4-FFF2-40B4-BE49-F238E27FC236}">
                  <a16:creationId xmlns:a16="http://schemas.microsoft.com/office/drawing/2014/main" id="{9543671F-BD7A-AC28-53A8-1FA22A988EF9}"/>
                </a:ext>
              </a:extLst>
            </p:cNvPr>
            <p:cNvSpPr>
              <a:spLocks noChangeArrowheads="1"/>
            </p:cNvSpPr>
            <p:nvPr/>
          </p:nvSpPr>
          <p:spPr bwMode="auto">
            <a:xfrm>
              <a:off x="4252913" y="5386388"/>
              <a:ext cx="2444750" cy="38100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 name="Arc 67">
              <a:extLst>
                <a:ext uri="{FF2B5EF4-FFF2-40B4-BE49-F238E27FC236}">
                  <a16:creationId xmlns:a16="http://schemas.microsoft.com/office/drawing/2014/main" id="{85271C8C-47C4-B8C5-B6E4-724AAC6C45B4}"/>
                </a:ext>
              </a:extLst>
            </p:cNvPr>
            <p:cNvSpPr>
              <a:spLocks/>
            </p:cNvSpPr>
            <p:nvPr/>
          </p:nvSpPr>
          <p:spPr bwMode="auto">
            <a:xfrm>
              <a:off x="5232400" y="5980113"/>
              <a:ext cx="107950" cy="95250"/>
            </a:xfrm>
            <a:custGeom>
              <a:avLst/>
              <a:gdLst>
                <a:gd name="G0" fmla="+- 8746 0 0"/>
                <a:gd name="G1" fmla="+- 21600 0 0"/>
                <a:gd name="G2" fmla="+- 21600 0 0"/>
                <a:gd name="T0" fmla="*/ 0 w 17255"/>
                <a:gd name="T1" fmla="*/ 1850 h 21600"/>
                <a:gd name="T2" fmla="*/ 17255 w 17255"/>
                <a:gd name="T3" fmla="*/ 1746 h 21600"/>
                <a:gd name="T4" fmla="*/ 8746 w 17255"/>
                <a:gd name="T5" fmla="*/ 21600 h 21600"/>
              </a:gdLst>
              <a:ahLst/>
              <a:cxnLst>
                <a:cxn ang="0">
                  <a:pos x="T0" y="T1"/>
                </a:cxn>
                <a:cxn ang="0">
                  <a:pos x="T2" y="T3"/>
                </a:cxn>
                <a:cxn ang="0">
                  <a:pos x="T4" y="T5"/>
                </a:cxn>
              </a:cxnLst>
              <a:rect l="0" t="0" r="r" b="b"/>
              <a:pathLst>
                <a:path w="17255" h="21600" fill="none" extrusionOk="0">
                  <a:moveTo>
                    <a:pt x="-1" y="1849"/>
                  </a:moveTo>
                  <a:cubicBezTo>
                    <a:pt x="2754" y="630"/>
                    <a:pt x="5733" y="0"/>
                    <a:pt x="8746" y="0"/>
                  </a:cubicBezTo>
                  <a:cubicBezTo>
                    <a:pt x="11671" y="0"/>
                    <a:pt x="14566" y="594"/>
                    <a:pt x="17254" y="1746"/>
                  </a:cubicBezTo>
                </a:path>
                <a:path w="17255" h="21600" stroke="0" extrusionOk="0">
                  <a:moveTo>
                    <a:pt x="-1" y="1849"/>
                  </a:moveTo>
                  <a:cubicBezTo>
                    <a:pt x="2754" y="630"/>
                    <a:pt x="5733" y="0"/>
                    <a:pt x="8746" y="0"/>
                  </a:cubicBezTo>
                  <a:cubicBezTo>
                    <a:pt x="11671" y="0"/>
                    <a:pt x="14566" y="594"/>
                    <a:pt x="17254" y="1746"/>
                  </a:cubicBezTo>
                  <a:lnTo>
                    <a:pt x="8746" y="2160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 name="Arc 68">
              <a:extLst>
                <a:ext uri="{FF2B5EF4-FFF2-40B4-BE49-F238E27FC236}">
                  <a16:creationId xmlns:a16="http://schemas.microsoft.com/office/drawing/2014/main" id="{4A129E42-FF98-0BCA-3375-649CED327925}"/>
                </a:ext>
              </a:extLst>
            </p:cNvPr>
            <p:cNvSpPr>
              <a:spLocks/>
            </p:cNvSpPr>
            <p:nvPr/>
          </p:nvSpPr>
          <p:spPr bwMode="auto">
            <a:xfrm>
              <a:off x="5232400" y="5773738"/>
              <a:ext cx="107950" cy="95250"/>
            </a:xfrm>
            <a:custGeom>
              <a:avLst/>
              <a:gdLst>
                <a:gd name="G0" fmla="+- 8852 0 0"/>
                <a:gd name="G1" fmla="+- 0 0 0"/>
                <a:gd name="G2" fmla="+- 21600 0 0"/>
                <a:gd name="T0" fmla="*/ 17464 w 17464"/>
                <a:gd name="T1" fmla="*/ 19809 h 21600"/>
                <a:gd name="T2" fmla="*/ 0 w 17464"/>
                <a:gd name="T3" fmla="*/ 19703 h 21600"/>
                <a:gd name="T4" fmla="*/ 8852 w 17464"/>
                <a:gd name="T5" fmla="*/ 0 h 21600"/>
              </a:gdLst>
              <a:ahLst/>
              <a:cxnLst>
                <a:cxn ang="0">
                  <a:pos x="T0" y="T1"/>
                </a:cxn>
                <a:cxn ang="0">
                  <a:pos x="T2" y="T3"/>
                </a:cxn>
                <a:cxn ang="0">
                  <a:pos x="T4" y="T5"/>
                </a:cxn>
              </a:cxnLst>
              <a:rect l="0" t="0" r="r" b="b"/>
              <a:pathLst>
                <a:path w="17464" h="21600" fill="none" extrusionOk="0">
                  <a:moveTo>
                    <a:pt x="17463" y="19808"/>
                  </a:moveTo>
                  <a:cubicBezTo>
                    <a:pt x="14746" y="20990"/>
                    <a:pt x="11815" y="21600"/>
                    <a:pt x="8852" y="21600"/>
                  </a:cubicBezTo>
                  <a:cubicBezTo>
                    <a:pt x="5800" y="21600"/>
                    <a:pt x="2783" y="20953"/>
                    <a:pt x="0" y="19702"/>
                  </a:cubicBezTo>
                </a:path>
                <a:path w="17464" h="21600" stroke="0" extrusionOk="0">
                  <a:moveTo>
                    <a:pt x="17463" y="19808"/>
                  </a:moveTo>
                  <a:cubicBezTo>
                    <a:pt x="14746" y="20990"/>
                    <a:pt x="11815" y="21600"/>
                    <a:pt x="8852" y="21600"/>
                  </a:cubicBezTo>
                  <a:cubicBezTo>
                    <a:pt x="5800" y="21600"/>
                    <a:pt x="2783" y="20953"/>
                    <a:pt x="0" y="19702"/>
                  </a:cubicBezTo>
                  <a:lnTo>
                    <a:pt x="8852" y="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 name="Line 69">
              <a:extLst>
                <a:ext uri="{FF2B5EF4-FFF2-40B4-BE49-F238E27FC236}">
                  <a16:creationId xmlns:a16="http://schemas.microsoft.com/office/drawing/2014/main" id="{9105C6D6-A2AE-A171-CCDD-3533DF318820}"/>
                </a:ext>
              </a:extLst>
            </p:cNvPr>
            <p:cNvSpPr>
              <a:spLocks noChangeShapeType="1"/>
            </p:cNvSpPr>
            <p:nvPr/>
          </p:nvSpPr>
          <p:spPr bwMode="auto">
            <a:xfrm>
              <a:off x="5284788" y="5868988"/>
              <a:ext cx="0" cy="1206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 name="Arc 70">
              <a:extLst>
                <a:ext uri="{FF2B5EF4-FFF2-40B4-BE49-F238E27FC236}">
                  <a16:creationId xmlns:a16="http://schemas.microsoft.com/office/drawing/2014/main" id="{E5E14663-DCC8-5E33-863B-8DD46A3EA618}"/>
                </a:ext>
              </a:extLst>
            </p:cNvPr>
            <p:cNvSpPr>
              <a:spLocks/>
            </p:cNvSpPr>
            <p:nvPr/>
          </p:nvSpPr>
          <p:spPr bwMode="auto">
            <a:xfrm>
              <a:off x="5626100" y="5980113"/>
              <a:ext cx="107950" cy="95250"/>
            </a:xfrm>
            <a:custGeom>
              <a:avLst/>
              <a:gdLst>
                <a:gd name="G0" fmla="+- 8746 0 0"/>
                <a:gd name="G1" fmla="+- 21600 0 0"/>
                <a:gd name="G2" fmla="+- 21600 0 0"/>
                <a:gd name="T0" fmla="*/ 0 w 17255"/>
                <a:gd name="T1" fmla="*/ 1850 h 21600"/>
                <a:gd name="T2" fmla="*/ 17255 w 17255"/>
                <a:gd name="T3" fmla="*/ 1746 h 21600"/>
                <a:gd name="T4" fmla="*/ 8746 w 17255"/>
                <a:gd name="T5" fmla="*/ 21600 h 21600"/>
              </a:gdLst>
              <a:ahLst/>
              <a:cxnLst>
                <a:cxn ang="0">
                  <a:pos x="T0" y="T1"/>
                </a:cxn>
                <a:cxn ang="0">
                  <a:pos x="T2" y="T3"/>
                </a:cxn>
                <a:cxn ang="0">
                  <a:pos x="T4" y="T5"/>
                </a:cxn>
              </a:cxnLst>
              <a:rect l="0" t="0" r="r" b="b"/>
              <a:pathLst>
                <a:path w="17255" h="21600" fill="none" extrusionOk="0">
                  <a:moveTo>
                    <a:pt x="-1" y="1849"/>
                  </a:moveTo>
                  <a:cubicBezTo>
                    <a:pt x="2754" y="630"/>
                    <a:pt x="5733" y="0"/>
                    <a:pt x="8746" y="0"/>
                  </a:cubicBezTo>
                  <a:cubicBezTo>
                    <a:pt x="11671" y="0"/>
                    <a:pt x="14566" y="594"/>
                    <a:pt x="17254" y="1746"/>
                  </a:cubicBezTo>
                </a:path>
                <a:path w="17255" h="21600" stroke="0" extrusionOk="0">
                  <a:moveTo>
                    <a:pt x="-1" y="1849"/>
                  </a:moveTo>
                  <a:cubicBezTo>
                    <a:pt x="2754" y="630"/>
                    <a:pt x="5733" y="0"/>
                    <a:pt x="8746" y="0"/>
                  </a:cubicBezTo>
                  <a:cubicBezTo>
                    <a:pt x="11671" y="0"/>
                    <a:pt x="14566" y="594"/>
                    <a:pt x="17254" y="1746"/>
                  </a:cubicBezTo>
                  <a:lnTo>
                    <a:pt x="8746" y="2160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 name="Arc 71">
              <a:extLst>
                <a:ext uri="{FF2B5EF4-FFF2-40B4-BE49-F238E27FC236}">
                  <a16:creationId xmlns:a16="http://schemas.microsoft.com/office/drawing/2014/main" id="{D6FC65A7-5725-3DF3-4233-4DE545EE278C}"/>
                </a:ext>
              </a:extLst>
            </p:cNvPr>
            <p:cNvSpPr>
              <a:spLocks/>
            </p:cNvSpPr>
            <p:nvPr/>
          </p:nvSpPr>
          <p:spPr bwMode="auto">
            <a:xfrm>
              <a:off x="5626100" y="5773738"/>
              <a:ext cx="107950" cy="95250"/>
            </a:xfrm>
            <a:custGeom>
              <a:avLst/>
              <a:gdLst>
                <a:gd name="G0" fmla="+- 8852 0 0"/>
                <a:gd name="G1" fmla="+- 0 0 0"/>
                <a:gd name="G2" fmla="+- 21600 0 0"/>
                <a:gd name="T0" fmla="*/ 17464 w 17464"/>
                <a:gd name="T1" fmla="*/ 19809 h 21600"/>
                <a:gd name="T2" fmla="*/ 0 w 17464"/>
                <a:gd name="T3" fmla="*/ 19703 h 21600"/>
                <a:gd name="T4" fmla="*/ 8852 w 17464"/>
                <a:gd name="T5" fmla="*/ 0 h 21600"/>
              </a:gdLst>
              <a:ahLst/>
              <a:cxnLst>
                <a:cxn ang="0">
                  <a:pos x="T0" y="T1"/>
                </a:cxn>
                <a:cxn ang="0">
                  <a:pos x="T2" y="T3"/>
                </a:cxn>
                <a:cxn ang="0">
                  <a:pos x="T4" y="T5"/>
                </a:cxn>
              </a:cxnLst>
              <a:rect l="0" t="0" r="r" b="b"/>
              <a:pathLst>
                <a:path w="17464" h="21600" fill="none" extrusionOk="0">
                  <a:moveTo>
                    <a:pt x="17463" y="19808"/>
                  </a:moveTo>
                  <a:cubicBezTo>
                    <a:pt x="14746" y="20990"/>
                    <a:pt x="11815" y="21600"/>
                    <a:pt x="8852" y="21600"/>
                  </a:cubicBezTo>
                  <a:cubicBezTo>
                    <a:pt x="5800" y="21600"/>
                    <a:pt x="2783" y="20953"/>
                    <a:pt x="0" y="19702"/>
                  </a:cubicBezTo>
                </a:path>
                <a:path w="17464" h="21600" stroke="0" extrusionOk="0">
                  <a:moveTo>
                    <a:pt x="17463" y="19808"/>
                  </a:moveTo>
                  <a:cubicBezTo>
                    <a:pt x="14746" y="20990"/>
                    <a:pt x="11815" y="21600"/>
                    <a:pt x="8852" y="21600"/>
                  </a:cubicBezTo>
                  <a:cubicBezTo>
                    <a:pt x="5800" y="21600"/>
                    <a:pt x="2783" y="20953"/>
                    <a:pt x="0" y="19702"/>
                  </a:cubicBezTo>
                  <a:lnTo>
                    <a:pt x="8852" y="0"/>
                  </a:lnTo>
                  <a:close/>
                </a:path>
              </a:pathLst>
            </a:custGeom>
            <a:solidFill>
              <a:srgbClr val="000000"/>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 name="Line 72">
              <a:extLst>
                <a:ext uri="{FF2B5EF4-FFF2-40B4-BE49-F238E27FC236}">
                  <a16:creationId xmlns:a16="http://schemas.microsoft.com/office/drawing/2014/main" id="{F1901488-FDCD-B854-22E6-36A5FB897F5B}"/>
                </a:ext>
              </a:extLst>
            </p:cNvPr>
            <p:cNvSpPr>
              <a:spLocks noChangeShapeType="1"/>
            </p:cNvSpPr>
            <p:nvPr/>
          </p:nvSpPr>
          <p:spPr bwMode="auto">
            <a:xfrm>
              <a:off x="5678488" y="5868988"/>
              <a:ext cx="0" cy="1206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 name="Rectangle 73">
              <a:extLst>
                <a:ext uri="{FF2B5EF4-FFF2-40B4-BE49-F238E27FC236}">
                  <a16:creationId xmlns:a16="http://schemas.microsoft.com/office/drawing/2014/main" id="{F6C71834-DD65-F00B-C960-A7B1A5D0F75C}"/>
                </a:ext>
              </a:extLst>
            </p:cNvPr>
            <p:cNvSpPr>
              <a:spLocks noChangeArrowheads="1"/>
            </p:cNvSpPr>
            <p:nvPr/>
          </p:nvSpPr>
          <p:spPr bwMode="auto">
            <a:xfrm>
              <a:off x="4889501" y="5440363"/>
              <a:ext cx="1146149" cy="255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Magnetic Disk</a:t>
              </a:r>
            </a:p>
          </p:txBody>
        </p:sp>
        <p:sp>
          <p:nvSpPr>
            <p:cNvPr id="75" name="Rectangle 74">
              <a:extLst>
                <a:ext uri="{FF2B5EF4-FFF2-40B4-BE49-F238E27FC236}">
                  <a16:creationId xmlns:a16="http://schemas.microsoft.com/office/drawing/2014/main" id="{CF791466-B598-7FEC-005A-B1D23A1748C6}"/>
                </a:ext>
              </a:extLst>
            </p:cNvPr>
            <p:cNvSpPr>
              <a:spLocks noChangeArrowheads="1"/>
            </p:cNvSpPr>
            <p:nvPr/>
          </p:nvSpPr>
          <p:spPr bwMode="auto">
            <a:xfrm>
              <a:off x="4013201" y="6089650"/>
              <a:ext cx="2924175" cy="40163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 name="Rectangle 75">
              <a:extLst>
                <a:ext uri="{FF2B5EF4-FFF2-40B4-BE49-F238E27FC236}">
                  <a16:creationId xmlns:a16="http://schemas.microsoft.com/office/drawing/2014/main" id="{DB77A8ED-E1D9-2AA9-887F-78BDFF07E3EC}"/>
                </a:ext>
              </a:extLst>
            </p:cNvPr>
            <p:cNvSpPr>
              <a:spLocks noChangeArrowheads="1"/>
            </p:cNvSpPr>
            <p:nvPr/>
          </p:nvSpPr>
          <p:spPr bwMode="auto">
            <a:xfrm>
              <a:off x="4846639" y="6148388"/>
              <a:ext cx="1177631" cy="255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Magnetic Tape</a:t>
              </a:r>
            </a:p>
          </p:txBody>
        </p:sp>
      </p:grpSp>
    </p:spTree>
    <p:extLst>
      <p:ext uri="{BB962C8B-B14F-4D97-AF65-F5344CB8AC3E}">
        <p14:creationId xmlns:p14="http://schemas.microsoft.com/office/powerpoint/2010/main" val="3103689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705BAC-C54A-C8FB-05E5-7A1C97C2316C}"/>
              </a:ext>
            </a:extLst>
          </p:cNvPr>
          <p:cNvSpPr>
            <a:spLocks noGrp="1"/>
          </p:cNvSpPr>
          <p:nvPr>
            <p:ph type="title"/>
          </p:nvPr>
        </p:nvSpPr>
        <p:spPr>
          <a:xfrm>
            <a:off x="838200" y="93411"/>
            <a:ext cx="10515600" cy="1325563"/>
          </a:xfrm>
        </p:spPr>
        <p:txBody>
          <a:bodyPr>
            <a:normAutofit/>
          </a:bodyPr>
          <a:lstStyle/>
          <a:p>
            <a:pPr algn="ctr"/>
            <a:r>
              <a:rPr lang="en-IN" sz="3200" dirty="0">
                <a:latin typeface="AppleMyungjo" pitchFamily="2" charset="-127"/>
                <a:ea typeface="AppleMyungjo" pitchFamily="2" charset="-127"/>
                <a:cs typeface="+mn-cs"/>
              </a:rPr>
              <a:t>Memory Hierarchy </a:t>
            </a:r>
            <a:endParaRPr lang="en-US" sz="3200" dirty="0"/>
          </a:p>
        </p:txBody>
      </p:sp>
      <p:sp>
        <p:nvSpPr>
          <p:cNvPr id="4" name="Content Placeholder 3">
            <a:extLst>
              <a:ext uri="{FF2B5EF4-FFF2-40B4-BE49-F238E27FC236}">
                <a16:creationId xmlns:a16="http://schemas.microsoft.com/office/drawing/2014/main" id="{4E2439B7-E8D2-6346-FBEA-08002D3416C5}"/>
              </a:ext>
            </a:extLst>
          </p:cNvPr>
          <p:cNvSpPr>
            <a:spLocks noGrp="1"/>
          </p:cNvSpPr>
          <p:nvPr>
            <p:ph idx="1"/>
          </p:nvPr>
        </p:nvSpPr>
        <p:spPr>
          <a:xfrm>
            <a:off x="643003" y="1002809"/>
            <a:ext cx="10893468" cy="5285256"/>
          </a:xfrm>
        </p:spPr>
        <p:txBody>
          <a:bodyPr>
            <a:noAutofit/>
          </a:bodyPr>
          <a:lstStyle/>
          <a:p>
            <a:r>
              <a:rPr lang="en-US" sz="1800" b="1" i="1" dirty="0">
                <a:solidFill>
                  <a:srgbClr val="C00000"/>
                </a:solidFill>
                <a:latin typeface="AppleMyungjo" pitchFamily="2" charset="-127"/>
                <a:ea typeface="AppleMyungjo" pitchFamily="2" charset="-127"/>
              </a:rPr>
              <a:t>Registers</a:t>
            </a:r>
          </a:p>
          <a:p>
            <a:pPr marL="447675" lvl="1" indent="-223838">
              <a:buFont typeface="System Font Regular"/>
              <a:buChar char="⁃"/>
            </a:pPr>
            <a:r>
              <a:rPr lang="en-US" sz="1800" dirty="0">
                <a:latin typeface="AppleMyungjo" pitchFamily="2" charset="-127"/>
                <a:ea typeface="AppleMyungjo" pitchFamily="2" charset="-127"/>
              </a:rPr>
              <a:t>Internal to the processor</a:t>
            </a:r>
          </a:p>
          <a:p>
            <a:pPr marL="447675" lvl="1" indent="-223838">
              <a:buFont typeface="System Font Regular"/>
              <a:buChar char="⁃"/>
            </a:pPr>
            <a:r>
              <a:rPr lang="en-US" sz="1800" dirty="0">
                <a:latin typeface="AppleMyungjo" pitchFamily="2" charset="-127"/>
                <a:ea typeface="AppleMyungjo" pitchFamily="2" charset="-127"/>
              </a:rPr>
              <a:t>Processor contains few dozen register to hundreds of registers</a:t>
            </a:r>
          </a:p>
          <a:p>
            <a:pPr marL="223838" lvl="1" indent="-223838"/>
            <a:r>
              <a:rPr lang="en-IN" sz="1800" b="1" i="1" dirty="0">
                <a:solidFill>
                  <a:srgbClr val="C00000"/>
                </a:solidFill>
                <a:latin typeface="AppleMyungjo" pitchFamily="2" charset="-127"/>
                <a:ea typeface="AppleMyungjo" pitchFamily="2" charset="-127"/>
              </a:rPr>
              <a:t>Cache</a:t>
            </a:r>
          </a:p>
          <a:p>
            <a:pPr marL="447675" lvl="1" indent="-223838">
              <a:buFont typeface="System Font Regular"/>
              <a:buChar char="⁃"/>
            </a:pPr>
            <a:r>
              <a:rPr lang="en-IN" sz="1800" dirty="0">
                <a:latin typeface="AppleMyungjo" pitchFamily="2" charset="-127"/>
                <a:ea typeface="AppleMyungjo" pitchFamily="2" charset="-127"/>
              </a:rPr>
              <a:t>Very high speed memory that holds data and programs that are mostly used by the CPU.</a:t>
            </a:r>
          </a:p>
          <a:p>
            <a:pPr marL="447675" lvl="1" indent="-223838">
              <a:buFont typeface="System Font Regular"/>
              <a:buChar char="⁃"/>
            </a:pPr>
            <a:r>
              <a:rPr lang="en-IN" sz="1800" dirty="0">
                <a:latin typeface="AppleMyungjo" pitchFamily="2" charset="-127"/>
                <a:ea typeface="AppleMyungjo" pitchFamily="2" charset="-127"/>
              </a:rPr>
              <a:t>Used to compensate the speed difference between main memory access time and processor logic.</a:t>
            </a:r>
          </a:p>
          <a:p>
            <a:pPr marL="447675" lvl="1" indent="-223838">
              <a:buFont typeface="System Font Regular"/>
              <a:buChar char="⁃"/>
            </a:pPr>
            <a:r>
              <a:rPr lang="en-IN" sz="1800" dirty="0">
                <a:latin typeface="AppleMyungjo" pitchFamily="2" charset="-127"/>
                <a:ea typeface="AppleMyungjo" pitchFamily="2" charset="-127"/>
              </a:rPr>
              <a:t>Its access time is close to processor logic clock cycle time.</a:t>
            </a:r>
          </a:p>
          <a:p>
            <a:pPr marL="223838" lvl="1" indent="-223838"/>
            <a:r>
              <a:rPr lang="en-US" sz="1800" b="1" i="1" dirty="0">
                <a:solidFill>
                  <a:srgbClr val="C00000"/>
                </a:solidFill>
                <a:latin typeface="AppleMyungjo" pitchFamily="2" charset="-127"/>
                <a:ea typeface="AppleMyungjo" pitchFamily="2" charset="-127"/>
              </a:rPr>
              <a:t>Main memory</a:t>
            </a:r>
          </a:p>
          <a:p>
            <a:pPr marL="447675" lvl="1" indent="-223838">
              <a:buFont typeface="System Font Regular"/>
              <a:buChar char="⁃"/>
            </a:pPr>
            <a:r>
              <a:rPr lang="en-IN" sz="1800" dirty="0">
                <a:latin typeface="AppleMyungjo" pitchFamily="2" charset="-127"/>
                <a:ea typeface="AppleMyungjo" pitchFamily="2" charset="-127"/>
              </a:rPr>
              <a:t>Primary internal memory of the computer.</a:t>
            </a:r>
          </a:p>
          <a:p>
            <a:pPr marL="447675" lvl="1" indent="-223838">
              <a:buFont typeface="System Font Regular"/>
              <a:buChar char="⁃"/>
            </a:pPr>
            <a:r>
              <a:rPr lang="en-IN" sz="1800" dirty="0">
                <a:latin typeface="AppleMyungjo" pitchFamily="2" charset="-127"/>
                <a:ea typeface="AppleMyungjo" pitchFamily="2" charset="-127"/>
              </a:rPr>
              <a:t>Communicates directly with the CPU.</a:t>
            </a:r>
          </a:p>
          <a:p>
            <a:pPr marL="447675" lvl="1" indent="-223838">
              <a:buFont typeface="System Font Regular"/>
              <a:buChar char="⁃"/>
            </a:pPr>
            <a:r>
              <a:rPr lang="en-IN" sz="1800" dirty="0">
                <a:latin typeface="AppleMyungjo" pitchFamily="2" charset="-127"/>
                <a:ea typeface="AppleMyungjo" pitchFamily="2" charset="-127"/>
              </a:rPr>
              <a:t>Communicates with auxiliary memory through I/O processor</a:t>
            </a:r>
          </a:p>
          <a:p>
            <a:pPr marL="447675" lvl="1" indent="-223838">
              <a:buFont typeface="System Font Regular"/>
              <a:buChar char="⁃"/>
            </a:pPr>
            <a:r>
              <a:rPr lang="en-IN" sz="1800" dirty="0">
                <a:latin typeface="AppleMyungjo" pitchFamily="2" charset="-127"/>
                <a:ea typeface="AppleMyungjo" pitchFamily="2" charset="-127"/>
              </a:rPr>
              <a:t>Usually extended with a high-speed, smaller cache.</a:t>
            </a:r>
          </a:p>
          <a:p>
            <a:pPr marL="223838" lvl="1" indent="-212725"/>
            <a:r>
              <a:rPr lang="en-IN" sz="1800" b="1" i="1" dirty="0">
                <a:solidFill>
                  <a:srgbClr val="C00000"/>
                </a:solidFill>
                <a:latin typeface="AppleMyungjo" pitchFamily="2" charset="-127"/>
                <a:ea typeface="AppleMyungjo" pitchFamily="2" charset="-127"/>
              </a:rPr>
              <a:t>Auxiliary memory </a:t>
            </a:r>
            <a:r>
              <a:rPr lang="en-IN" sz="1800" dirty="0">
                <a:latin typeface="AppleMyungjo" pitchFamily="2" charset="-127"/>
                <a:ea typeface="AppleMyungjo" pitchFamily="2" charset="-127"/>
              </a:rPr>
              <a:t>- provide backup storage. Ex: Magnetic disks and magnetic tapes</a:t>
            </a:r>
          </a:p>
          <a:p>
            <a:pPr marL="447675" lvl="1" indent="-223838" algn="just">
              <a:buFont typeface="System Font Regular"/>
              <a:buChar char="⁃"/>
            </a:pPr>
            <a:r>
              <a:rPr lang="en-IN" sz="1800" dirty="0">
                <a:latin typeface="AppleMyungjo" pitchFamily="2" charset="-127"/>
                <a:ea typeface="AppleMyungjo" pitchFamily="2" charset="-127"/>
              </a:rPr>
              <a:t>Used for storing system programs, large data files and other backup information.</a:t>
            </a:r>
          </a:p>
          <a:p>
            <a:pPr marL="447675" lvl="1" indent="-223838" algn="just">
              <a:buFont typeface="System Font Regular"/>
              <a:buChar char="⁃"/>
            </a:pPr>
            <a:r>
              <a:rPr lang="en-IN" sz="1800" dirty="0">
                <a:latin typeface="AppleMyungjo" pitchFamily="2" charset="-127"/>
                <a:ea typeface="AppleMyungjo" pitchFamily="2" charset="-127"/>
              </a:rPr>
              <a:t>Holds information that is not currently used by CPU and transferred to main memory when needed.</a:t>
            </a:r>
            <a:endParaRPr lang="en-US" sz="1800" dirty="0">
              <a:solidFill>
                <a:schemeClr val="tx1"/>
              </a:solidFill>
            </a:endParaRPr>
          </a:p>
          <a:p>
            <a:pPr marL="185738" lvl="1" indent="0">
              <a:buNone/>
            </a:pPr>
            <a:r>
              <a:rPr lang="en-US" sz="1800" b="1" i="1" dirty="0">
                <a:solidFill>
                  <a:srgbClr val="0070C0"/>
                </a:solidFill>
                <a:latin typeface="AppleMyungjo" pitchFamily="2" charset="-127"/>
                <a:ea typeface="AppleMyungjo" pitchFamily="2" charset="-127"/>
              </a:rPr>
              <a:t>Goal : obtain highest possible average access speed with minimal cost of entire memory system</a:t>
            </a:r>
          </a:p>
          <a:p>
            <a:pPr lvl="1"/>
            <a:endParaRPr lang="en-IN" sz="1800" dirty="0">
              <a:latin typeface="AppleMyungjo" pitchFamily="2" charset="-127"/>
              <a:ea typeface="AppleMyungjo" pitchFamily="2" charset="-127"/>
            </a:endParaRPr>
          </a:p>
        </p:txBody>
      </p:sp>
    </p:spTree>
    <p:extLst>
      <p:ext uri="{BB962C8B-B14F-4D97-AF65-F5344CB8AC3E}">
        <p14:creationId xmlns:p14="http://schemas.microsoft.com/office/powerpoint/2010/main" val="4291737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A3EB-4783-FFE2-BB08-C13BA001D8A6}"/>
              </a:ext>
            </a:extLst>
          </p:cNvPr>
          <p:cNvSpPr>
            <a:spLocks noGrp="1"/>
          </p:cNvSpPr>
          <p:nvPr>
            <p:ph type="title"/>
          </p:nvPr>
        </p:nvSpPr>
        <p:spPr>
          <a:xfrm>
            <a:off x="838199" y="132856"/>
            <a:ext cx="10515600" cy="1325563"/>
          </a:xfrm>
        </p:spPr>
        <p:txBody>
          <a:bodyPr/>
          <a:lstStyle/>
          <a:p>
            <a:pPr algn="ctr"/>
            <a:r>
              <a:rPr lang="en-US" sz="3200" dirty="0">
                <a:latin typeface="AppleMyungjo" pitchFamily="2" charset="-127"/>
                <a:ea typeface="AppleMyungjo" pitchFamily="2" charset="-127"/>
                <a:cs typeface="+mn-cs"/>
              </a:rPr>
              <a:t>Semiconductor Main memory</a:t>
            </a:r>
          </a:p>
        </p:txBody>
      </p:sp>
      <p:sp>
        <p:nvSpPr>
          <p:cNvPr id="3" name="Content Placeholder 2">
            <a:extLst>
              <a:ext uri="{FF2B5EF4-FFF2-40B4-BE49-F238E27FC236}">
                <a16:creationId xmlns:a16="http://schemas.microsoft.com/office/drawing/2014/main" id="{DACF2F6A-30C1-62DA-8AE9-447B78F4EEB7}"/>
              </a:ext>
            </a:extLst>
          </p:cNvPr>
          <p:cNvSpPr>
            <a:spLocks noGrp="1"/>
          </p:cNvSpPr>
          <p:nvPr>
            <p:ph idx="1"/>
          </p:nvPr>
        </p:nvSpPr>
        <p:spPr>
          <a:xfrm>
            <a:off x="623457" y="1114028"/>
            <a:ext cx="10730345" cy="5286772"/>
          </a:xfrm>
        </p:spPr>
        <p:txBody>
          <a:bodyPr>
            <a:normAutofit/>
          </a:bodyPr>
          <a:lstStyle/>
          <a:p>
            <a:pPr algn="just">
              <a:lnSpc>
                <a:spcPts val="2780"/>
              </a:lnSpc>
            </a:pPr>
            <a:r>
              <a:rPr lang="en-IN" sz="2000" b="1" dirty="0">
                <a:solidFill>
                  <a:srgbClr val="7030A0"/>
                </a:solidFill>
                <a:latin typeface="AppleMyungjo" pitchFamily="2" charset="-127"/>
                <a:ea typeface="AppleMyungjo" pitchFamily="2" charset="-127"/>
              </a:rPr>
              <a:t>Main memory </a:t>
            </a:r>
            <a:r>
              <a:rPr lang="en-IN" sz="2000" b="1" dirty="0">
                <a:solidFill>
                  <a:srgbClr val="002060"/>
                </a:solidFill>
                <a:latin typeface="AppleMyungjo" pitchFamily="2" charset="-127"/>
                <a:ea typeface="AppleMyungjo" pitchFamily="2" charset="-127"/>
              </a:rPr>
              <a:t>- central unit of a computer that store </a:t>
            </a:r>
            <a:r>
              <a:rPr lang="en-IN" sz="2000" b="1" dirty="0">
                <a:solidFill>
                  <a:srgbClr val="7030A0"/>
                </a:solidFill>
                <a:latin typeface="AppleMyungjo" pitchFamily="2" charset="-127"/>
                <a:ea typeface="AppleMyungjo" pitchFamily="2" charset="-127"/>
              </a:rPr>
              <a:t>programs and data </a:t>
            </a:r>
            <a:r>
              <a:rPr lang="en-IN" sz="2000" b="1" dirty="0">
                <a:solidFill>
                  <a:srgbClr val="002060"/>
                </a:solidFill>
                <a:latin typeface="AppleMyungjo" pitchFamily="2" charset="-127"/>
                <a:ea typeface="AppleMyungjo" pitchFamily="2" charset="-127"/>
              </a:rPr>
              <a:t>during its operations, relatively large and fast memory. </a:t>
            </a:r>
          </a:p>
          <a:p>
            <a:pPr algn="just">
              <a:lnSpc>
                <a:spcPts val="2780"/>
              </a:lnSpc>
            </a:pPr>
            <a:r>
              <a:rPr lang="en-IN" sz="2000" b="1" dirty="0">
                <a:solidFill>
                  <a:srgbClr val="002060"/>
                </a:solidFill>
                <a:latin typeface="AppleMyungjo" pitchFamily="2" charset="-127"/>
                <a:ea typeface="AppleMyungjo" pitchFamily="2" charset="-127"/>
              </a:rPr>
              <a:t>They exhibit </a:t>
            </a:r>
            <a:r>
              <a:rPr lang="en-IN" sz="2000" b="1" dirty="0">
                <a:solidFill>
                  <a:srgbClr val="7030A0"/>
                </a:solidFill>
                <a:latin typeface="AppleMyungjo" pitchFamily="2" charset="-127"/>
                <a:ea typeface="AppleMyungjo" pitchFamily="2" charset="-127"/>
              </a:rPr>
              <a:t>two stable states(binary 0 or 1) </a:t>
            </a:r>
            <a:r>
              <a:rPr lang="en-IN" sz="2000" b="1" dirty="0">
                <a:solidFill>
                  <a:srgbClr val="002060"/>
                </a:solidFill>
                <a:latin typeface="AppleMyungjo" pitchFamily="2" charset="-127"/>
                <a:ea typeface="AppleMyungjo" pitchFamily="2" charset="-127"/>
              </a:rPr>
              <a:t>and employ semiconductor ICs. </a:t>
            </a:r>
          </a:p>
          <a:p>
            <a:pPr algn="just">
              <a:lnSpc>
                <a:spcPts val="2780"/>
              </a:lnSpc>
            </a:pPr>
            <a:r>
              <a:rPr lang="en-IN" sz="2000" b="1" dirty="0">
                <a:solidFill>
                  <a:srgbClr val="002060"/>
                </a:solidFill>
                <a:latin typeface="AppleMyungjo" pitchFamily="2" charset="-127"/>
                <a:ea typeface="AppleMyungjo" pitchFamily="2" charset="-127"/>
              </a:rPr>
              <a:t>Basic element is the memory cell that store one bit of information and are usually organized as an array[rows x columns].</a:t>
            </a:r>
          </a:p>
          <a:p>
            <a:pPr algn="just">
              <a:lnSpc>
                <a:spcPts val="2780"/>
              </a:lnSpc>
            </a:pPr>
            <a:endParaRPr lang="en-IN" sz="2000" b="1" dirty="0">
              <a:solidFill>
                <a:srgbClr val="002060"/>
              </a:solidFill>
              <a:latin typeface="AppleMyungjo" pitchFamily="2" charset="-127"/>
              <a:ea typeface="AppleMyungjo" pitchFamily="2" charset="-127"/>
            </a:endParaRPr>
          </a:p>
          <a:p>
            <a:pPr algn="just">
              <a:lnSpc>
                <a:spcPts val="2780"/>
              </a:lnSpc>
            </a:pPr>
            <a:r>
              <a:rPr lang="en-IN" sz="2000" b="1" dirty="0">
                <a:solidFill>
                  <a:srgbClr val="002060"/>
                </a:solidFill>
                <a:latin typeface="AppleMyungjo" pitchFamily="2" charset="-127"/>
                <a:ea typeface="AppleMyungjo" pitchFamily="2" charset="-127"/>
              </a:rPr>
              <a:t>It has three functional terminals which carries the signal. </a:t>
            </a:r>
          </a:p>
          <a:p>
            <a:pPr lvl="1" algn="just">
              <a:lnSpc>
                <a:spcPts val="2780"/>
              </a:lnSpc>
            </a:pPr>
            <a:r>
              <a:rPr lang="en-IN" sz="2000" b="1" dirty="0">
                <a:solidFill>
                  <a:srgbClr val="7030A0"/>
                </a:solidFill>
                <a:latin typeface="AppleMyungjo" pitchFamily="2" charset="-127"/>
                <a:ea typeface="AppleMyungjo" pitchFamily="2" charset="-127"/>
              </a:rPr>
              <a:t>Select </a:t>
            </a:r>
            <a:r>
              <a:rPr lang="en-IN" sz="2000" b="1" dirty="0">
                <a:solidFill>
                  <a:srgbClr val="002060"/>
                </a:solidFill>
                <a:latin typeface="AppleMyungjo" pitchFamily="2" charset="-127"/>
                <a:ea typeface="AppleMyungjo" pitchFamily="2" charset="-127"/>
              </a:rPr>
              <a:t>: selects the cell. </a:t>
            </a:r>
          </a:p>
          <a:p>
            <a:pPr lvl="1" algn="just">
              <a:lnSpc>
                <a:spcPts val="2780"/>
              </a:lnSpc>
            </a:pPr>
            <a:r>
              <a:rPr lang="en-IN" sz="2000" b="1" dirty="0">
                <a:solidFill>
                  <a:srgbClr val="7030A0"/>
                </a:solidFill>
                <a:latin typeface="AppleMyungjo" pitchFamily="2" charset="-127"/>
                <a:ea typeface="AppleMyungjo" pitchFamily="2" charset="-127"/>
              </a:rPr>
              <a:t>Data in </a:t>
            </a:r>
            <a:r>
              <a:rPr lang="en-IN" sz="2000" b="1" dirty="0">
                <a:solidFill>
                  <a:srgbClr val="002060"/>
                </a:solidFill>
                <a:latin typeface="AppleMyungjo" pitchFamily="2" charset="-127"/>
                <a:ea typeface="AppleMyungjo" pitchFamily="2" charset="-127"/>
              </a:rPr>
              <a:t>: used to write data(0 or 1)</a:t>
            </a:r>
          </a:p>
          <a:p>
            <a:pPr lvl="1" algn="just">
              <a:lnSpc>
                <a:spcPts val="2780"/>
              </a:lnSpc>
            </a:pPr>
            <a:r>
              <a:rPr lang="en-IN" sz="2000" b="1" dirty="0">
                <a:solidFill>
                  <a:srgbClr val="7030A0"/>
                </a:solidFill>
                <a:latin typeface="AppleMyungjo" pitchFamily="2" charset="-127"/>
                <a:ea typeface="AppleMyungjo" pitchFamily="2" charset="-127"/>
              </a:rPr>
              <a:t>Sense/Data out </a:t>
            </a:r>
            <a:r>
              <a:rPr lang="en-IN" sz="2000" b="1" dirty="0">
                <a:solidFill>
                  <a:srgbClr val="002060"/>
                </a:solidFill>
                <a:latin typeface="AppleMyungjo" pitchFamily="2" charset="-127"/>
                <a:ea typeface="AppleMyungjo" pitchFamily="2" charset="-127"/>
              </a:rPr>
              <a:t>: used to read the cell state. </a:t>
            </a:r>
          </a:p>
          <a:p>
            <a:pPr lvl="1" algn="just">
              <a:lnSpc>
                <a:spcPts val="2780"/>
              </a:lnSpc>
            </a:pPr>
            <a:r>
              <a:rPr lang="en-IN" sz="2000" b="1" dirty="0">
                <a:solidFill>
                  <a:srgbClr val="7030A0"/>
                </a:solidFill>
                <a:latin typeface="AppleMyungjo" pitchFamily="2" charset="-127"/>
                <a:ea typeface="AppleMyungjo" pitchFamily="2" charset="-127"/>
              </a:rPr>
              <a:t>Control</a:t>
            </a:r>
            <a:r>
              <a:rPr lang="en-IN" sz="2000" b="1" dirty="0">
                <a:solidFill>
                  <a:srgbClr val="002060"/>
                </a:solidFill>
                <a:latin typeface="AppleMyungjo" pitchFamily="2" charset="-127"/>
                <a:ea typeface="AppleMyungjo" pitchFamily="2" charset="-127"/>
              </a:rPr>
              <a:t> : It controls the function i.e., it indicates read and write.</a:t>
            </a:r>
            <a:endParaRPr lang="en-US" sz="2000" b="1" dirty="0">
              <a:solidFill>
                <a:srgbClr val="002060"/>
              </a:solidFill>
              <a:latin typeface="AppleMyungjo" pitchFamily="2" charset="-127"/>
              <a:ea typeface="AppleMyungjo" pitchFamily="2" charset="-127"/>
            </a:endParaRPr>
          </a:p>
        </p:txBody>
      </p:sp>
      <p:pic>
        <p:nvPicPr>
          <p:cNvPr id="1026" name="Picture 2" descr="CSCI 4717/5717 Computer Architecture Basic Organization Memory Cell  Operation ROM Uses">
            <a:extLst>
              <a:ext uri="{FF2B5EF4-FFF2-40B4-BE49-F238E27FC236}">
                <a16:creationId xmlns:a16="http://schemas.microsoft.com/office/drawing/2014/main" id="{05B60340-E6A8-B0F5-60AB-9718658EB6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8872" y="3429000"/>
            <a:ext cx="3474928" cy="162868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656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61A0D-B8A8-EC0C-821F-2CCC7818753F}"/>
              </a:ext>
            </a:extLst>
          </p:cNvPr>
          <p:cNvSpPr>
            <a:spLocks noGrp="1"/>
          </p:cNvSpPr>
          <p:nvPr>
            <p:ph type="title"/>
          </p:nvPr>
        </p:nvSpPr>
        <p:spPr>
          <a:xfrm>
            <a:off x="838200" y="105791"/>
            <a:ext cx="10515600" cy="1325563"/>
          </a:xfrm>
        </p:spPr>
        <p:txBody>
          <a:bodyPr/>
          <a:lstStyle/>
          <a:p>
            <a:pPr algn="ctr"/>
            <a:r>
              <a:rPr lang="en-US" sz="3200" dirty="0">
                <a:latin typeface="AppleMyungjo" pitchFamily="2" charset="-127"/>
                <a:ea typeface="AppleMyungjo" pitchFamily="2" charset="-127"/>
                <a:cs typeface="+mn-cs"/>
              </a:rPr>
              <a:t>Main memory</a:t>
            </a:r>
          </a:p>
        </p:txBody>
      </p:sp>
      <p:sp>
        <p:nvSpPr>
          <p:cNvPr id="3" name="Content Placeholder 2">
            <a:extLst>
              <a:ext uri="{FF2B5EF4-FFF2-40B4-BE49-F238E27FC236}">
                <a16:creationId xmlns:a16="http://schemas.microsoft.com/office/drawing/2014/main" id="{9C7334D0-69BE-A30A-FE55-1EFE965A9137}"/>
              </a:ext>
            </a:extLst>
          </p:cNvPr>
          <p:cNvSpPr>
            <a:spLocks noGrp="1"/>
          </p:cNvSpPr>
          <p:nvPr>
            <p:ph idx="1"/>
          </p:nvPr>
        </p:nvSpPr>
        <p:spPr>
          <a:xfrm>
            <a:off x="838200" y="1129397"/>
            <a:ext cx="10812497" cy="5244450"/>
          </a:xfrm>
        </p:spPr>
        <p:txBody>
          <a:bodyPr>
            <a:noAutofit/>
          </a:bodyPr>
          <a:lstStyle/>
          <a:p>
            <a:pPr marL="0" marR="453390" lvl="0" indent="0" algn="just">
              <a:lnSpc>
                <a:spcPts val="2780"/>
              </a:lnSpc>
              <a:spcBef>
                <a:spcPts val="650"/>
              </a:spcBef>
              <a:spcAft>
                <a:spcPts val="0"/>
              </a:spcAft>
              <a:buSzPct val="75000"/>
              <a:buNone/>
              <a:tabLst>
                <a:tab pos="575310" algn="l"/>
              </a:tabLst>
            </a:pPr>
            <a:r>
              <a:rPr lang="en-US" sz="1900" b="1" dirty="0">
                <a:solidFill>
                  <a:srgbClr val="002060"/>
                </a:solidFill>
                <a:latin typeface="AppleMyungjo" pitchFamily="2" charset="-127"/>
                <a:ea typeface="AppleMyungjo" pitchFamily="2" charset="-127"/>
              </a:rPr>
              <a:t>Main memory in general-purpose computer is made up of RAM, but a portion of the memory may be constructed with ROM chips.</a:t>
            </a:r>
            <a:endParaRPr lang="en-IN" sz="1900" b="1" dirty="0">
              <a:solidFill>
                <a:srgbClr val="002060"/>
              </a:solidFill>
              <a:latin typeface="AppleMyungjo" pitchFamily="2" charset="-127"/>
              <a:ea typeface="AppleMyungjo" pitchFamily="2" charset="-127"/>
            </a:endParaRPr>
          </a:p>
          <a:p>
            <a:pPr marL="342900" marR="361315" lvl="0" indent="-342900" algn="just">
              <a:lnSpc>
                <a:spcPts val="2780"/>
              </a:lnSpc>
              <a:spcBef>
                <a:spcPts val="5"/>
              </a:spcBef>
              <a:spcAft>
                <a:spcPts val="0"/>
              </a:spcAft>
              <a:buSzPct val="75000"/>
              <a:buFont typeface="Arial" panose="020B0604020202020204" pitchFamily="34" charset="0"/>
              <a:buChar char="●"/>
              <a:tabLst>
                <a:tab pos="575310" algn="l"/>
              </a:tabLst>
            </a:pPr>
            <a:r>
              <a:rPr lang="en-US" sz="1900" b="1" dirty="0">
                <a:solidFill>
                  <a:srgbClr val="002060"/>
                </a:solidFill>
                <a:effectLst/>
                <a:latin typeface="AppleMyungjo" pitchFamily="2" charset="-127"/>
                <a:ea typeface="AppleMyungjo" pitchFamily="2" charset="-127"/>
              </a:rPr>
              <a:t>RAM(Random</a:t>
            </a:r>
            <a:r>
              <a:rPr lang="en-US" sz="1900" b="1" spc="-4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Access</a:t>
            </a:r>
            <a:r>
              <a:rPr lang="en-US" sz="1900" b="1" spc="-45"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Memory)</a:t>
            </a:r>
            <a:r>
              <a:rPr lang="en-US" sz="1900" b="1" spc="-1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chips</a:t>
            </a:r>
            <a:r>
              <a:rPr lang="en-US" sz="1900" b="1" spc="-45"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are</a:t>
            </a:r>
            <a:r>
              <a:rPr lang="en-US" sz="1900" b="1" spc="-45"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available</a:t>
            </a:r>
            <a:r>
              <a:rPr lang="en-US" sz="1900" b="1" spc="-45"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in</a:t>
            </a:r>
            <a:r>
              <a:rPr lang="en-US" sz="1900" b="1" spc="-45"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two</a:t>
            </a:r>
            <a:r>
              <a:rPr lang="en-US" sz="1900" b="1" spc="-4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operating</a:t>
            </a:r>
            <a:r>
              <a:rPr lang="en-US" sz="1900" b="1" spc="-45"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modes</a:t>
            </a:r>
            <a:r>
              <a:rPr lang="en-US" sz="1900" b="1" spc="-45" dirty="0">
                <a:solidFill>
                  <a:srgbClr val="002060"/>
                </a:solidFill>
                <a:latin typeface="AppleMyungjo" pitchFamily="2" charset="-127"/>
                <a:ea typeface="AppleMyungjo" pitchFamily="2" charset="-127"/>
              </a:rPr>
              <a:t>: </a:t>
            </a:r>
          </a:p>
          <a:p>
            <a:pPr marR="361315" lvl="1" algn="just">
              <a:lnSpc>
                <a:spcPts val="2780"/>
              </a:lnSpc>
              <a:spcBef>
                <a:spcPts val="5"/>
              </a:spcBef>
              <a:buSzPct val="75000"/>
              <a:buFont typeface="System Font Regular"/>
              <a:buChar char="⁃"/>
              <a:tabLst>
                <a:tab pos="575310" algn="l"/>
              </a:tabLst>
            </a:pPr>
            <a:r>
              <a:rPr lang="en-US" sz="1900" b="1" dirty="0">
                <a:solidFill>
                  <a:srgbClr val="C00000"/>
                </a:solidFill>
                <a:effectLst/>
                <a:latin typeface="AppleMyungjo" pitchFamily="2" charset="-127"/>
                <a:ea typeface="AppleMyungjo" pitchFamily="2" charset="-127"/>
              </a:rPr>
              <a:t>Static</a:t>
            </a:r>
            <a:r>
              <a:rPr lang="en-US" sz="1900" b="1" spc="-305" dirty="0">
                <a:solidFill>
                  <a:srgbClr val="C00000"/>
                </a:solidFill>
                <a:effectLst/>
                <a:latin typeface="AppleMyungjo" pitchFamily="2" charset="-127"/>
                <a:ea typeface="AppleMyungjo" pitchFamily="2" charset="-127"/>
              </a:rPr>
              <a:t> </a:t>
            </a:r>
            <a:endParaRPr lang="en-US" sz="1900" b="1" spc="-305" dirty="0">
              <a:solidFill>
                <a:srgbClr val="C00000"/>
              </a:solidFill>
              <a:latin typeface="AppleMyungjo" pitchFamily="2" charset="-127"/>
              <a:ea typeface="AppleMyungjo" pitchFamily="2" charset="-127"/>
            </a:endParaRPr>
          </a:p>
          <a:p>
            <a:pPr marR="361315" lvl="1" algn="just">
              <a:lnSpc>
                <a:spcPts val="2780"/>
              </a:lnSpc>
              <a:spcBef>
                <a:spcPts val="5"/>
              </a:spcBef>
              <a:buSzPct val="75000"/>
              <a:buFont typeface="System Font Regular"/>
              <a:buChar char="⁃"/>
              <a:tabLst>
                <a:tab pos="575310" algn="l"/>
              </a:tabLst>
            </a:pPr>
            <a:r>
              <a:rPr lang="en-US" sz="1900" b="1" dirty="0">
                <a:solidFill>
                  <a:srgbClr val="C00000"/>
                </a:solidFill>
                <a:effectLst/>
                <a:latin typeface="AppleMyungjo" pitchFamily="2" charset="-127"/>
                <a:ea typeface="AppleMyungjo" pitchFamily="2" charset="-127"/>
              </a:rPr>
              <a:t>Dynamic</a:t>
            </a:r>
            <a:endParaRPr lang="en-IN" sz="1900" b="1" dirty="0">
              <a:solidFill>
                <a:srgbClr val="C00000"/>
              </a:solidFill>
              <a:latin typeface="AppleMyungjo" pitchFamily="2" charset="-127"/>
              <a:ea typeface="AppleMyungjo" pitchFamily="2" charset="-127"/>
            </a:endParaRPr>
          </a:p>
          <a:p>
            <a:pPr marL="654050" marR="361315" lvl="1" indent="-206375" algn="just">
              <a:lnSpc>
                <a:spcPts val="2780"/>
              </a:lnSpc>
              <a:spcBef>
                <a:spcPts val="5"/>
              </a:spcBef>
              <a:buSzPct val="75000"/>
              <a:buFont typeface="System Font Regular"/>
              <a:buChar char="⁃"/>
              <a:tabLst>
                <a:tab pos="574675" algn="l"/>
              </a:tabLst>
            </a:pPr>
            <a:r>
              <a:rPr lang="en-US" sz="1900" b="1" dirty="0">
                <a:solidFill>
                  <a:srgbClr val="002060"/>
                </a:solidFill>
                <a:latin typeface="AppleMyungjo" pitchFamily="2" charset="-127"/>
                <a:ea typeface="AppleMyungjo" pitchFamily="2" charset="-127"/>
              </a:rPr>
              <a:t>Both SRAM and DRAM are types of </a:t>
            </a:r>
            <a:r>
              <a:rPr lang="en-US" sz="1900" b="1" dirty="0">
                <a:solidFill>
                  <a:srgbClr val="C00000"/>
                </a:solidFill>
                <a:latin typeface="AppleMyungjo" pitchFamily="2" charset="-127"/>
                <a:ea typeface="AppleMyungjo" pitchFamily="2" charset="-127"/>
              </a:rPr>
              <a:t>volatile memory</a:t>
            </a:r>
            <a:r>
              <a:rPr lang="en-US" sz="1900" b="1" dirty="0">
                <a:solidFill>
                  <a:srgbClr val="002060"/>
                </a:solidFill>
                <a:latin typeface="AppleMyungjo" pitchFamily="2" charset="-127"/>
                <a:ea typeface="AppleMyungjo" pitchFamily="2" charset="-127"/>
              </a:rPr>
              <a:t>, loose their data when power goes off. </a:t>
            </a:r>
            <a:endParaRPr lang="en-US" sz="1900" b="1" dirty="0">
              <a:solidFill>
                <a:srgbClr val="002060"/>
              </a:solidFill>
              <a:effectLst/>
              <a:latin typeface="AppleMyungjo" pitchFamily="2" charset="-127"/>
              <a:ea typeface="AppleMyungjo" pitchFamily="2" charset="-127"/>
            </a:endParaRPr>
          </a:p>
          <a:p>
            <a:pPr marL="177800" marR="361315" lvl="1" indent="0" algn="just">
              <a:lnSpc>
                <a:spcPts val="2780"/>
              </a:lnSpc>
              <a:spcBef>
                <a:spcPts val="5"/>
              </a:spcBef>
              <a:buSzPct val="75000"/>
              <a:buNone/>
              <a:tabLst>
                <a:tab pos="10928350" algn="l"/>
              </a:tabLst>
            </a:pPr>
            <a:r>
              <a:rPr lang="en-US" sz="1900" b="1" dirty="0">
                <a:solidFill>
                  <a:srgbClr val="C00000"/>
                </a:solidFill>
                <a:effectLst/>
                <a:latin typeface="AppleMyungjo" pitchFamily="2" charset="-127"/>
                <a:ea typeface="AppleMyungjo" pitchFamily="2" charset="-127"/>
              </a:rPr>
              <a:t>Static RAM </a:t>
            </a:r>
          </a:p>
          <a:p>
            <a:pPr marL="409575" marR="361315" lvl="1" indent="-231775" algn="just">
              <a:lnSpc>
                <a:spcPts val="2780"/>
              </a:lnSpc>
              <a:spcBef>
                <a:spcPts val="5"/>
              </a:spcBef>
              <a:buSzPct val="75000"/>
              <a:buFont typeface="System Font Regular"/>
              <a:buChar char="-"/>
              <a:tabLst>
                <a:tab pos="10928350" algn="l"/>
              </a:tabLst>
            </a:pPr>
            <a:r>
              <a:rPr lang="en-US" sz="1900" b="1" dirty="0">
                <a:solidFill>
                  <a:srgbClr val="002060"/>
                </a:solidFill>
                <a:effectLst/>
                <a:latin typeface="AppleMyungjo" pitchFamily="2" charset="-127"/>
                <a:ea typeface="AppleMyungjo" pitchFamily="2" charset="-127"/>
              </a:rPr>
              <a:t>consists of internal flip-flops that store binary information.</a:t>
            </a:r>
            <a:r>
              <a:rPr lang="en-US" sz="1900" b="1" spc="-305"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The</a:t>
            </a:r>
            <a:r>
              <a:rPr lang="en-US" sz="1900" b="1" spc="-3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stored</a:t>
            </a:r>
            <a:r>
              <a:rPr lang="en-US" sz="1900" b="1" spc="-3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information</a:t>
            </a:r>
            <a:r>
              <a:rPr lang="en-US" sz="1900" b="1" spc="-3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is retained as</a:t>
            </a:r>
            <a:r>
              <a:rPr lang="en-US" sz="1900" b="1" spc="-3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long</a:t>
            </a:r>
            <a:r>
              <a:rPr lang="en-US" sz="1900" b="1" spc="-3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as</a:t>
            </a:r>
            <a:r>
              <a:rPr lang="en-US" sz="1900" b="1" spc="-3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power</a:t>
            </a:r>
            <a:r>
              <a:rPr lang="en-US" sz="1900" b="1" spc="-3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is</a:t>
            </a:r>
            <a:r>
              <a:rPr lang="en-US" sz="1900" b="1" spc="-3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applied</a:t>
            </a:r>
            <a:r>
              <a:rPr lang="en-US" sz="1900" b="1" spc="-3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to</a:t>
            </a:r>
            <a:r>
              <a:rPr lang="en-US" sz="1900" b="1" spc="-25"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the</a:t>
            </a:r>
            <a:r>
              <a:rPr lang="en-US" sz="1900" b="1" spc="-3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unit.</a:t>
            </a:r>
            <a:r>
              <a:rPr lang="en-US" sz="1900" b="1" spc="-305" dirty="0">
                <a:solidFill>
                  <a:srgbClr val="002060"/>
                </a:solidFill>
                <a:effectLst/>
                <a:latin typeface="AppleMyungjo" pitchFamily="2" charset="-127"/>
                <a:ea typeface="AppleMyungjo" pitchFamily="2" charset="-127"/>
              </a:rPr>
              <a:t> </a:t>
            </a:r>
          </a:p>
          <a:p>
            <a:pPr marL="409575" marR="361315" lvl="1" indent="-231775" algn="just">
              <a:lnSpc>
                <a:spcPts val="2780"/>
              </a:lnSpc>
              <a:spcBef>
                <a:spcPts val="5"/>
              </a:spcBef>
              <a:buSzPct val="75000"/>
              <a:buFont typeface="System Font Regular"/>
              <a:buChar char="-"/>
              <a:tabLst>
                <a:tab pos="10928350" algn="l"/>
              </a:tabLst>
            </a:pPr>
            <a:r>
              <a:rPr lang="en-US" sz="1900" b="1" dirty="0">
                <a:solidFill>
                  <a:srgbClr val="C00000"/>
                </a:solidFill>
                <a:effectLst/>
                <a:latin typeface="AppleMyungjo" pitchFamily="2" charset="-127"/>
                <a:ea typeface="AppleMyungjo" pitchFamily="2" charset="-127"/>
              </a:rPr>
              <a:t>Easy</a:t>
            </a:r>
            <a:r>
              <a:rPr lang="en-US" sz="1900" b="1" spc="-10" dirty="0">
                <a:solidFill>
                  <a:srgbClr val="C00000"/>
                </a:solidFill>
                <a:effectLst/>
                <a:latin typeface="AppleMyungjo" pitchFamily="2" charset="-127"/>
                <a:ea typeface="AppleMyungjo" pitchFamily="2" charset="-127"/>
              </a:rPr>
              <a:t> </a:t>
            </a:r>
            <a:r>
              <a:rPr lang="en-US" sz="1900" b="1" dirty="0">
                <a:solidFill>
                  <a:srgbClr val="C00000"/>
                </a:solidFill>
                <a:effectLst/>
                <a:latin typeface="AppleMyungjo" pitchFamily="2" charset="-127"/>
                <a:ea typeface="AppleMyungjo" pitchFamily="2" charset="-127"/>
              </a:rPr>
              <a:t>to</a:t>
            </a:r>
            <a:r>
              <a:rPr lang="en-US" sz="1900" b="1" spc="-10" dirty="0">
                <a:solidFill>
                  <a:srgbClr val="C00000"/>
                </a:solidFill>
                <a:effectLst/>
                <a:latin typeface="AppleMyungjo" pitchFamily="2" charset="-127"/>
                <a:ea typeface="AppleMyungjo" pitchFamily="2" charset="-127"/>
              </a:rPr>
              <a:t> </a:t>
            </a:r>
            <a:r>
              <a:rPr lang="en-US" sz="1900" b="1" dirty="0">
                <a:solidFill>
                  <a:srgbClr val="C00000"/>
                </a:solidFill>
                <a:effectLst/>
                <a:latin typeface="AppleMyungjo" pitchFamily="2" charset="-127"/>
                <a:ea typeface="AppleMyungjo" pitchFamily="2" charset="-127"/>
              </a:rPr>
              <a:t>use</a:t>
            </a:r>
            <a:r>
              <a:rPr lang="en-US" sz="1900" b="1" spc="-1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and</a:t>
            </a:r>
            <a:r>
              <a:rPr lang="en-US" sz="1900" b="1" spc="-10" dirty="0">
                <a:solidFill>
                  <a:srgbClr val="002060"/>
                </a:solidFill>
                <a:effectLst/>
                <a:latin typeface="AppleMyungjo" pitchFamily="2" charset="-127"/>
                <a:ea typeface="AppleMyungjo" pitchFamily="2" charset="-127"/>
              </a:rPr>
              <a:t> </a:t>
            </a:r>
            <a:r>
              <a:rPr lang="en-US" sz="1900" b="1" dirty="0">
                <a:solidFill>
                  <a:srgbClr val="002060"/>
                </a:solidFill>
                <a:effectLst/>
                <a:latin typeface="AppleMyungjo" pitchFamily="2" charset="-127"/>
                <a:ea typeface="AppleMyungjo" pitchFamily="2" charset="-127"/>
              </a:rPr>
              <a:t>has</a:t>
            </a:r>
            <a:r>
              <a:rPr lang="en-US" sz="1900" b="1" spc="-5" dirty="0">
                <a:solidFill>
                  <a:srgbClr val="002060"/>
                </a:solidFill>
                <a:effectLst/>
                <a:latin typeface="AppleMyungjo" pitchFamily="2" charset="-127"/>
                <a:ea typeface="AppleMyungjo" pitchFamily="2" charset="-127"/>
              </a:rPr>
              <a:t> </a:t>
            </a:r>
            <a:r>
              <a:rPr lang="en-US" sz="1900" b="1" dirty="0">
                <a:solidFill>
                  <a:srgbClr val="C00000"/>
                </a:solidFill>
                <a:latin typeface="AppleMyungjo" pitchFamily="2" charset="-127"/>
                <a:ea typeface="AppleMyungjo" pitchFamily="2" charset="-127"/>
              </a:rPr>
              <a:t>shorter read/write cycles.</a:t>
            </a:r>
          </a:p>
          <a:p>
            <a:pPr marL="409575" marR="361315" lvl="1" indent="-231775" algn="just">
              <a:lnSpc>
                <a:spcPts val="2780"/>
              </a:lnSpc>
              <a:spcBef>
                <a:spcPts val="5"/>
              </a:spcBef>
              <a:buSzPct val="75000"/>
              <a:buFont typeface="System Font Regular"/>
              <a:buChar char="-"/>
            </a:pPr>
            <a:r>
              <a:rPr lang="en-US" sz="1900" b="1" dirty="0">
                <a:solidFill>
                  <a:srgbClr val="002060"/>
                </a:solidFill>
                <a:latin typeface="AppleMyungjo" pitchFamily="2" charset="-127"/>
                <a:ea typeface="AppleMyungjo" pitchFamily="2" charset="-127"/>
              </a:rPr>
              <a:t>Unlike DRAM, which must be continuously refreshed, SRAM does not have this requirement, resulting in </a:t>
            </a:r>
            <a:r>
              <a:rPr lang="en-US" sz="1900" b="1" dirty="0">
                <a:solidFill>
                  <a:srgbClr val="C00000"/>
                </a:solidFill>
                <a:latin typeface="AppleMyungjo" pitchFamily="2" charset="-127"/>
                <a:ea typeface="AppleMyungjo" pitchFamily="2" charset="-127"/>
              </a:rPr>
              <a:t>better performance </a:t>
            </a:r>
            <a:r>
              <a:rPr lang="en-US" sz="1900" b="1" dirty="0">
                <a:solidFill>
                  <a:srgbClr val="002060"/>
                </a:solidFill>
                <a:latin typeface="AppleMyungjo" pitchFamily="2" charset="-127"/>
                <a:ea typeface="AppleMyungjo" pitchFamily="2" charset="-127"/>
              </a:rPr>
              <a:t>and </a:t>
            </a:r>
            <a:r>
              <a:rPr lang="en-US" sz="1900" b="1" dirty="0">
                <a:solidFill>
                  <a:srgbClr val="C00000"/>
                </a:solidFill>
                <a:latin typeface="AppleMyungjo" pitchFamily="2" charset="-127"/>
                <a:ea typeface="AppleMyungjo" pitchFamily="2" charset="-127"/>
              </a:rPr>
              <a:t>low power usage</a:t>
            </a:r>
            <a:r>
              <a:rPr lang="en-US" sz="1900" b="1" dirty="0">
                <a:solidFill>
                  <a:srgbClr val="002060"/>
                </a:solidFill>
                <a:latin typeface="AppleMyungjo" pitchFamily="2" charset="-127"/>
                <a:ea typeface="AppleMyungjo" pitchFamily="2" charset="-127"/>
              </a:rPr>
              <a:t>. However, SRAM is </a:t>
            </a:r>
            <a:r>
              <a:rPr lang="en-US" sz="1900" b="1" dirty="0">
                <a:solidFill>
                  <a:srgbClr val="C00000"/>
                </a:solidFill>
                <a:latin typeface="AppleMyungjo" pitchFamily="2" charset="-127"/>
                <a:ea typeface="AppleMyungjo" pitchFamily="2" charset="-127"/>
              </a:rPr>
              <a:t>more expensive </a:t>
            </a:r>
            <a:r>
              <a:rPr lang="en-US" sz="1900" b="1" dirty="0">
                <a:solidFill>
                  <a:srgbClr val="002060"/>
                </a:solidFill>
                <a:latin typeface="AppleMyungjo" pitchFamily="2" charset="-127"/>
                <a:ea typeface="AppleMyungjo" pitchFamily="2" charset="-127"/>
              </a:rPr>
              <a:t>than DRAM, and it requires a </a:t>
            </a:r>
            <a:r>
              <a:rPr lang="en-US" sz="1900" b="1" dirty="0">
                <a:solidFill>
                  <a:srgbClr val="C00000"/>
                </a:solidFill>
                <a:latin typeface="AppleMyungjo" pitchFamily="2" charset="-127"/>
                <a:ea typeface="AppleMyungjo" pitchFamily="2" charset="-127"/>
              </a:rPr>
              <a:t>lot more space</a:t>
            </a:r>
            <a:r>
              <a:rPr lang="en-US" sz="1900" b="1" dirty="0">
                <a:solidFill>
                  <a:srgbClr val="002060"/>
                </a:solidFill>
                <a:latin typeface="AppleMyungjo" pitchFamily="2" charset="-127"/>
                <a:ea typeface="AppleMyungjo" pitchFamily="2" charset="-127"/>
              </a:rPr>
              <a:t>. </a:t>
            </a:r>
            <a:endParaRPr lang="en-IN" sz="1900" b="1" dirty="0">
              <a:solidFill>
                <a:srgbClr val="002060"/>
              </a:solidFill>
              <a:effectLst/>
              <a:latin typeface="AppleMyungjo" pitchFamily="2" charset="-127"/>
              <a:ea typeface="AppleMyungjo" pitchFamily="2" charset="-127"/>
            </a:endParaRPr>
          </a:p>
          <a:p>
            <a:pPr marL="409575" lvl="1" indent="-231775" algn="just">
              <a:lnSpc>
                <a:spcPts val="2780"/>
              </a:lnSpc>
              <a:spcBef>
                <a:spcPts val="5"/>
              </a:spcBef>
              <a:buSzPct val="75000"/>
              <a:buFont typeface="System Font Regular"/>
              <a:buChar char="-"/>
            </a:pPr>
            <a:endParaRPr lang="en-US" sz="1900" b="1" dirty="0">
              <a:solidFill>
                <a:srgbClr val="002060"/>
              </a:solidFill>
              <a:effectLst/>
              <a:latin typeface="AppleMyungjo" pitchFamily="2" charset="-127"/>
              <a:ea typeface="AppleMyungjo" pitchFamily="2" charset="-127"/>
            </a:endParaRPr>
          </a:p>
          <a:p>
            <a:pPr marL="1084263" lvl="2" indent="-258763" algn="just">
              <a:lnSpc>
                <a:spcPts val="2780"/>
              </a:lnSpc>
              <a:spcBef>
                <a:spcPts val="5"/>
              </a:spcBef>
              <a:buFont typeface="System Font Regular"/>
              <a:buChar char="⁃"/>
            </a:pPr>
            <a:endParaRPr lang="en-IN" sz="1900" b="1" dirty="0">
              <a:solidFill>
                <a:srgbClr val="002060"/>
              </a:solidFill>
              <a:effectLst/>
              <a:latin typeface="AppleMyungjo" pitchFamily="2" charset="-127"/>
              <a:ea typeface="AppleMyungjo" pitchFamily="2" charset="-127"/>
            </a:endParaRPr>
          </a:p>
        </p:txBody>
      </p:sp>
    </p:spTree>
    <p:extLst>
      <p:ext uri="{BB962C8B-B14F-4D97-AF65-F5344CB8AC3E}">
        <p14:creationId xmlns:p14="http://schemas.microsoft.com/office/powerpoint/2010/main" val="2065859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B542E-7718-C312-E2D5-B92B1FA876A4}"/>
              </a:ext>
            </a:extLst>
          </p:cNvPr>
          <p:cNvSpPr>
            <a:spLocks noGrp="1"/>
          </p:cNvSpPr>
          <p:nvPr>
            <p:ph type="title"/>
          </p:nvPr>
        </p:nvSpPr>
        <p:spPr/>
        <p:txBody>
          <a:bodyPr/>
          <a:lstStyle/>
          <a:p>
            <a:pPr algn="ctr"/>
            <a:r>
              <a:rPr lang="en-US" sz="3200" dirty="0">
                <a:latin typeface="AppleMyungjo" pitchFamily="2" charset="-127"/>
                <a:ea typeface="AppleMyungjo" pitchFamily="2" charset="-127"/>
                <a:cs typeface="+mn-cs"/>
              </a:rPr>
              <a:t>Main memory</a:t>
            </a:r>
          </a:p>
        </p:txBody>
      </p:sp>
      <p:sp>
        <p:nvSpPr>
          <p:cNvPr id="3" name="Content Placeholder 2">
            <a:extLst>
              <a:ext uri="{FF2B5EF4-FFF2-40B4-BE49-F238E27FC236}">
                <a16:creationId xmlns:a16="http://schemas.microsoft.com/office/drawing/2014/main" id="{73C3BA39-AC6D-0C3E-AB5A-D4931882E300}"/>
              </a:ext>
            </a:extLst>
          </p:cNvPr>
          <p:cNvSpPr>
            <a:spLocks noGrp="1"/>
          </p:cNvSpPr>
          <p:nvPr>
            <p:ph idx="1"/>
          </p:nvPr>
        </p:nvSpPr>
        <p:spPr>
          <a:xfrm>
            <a:off x="838200" y="1382279"/>
            <a:ext cx="10515600" cy="4879975"/>
          </a:xfrm>
        </p:spPr>
        <p:txBody>
          <a:bodyPr>
            <a:normAutofit/>
          </a:bodyPr>
          <a:lstStyle/>
          <a:p>
            <a:pPr algn="just">
              <a:lnSpc>
                <a:spcPct val="150000"/>
              </a:lnSpc>
            </a:pPr>
            <a:r>
              <a:rPr lang="en-IN" sz="1800" b="1" dirty="0">
                <a:solidFill>
                  <a:srgbClr val="C00000"/>
                </a:solidFill>
                <a:latin typeface="AppleMyungjo" pitchFamily="2" charset="-127"/>
                <a:ea typeface="AppleMyungjo" pitchFamily="2" charset="-127"/>
              </a:rPr>
              <a:t>Dynamic RAM </a:t>
            </a:r>
            <a:r>
              <a:rPr lang="en-IN" sz="1800" b="1" dirty="0">
                <a:latin typeface="AppleMyungjo" pitchFamily="2" charset="-127"/>
                <a:ea typeface="AppleMyungjo" pitchFamily="2" charset="-127"/>
              </a:rPr>
              <a:t>: </a:t>
            </a:r>
            <a:r>
              <a:rPr lang="en-US" sz="1800" b="1" dirty="0">
                <a:effectLst/>
                <a:latin typeface="AppleMyungjo" pitchFamily="2" charset="-127"/>
                <a:ea typeface="AppleMyungjo" pitchFamily="2" charset="-127"/>
              </a:rPr>
              <a:t>stores</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binary</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information</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in</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the</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form</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of</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electric</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charges</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that</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are</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applied</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to</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capacitors. The</a:t>
            </a:r>
            <a:r>
              <a:rPr lang="en-US" sz="1800" b="1" spc="-4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stored</a:t>
            </a:r>
            <a:r>
              <a:rPr lang="en-US" sz="1800" b="1" spc="-35" dirty="0">
                <a:effectLst/>
                <a:latin typeface="AppleMyungjo" pitchFamily="2" charset="-127"/>
                <a:ea typeface="AppleMyungjo" pitchFamily="2" charset="-127"/>
              </a:rPr>
              <a:t> </a:t>
            </a:r>
            <a:r>
              <a:rPr lang="en-US" sz="1800" b="1" dirty="0">
                <a:solidFill>
                  <a:srgbClr val="C00000"/>
                </a:solidFill>
                <a:latin typeface="AppleMyungjo" pitchFamily="2" charset="-127"/>
                <a:ea typeface="AppleMyungjo" pitchFamily="2" charset="-127"/>
              </a:rPr>
              <a:t>charge on capacitors discharge with time </a:t>
            </a:r>
            <a:r>
              <a:rPr lang="en-US" sz="1800" b="1" dirty="0">
                <a:effectLst/>
                <a:latin typeface="AppleMyungjo" pitchFamily="2" charset="-127"/>
                <a:ea typeface="AppleMyungjo" pitchFamily="2" charset="-127"/>
              </a:rPr>
              <a:t>and</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the</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capacitors</a:t>
            </a:r>
            <a:r>
              <a:rPr lang="en-US" sz="1800" b="1" spc="-4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must</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be</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periodically</a:t>
            </a:r>
            <a:r>
              <a:rPr lang="en-US" sz="1800" b="1" spc="-40" dirty="0">
                <a:effectLst/>
                <a:latin typeface="AppleMyungjo" pitchFamily="2" charset="-127"/>
                <a:ea typeface="AppleMyungjo" pitchFamily="2" charset="-127"/>
              </a:rPr>
              <a:t> </a:t>
            </a:r>
            <a:r>
              <a:rPr lang="en-US" sz="1800" b="1" dirty="0">
                <a:solidFill>
                  <a:srgbClr val="C00000"/>
                </a:solidFill>
                <a:latin typeface="AppleMyungjo" pitchFamily="2" charset="-127"/>
                <a:ea typeface="AppleMyungjo" pitchFamily="2" charset="-127"/>
              </a:rPr>
              <a:t>recharged by refreshing </a:t>
            </a:r>
            <a:r>
              <a:rPr lang="en-US" sz="1800" b="1" dirty="0">
                <a:effectLst/>
                <a:latin typeface="AppleMyungjo" pitchFamily="2" charset="-127"/>
                <a:ea typeface="AppleMyungjo" pitchFamily="2" charset="-127"/>
              </a:rPr>
              <a:t>the</a:t>
            </a:r>
            <a:r>
              <a:rPr lang="en-US" sz="1800" b="1" spc="-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dynamic</a:t>
            </a:r>
            <a:r>
              <a:rPr lang="en-US" sz="1800" b="1" spc="-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memory so as </a:t>
            </a:r>
            <a:r>
              <a:rPr lang="en-IN" sz="1800" b="1" dirty="0">
                <a:latin typeface="AppleMyungjo" pitchFamily="2" charset="-127"/>
                <a:ea typeface="AppleMyungjo" pitchFamily="2" charset="-127"/>
              </a:rPr>
              <a:t>to </a:t>
            </a:r>
            <a:r>
              <a:rPr lang="en-IN" sz="1800" b="1" dirty="0">
                <a:solidFill>
                  <a:srgbClr val="C00000"/>
                </a:solidFill>
                <a:latin typeface="AppleMyungjo" pitchFamily="2" charset="-127"/>
                <a:ea typeface="AppleMyungjo" pitchFamily="2" charset="-127"/>
              </a:rPr>
              <a:t>retain</a:t>
            </a:r>
            <a:r>
              <a:rPr lang="en-IN" sz="1800" b="1" dirty="0">
                <a:latin typeface="AppleMyungjo" pitchFamily="2" charset="-127"/>
                <a:ea typeface="AppleMyungjo" pitchFamily="2" charset="-127"/>
              </a:rPr>
              <a:t> their data, which can affect the </a:t>
            </a:r>
            <a:r>
              <a:rPr lang="en-IN" sz="1800" b="1" dirty="0">
                <a:solidFill>
                  <a:srgbClr val="C00000"/>
                </a:solidFill>
                <a:latin typeface="AppleMyungjo" pitchFamily="2" charset="-127"/>
                <a:ea typeface="AppleMyungjo" pitchFamily="2" charset="-127"/>
              </a:rPr>
              <a:t>access speeds and increase the power usage</a:t>
            </a:r>
            <a:r>
              <a:rPr lang="en-US" sz="1800" b="1" dirty="0">
                <a:effectLst/>
                <a:latin typeface="AppleMyungjo" pitchFamily="2" charset="-127"/>
                <a:ea typeface="AppleMyungjo" pitchFamily="2" charset="-127"/>
              </a:rPr>
              <a:t>. </a:t>
            </a:r>
          </a:p>
          <a:p>
            <a:pPr algn="just">
              <a:lnSpc>
                <a:spcPct val="150000"/>
              </a:lnSpc>
            </a:pPr>
            <a:endParaRPr lang="en-US" sz="1800" b="1" dirty="0">
              <a:latin typeface="AppleMyungjo" pitchFamily="2" charset="-127"/>
              <a:ea typeface="AppleMyungjo" pitchFamily="2" charset="-127"/>
            </a:endParaRPr>
          </a:p>
          <a:p>
            <a:pPr algn="just">
              <a:lnSpc>
                <a:spcPct val="150000"/>
              </a:lnSpc>
            </a:pPr>
            <a:r>
              <a:rPr lang="en-US" sz="1800" b="1" dirty="0">
                <a:solidFill>
                  <a:srgbClr val="C00000"/>
                </a:solidFill>
                <a:latin typeface="AppleMyungjo" pitchFamily="2" charset="-127"/>
                <a:ea typeface="AppleMyungjo" pitchFamily="2" charset="-127"/>
              </a:rPr>
              <a:t>ROM (Read Only Memory) </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used</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for</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storing</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programs</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that</a:t>
            </a:r>
            <a:r>
              <a:rPr lang="en-US" sz="1800" b="1" spc="-35" dirty="0">
                <a:effectLst/>
                <a:latin typeface="AppleMyungjo" pitchFamily="2" charset="-127"/>
                <a:ea typeface="AppleMyungjo" pitchFamily="2" charset="-127"/>
              </a:rPr>
              <a:t> </a:t>
            </a:r>
            <a:r>
              <a:rPr lang="en-US" sz="1800" b="1" dirty="0">
                <a:solidFill>
                  <a:srgbClr val="C00000"/>
                </a:solidFill>
                <a:latin typeface="AppleMyungjo" pitchFamily="2" charset="-127"/>
                <a:ea typeface="AppleMyungjo" pitchFamily="2" charset="-127"/>
              </a:rPr>
              <a:t>permanently</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reside</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in</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computer</a:t>
            </a:r>
            <a:r>
              <a:rPr lang="en-US" sz="1800" b="1" spc="-35" dirty="0">
                <a:effectLst/>
                <a:latin typeface="AppleMyungjo" pitchFamily="2" charset="-127"/>
                <a:ea typeface="AppleMyungjo" pitchFamily="2" charset="-127"/>
              </a:rPr>
              <a:t> </a:t>
            </a:r>
            <a:r>
              <a:rPr lang="en-US" sz="1800" b="1" spc="-35" dirty="0">
                <a:latin typeface="AppleMyungjo" pitchFamily="2" charset="-127"/>
                <a:ea typeface="AppleMyungjo" pitchFamily="2" charset="-127"/>
              </a:rPr>
              <a:t>and</a:t>
            </a:r>
            <a:r>
              <a:rPr lang="en-US" sz="1800" b="1" spc="-30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cannot be modified once</a:t>
            </a:r>
            <a:r>
              <a:rPr lang="en-US" sz="1800" b="1" spc="-1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the</a:t>
            </a:r>
            <a:r>
              <a:rPr lang="en-US" sz="1800" b="1" spc="-1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production</a:t>
            </a:r>
            <a:r>
              <a:rPr lang="en-US" sz="1800" b="1" spc="-1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of</a:t>
            </a:r>
            <a:r>
              <a:rPr lang="en-US" sz="1800" b="1" spc="-1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computer</a:t>
            </a:r>
            <a:r>
              <a:rPr lang="en-US" sz="1800" b="1" spc="-1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is</a:t>
            </a:r>
            <a:r>
              <a:rPr lang="en-US" sz="1800" b="1" spc="-1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completed.</a:t>
            </a:r>
            <a:r>
              <a:rPr lang="en-IN" sz="1800" b="1" dirty="0">
                <a:latin typeface="AppleMyungjo" pitchFamily="2" charset="-127"/>
                <a:ea typeface="AppleMyungjo" pitchFamily="2" charset="-127"/>
              </a:rPr>
              <a:t> </a:t>
            </a:r>
            <a:r>
              <a:rPr lang="en-US" sz="1800" b="1" dirty="0">
                <a:effectLst/>
                <a:latin typeface="AppleMyungjo" pitchFamily="2" charset="-127"/>
                <a:ea typeface="AppleMyungjo" pitchFamily="2" charset="-127"/>
              </a:rPr>
              <a:t>Used for</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storing</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an</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initial</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program</a:t>
            </a:r>
            <a:r>
              <a:rPr lang="en-US" sz="1800" b="1" spc="-35"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called</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a bootstrap</a:t>
            </a:r>
            <a:r>
              <a:rPr lang="en-US" sz="1800" b="1" spc="-30" dirty="0">
                <a:effectLst/>
                <a:latin typeface="AppleMyungjo" pitchFamily="2" charset="-127"/>
                <a:ea typeface="AppleMyungjo" pitchFamily="2" charset="-127"/>
              </a:rPr>
              <a:t> </a:t>
            </a:r>
            <a:r>
              <a:rPr lang="en-US" sz="1800" b="1" dirty="0">
                <a:effectLst/>
                <a:latin typeface="AppleMyungjo" pitchFamily="2" charset="-127"/>
                <a:ea typeface="AppleMyungjo" pitchFamily="2" charset="-127"/>
              </a:rPr>
              <a:t>loader.</a:t>
            </a:r>
            <a:endParaRPr lang="en-US" sz="1800" b="1" dirty="0">
              <a:latin typeface="AppleMyungjo" pitchFamily="2" charset="-127"/>
              <a:ea typeface="AppleMyungjo" pitchFamily="2" charset="-127"/>
            </a:endParaRPr>
          </a:p>
          <a:p>
            <a:pPr algn="just">
              <a:lnSpc>
                <a:spcPct val="150000"/>
              </a:lnSpc>
            </a:pPr>
            <a:endParaRPr lang="en-US" sz="1800" b="1" dirty="0">
              <a:latin typeface="AppleMyungjo" pitchFamily="2" charset="-127"/>
              <a:ea typeface="AppleMyungjo" pitchFamily="2" charset="-127"/>
            </a:endParaRPr>
          </a:p>
        </p:txBody>
      </p:sp>
    </p:spTree>
    <p:extLst>
      <p:ext uri="{BB962C8B-B14F-4D97-AF65-F5344CB8AC3E}">
        <p14:creationId xmlns:p14="http://schemas.microsoft.com/office/powerpoint/2010/main" val="2973440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7" name="Rectangle 43">
            <a:extLst>
              <a:ext uri="{FF2B5EF4-FFF2-40B4-BE49-F238E27FC236}">
                <a16:creationId xmlns:a16="http://schemas.microsoft.com/office/drawing/2014/main" id="{38DB5456-B1F5-DD47-0376-512BB4D43236}"/>
              </a:ext>
            </a:extLst>
          </p:cNvPr>
          <p:cNvSpPr>
            <a:spLocks noChangeArrowheads="1"/>
          </p:cNvSpPr>
          <p:nvPr/>
        </p:nvSpPr>
        <p:spPr bwMode="auto">
          <a:xfrm>
            <a:off x="5586413" y="4476750"/>
            <a:ext cx="269306" cy="255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latinLnBrk="1">
              <a:defRPr kumimoji="1" sz="2400">
                <a:solidFill>
                  <a:schemeClr val="tx1"/>
                </a:solidFill>
                <a:latin typeface="Times New Roman" panose="02020603050405020304" pitchFamily="18" charset="0"/>
                <a:ea typeface="굴림" panose="020B0600000101010101" pitchFamily="34" charset="-127"/>
              </a:defRPr>
            </a:lvl1pPr>
            <a:lvl2pPr marL="571500" defTabSz="762000" latinLnBrk="1">
              <a:defRPr kumimoji="1" sz="2400">
                <a:solidFill>
                  <a:schemeClr val="tx1"/>
                </a:solidFill>
                <a:latin typeface="Times New Roman" panose="02020603050405020304" pitchFamily="18" charset="0"/>
                <a:ea typeface="굴림" panose="020B0600000101010101" pitchFamily="34" charset="-127"/>
              </a:defRPr>
            </a:lvl2pPr>
            <a:lvl3pPr marL="1143000" defTabSz="762000" latinLnBrk="1">
              <a:defRPr kumimoji="1" sz="2400">
                <a:solidFill>
                  <a:schemeClr val="tx1"/>
                </a:solidFill>
                <a:latin typeface="Times New Roman" panose="02020603050405020304" pitchFamily="18" charset="0"/>
                <a:ea typeface="굴림" panose="020B0600000101010101" pitchFamily="34" charset="-127"/>
              </a:defRPr>
            </a:lvl3pPr>
            <a:lvl4pPr marL="1714500" defTabSz="762000" latinLnBrk="1">
              <a:defRPr kumimoji="1" sz="2400">
                <a:solidFill>
                  <a:schemeClr val="tx1"/>
                </a:solidFill>
                <a:latin typeface="Times New Roman" panose="02020603050405020304" pitchFamily="18" charset="0"/>
                <a:ea typeface="굴림" panose="020B0600000101010101" pitchFamily="34" charset="-127"/>
              </a:defRPr>
            </a:lvl4pPr>
            <a:lvl5pPr marL="2286000" defTabSz="762000" latinLnBrk="1">
              <a:defRPr kumimoji="1" sz="2400">
                <a:solidFill>
                  <a:schemeClr val="tx1"/>
                </a:solidFill>
                <a:latin typeface="Times New Roman" panose="02020603050405020304" pitchFamily="18" charset="0"/>
                <a:ea typeface="굴림" panose="020B0600000101010101" pitchFamily="34" charset="-127"/>
              </a:defRPr>
            </a:lvl5pPr>
            <a:lvl6pPr marL="27432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6pPr>
            <a:lvl7pPr marL="32004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7pPr>
            <a:lvl8pPr marL="36576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8pPr>
            <a:lvl9pPr marL="4114800" defTabSz="762000" fontAlgn="base" latinLnBrk="1">
              <a:spcBef>
                <a:spcPct val="0"/>
              </a:spcBef>
              <a:spcAft>
                <a:spcPct val="0"/>
              </a:spcAft>
              <a:defRPr kumimoji="1" sz="2400">
                <a:solidFill>
                  <a:schemeClr val="tx1"/>
                </a:solidFill>
                <a:latin typeface="Times New Roman" panose="02020603050405020304" pitchFamily="18" charset="0"/>
                <a:ea typeface="굴림" panose="020B0600000101010101" pitchFamily="34" charset="-127"/>
              </a:defRPr>
            </a:lvl9pPr>
          </a:lstStyle>
          <a:p>
            <a:pPr latinLnBrk="0">
              <a:lnSpc>
                <a:spcPct val="90000"/>
              </a:lnSpc>
            </a:pPr>
            <a:r>
              <a:rPr lang="en-US" altLang="ko-KR" sz="1200">
                <a:solidFill>
                  <a:srgbClr val="000000"/>
                </a:solidFill>
                <a:latin typeface="Arial" panose="020B0604020202020204" pitchFamily="34" charset="0"/>
              </a:rPr>
              <a:t>  </a:t>
            </a:r>
          </a:p>
        </p:txBody>
      </p:sp>
      <p:pic>
        <p:nvPicPr>
          <p:cNvPr id="8" name="Picture 7">
            <a:extLst>
              <a:ext uri="{FF2B5EF4-FFF2-40B4-BE49-F238E27FC236}">
                <a16:creationId xmlns:a16="http://schemas.microsoft.com/office/drawing/2014/main" id="{26884C4B-53ED-3B18-2252-8497EAE48D89}"/>
              </a:ext>
            </a:extLst>
          </p:cNvPr>
          <p:cNvPicPr>
            <a:picLocks noChangeAspect="1"/>
          </p:cNvPicPr>
          <p:nvPr/>
        </p:nvPicPr>
        <p:blipFill>
          <a:blip r:embed="rId2"/>
          <a:stretch>
            <a:fillRect/>
          </a:stretch>
        </p:blipFill>
        <p:spPr>
          <a:xfrm>
            <a:off x="1099668" y="437473"/>
            <a:ext cx="8314787" cy="3722400"/>
          </a:xfrm>
          <a:prstGeom prst="rect">
            <a:avLst/>
          </a:prstGeom>
        </p:spPr>
      </p:pic>
      <p:sp>
        <p:nvSpPr>
          <p:cNvPr id="10" name="TextBox 9">
            <a:extLst>
              <a:ext uri="{FF2B5EF4-FFF2-40B4-BE49-F238E27FC236}">
                <a16:creationId xmlns:a16="http://schemas.microsoft.com/office/drawing/2014/main" id="{9C48AF14-6396-50E5-EE0F-8DDEFCABCBD8}"/>
              </a:ext>
            </a:extLst>
          </p:cNvPr>
          <p:cNvSpPr txBox="1"/>
          <p:nvPr/>
        </p:nvSpPr>
        <p:spPr>
          <a:xfrm>
            <a:off x="888642" y="4159873"/>
            <a:ext cx="11140225" cy="2078774"/>
          </a:xfrm>
          <a:prstGeom prst="rect">
            <a:avLst/>
          </a:prstGeom>
          <a:noFill/>
        </p:spPr>
        <p:txBody>
          <a:bodyPr wrap="square">
            <a:spAutoFit/>
          </a:bodyPr>
          <a:lstStyle/>
          <a:p>
            <a:pPr marL="285750" indent="-285750">
              <a:lnSpc>
                <a:spcPts val="2560"/>
              </a:lnSpc>
              <a:buFont typeface="Arial" panose="020B0604020202020204" pitchFamily="34" charset="0"/>
              <a:buChar char="•"/>
            </a:pPr>
            <a:r>
              <a:rPr lang="en-IN" b="1" dirty="0">
                <a:latin typeface="AppleMyungjo" pitchFamily="2" charset="-127"/>
                <a:ea typeface="AppleMyungjo" pitchFamily="2" charset="-127"/>
              </a:rPr>
              <a:t>The capacity of memory is 128 words of eight bits (one byte) per word. </a:t>
            </a:r>
          </a:p>
          <a:p>
            <a:pPr marL="285750" indent="-285750">
              <a:lnSpc>
                <a:spcPts val="2560"/>
              </a:lnSpc>
              <a:buFont typeface="Arial" panose="020B0604020202020204" pitchFamily="34" charset="0"/>
              <a:buChar char="•"/>
            </a:pPr>
            <a:r>
              <a:rPr lang="en-IN" b="1" dirty="0">
                <a:latin typeface="AppleMyungjo" pitchFamily="2" charset="-127"/>
                <a:ea typeface="AppleMyungjo" pitchFamily="2" charset="-127"/>
              </a:rPr>
              <a:t>This requires a 7-bit address and an 8-bit bidirectional data bus. </a:t>
            </a:r>
          </a:p>
          <a:p>
            <a:pPr marL="285750" indent="-285750">
              <a:lnSpc>
                <a:spcPts val="2560"/>
              </a:lnSpc>
              <a:buFont typeface="Arial" panose="020B0604020202020204" pitchFamily="34" charset="0"/>
              <a:buChar char="•"/>
            </a:pPr>
            <a:r>
              <a:rPr lang="en-IN" b="1" dirty="0">
                <a:latin typeface="AppleMyungjo" pitchFamily="2" charset="-127"/>
                <a:ea typeface="AppleMyungjo" pitchFamily="2" charset="-127"/>
              </a:rPr>
              <a:t>The read and write inputs specify the memory operation.</a:t>
            </a:r>
          </a:p>
          <a:p>
            <a:pPr marL="285750" indent="-285750">
              <a:lnSpc>
                <a:spcPts val="2560"/>
              </a:lnSpc>
              <a:buFont typeface="Arial" panose="020B0604020202020204" pitchFamily="34" charset="0"/>
              <a:buChar char="•"/>
            </a:pPr>
            <a:r>
              <a:rPr lang="en-IN" b="1" dirty="0">
                <a:latin typeface="AppleMyungjo" pitchFamily="2" charset="-127"/>
                <a:ea typeface="AppleMyungjo" pitchFamily="2" charset="-127"/>
              </a:rPr>
              <a:t>The two chips select (CS) control inputs are enabling the chip only when it is selected by the microprocessor.</a:t>
            </a:r>
          </a:p>
          <a:p>
            <a:pPr marL="285750" indent="-285750" algn="just">
              <a:lnSpc>
                <a:spcPts val="2560"/>
              </a:lnSpc>
              <a:buFont typeface="Arial" panose="020B0604020202020204" pitchFamily="34" charset="0"/>
              <a:buChar char="•"/>
            </a:pPr>
            <a:r>
              <a:rPr lang="en-US" b="1" dirty="0">
                <a:solidFill>
                  <a:srgbClr val="C00000"/>
                </a:solidFill>
                <a:latin typeface="AppleMyungjo" pitchFamily="2" charset="-127"/>
                <a:ea typeface="AppleMyungjo" pitchFamily="2" charset="-127"/>
              </a:rPr>
              <a:t>The unit is in operation only when CS1 = 1 and CS2 = 0. </a:t>
            </a:r>
          </a:p>
        </p:txBody>
      </p:sp>
    </p:spTree>
    <p:extLst>
      <p:ext uri="{BB962C8B-B14F-4D97-AF65-F5344CB8AC3E}">
        <p14:creationId xmlns:p14="http://schemas.microsoft.com/office/powerpoint/2010/main" val="249506731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CA6A7C-A583-E65B-69AB-8C2DE0A3881A}"/>
              </a:ext>
            </a:extLst>
          </p:cNvPr>
          <p:cNvSpPr>
            <a:spLocks noGrp="1"/>
          </p:cNvSpPr>
          <p:nvPr>
            <p:ph idx="1"/>
          </p:nvPr>
        </p:nvSpPr>
        <p:spPr>
          <a:xfrm>
            <a:off x="706707" y="3580326"/>
            <a:ext cx="10515600" cy="3382248"/>
          </a:xfrm>
        </p:spPr>
        <p:txBody>
          <a:bodyPr/>
          <a:lstStyle/>
          <a:p>
            <a:pPr marL="342900" indent="-342900" algn="just">
              <a:buFont typeface="Arial" panose="020B0604020202020204" pitchFamily="34" charset="0"/>
              <a:buChar char="•"/>
            </a:pPr>
            <a:r>
              <a:rPr lang="en-US" sz="1800" b="1" dirty="0">
                <a:solidFill>
                  <a:srgbClr val="000000"/>
                </a:solidFill>
                <a:latin typeface="AppleMyungjo" pitchFamily="2" charset="-127"/>
                <a:ea typeface="AppleMyungjo" pitchFamily="2" charset="-127"/>
              </a:rPr>
              <a:t>ROM can only perform </a:t>
            </a:r>
            <a:r>
              <a:rPr lang="en-US" sz="1800" b="1" dirty="0">
                <a:solidFill>
                  <a:schemeClr val="accent6"/>
                </a:solidFill>
                <a:latin typeface="AppleMyungjo" pitchFamily="2" charset="-127"/>
                <a:ea typeface="AppleMyungjo" pitchFamily="2" charset="-127"/>
              </a:rPr>
              <a:t>read operation</a:t>
            </a:r>
            <a:r>
              <a:rPr lang="en-US" sz="1800" b="1" dirty="0">
                <a:solidFill>
                  <a:srgbClr val="000000"/>
                </a:solidFill>
                <a:latin typeface="AppleMyungjo" pitchFamily="2" charset="-127"/>
                <a:ea typeface="AppleMyungjo" pitchFamily="2" charset="-127"/>
              </a:rPr>
              <a:t>; the data bus can only operate in an output mode.</a:t>
            </a:r>
          </a:p>
          <a:p>
            <a:pPr marL="342900" indent="-342900" algn="just">
              <a:buFont typeface="Arial" panose="020B0604020202020204" pitchFamily="34" charset="0"/>
              <a:buChar char="•"/>
            </a:pPr>
            <a:r>
              <a:rPr lang="en-US" sz="1800" b="1" dirty="0">
                <a:solidFill>
                  <a:srgbClr val="000000"/>
                </a:solidFill>
                <a:latin typeface="AppleMyungjo" pitchFamily="2" charset="-127"/>
                <a:ea typeface="AppleMyungjo" pitchFamily="2" charset="-127"/>
              </a:rPr>
              <a:t>The 9-bit address lines in the ROM chip specify any one of the 512 bytes stored in it.</a:t>
            </a:r>
          </a:p>
          <a:p>
            <a:pPr marL="342900" indent="-342900" algn="just">
              <a:buFont typeface="Arial" panose="020B0604020202020204" pitchFamily="34" charset="0"/>
              <a:buChar char="•"/>
            </a:pPr>
            <a:r>
              <a:rPr lang="en-US" sz="1800" b="1" dirty="0">
                <a:solidFill>
                  <a:schemeClr val="accent6"/>
                </a:solidFill>
                <a:latin typeface="AppleMyungjo" pitchFamily="2" charset="-127"/>
                <a:ea typeface="AppleMyungjo" pitchFamily="2" charset="-127"/>
              </a:rPr>
              <a:t>CS1 and CS2 must be 1 and 0 for the unit to operate</a:t>
            </a:r>
            <a:r>
              <a:rPr lang="en-US" sz="1800" b="1" dirty="0">
                <a:solidFill>
                  <a:srgbClr val="000000"/>
                </a:solidFill>
                <a:latin typeface="AppleMyungjo" pitchFamily="2" charset="-127"/>
                <a:ea typeface="AppleMyungjo" pitchFamily="2" charset="-127"/>
              </a:rPr>
              <a:t>. </a:t>
            </a:r>
          </a:p>
          <a:p>
            <a:pPr marL="342900" indent="-342900" algn="just">
              <a:buFont typeface="Arial" panose="020B0604020202020204" pitchFamily="34" charset="0"/>
              <a:buChar char="•"/>
            </a:pPr>
            <a:r>
              <a:rPr lang="en-US" sz="1800" b="1" dirty="0">
                <a:solidFill>
                  <a:srgbClr val="000000"/>
                </a:solidFill>
                <a:latin typeface="AppleMyungjo" pitchFamily="2" charset="-127"/>
                <a:ea typeface="AppleMyungjo" pitchFamily="2" charset="-127"/>
              </a:rPr>
              <a:t>Otherwise, data bus is said to be in a high-impedance state.</a:t>
            </a:r>
            <a:endParaRPr lang="en-US" sz="1800" b="1" i="0" dirty="0">
              <a:solidFill>
                <a:srgbClr val="000000"/>
              </a:solidFill>
              <a:effectLst/>
              <a:latin typeface="AppleMyungjo" pitchFamily="2" charset="-127"/>
              <a:ea typeface="AppleMyungjo" pitchFamily="2" charset="-127"/>
            </a:endParaRPr>
          </a:p>
          <a:p>
            <a:endParaRPr lang="en-US" dirty="0"/>
          </a:p>
        </p:txBody>
      </p:sp>
      <p:pic>
        <p:nvPicPr>
          <p:cNvPr id="4" name="Picture 3">
            <a:extLst>
              <a:ext uri="{FF2B5EF4-FFF2-40B4-BE49-F238E27FC236}">
                <a16:creationId xmlns:a16="http://schemas.microsoft.com/office/drawing/2014/main" id="{55576E8F-B6E5-9DF4-252D-7D065771DCE7}"/>
              </a:ext>
            </a:extLst>
          </p:cNvPr>
          <p:cNvPicPr>
            <a:picLocks noChangeAspect="1"/>
          </p:cNvPicPr>
          <p:nvPr/>
        </p:nvPicPr>
        <p:blipFill>
          <a:blip r:embed="rId2"/>
          <a:stretch>
            <a:fillRect/>
          </a:stretch>
        </p:blipFill>
        <p:spPr>
          <a:xfrm>
            <a:off x="1286256" y="594542"/>
            <a:ext cx="6917585" cy="2400449"/>
          </a:xfrm>
          <a:prstGeom prst="rect">
            <a:avLst/>
          </a:prstGeom>
        </p:spPr>
      </p:pic>
    </p:spTree>
    <p:extLst>
      <p:ext uri="{BB962C8B-B14F-4D97-AF65-F5344CB8AC3E}">
        <p14:creationId xmlns:p14="http://schemas.microsoft.com/office/powerpoint/2010/main" val="1339207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930D5-B08A-2636-EAC0-A3DFBC400E0D}"/>
              </a:ext>
            </a:extLst>
          </p:cNvPr>
          <p:cNvSpPr>
            <a:spLocks noGrp="1"/>
          </p:cNvSpPr>
          <p:nvPr>
            <p:ph type="title"/>
          </p:nvPr>
        </p:nvSpPr>
        <p:spPr>
          <a:xfrm>
            <a:off x="838200" y="84001"/>
            <a:ext cx="10515600" cy="1325563"/>
          </a:xfrm>
        </p:spPr>
        <p:txBody>
          <a:bodyPr/>
          <a:lstStyle/>
          <a:p>
            <a:pPr algn="ctr"/>
            <a:r>
              <a:rPr lang="en-IN" sz="3200" dirty="0">
                <a:latin typeface="AppleMyungjo" pitchFamily="2" charset="-127"/>
                <a:ea typeface="AppleMyungjo" pitchFamily="2" charset="-127"/>
                <a:cs typeface="+mn-cs"/>
              </a:rPr>
              <a:t>SRAM vs. DRAM</a:t>
            </a:r>
            <a:endParaRPr lang="en-US" sz="3200" dirty="0">
              <a:latin typeface="AppleMyungjo" pitchFamily="2" charset="-127"/>
              <a:ea typeface="AppleMyungjo" pitchFamily="2" charset="-127"/>
              <a:cs typeface="+mn-cs"/>
            </a:endParaRPr>
          </a:p>
        </p:txBody>
      </p:sp>
      <p:sp>
        <p:nvSpPr>
          <p:cNvPr id="3" name="Content Placeholder 2">
            <a:extLst>
              <a:ext uri="{FF2B5EF4-FFF2-40B4-BE49-F238E27FC236}">
                <a16:creationId xmlns:a16="http://schemas.microsoft.com/office/drawing/2014/main" id="{55687D61-5AA2-C0C1-9A22-842AAF67C04A}"/>
              </a:ext>
            </a:extLst>
          </p:cNvPr>
          <p:cNvSpPr>
            <a:spLocks noGrp="1"/>
          </p:cNvSpPr>
          <p:nvPr>
            <p:ph idx="1"/>
          </p:nvPr>
        </p:nvSpPr>
        <p:spPr>
          <a:xfrm>
            <a:off x="629919" y="1315960"/>
            <a:ext cx="5466079" cy="5228749"/>
          </a:xfrm>
        </p:spPr>
        <p:txBody>
          <a:bodyPr>
            <a:normAutofit/>
          </a:bodyPr>
          <a:lstStyle/>
          <a:p>
            <a:pPr marL="0" indent="0" algn="ctr">
              <a:buNone/>
            </a:pPr>
            <a:r>
              <a:rPr lang="en-IN" b="1" dirty="0">
                <a:solidFill>
                  <a:srgbClr val="7030A0"/>
                </a:solidFill>
                <a:latin typeface="AppleMyungjo" pitchFamily="2" charset="-127"/>
                <a:ea typeface="AppleMyungjo" pitchFamily="2" charset="-127"/>
              </a:rPr>
              <a:t>SRAM </a:t>
            </a:r>
          </a:p>
          <a:p>
            <a:pPr algn="just">
              <a:lnSpc>
                <a:spcPts val="2800"/>
              </a:lnSpc>
              <a:spcBef>
                <a:spcPts val="400"/>
              </a:spcBef>
            </a:pPr>
            <a:r>
              <a:rPr lang="en-IN" sz="2000" b="1" dirty="0">
                <a:solidFill>
                  <a:srgbClr val="7030A0"/>
                </a:solidFill>
                <a:latin typeface="AppleMyungjo" pitchFamily="2" charset="-127"/>
                <a:ea typeface="AppleMyungjo" pitchFamily="2" charset="-127"/>
              </a:rPr>
              <a:t>Uses transistor to store single bit of data.</a:t>
            </a:r>
          </a:p>
          <a:p>
            <a:pPr algn="just">
              <a:lnSpc>
                <a:spcPts val="2800"/>
              </a:lnSpc>
              <a:spcBef>
                <a:spcPts val="400"/>
              </a:spcBef>
            </a:pPr>
            <a:r>
              <a:rPr lang="en-IN" sz="2000" b="1" dirty="0">
                <a:solidFill>
                  <a:srgbClr val="7030A0"/>
                </a:solidFill>
                <a:latin typeface="AppleMyungjo" pitchFamily="2" charset="-127"/>
                <a:ea typeface="AppleMyungjo" pitchFamily="2" charset="-127"/>
              </a:rPr>
              <a:t>Faster as it does not need periodic refresh to maintain data. </a:t>
            </a:r>
          </a:p>
          <a:p>
            <a:pPr algn="just">
              <a:lnSpc>
                <a:spcPts val="2800"/>
              </a:lnSpc>
              <a:spcBef>
                <a:spcPts val="400"/>
              </a:spcBef>
            </a:pPr>
            <a:r>
              <a:rPr lang="en-IN" sz="2000" b="1" dirty="0">
                <a:solidFill>
                  <a:srgbClr val="7030A0"/>
                </a:solidFill>
                <a:latin typeface="AppleMyungjo" pitchFamily="2" charset="-127"/>
                <a:ea typeface="AppleMyungjo" pitchFamily="2" charset="-127"/>
              </a:rPr>
              <a:t>Faster because bit lines are actively driven by the D-Latch.</a:t>
            </a:r>
          </a:p>
          <a:p>
            <a:pPr algn="just">
              <a:lnSpc>
                <a:spcPts val="2800"/>
              </a:lnSpc>
              <a:spcBef>
                <a:spcPts val="400"/>
              </a:spcBef>
            </a:pPr>
            <a:r>
              <a:rPr lang="en-IN" sz="2000" b="1" dirty="0">
                <a:solidFill>
                  <a:srgbClr val="7030A0"/>
                </a:solidFill>
                <a:latin typeface="AppleMyungjo" pitchFamily="2" charset="-127"/>
                <a:ea typeface="AppleMyungjo" pitchFamily="2" charset="-127"/>
              </a:rPr>
              <a:t>Larger area(complex structure) for each cell which means less capacity.</a:t>
            </a:r>
          </a:p>
          <a:p>
            <a:pPr algn="just">
              <a:lnSpc>
                <a:spcPts val="2800"/>
              </a:lnSpc>
              <a:spcBef>
                <a:spcPts val="400"/>
              </a:spcBef>
            </a:pPr>
            <a:r>
              <a:rPr lang="en-IN" sz="2000" b="1" dirty="0">
                <a:solidFill>
                  <a:srgbClr val="7030A0"/>
                </a:solidFill>
                <a:latin typeface="AppleMyungjo" pitchFamily="2" charset="-127"/>
                <a:ea typeface="AppleMyungjo" pitchFamily="2" charset="-127"/>
              </a:rPr>
              <a:t>Used for cache memory where speed/latency is key.</a:t>
            </a:r>
            <a:endParaRPr lang="en-US" sz="2000" b="1" dirty="0">
              <a:solidFill>
                <a:srgbClr val="7030A0"/>
              </a:solidFill>
              <a:latin typeface="AppleMyungjo" pitchFamily="2" charset="-127"/>
              <a:ea typeface="AppleMyungjo" pitchFamily="2" charset="-127"/>
            </a:endParaRPr>
          </a:p>
          <a:p>
            <a:r>
              <a:rPr lang="en-US" sz="2000" b="1" dirty="0">
                <a:solidFill>
                  <a:srgbClr val="7030A0"/>
                </a:solidFill>
                <a:latin typeface="AppleMyungjo" pitchFamily="2" charset="-127"/>
                <a:ea typeface="AppleMyungjo" pitchFamily="2" charset="-127"/>
              </a:rPr>
              <a:t>Expensive</a:t>
            </a:r>
          </a:p>
        </p:txBody>
      </p:sp>
      <p:sp>
        <p:nvSpPr>
          <p:cNvPr id="7" name="Content Placeholder 4">
            <a:extLst>
              <a:ext uri="{FF2B5EF4-FFF2-40B4-BE49-F238E27FC236}">
                <a16:creationId xmlns:a16="http://schemas.microsoft.com/office/drawing/2014/main" id="{8F87D87F-FE1A-B8EF-B720-DDF7C4BE8C81}"/>
              </a:ext>
            </a:extLst>
          </p:cNvPr>
          <p:cNvSpPr txBox="1">
            <a:spLocks/>
          </p:cNvSpPr>
          <p:nvPr/>
        </p:nvSpPr>
        <p:spPr>
          <a:xfrm>
            <a:off x="6304278" y="1315960"/>
            <a:ext cx="5257801"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sz="2400" b="1" dirty="0">
                <a:solidFill>
                  <a:srgbClr val="002060"/>
                </a:solidFill>
                <a:latin typeface="AppleMyungjo" pitchFamily="2" charset="-127"/>
                <a:ea typeface="AppleMyungjo" pitchFamily="2" charset="-127"/>
              </a:rPr>
              <a:t>DRAM </a:t>
            </a:r>
          </a:p>
          <a:p>
            <a:pPr algn="just">
              <a:lnSpc>
                <a:spcPts val="2800"/>
              </a:lnSpc>
              <a:spcBef>
                <a:spcPts val="400"/>
              </a:spcBef>
            </a:pPr>
            <a:r>
              <a:rPr lang="en-IN" sz="2000" b="1" dirty="0">
                <a:solidFill>
                  <a:srgbClr val="002060"/>
                </a:solidFill>
                <a:latin typeface="AppleMyungjo" pitchFamily="2" charset="-127"/>
                <a:ea typeface="AppleMyungjo" pitchFamily="2" charset="-127"/>
              </a:rPr>
              <a:t>Uses capacitor to store each bit of data.</a:t>
            </a:r>
          </a:p>
          <a:p>
            <a:pPr algn="just">
              <a:lnSpc>
                <a:spcPts val="2800"/>
              </a:lnSpc>
              <a:spcBef>
                <a:spcPts val="400"/>
              </a:spcBef>
            </a:pPr>
            <a:r>
              <a:rPr lang="en-IN" sz="2000" b="1" dirty="0">
                <a:solidFill>
                  <a:srgbClr val="002060"/>
                </a:solidFill>
                <a:latin typeface="AppleMyungjo" pitchFamily="2" charset="-127"/>
                <a:ea typeface="AppleMyungjo" pitchFamily="2" charset="-127"/>
              </a:rPr>
              <a:t>Slower as they need periodic refresh to maintain charge in the capacitors. </a:t>
            </a:r>
          </a:p>
          <a:p>
            <a:pPr algn="just">
              <a:lnSpc>
                <a:spcPts val="2800"/>
              </a:lnSpc>
              <a:spcBef>
                <a:spcPts val="400"/>
              </a:spcBef>
            </a:pPr>
            <a:r>
              <a:rPr lang="en-IN" sz="2000" b="1" dirty="0">
                <a:solidFill>
                  <a:srgbClr val="002060"/>
                </a:solidFill>
                <a:latin typeface="AppleMyungjo" pitchFamily="2" charset="-127"/>
                <a:ea typeface="AppleMyungjo" pitchFamily="2" charset="-127"/>
              </a:rPr>
              <a:t>Slower because passive value (charge on capacitor) drives BL. </a:t>
            </a:r>
          </a:p>
          <a:p>
            <a:pPr algn="just">
              <a:lnSpc>
                <a:spcPts val="2800"/>
              </a:lnSpc>
              <a:spcBef>
                <a:spcPts val="400"/>
              </a:spcBef>
            </a:pPr>
            <a:r>
              <a:rPr lang="en-IN" sz="2000" b="1" dirty="0">
                <a:solidFill>
                  <a:srgbClr val="002060"/>
                </a:solidFill>
                <a:latin typeface="AppleMyungjo" pitchFamily="2" charset="-127"/>
                <a:ea typeface="AppleMyungjo" pitchFamily="2" charset="-127"/>
              </a:rPr>
              <a:t>Small area(simpler structure) means greater density of cells, thus large capacity.</a:t>
            </a:r>
          </a:p>
          <a:p>
            <a:pPr algn="just">
              <a:lnSpc>
                <a:spcPts val="2800"/>
              </a:lnSpc>
              <a:spcBef>
                <a:spcPts val="400"/>
              </a:spcBef>
            </a:pPr>
            <a:r>
              <a:rPr lang="en-IN" sz="2000" b="1" dirty="0">
                <a:solidFill>
                  <a:srgbClr val="002060"/>
                </a:solidFill>
                <a:latin typeface="AppleMyungjo" pitchFamily="2" charset="-127"/>
                <a:ea typeface="AppleMyungjo" pitchFamily="2" charset="-127"/>
              </a:rPr>
              <a:t>Used for main memory where density is key.</a:t>
            </a:r>
          </a:p>
          <a:p>
            <a:pPr algn="just">
              <a:lnSpc>
                <a:spcPts val="2800"/>
              </a:lnSpc>
              <a:spcBef>
                <a:spcPts val="400"/>
              </a:spcBef>
            </a:pPr>
            <a:r>
              <a:rPr lang="en-IN" sz="2000" b="1" dirty="0">
                <a:solidFill>
                  <a:srgbClr val="002060"/>
                </a:solidFill>
                <a:latin typeface="AppleMyungjo" pitchFamily="2" charset="-127"/>
                <a:ea typeface="AppleMyungjo" pitchFamily="2" charset="-127"/>
              </a:rPr>
              <a:t>Less expensive</a:t>
            </a:r>
            <a:endParaRPr lang="en-US" sz="2000" b="1" dirty="0">
              <a:solidFill>
                <a:srgbClr val="002060"/>
              </a:solidFill>
              <a:latin typeface="AppleMyungjo" pitchFamily="2" charset="-127"/>
              <a:ea typeface="AppleMyungjo" pitchFamily="2" charset="-127"/>
            </a:endParaRPr>
          </a:p>
        </p:txBody>
      </p:sp>
    </p:spTree>
    <p:extLst>
      <p:ext uri="{BB962C8B-B14F-4D97-AF65-F5344CB8AC3E}">
        <p14:creationId xmlns:p14="http://schemas.microsoft.com/office/powerpoint/2010/main" val="3888160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4A333-212B-1C63-C15E-D94E20C7412D}"/>
              </a:ext>
            </a:extLst>
          </p:cNvPr>
          <p:cNvSpPr>
            <a:spLocks noGrp="1"/>
          </p:cNvSpPr>
          <p:nvPr>
            <p:ph type="title"/>
          </p:nvPr>
        </p:nvSpPr>
        <p:spPr/>
        <p:txBody>
          <a:bodyPr/>
          <a:lstStyle/>
          <a:p>
            <a:pPr algn="ctr"/>
            <a:r>
              <a:rPr lang="en-IN" sz="3200" dirty="0">
                <a:latin typeface="AppleMyungjo" pitchFamily="2" charset="-127"/>
                <a:ea typeface="AppleMyungjo" pitchFamily="2" charset="-127"/>
                <a:cs typeface="+mn-cs"/>
              </a:rPr>
              <a:t>Cache Memory </a:t>
            </a:r>
            <a:br>
              <a:rPr lang="en-IN" sz="3200" dirty="0">
                <a:latin typeface="AppleMyungjo" pitchFamily="2" charset="-127"/>
                <a:ea typeface="AppleMyungjo" pitchFamily="2" charset="-127"/>
                <a:cs typeface="+mn-cs"/>
              </a:rPr>
            </a:br>
            <a:endParaRPr lang="en-US" sz="3200" dirty="0">
              <a:latin typeface="AppleMyungjo" pitchFamily="2" charset="-127"/>
              <a:ea typeface="AppleMyungjo" pitchFamily="2" charset="-127"/>
              <a:cs typeface="+mn-cs"/>
            </a:endParaRPr>
          </a:p>
        </p:txBody>
      </p:sp>
      <p:sp>
        <p:nvSpPr>
          <p:cNvPr id="3" name="Content Placeholder 2">
            <a:extLst>
              <a:ext uri="{FF2B5EF4-FFF2-40B4-BE49-F238E27FC236}">
                <a16:creationId xmlns:a16="http://schemas.microsoft.com/office/drawing/2014/main" id="{D1C5C8F1-734C-BE88-5FEC-6D2CCEF2DAE8}"/>
              </a:ext>
            </a:extLst>
          </p:cNvPr>
          <p:cNvSpPr>
            <a:spLocks noGrp="1"/>
          </p:cNvSpPr>
          <p:nvPr>
            <p:ph idx="1"/>
          </p:nvPr>
        </p:nvSpPr>
        <p:spPr>
          <a:xfrm>
            <a:off x="701459" y="1043189"/>
            <a:ext cx="10860064" cy="5286174"/>
          </a:xfrm>
        </p:spPr>
        <p:txBody>
          <a:bodyPr>
            <a:normAutofit/>
          </a:bodyPr>
          <a:lstStyle/>
          <a:p>
            <a:pPr algn="just">
              <a:lnSpc>
                <a:spcPct val="150000"/>
              </a:lnSpc>
            </a:pPr>
            <a:r>
              <a:rPr lang="en-IN" sz="1800" b="1" dirty="0">
                <a:solidFill>
                  <a:srgbClr val="002060"/>
                </a:solidFill>
                <a:latin typeface="AppleMyungjo" pitchFamily="2" charset="-127"/>
                <a:ea typeface="AppleMyungjo" pitchFamily="2" charset="-127"/>
              </a:rPr>
              <a:t>Cache is a fast smaller memory, placed between CPU &amp; main memory. It stores most frequently accessed data or instructions so that they can be quickly retrieved if required again. </a:t>
            </a:r>
          </a:p>
          <a:p>
            <a:pPr algn="just">
              <a:lnSpc>
                <a:spcPct val="150000"/>
              </a:lnSpc>
            </a:pPr>
            <a:r>
              <a:rPr lang="en-IN" sz="1800" b="1" dirty="0">
                <a:solidFill>
                  <a:srgbClr val="002060"/>
                </a:solidFill>
                <a:latin typeface="AppleMyungjo" pitchFamily="2" charset="-127"/>
                <a:ea typeface="AppleMyungjo" pitchFamily="2" charset="-127"/>
              </a:rPr>
              <a:t>When CPU needs to access memory, cache is examined. If the word is found in cache, it is read from the cache(</a:t>
            </a:r>
            <a:r>
              <a:rPr lang="en-IN" sz="1800" b="1" i="1" dirty="0">
                <a:solidFill>
                  <a:srgbClr val="C00000"/>
                </a:solidFill>
                <a:latin typeface="AppleMyungjo" pitchFamily="2" charset="-127"/>
                <a:ea typeface="AppleMyungjo" pitchFamily="2" charset="-127"/>
              </a:rPr>
              <a:t>hit</a:t>
            </a:r>
            <a:r>
              <a:rPr lang="en-IN" sz="1800" b="1" dirty="0">
                <a:solidFill>
                  <a:srgbClr val="002060"/>
                </a:solidFill>
                <a:latin typeface="AppleMyungjo" pitchFamily="2" charset="-127"/>
                <a:ea typeface="AppleMyungjo" pitchFamily="2" charset="-127"/>
              </a:rPr>
              <a:t>) else the main memory is accessed to read the word(</a:t>
            </a:r>
            <a:r>
              <a:rPr lang="en-IN" sz="1800" b="1" i="1" dirty="0">
                <a:solidFill>
                  <a:srgbClr val="C00000"/>
                </a:solidFill>
                <a:latin typeface="AppleMyungjo" pitchFamily="2" charset="-127"/>
                <a:ea typeface="AppleMyungjo" pitchFamily="2" charset="-127"/>
              </a:rPr>
              <a:t>miss</a:t>
            </a:r>
            <a:r>
              <a:rPr lang="en-IN" sz="1800" b="1" dirty="0">
                <a:solidFill>
                  <a:srgbClr val="002060"/>
                </a:solidFill>
                <a:latin typeface="AppleMyungjo" pitchFamily="2" charset="-127"/>
                <a:ea typeface="AppleMyungjo" pitchFamily="2" charset="-127"/>
              </a:rPr>
              <a:t>).</a:t>
            </a:r>
          </a:p>
          <a:p>
            <a:pPr algn="just">
              <a:lnSpc>
                <a:spcPct val="150000"/>
              </a:lnSpc>
            </a:pPr>
            <a:r>
              <a:rPr lang="en-IN" sz="1800" b="1" dirty="0">
                <a:solidFill>
                  <a:srgbClr val="002060"/>
                </a:solidFill>
                <a:latin typeface="AppleMyungjo" pitchFamily="2" charset="-127"/>
                <a:ea typeface="AppleMyungjo" pitchFamily="2" charset="-127"/>
              </a:rPr>
              <a:t>Performance of cache is measured by </a:t>
            </a:r>
            <a:r>
              <a:rPr lang="en-IN" sz="1800" b="1" i="1" dirty="0">
                <a:solidFill>
                  <a:srgbClr val="C00000"/>
                </a:solidFill>
                <a:latin typeface="AppleMyungjo" pitchFamily="2" charset="-127"/>
                <a:ea typeface="AppleMyungjo" pitchFamily="2" charset="-127"/>
              </a:rPr>
              <a:t>Hit ratio </a:t>
            </a:r>
            <a:r>
              <a:rPr lang="en-IN" sz="1800" b="1" dirty="0">
                <a:solidFill>
                  <a:srgbClr val="002060"/>
                </a:solidFill>
                <a:latin typeface="AppleMyungjo" pitchFamily="2" charset="-127"/>
                <a:ea typeface="AppleMyungjo" pitchFamily="2" charset="-127"/>
              </a:rPr>
              <a:t>which is the number of hits by the total CPU references to memory.</a:t>
            </a:r>
          </a:p>
          <a:p>
            <a:pPr algn="just">
              <a:lnSpc>
                <a:spcPct val="150000"/>
              </a:lnSpc>
            </a:pPr>
            <a:r>
              <a:rPr lang="en-IN" sz="1800" b="1" dirty="0">
                <a:solidFill>
                  <a:srgbClr val="002060"/>
                </a:solidFill>
                <a:latin typeface="AppleMyungjo" pitchFamily="2" charset="-127"/>
                <a:ea typeface="AppleMyungjo" pitchFamily="2" charset="-127"/>
              </a:rPr>
              <a:t>By reducing costly reads and writes that access the slower main memory, caching has an enormous impact on the performance of CPU.</a:t>
            </a:r>
          </a:p>
          <a:p>
            <a:pPr algn="just">
              <a:lnSpc>
                <a:spcPct val="150000"/>
              </a:lnSpc>
            </a:pPr>
            <a:r>
              <a:rPr lang="en-IN" sz="1800" b="1" dirty="0">
                <a:solidFill>
                  <a:srgbClr val="002060"/>
                </a:solidFill>
                <a:latin typeface="AppleMyungjo" pitchFamily="2" charset="-127"/>
                <a:ea typeface="AppleMyungjo" pitchFamily="2" charset="-127"/>
              </a:rPr>
              <a:t>The first caches were off-chip/external, later replaced by on-chip cache memories typically made from SRAM. To further improve the performance, on-chip caches were split into </a:t>
            </a:r>
            <a:r>
              <a:rPr lang="en-IN" sz="1800" b="1" dirty="0">
                <a:solidFill>
                  <a:srgbClr val="C00000"/>
                </a:solidFill>
                <a:latin typeface="AppleMyungjo" pitchFamily="2" charset="-127"/>
                <a:ea typeface="AppleMyungjo" pitchFamily="2" charset="-127"/>
              </a:rPr>
              <a:t>instruction and data </a:t>
            </a:r>
            <a:r>
              <a:rPr lang="en-IN" sz="1800" b="1" dirty="0">
                <a:solidFill>
                  <a:srgbClr val="002060"/>
                </a:solidFill>
                <a:latin typeface="AppleMyungjo" pitchFamily="2" charset="-127"/>
                <a:ea typeface="AppleMyungjo" pitchFamily="2" charset="-127"/>
              </a:rPr>
              <a:t>partitions. </a:t>
            </a:r>
            <a:endParaRPr lang="en-US" sz="1800" b="1" dirty="0">
              <a:solidFill>
                <a:srgbClr val="002060"/>
              </a:solidFill>
              <a:latin typeface="AppleMyungjo" pitchFamily="2" charset="-127"/>
              <a:ea typeface="AppleMyungjo" pitchFamily="2" charset="-127"/>
            </a:endParaRPr>
          </a:p>
        </p:txBody>
      </p:sp>
    </p:spTree>
    <p:extLst>
      <p:ext uri="{BB962C8B-B14F-4D97-AF65-F5344CB8AC3E}">
        <p14:creationId xmlns:p14="http://schemas.microsoft.com/office/powerpoint/2010/main" val="2352370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F6015-275E-D41C-EC97-EFF1E119856B}"/>
              </a:ext>
            </a:extLst>
          </p:cNvPr>
          <p:cNvSpPr>
            <a:spLocks noGrp="1"/>
          </p:cNvSpPr>
          <p:nvPr>
            <p:ph type="title"/>
          </p:nvPr>
        </p:nvSpPr>
        <p:spPr>
          <a:xfrm>
            <a:off x="838200" y="164708"/>
            <a:ext cx="10515600" cy="1325563"/>
          </a:xfrm>
        </p:spPr>
        <p:txBody>
          <a:bodyPr/>
          <a:lstStyle/>
          <a:p>
            <a:pPr algn="ctr"/>
            <a:r>
              <a:rPr lang="en-IN" sz="3200" dirty="0">
                <a:latin typeface="AppleMyungjo" pitchFamily="2" charset="-127"/>
                <a:ea typeface="AppleMyungjo" pitchFamily="2" charset="-127"/>
                <a:cs typeface="+mn-cs"/>
              </a:rPr>
              <a:t>Locality of Reference</a:t>
            </a:r>
            <a:endParaRPr lang="en-US" sz="3200" dirty="0">
              <a:latin typeface="AppleMyungjo" pitchFamily="2" charset="-127"/>
              <a:ea typeface="AppleMyungjo" pitchFamily="2" charset="-127"/>
              <a:cs typeface="+mn-cs"/>
            </a:endParaRPr>
          </a:p>
        </p:txBody>
      </p:sp>
      <p:sp>
        <p:nvSpPr>
          <p:cNvPr id="3" name="Content Placeholder 2">
            <a:extLst>
              <a:ext uri="{FF2B5EF4-FFF2-40B4-BE49-F238E27FC236}">
                <a16:creationId xmlns:a16="http://schemas.microsoft.com/office/drawing/2014/main" id="{E178DA2A-6C40-3CAF-B62C-B0C8F499B7E0}"/>
              </a:ext>
            </a:extLst>
          </p:cNvPr>
          <p:cNvSpPr>
            <a:spLocks noGrp="1"/>
          </p:cNvSpPr>
          <p:nvPr>
            <p:ph idx="1"/>
          </p:nvPr>
        </p:nvSpPr>
        <p:spPr>
          <a:xfrm>
            <a:off x="838199" y="1135858"/>
            <a:ext cx="10515601" cy="5327572"/>
          </a:xfrm>
        </p:spPr>
        <p:txBody>
          <a:bodyPr>
            <a:normAutofit/>
          </a:bodyPr>
          <a:lstStyle/>
          <a:p>
            <a:pPr algn="just">
              <a:lnSpc>
                <a:spcPct val="110000"/>
              </a:lnSpc>
            </a:pPr>
            <a:r>
              <a:rPr lang="en-IN" sz="2000" b="1" dirty="0">
                <a:solidFill>
                  <a:srgbClr val="002060"/>
                </a:solidFill>
                <a:latin typeface="AppleMyungjo" pitchFamily="2" charset="-127"/>
                <a:ea typeface="AppleMyungjo" pitchFamily="2" charset="-127"/>
              </a:rPr>
              <a:t>Cache memory works on the principle of </a:t>
            </a:r>
            <a:r>
              <a:rPr lang="en-IN" sz="2100" i="1" dirty="0">
                <a:solidFill>
                  <a:srgbClr val="C00000"/>
                </a:solidFill>
                <a:latin typeface="AppleMyungjo" pitchFamily="2" charset="-127"/>
                <a:ea typeface="AppleMyungjo" pitchFamily="2" charset="-127"/>
              </a:rPr>
              <a:t>locality of reference. </a:t>
            </a:r>
          </a:p>
          <a:p>
            <a:pPr algn="just">
              <a:lnSpc>
                <a:spcPct val="110000"/>
              </a:lnSpc>
            </a:pPr>
            <a:r>
              <a:rPr lang="en-IN" sz="2000" b="1" dirty="0">
                <a:solidFill>
                  <a:srgbClr val="002060"/>
                </a:solidFill>
                <a:latin typeface="AppleMyungjo" pitchFamily="2" charset="-127"/>
                <a:ea typeface="AppleMyungjo" pitchFamily="2" charset="-127"/>
              </a:rPr>
              <a:t>It is the tendency of CPU to access same memory locations as it runs an application.</a:t>
            </a:r>
          </a:p>
          <a:p>
            <a:pPr algn="just">
              <a:lnSpc>
                <a:spcPct val="110000"/>
              </a:lnSpc>
            </a:pPr>
            <a:r>
              <a:rPr lang="en-IN" sz="2000" b="1" dirty="0">
                <a:solidFill>
                  <a:srgbClr val="002060"/>
                </a:solidFill>
                <a:latin typeface="AppleMyungjo" pitchFamily="2" charset="-127"/>
                <a:ea typeface="AppleMyungjo" pitchFamily="2" charset="-127"/>
              </a:rPr>
              <a:t>Ex: When a loop is executed, CPU repeatedly refers to same set of instructions in memory that constitute the loop. Because these memory accesses are predictable, they can be exploited via caching.</a:t>
            </a:r>
          </a:p>
          <a:p>
            <a:pPr algn="just">
              <a:lnSpc>
                <a:spcPct val="110000"/>
              </a:lnSpc>
            </a:pPr>
            <a:r>
              <a:rPr lang="en-IN" sz="2000" b="1" dirty="0">
                <a:solidFill>
                  <a:srgbClr val="002060"/>
                </a:solidFill>
                <a:latin typeface="AppleMyungjo" pitchFamily="2" charset="-127"/>
                <a:ea typeface="AppleMyungjo" pitchFamily="2" charset="-127"/>
              </a:rPr>
              <a:t>Locality is divided into</a:t>
            </a:r>
            <a:endParaRPr lang="en-IN" sz="2000" i="1" dirty="0">
              <a:solidFill>
                <a:srgbClr val="C00000"/>
              </a:solidFill>
              <a:latin typeface="AppleMyungjo" pitchFamily="2" charset="-127"/>
              <a:ea typeface="AppleMyungjo" pitchFamily="2" charset="-127"/>
            </a:endParaRPr>
          </a:p>
          <a:p>
            <a:pPr marL="223838" lvl="1" indent="0" algn="just">
              <a:lnSpc>
                <a:spcPct val="110000"/>
              </a:lnSpc>
              <a:buNone/>
            </a:pPr>
            <a:r>
              <a:rPr lang="en-IN" sz="2000" b="1" i="1" dirty="0">
                <a:solidFill>
                  <a:srgbClr val="C00000"/>
                </a:solidFill>
                <a:latin typeface="AppleMyungjo" pitchFamily="2" charset="-127"/>
                <a:ea typeface="AppleMyungjo" pitchFamily="2" charset="-127"/>
              </a:rPr>
              <a:t>Temporal Locality </a:t>
            </a:r>
            <a:r>
              <a:rPr lang="en-IN" sz="2000" b="1" dirty="0">
                <a:solidFill>
                  <a:srgbClr val="002060"/>
                </a:solidFill>
                <a:latin typeface="AppleMyungjo" pitchFamily="2" charset="-127"/>
                <a:ea typeface="AppleMyungjo" pitchFamily="2" charset="-127"/>
              </a:rPr>
              <a:t>- says that if a program accesses one memory address, there is a good chance that it will access the same address again, i.e., reuse of specific data items within a short time frame. </a:t>
            </a:r>
          </a:p>
          <a:p>
            <a:pPr marL="223838" lvl="1" indent="0" algn="just">
              <a:lnSpc>
                <a:spcPct val="110000"/>
              </a:lnSpc>
              <a:buNone/>
            </a:pPr>
            <a:endParaRPr lang="en-IN" sz="2000" b="1" i="1" dirty="0">
              <a:solidFill>
                <a:srgbClr val="C00000"/>
              </a:solidFill>
              <a:latin typeface="AppleMyungjo" pitchFamily="2" charset="-127"/>
              <a:ea typeface="AppleMyungjo" pitchFamily="2" charset="-127"/>
            </a:endParaRPr>
          </a:p>
          <a:p>
            <a:pPr marL="223838" lvl="1" indent="0" algn="just">
              <a:lnSpc>
                <a:spcPct val="110000"/>
              </a:lnSpc>
              <a:buNone/>
            </a:pPr>
            <a:r>
              <a:rPr lang="en-IN" sz="2000" b="1" i="1" dirty="0">
                <a:solidFill>
                  <a:srgbClr val="C00000"/>
                </a:solidFill>
                <a:latin typeface="AppleMyungjo" pitchFamily="2" charset="-127"/>
                <a:ea typeface="AppleMyungjo" pitchFamily="2" charset="-127"/>
              </a:rPr>
              <a:t>Spatial Locality </a:t>
            </a:r>
            <a:r>
              <a:rPr lang="en-IN" sz="1800" b="1" dirty="0">
                <a:solidFill>
                  <a:srgbClr val="002060"/>
                </a:solidFill>
                <a:latin typeface="AppleMyungjo" pitchFamily="2" charset="-127"/>
                <a:ea typeface="AppleMyungjo" pitchFamily="2" charset="-127"/>
              </a:rPr>
              <a:t>- </a:t>
            </a:r>
            <a:r>
              <a:rPr lang="en-IN" sz="2000" b="1" dirty="0">
                <a:solidFill>
                  <a:srgbClr val="002060"/>
                </a:solidFill>
                <a:latin typeface="AppleMyungjo" pitchFamily="2" charset="-127"/>
                <a:ea typeface="AppleMyungjo" pitchFamily="2" charset="-127"/>
              </a:rPr>
              <a:t>says that if a program accesses one memory address, there is a good chance that it will also access other nearby/adjacent addresses for the data. This can be result of programmers/compilers clustering items in memory.</a:t>
            </a:r>
          </a:p>
          <a:p>
            <a:pPr algn="just">
              <a:lnSpc>
                <a:spcPct val="110000"/>
              </a:lnSpc>
            </a:pPr>
            <a:endParaRPr lang="en-US" sz="3200" dirty="0">
              <a:latin typeface="AppleMyungjo" pitchFamily="2" charset="-127"/>
              <a:ea typeface="AppleMyungjo" pitchFamily="2" charset="-127"/>
            </a:endParaRPr>
          </a:p>
        </p:txBody>
      </p:sp>
    </p:spTree>
    <p:extLst>
      <p:ext uri="{BB962C8B-B14F-4D97-AF65-F5344CB8AC3E}">
        <p14:creationId xmlns:p14="http://schemas.microsoft.com/office/powerpoint/2010/main" val="1298966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84E30-39EE-3393-53E8-66ED9DD491F6}"/>
              </a:ext>
            </a:extLst>
          </p:cNvPr>
          <p:cNvSpPr>
            <a:spLocks noGrp="1"/>
          </p:cNvSpPr>
          <p:nvPr>
            <p:ph type="title"/>
          </p:nvPr>
        </p:nvSpPr>
        <p:spPr>
          <a:xfrm>
            <a:off x="838200" y="160262"/>
            <a:ext cx="10515600" cy="1325563"/>
          </a:xfrm>
        </p:spPr>
        <p:txBody>
          <a:bodyPr>
            <a:normAutofit/>
          </a:bodyPr>
          <a:lstStyle/>
          <a:p>
            <a:pPr algn="ctr"/>
            <a:r>
              <a:rPr lang="en-US" altLang="ko-KR" sz="3200" dirty="0">
                <a:latin typeface="AppleMyungjo" pitchFamily="2" charset="-127"/>
                <a:ea typeface="AppleMyungjo" pitchFamily="2" charset="-127"/>
              </a:rPr>
              <a:t>Cache Mapping</a:t>
            </a:r>
            <a:endParaRPr lang="en-US" sz="6000" dirty="0">
              <a:latin typeface="AppleMyungjo" pitchFamily="2" charset="-127"/>
              <a:ea typeface="AppleMyungjo" pitchFamily="2" charset="-127"/>
            </a:endParaRPr>
          </a:p>
        </p:txBody>
      </p:sp>
      <p:sp>
        <p:nvSpPr>
          <p:cNvPr id="3" name="Content Placeholder 2">
            <a:extLst>
              <a:ext uri="{FF2B5EF4-FFF2-40B4-BE49-F238E27FC236}">
                <a16:creationId xmlns:a16="http://schemas.microsoft.com/office/drawing/2014/main" id="{B6D2B956-3AC0-E1D7-F813-EB3DB514BDFC}"/>
              </a:ext>
            </a:extLst>
          </p:cNvPr>
          <p:cNvSpPr>
            <a:spLocks noGrp="1"/>
          </p:cNvSpPr>
          <p:nvPr>
            <p:ph idx="1"/>
          </p:nvPr>
        </p:nvSpPr>
        <p:spPr>
          <a:xfrm>
            <a:off x="838200" y="1253330"/>
            <a:ext cx="10515600" cy="5604669"/>
          </a:xfrm>
        </p:spPr>
        <p:txBody>
          <a:bodyPr>
            <a:normAutofit/>
          </a:bodyPr>
          <a:lstStyle/>
          <a:p>
            <a:pPr algn="just">
              <a:lnSpc>
                <a:spcPts val="2060"/>
              </a:lnSpc>
            </a:pPr>
            <a:r>
              <a:rPr lang="en-US" sz="2000" b="1" dirty="0">
                <a:solidFill>
                  <a:srgbClr val="002060"/>
                </a:solidFill>
                <a:latin typeface="AppleMyungjo" pitchFamily="2" charset="-127"/>
                <a:ea typeface="AppleMyungjo" pitchFamily="2" charset="-127"/>
              </a:rPr>
              <a:t>The transformation of data from main memory to cache is referred to as </a:t>
            </a:r>
            <a:r>
              <a:rPr lang="en-US" sz="2000" b="1" i="1" dirty="0">
                <a:solidFill>
                  <a:srgbClr val="C00000"/>
                </a:solidFill>
                <a:latin typeface="AppleMyungjo" pitchFamily="2" charset="-127"/>
                <a:ea typeface="AppleMyungjo" pitchFamily="2" charset="-127"/>
              </a:rPr>
              <a:t>Mapping process. </a:t>
            </a:r>
          </a:p>
          <a:p>
            <a:pPr algn="just">
              <a:lnSpc>
                <a:spcPts val="2060"/>
              </a:lnSpc>
            </a:pPr>
            <a:r>
              <a:rPr lang="en-IN" sz="2000" b="1" dirty="0">
                <a:solidFill>
                  <a:srgbClr val="002060"/>
                </a:solidFill>
                <a:latin typeface="AppleMyungjo" pitchFamily="2" charset="-127"/>
                <a:ea typeface="AppleMyungjo" pitchFamily="2" charset="-127"/>
              </a:rPr>
              <a:t>There are three types of mapping procedures</a:t>
            </a:r>
          </a:p>
          <a:p>
            <a:pPr marL="623888" indent="-261938" algn="just">
              <a:lnSpc>
                <a:spcPts val="2060"/>
              </a:lnSpc>
              <a:buFont typeface="System Font Regular"/>
              <a:buChar char="-"/>
            </a:pPr>
            <a:r>
              <a:rPr lang="en-IN" sz="2000" b="1" i="1" dirty="0">
                <a:solidFill>
                  <a:srgbClr val="C00000"/>
                </a:solidFill>
                <a:latin typeface="AppleMyungjo" pitchFamily="2" charset="-127"/>
                <a:ea typeface="AppleMyungjo" pitchFamily="2" charset="-127"/>
              </a:rPr>
              <a:t>Associative</a:t>
            </a:r>
          </a:p>
          <a:p>
            <a:pPr marL="623888" indent="-261938" algn="just">
              <a:lnSpc>
                <a:spcPts val="2060"/>
              </a:lnSpc>
              <a:buFont typeface="System Font Regular"/>
              <a:buChar char="-"/>
            </a:pPr>
            <a:r>
              <a:rPr lang="en-IN" sz="2000" b="1" i="1" dirty="0">
                <a:solidFill>
                  <a:srgbClr val="C00000"/>
                </a:solidFill>
                <a:latin typeface="AppleMyungjo" pitchFamily="2" charset="-127"/>
                <a:ea typeface="AppleMyungjo" pitchFamily="2" charset="-127"/>
              </a:rPr>
              <a:t>Direct-mapped</a:t>
            </a:r>
          </a:p>
          <a:p>
            <a:pPr marL="623888" indent="-261938" algn="just">
              <a:lnSpc>
                <a:spcPts val="2060"/>
              </a:lnSpc>
              <a:buFont typeface="System Font Regular"/>
              <a:buChar char="-"/>
            </a:pPr>
            <a:r>
              <a:rPr lang="en-IN" sz="2000" b="1" i="1" dirty="0">
                <a:solidFill>
                  <a:srgbClr val="C00000"/>
                </a:solidFill>
                <a:latin typeface="AppleMyungjo" pitchFamily="2" charset="-127"/>
                <a:ea typeface="AppleMyungjo" pitchFamily="2" charset="-127"/>
              </a:rPr>
              <a:t>Set associative</a:t>
            </a:r>
            <a:endParaRPr lang="en-US" sz="2000" b="1" dirty="0">
              <a:solidFill>
                <a:srgbClr val="002060"/>
              </a:solidFill>
              <a:latin typeface="AppleMyungjo" pitchFamily="2" charset="-127"/>
              <a:ea typeface="AppleMyungjo" pitchFamily="2" charset="-127"/>
            </a:endParaRPr>
          </a:p>
          <a:p>
            <a:pPr>
              <a:lnSpc>
                <a:spcPts val="2060"/>
              </a:lnSpc>
            </a:pPr>
            <a:endParaRPr lang="en-US" sz="2000" b="1" dirty="0">
              <a:solidFill>
                <a:srgbClr val="002060"/>
              </a:solidFill>
              <a:latin typeface="AppleMyungjo" pitchFamily="2" charset="-127"/>
              <a:ea typeface="AppleMyungjo" pitchFamily="2" charset="-127"/>
            </a:endParaRPr>
          </a:p>
          <a:p>
            <a:pPr>
              <a:lnSpc>
                <a:spcPts val="2060"/>
              </a:lnSpc>
            </a:pPr>
            <a:r>
              <a:rPr lang="en-US" sz="2000" b="1" dirty="0">
                <a:solidFill>
                  <a:srgbClr val="002060"/>
                </a:solidFill>
                <a:latin typeface="AppleMyungjo" pitchFamily="2" charset="-127"/>
                <a:ea typeface="AppleMyungjo" pitchFamily="2" charset="-127"/>
              </a:rPr>
              <a:t>Main memory : 32 K  x 12 bit word (15 address lines)</a:t>
            </a:r>
          </a:p>
          <a:p>
            <a:pPr>
              <a:lnSpc>
                <a:spcPts val="2060"/>
              </a:lnSpc>
            </a:pPr>
            <a:r>
              <a:rPr lang="en-US" sz="2000" b="1" dirty="0">
                <a:solidFill>
                  <a:srgbClr val="002060"/>
                </a:solidFill>
                <a:latin typeface="AppleMyungjo" pitchFamily="2" charset="-127"/>
                <a:ea typeface="AppleMyungjo" pitchFamily="2" charset="-127"/>
              </a:rPr>
              <a:t>Cache memory : 512  x 12 bit word</a:t>
            </a:r>
          </a:p>
          <a:p>
            <a:pPr>
              <a:lnSpc>
                <a:spcPts val="2060"/>
              </a:lnSpc>
            </a:pPr>
            <a:r>
              <a:rPr lang="en-US" sz="2000" b="1" dirty="0">
                <a:solidFill>
                  <a:srgbClr val="002060"/>
                </a:solidFill>
                <a:latin typeface="AppleMyungjo" pitchFamily="2" charset="-127"/>
                <a:ea typeface="AppleMyungjo" pitchFamily="2" charset="-127"/>
              </a:rPr>
              <a:t>CPU communicates with both memories</a:t>
            </a:r>
          </a:p>
          <a:p>
            <a:pPr lvl="1">
              <a:lnSpc>
                <a:spcPts val="2060"/>
              </a:lnSpc>
              <a:buFont typeface="System Font Regular"/>
              <a:buChar char="⁃"/>
            </a:pPr>
            <a:r>
              <a:rPr lang="en-US" sz="2000" b="1" dirty="0">
                <a:solidFill>
                  <a:srgbClr val="002060"/>
                </a:solidFill>
                <a:latin typeface="AppleMyungjo" pitchFamily="2" charset="-127"/>
                <a:ea typeface="AppleMyungjo" pitchFamily="2" charset="-127"/>
              </a:rPr>
              <a:t>CPU sends a 15-bit address to cache</a:t>
            </a:r>
          </a:p>
          <a:p>
            <a:pPr lvl="1">
              <a:lnSpc>
                <a:spcPts val="2060"/>
              </a:lnSpc>
              <a:buFont typeface="System Font Regular"/>
              <a:buChar char="⁃"/>
            </a:pPr>
            <a:r>
              <a:rPr lang="en-US" sz="2000" b="1" dirty="0">
                <a:solidFill>
                  <a:srgbClr val="002060"/>
                </a:solidFill>
                <a:latin typeface="AppleMyungjo" pitchFamily="2" charset="-127"/>
                <a:ea typeface="AppleMyungjo" pitchFamily="2" charset="-127"/>
              </a:rPr>
              <a:t>Hit : CPU accepts the 12-bit data from cache</a:t>
            </a:r>
          </a:p>
          <a:p>
            <a:pPr lvl="1">
              <a:lnSpc>
                <a:spcPts val="2060"/>
              </a:lnSpc>
              <a:buFont typeface="System Font Regular"/>
              <a:buChar char="⁃"/>
            </a:pPr>
            <a:r>
              <a:rPr lang="en-US" sz="2000" b="1" dirty="0">
                <a:solidFill>
                  <a:srgbClr val="002060"/>
                </a:solidFill>
                <a:latin typeface="AppleMyungjo" pitchFamily="2" charset="-127"/>
                <a:ea typeface="AppleMyungjo" pitchFamily="2" charset="-127"/>
              </a:rPr>
              <a:t>Miss : CPU reads the data from main memory (then data is written to cache)</a:t>
            </a:r>
          </a:p>
          <a:p>
            <a:pPr>
              <a:lnSpc>
                <a:spcPts val="2060"/>
              </a:lnSpc>
            </a:pPr>
            <a:endParaRPr lang="en-US" dirty="0"/>
          </a:p>
        </p:txBody>
      </p:sp>
      <p:pic>
        <p:nvPicPr>
          <p:cNvPr id="7170" name="Picture 2" descr="SCHOOL OF COMPUTING DEPARTMENT OF COMPUTER SCIENCE AND ENGINEERING">
            <a:extLst>
              <a:ext uri="{FF2B5EF4-FFF2-40B4-BE49-F238E27FC236}">
                <a16:creationId xmlns:a16="http://schemas.microsoft.com/office/drawing/2014/main" id="{F1DC19E0-4327-E5D2-1F25-E81A30E614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766" r="8884" b="24229"/>
          <a:stretch/>
        </p:blipFill>
        <p:spPr bwMode="auto">
          <a:xfrm>
            <a:off x="7315199" y="4309145"/>
            <a:ext cx="3928057"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345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8CE58-0F1E-6937-9607-2AB7C4738DBC}"/>
              </a:ext>
            </a:extLst>
          </p:cNvPr>
          <p:cNvSpPr>
            <a:spLocks noGrp="1"/>
          </p:cNvSpPr>
          <p:nvPr>
            <p:ph type="title"/>
          </p:nvPr>
        </p:nvSpPr>
        <p:spPr>
          <a:xfrm>
            <a:off x="838200" y="152332"/>
            <a:ext cx="10515600" cy="1325563"/>
          </a:xfrm>
        </p:spPr>
        <p:txBody>
          <a:bodyPr>
            <a:normAutofit/>
          </a:bodyPr>
          <a:lstStyle/>
          <a:p>
            <a:pPr algn="ctr"/>
            <a:r>
              <a:rPr lang="en-IN" sz="3200" dirty="0">
                <a:latin typeface="AppleMyungjo" pitchFamily="2" charset="-127"/>
                <a:ea typeface="AppleMyungjo" pitchFamily="2" charset="-127"/>
                <a:cs typeface="+mn-cs"/>
              </a:rPr>
              <a:t>Associative mapping</a:t>
            </a:r>
            <a:endParaRPr lang="en-US" sz="3200" dirty="0">
              <a:latin typeface="AppleMyungjo" pitchFamily="2" charset="-127"/>
              <a:ea typeface="AppleMyungjo" pitchFamily="2" charset="-127"/>
              <a:cs typeface="+mn-cs"/>
            </a:endParaRPr>
          </a:p>
        </p:txBody>
      </p:sp>
      <p:sp>
        <p:nvSpPr>
          <p:cNvPr id="3" name="Content Placeholder 2">
            <a:extLst>
              <a:ext uri="{FF2B5EF4-FFF2-40B4-BE49-F238E27FC236}">
                <a16:creationId xmlns:a16="http://schemas.microsoft.com/office/drawing/2014/main" id="{4674F1C1-F472-1160-480F-5E2039864593}"/>
              </a:ext>
            </a:extLst>
          </p:cNvPr>
          <p:cNvSpPr>
            <a:spLocks noGrp="1"/>
          </p:cNvSpPr>
          <p:nvPr>
            <p:ph idx="1"/>
          </p:nvPr>
        </p:nvSpPr>
        <p:spPr>
          <a:xfrm>
            <a:off x="734632" y="1207439"/>
            <a:ext cx="10722735" cy="5014979"/>
          </a:xfrm>
        </p:spPr>
        <p:txBody>
          <a:bodyPr>
            <a:normAutofit/>
          </a:bodyPr>
          <a:lstStyle/>
          <a:p>
            <a:pPr algn="just">
              <a:lnSpc>
                <a:spcPct val="110000"/>
              </a:lnSpc>
            </a:pPr>
            <a:r>
              <a:rPr lang="en-IN" sz="2000" b="1" dirty="0">
                <a:solidFill>
                  <a:srgbClr val="002060"/>
                </a:solidFill>
                <a:latin typeface="AppleMyungjo" pitchFamily="2" charset="-127"/>
                <a:ea typeface="AppleMyungjo" pitchFamily="2" charset="-127"/>
              </a:rPr>
              <a:t>This technique stores both the address and data of the memory word. </a:t>
            </a:r>
          </a:p>
          <a:p>
            <a:pPr algn="just">
              <a:lnSpc>
                <a:spcPct val="110000"/>
              </a:lnSpc>
            </a:pPr>
            <a:r>
              <a:rPr lang="en-IN" sz="2000" b="1" dirty="0">
                <a:solidFill>
                  <a:srgbClr val="002060"/>
                </a:solidFill>
                <a:latin typeface="AppleMyungjo" pitchFamily="2" charset="-127"/>
                <a:ea typeface="AppleMyungjo" pitchFamily="2" charset="-127"/>
              </a:rPr>
              <a:t>This permits any location in cache to store any word from main memory. </a:t>
            </a:r>
          </a:p>
          <a:p>
            <a:pPr algn="just">
              <a:lnSpc>
                <a:spcPct val="110000"/>
              </a:lnSpc>
            </a:pPr>
            <a:r>
              <a:rPr lang="en-IN" sz="2000" b="1" dirty="0">
                <a:solidFill>
                  <a:srgbClr val="002060"/>
                </a:solidFill>
                <a:latin typeface="AppleMyungjo" pitchFamily="2" charset="-127"/>
                <a:ea typeface="AppleMyungjo" pitchFamily="2" charset="-127"/>
              </a:rPr>
              <a:t>The CPU places a 15-bit address in the argument register and the associative memory is searched for a matching address. </a:t>
            </a:r>
          </a:p>
          <a:p>
            <a:pPr algn="just">
              <a:lnSpc>
                <a:spcPct val="110000"/>
              </a:lnSpc>
            </a:pPr>
            <a:r>
              <a:rPr lang="en-IN" sz="2000" b="1" dirty="0">
                <a:solidFill>
                  <a:srgbClr val="002060"/>
                </a:solidFill>
                <a:latin typeface="AppleMyungjo" pitchFamily="2" charset="-127"/>
                <a:ea typeface="AppleMyungjo" pitchFamily="2" charset="-127"/>
              </a:rPr>
              <a:t>If the address is found, the corresponding 12-bit data is read and sent to the CPU. </a:t>
            </a:r>
          </a:p>
          <a:p>
            <a:pPr algn="just">
              <a:lnSpc>
                <a:spcPct val="110000"/>
              </a:lnSpc>
            </a:pPr>
            <a:r>
              <a:rPr lang="en-IN" sz="2000" b="1" dirty="0">
                <a:solidFill>
                  <a:srgbClr val="002060"/>
                </a:solidFill>
                <a:latin typeface="AppleMyungjo" pitchFamily="2" charset="-127"/>
                <a:ea typeface="AppleMyungjo" pitchFamily="2" charset="-127"/>
              </a:rPr>
              <a:t>If no match occurs, the main memory is accessed for the word and the address-data pair is transferred to associative cache memory.</a:t>
            </a:r>
          </a:p>
          <a:p>
            <a:pPr algn="just">
              <a:lnSpc>
                <a:spcPct val="110000"/>
              </a:lnSpc>
            </a:pPr>
            <a:r>
              <a:rPr lang="en-IN" sz="2000" b="1" dirty="0">
                <a:solidFill>
                  <a:srgbClr val="002060"/>
                </a:solidFill>
                <a:latin typeface="AppleMyungjo" pitchFamily="2" charset="-127"/>
                <a:ea typeface="AppleMyungjo" pitchFamily="2" charset="-127"/>
              </a:rPr>
              <a:t>If the cache is full, an address data pair must be displaced to make room for a pair that is needed and not presently in the cache.</a:t>
            </a:r>
          </a:p>
          <a:p>
            <a:pPr algn="just">
              <a:lnSpc>
                <a:spcPct val="110000"/>
              </a:lnSpc>
            </a:pPr>
            <a:r>
              <a:rPr lang="en-IN" sz="2000" b="1" dirty="0">
                <a:solidFill>
                  <a:srgbClr val="002060"/>
                </a:solidFill>
                <a:latin typeface="AppleMyungjo" pitchFamily="2" charset="-127"/>
                <a:ea typeface="AppleMyungjo" pitchFamily="2" charset="-127"/>
              </a:rPr>
              <a:t>This constitutes a first-in first-one (FIFO) replacement policy.</a:t>
            </a:r>
          </a:p>
        </p:txBody>
      </p:sp>
    </p:spTree>
    <p:extLst>
      <p:ext uri="{BB962C8B-B14F-4D97-AF65-F5344CB8AC3E}">
        <p14:creationId xmlns:p14="http://schemas.microsoft.com/office/powerpoint/2010/main" val="453002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A999C-4068-35FC-4FE5-99C7848AD120}"/>
              </a:ext>
            </a:extLst>
          </p:cNvPr>
          <p:cNvSpPr>
            <a:spLocks noGrp="1"/>
          </p:cNvSpPr>
          <p:nvPr>
            <p:ph type="title"/>
          </p:nvPr>
        </p:nvSpPr>
        <p:spPr>
          <a:xfrm>
            <a:off x="838200" y="365125"/>
            <a:ext cx="10515600" cy="819731"/>
          </a:xfrm>
        </p:spPr>
        <p:txBody>
          <a:bodyPr>
            <a:normAutofit/>
          </a:bodyPr>
          <a:lstStyle/>
          <a:p>
            <a:pPr algn="ctr"/>
            <a:r>
              <a:rPr lang="en-IN" sz="3200" dirty="0">
                <a:latin typeface="AppleMyungjo" pitchFamily="2" charset="-127"/>
                <a:ea typeface="AppleMyungjo" pitchFamily="2" charset="-127"/>
                <a:cs typeface="+mn-cs"/>
              </a:rPr>
              <a:t>Associative mapping cache</a:t>
            </a:r>
            <a:endParaRPr lang="en-US" sz="3200" dirty="0"/>
          </a:p>
        </p:txBody>
      </p:sp>
      <p:graphicFrame>
        <p:nvGraphicFramePr>
          <p:cNvPr id="4" name="Object 7">
            <a:extLst>
              <a:ext uri="{FF2B5EF4-FFF2-40B4-BE49-F238E27FC236}">
                <a16:creationId xmlns:a16="http://schemas.microsoft.com/office/drawing/2014/main" id="{7F13D876-F87E-FB19-071D-AD7722F0D3D5}"/>
              </a:ext>
            </a:extLst>
          </p:cNvPr>
          <p:cNvGraphicFramePr>
            <a:graphicFrameLocks noGrp="1" noChangeAspect="1"/>
          </p:cNvGraphicFramePr>
          <p:nvPr>
            <p:ph idx="1"/>
            <p:extLst>
              <p:ext uri="{D42A27DB-BD31-4B8C-83A1-F6EECF244321}">
                <p14:modId xmlns:p14="http://schemas.microsoft.com/office/powerpoint/2010/main" val="1602017419"/>
              </p:ext>
            </p:extLst>
          </p:nvPr>
        </p:nvGraphicFramePr>
        <p:xfrm>
          <a:off x="667809" y="1426380"/>
          <a:ext cx="4802734" cy="4703964"/>
        </p:xfrm>
        <a:graphic>
          <a:graphicData uri="http://schemas.openxmlformats.org/presentationml/2006/ole">
            <mc:AlternateContent xmlns:mc="http://schemas.openxmlformats.org/markup-compatibility/2006">
              <mc:Choice xmlns:v="urn:schemas-microsoft-com:vml" Requires="v">
                <p:oleObj name="VISIO" r:id="rId2" imgW="4940300" imgH="4838700" progId="Visio.Drawing.5">
                  <p:embed/>
                </p:oleObj>
              </mc:Choice>
              <mc:Fallback>
                <p:oleObj name="VISIO" r:id="rId2" imgW="4940300" imgH="4838700" progId="Visio.Drawing.5">
                  <p:embed/>
                  <p:pic>
                    <p:nvPicPr>
                      <p:cNvPr id="4" name="Object 7">
                        <a:extLst>
                          <a:ext uri="{FF2B5EF4-FFF2-40B4-BE49-F238E27FC236}">
                            <a16:creationId xmlns:a16="http://schemas.microsoft.com/office/drawing/2014/main" id="{92AEC6D7-5817-69AA-DD86-780ED0787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09" y="1426380"/>
                        <a:ext cx="4802734" cy="4703964"/>
                      </a:xfrm>
                      <a:prstGeom prst="rect">
                        <a:avLst/>
                      </a:prstGeom>
                      <a:solidFill>
                        <a:srgbClr val="FFFF99"/>
                      </a:solidFill>
                      <a:ln>
                        <a:noFill/>
                      </a:ln>
                      <a:effectLst/>
                    </p:spPr>
                  </p:pic>
                </p:oleObj>
              </mc:Fallback>
            </mc:AlternateContent>
          </a:graphicData>
        </a:graphic>
      </p:graphicFrame>
      <p:sp>
        <p:nvSpPr>
          <p:cNvPr id="6" name="TextBox 5">
            <a:extLst>
              <a:ext uri="{FF2B5EF4-FFF2-40B4-BE49-F238E27FC236}">
                <a16:creationId xmlns:a16="http://schemas.microsoft.com/office/drawing/2014/main" id="{26CFDE97-4D5B-3CED-B0A8-8CCD62D8216D}"/>
              </a:ext>
            </a:extLst>
          </p:cNvPr>
          <p:cNvSpPr txBox="1"/>
          <p:nvPr/>
        </p:nvSpPr>
        <p:spPr>
          <a:xfrm>
            <a:off x="5599090" y="1837763"/>
            <a:ext cx="6098146" cy="1100301"/>
          </a:xfrm>
          <a:prstGeom prst="rect">
            <a:avLst/>
          </a:prstGeom>
          <a:noFill/>
        </p:spPr>
        <p:txBody>
          <a:bodyPr wrap="square">
            <a:spAutoFit/>
          </a:bodyPr>
          <a:lstStyle/>
          <a:p>
            <a:pPr algn="just">
              <a:lnSpc>
                <a:spcPct val="110000"/>
              </a:lnSpc>
            </a:pPr>
            <a:r>
              <a:rPr lang="en-IN" sz="2000" b="1" dirty="0">
                <a:solidFill>
                  <a:srgbClr val="002060"/>
                </a:solidFill>
                <a:latin typeface="AppleMyungjo" pitchFamily="2" charset="-127"/>
                <a:ea typeface="AppleMyungjo" pitchFamily="2" charset="-127"/>
              </a:rPr>
              <a:t>The 15-bit address is shown as a five-digit octal number and its corresponding 12-bit word is shown as a four-digit octal number.</a:t>
            </a:r>
          </a:p>
        </p:txBody>
      </p:sp>
    </p:spTree>
    <p:extLst>
      <p:ext uri="{BB962C8B-B14F-4D97-AF65-F5344CB8AC3E}">
        <p14:creationId xmlns:p14="http://schemas.microsoft.com/office/powerpoint/2010/main" val="2841029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BACA3-4F36-A8CD-E7DB-B24B21FA8DAE}"/>
              </a:ext>
            </a:extLst>
          </p:cNvPr>
          <p:cNvSpPr>
            <a:spLocks noGrp="1"/>
          </p:cNvSpPr>
          <p:nvPr>
            <p:ph type="title"/>
          </p:nvPr>
        </p:nvSpPr>
        <p:spPr>
          <a:xfrm>
            <a:off x="838200" y="371272"/>
            <a:ext cx="10515600" cy="1325563"/>
          </a:xfrm>
        </p:spPr>
        <p:txBody>
          <a:bodyPr/>
          <a:lstStyle/>
          <a:p>
            <a:pPr algn="ctr"/>
            <a:r>
              <a:rPr lang="en-IN" sz="3200" dirty="0">
                <a:latin typeface="AppleMyungjo" pitchFamily="2" charset="-127"/>
                <a:ea typeface="AppleMyungjo" pitchFamily="2" charset="-127"/>
                <a:cs typeface="+mn-cs"/>
              </a:rPr>
              <a:t>Direct-Mapped</a:t>
            </a:r>
            <a:br>
              <a:rPr lang="en-IN" b="1" i="0" dirty="0">
                <a:solidFill>
                  <a:srgbClr val="000000"/>
                </a:solidFill>
                <a:effectLst/>
                <a:latin typeface="PT Serif" panose="020A0603040505020204" pitchFamily="18" charset="77"/>
              </a:rPr>
            </a:br>
            <a:endParaRPr lang="en-US" dirty="0"/>
          </a:p>
        </p:txBody>
      </p:sp>
      <p:sp>
        <p:nvSpPr>
          <p:cNvPr id="3" name="Content Placeholder 2">
            <a:extLst>
              <a:ext uri="{FF2B5EF4-FFF2-40B4-BE49-F238E27FC236}">
                <a16:creationId xmlns:a16="http://schemas.microsoft.com/office/drawing/2014/main" id="{87EE5EBF-0D21-6DCC-7F28-1E8FEFD3677F}"/>
              </a:ext>
            </a:extLst>
          </p:cNvPr>
          <p:cNvSpPr>
            <a:spLocks noGrp="1"/>
          </p:cNvSpPr>
          <p:nvPr>
            <p:ph idx="1"/>
          </p:nvPr>
        </p:nvSpPr>
        <p:spPr>
          <a:xfrm>
            <a:off x="721753" y="1034053"/>
            <a:ext cx="10748493" cy="4351338"/>
          </a:xfrm>
        </p:spPr>
        <p:txBody>
          <a:bodyPr>
            <a:normAutofit/>
          </a:bodyPr>
          <a:lstStyle/>
          <a:p>
            <a:pPr algn="just">
              <a:lnSpc>
                <a:spcPct val="100000"/>
              </a:lnSpc>
            </a:pPr>
            <a:r>
              <a:rPr lang="en-IN" sz="2000" b="1" dirty="0">
                <a:solidFill>
                  <a:srgbClr val="002060"/>
                </a:solidFill>
                <a:latin typeface="AppleMyungjo" pitchFamily="2" charset="-127"/>
                <a:ea typeface="AppleMyungjo" pitchFamily="2" charset="-127"/>
              </a:rPr>
              <a:t>Associative memories are expensive compared to RAM because of the added logic associated with each cell. </a:t>
            </a:r>
          </a:p>
          <a:p>
            <a:pPr algn="just">
              <a:lnSpc>
                <a:spcPct val="100000"/>
              </a:lnSpc>
            </a:pPr>
            <a:r>
              <a:rPr lang="en-IN" sz="2000" b="1" dirty="0">
                <a:solidFill>
                  <a:srgbClr val="002060"/>
                </a:solidFill>
                <a:latin typeface="AppleMyungjo" pitchFamily="2" charset="-127"/>
                <a:ea typeface="AppleMyungjo" pitchFamily="2" charset="-127"/>
              </a:rPr>
              <a:t>This technique uses RAM for the cache. Generally, there are 2</a:t>
            </a:r>
            <a:r>
              <a:rPr lang="en-IN" sz="2000" b="1" baseline="30000" dirty="0">
                <a:solidFill>
                  <a:srgbClr val="002060"/>
                </a:solidFill>
                <a:latin typeface="AppleMyungjo" pitchFamily="2" charset="-127"/>
                <a:ea typeface="AppleMyungjo" pitchFamily="2" charset="-127"/>
              </a:rPr>
              <a:t>k</a:t>
            </a:r>
            <a:r>
              <a:rPr lang="en-IN" sz="2000" b="1" dirty="0">
                <a:solidFill>
                  <a:srgbClr val="002060"/>
                </a:solidFill>
                <a:latin typeface="AppleMyungjo" pitchFamily="2" charset="-127"/>
                <a:ea typeface="AppleMyungjo" pitchFamily="2" charset="-127"/>
              </a:rPr>
              <a:t> words cache and 2</a:t>
            </a:r>
            <a:r>
              <a:rPr lang="en-IN" sz="2000" b="1" baseline="30000" dirty="0">
                <a:solidFill>
                  <a:srgbClr val="002060"/>
                </a:solidFill>
                <a:latin typeface="AppleMyungjo" pitchFamily="2" charset="-127"/>
                <a:ea typeface="AppleMyungjo" pitchFamily="2" charset="-127"/>
              </a:rPr>
              <a:t>n</a:t>
            </a:r>
            <a:r>
              <a:rPr lang="en-IN" sz="2000" b="1" dirty="0">
                <a:solidFill>
                  <a:srgbClr val="002060"/>
                </a:solidFill>
                <a:latin typeface="AppleMyungjo" pitchFamily="2" charset="-127"/>
                <a:ea typeface="AppleMyungjo" pitchFamily="2" charset="-127"/>
              </a:rPr>
              <a:t> words main memory.</a:t>
            </a:r>
          </a:p>
          <a:p>
            <a:pPr algn="just">
              <a:lnSpc>
                <a:spcPct val="100000"/>
              </a:lnSpc>
            </a:pPr>
            <a:r>
              <a:rPr lang="en-IN" sz="2000" b="1" dirty="0">
                <a:solidFill>
                  <a:srgbClr val="002060"/>
                </a:solidFill>
                <a:latin typeface="AppleMyungjo" pitchFamily="2" charset="-127"/>
                <a:ea typeface="AppleMyungjo" pitchFamily="2" charset="-127"/>
              </a:rPr>
              <a:t>n-bit memory address: Index field (k-bits) and Tag field (n - k) bits.</a:t>
            </a:r>
          </a:p>
          <a:p>
            <a:pPr algn="just">
              <a:lnSpc>
                <a:spcPct val="100000"/>
              </a:lnSpc>
            </a:pPr>
            <a:r>
              <a:rPr lang="en-IN" sz="2000" b="1" dirty="0">
                <a:solidFill>
                  <a:srgbClr val="002060"/>
                </a:solidFill>
                <a:latin typeface="AppleMyungjo" pitchFamily="2" charset="-127"/>
                <a:ea typeface="AppleMyungjo" pitchFamily="2" charset="-127"/>
              </a:rPr>
              <a:t>n-bit address used to access main memory and k-bit index for cache.</a:t>
            </a:r>
          </a:p>
          <a:p>
            <a:pPr algn="just">
              <a:lnSpc>
                <a:spcPct val="100000"/>
              </a:lnSpc>
            </a:pPr>
            <a:r>
              <a:rPr lang="en-IN" sz="2000" b="1" dirty="0">
                <a:solidFill>
                  <a:srgbClr val="002060"/>
                </a:solidFill>
                <a:latin typeface="AppleMyungjo" pitchFamily="2" charset="-127"/>
                <a:ea typeface="AppleMyungjo" pitchFamily="2" charset="-127"/>
              </a:rPr>
              <a:t>No. of bits in index = No. of address bits required to access cache memory.</a:t>
            </a:r>
          </a:p>
          <a:p>
            <a:pPr algn="just">
              <a:lnSpc>
                <a:spcPct val="100000"/>
              </a:lnSpc>
            </a:pPr>
            <a:r>
              <a:rPr lang="en-IN" sz="2000" b="1" dirty="0">
                <a:solidFill>
                  <a:srgbClr val="002060"/>
                </a:solidFill>
                <a:latin typeface="AppleMyungjo" pitchFamily="2" charset="-127"/>
                <a:ea typeface="AppleMyungjo" pitchFamily="2" charset="-127"/>
              </a:rPr>
              <a:t>15-bit CPU address is divided into: </a:t>
            </a:r>
            <a:r>
              <a:rPr lang="en-US" altLang="ko-KR" sz="2000" b="1" dirty="0">
                <a:solidFill>
                  <a:srgbClr val="FF0000"/>
                </a:solidFill>
                <a:latin typeface="AppleMyungjo" pitchFamily="2" charset="-127"/>
                <a:ea typeface="AppleMyungjo" pitchFamily="2" charset="-127"/>
              </a:rPr>
              <a:t>Tag=6-bit(15-9) and Index=9-bit</a:t>
            </a:r>
            <a:br>
              <a:rPr lang="en-IN" sz="2000" b="1" dirty="0">
                <a:solidFill>
                  <a:srgbClr val="002060"/>
                </a:solidFill>
                <a:latin typeface="AppleMyungjo" pitchFamily="2" charset="-127"/>
                <a:ea typeface="AppleMyungjo" pitchFamily="2" charset="-127"/>
              </a:rPr>
            </a:br>
            <a:endParaRPr lang="en-US" sz="2000" b="1" dirty="0">
              <a:solidFill>
                <a:srgbClr val="002060"/>
              </a:solidFill>
              <a:latin typeface="AppleMyungjo" pitchFamily="2" charset="-127"/>
              <a:ea typeface="AppleMyungjo" pitchFamily="2" charset="-127"/>
            </a:endParaRPr>
          </a:p>
        </p:txBody>
      </p:sp>
      <p:pic>
        <p:nvPicPr>
          <p:cNvPr id="4" name="Picture 2" descr="Computer Organization and Architecture (Match Logic) - UPSC FEVER">
            <a:extLst>
              <a:ext uri="{FF2B5EF4-FFF2-40B4-BE49-F238E27FC236}">
                <a16:creationId xmlns:a16="http://schemas.microsoft.com/office/drawing/2014/main" id="{9BC2BB73-930C-9E02-C7BE-FE4ACF899991}"/>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10990"/>
          <a:stretch/>
        </p:blipFill>
        <p:spPr bwMode="auto">
          <a:xfrm>
            <a:off x="4417453" y="4520485"/>
            <a:ext cx="6722771" cy="1777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2611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BAA44-264C-B3CC-72F0-657B0281CF5A}"/>
              </a:ext>
            </a:extLst>
          </p:cNvPr>
          <p:cNvSpPr>
            <a:spLocks noGrp="1"/>
          </p:cNvSpPr>
          <p:nvPr>
            <p:ph type="title"/>
          </p:nvPr>
        </p:nvSpPr>
        <p:spPr/>
        <p:txBody>
          <a:bodyPr>
            <a:normAutofit/>
          </a:bodyPr>
          <a:lstStyle/>
          <a:p>
            <a:pPr algn="ctr"/>
            <a:r>
              <a:rPr lang="en-IN" sz="3200" dirty="0">
                <a:latin typeface="AppleMyungjo" pitchFamily="2" charset="-127"/>
                <a:ea typeface="AppleMyungjo" pitchFamily="2" charset="-127"/>
              </a:rPr>
              <a:t>Direct mapping cache organization</a:t>
            </a:r>
            <a:br>
              <a:rPr lang="en-IN" sz="3200" dirty="0">
                <a:latin typeface="AppleMyungjo" pitchFamily="2" charset="-127"/>
                <a:ea typeface="AppleMyungjo" pitchFamily="2" charset="-127"/>
              </a:rPr>
            </a:br>
            <a:endParaRPr lang="en-US" sz="3200" dirty="0"/>
          </a:p>
        </p:txBody>
      </p:sp>
      <p:sp>
        <p:nvSpPr>
          <p:cNvPr id="3" name="Content Placeholder 2">
            <a:extLst>
              <a:ext uri="{FF2B5EF4-FFF2-40B4-BE49-F238E27FC236}">
                <a16:creationId xmlns:a16="http://schemas.microsoft.com/office/drawing/2014/main" id="{BEFD42A5-6E8C-C505-5F06-3A1EB0E29327}"/>
              </a:ext>
            </a:extLst>
          </p:cNvPr>
          <p:cNvSpPr>
            <a:spLocks noGrp="1"/>
          </p:cNvSpPr>
          <p:nvPr>
            <p:ph idx="1"/>
          </p:nvPr>
        </p:nvSpPr>
        <p:spPr>
          <a:xfrm>
            <a:off x="721217" y="1253331"/>
            <a:ext cx="10740979" cy="4351338"/>
          </a:xfrm>
        </p:spPr>
        <p:txBody>
          <a:bodyPr>
            <a:noAutofit/>
          </a:bodyPr>
          <a:lstStyle/>
          <a:p>
            <a:pPr algn="just">
              <a:lnSpc>
                <a:spcPct val="100000"/>
              </a:lnSpc>
            </a:pPr>
            <a:r>
              <a:rPr lang="en-US" sz="2000" b="1" dirty="0">
                <a:solidFill>
                  <a:srgbClr val="002060"/>
                </a:solidFill>
                <a:latin typeface="AppleMyungjo" pitchFamily="2" charset="-127"/>
                <a:ea typeface="AppleMyungjo" pitchFamily="2" charset="-127"/>
              </a:rPr>
              <a:t>Each word in cache = data word + associated tag.</a:t>
            </a:r>
          </a:p>
          <a:p>
            <a:pPr algn="just">
              <a:lnSpc>
                <a:spcPct val="100000"/>
              </a:lnSpc>
            </a:pPr>
            <a:r>
              <a:rPr lang="en-US" sz="2000" b="1" dirty="0">
                <a:solidFill>
                  <a:srgbClr val="002060"/>
                </a:solidFill>
                <a:latin typeface="AppleMyungjo" pitchFamily="2" charset="-127"/>
                <a:ea typeface="AppleMyungjo" pitchFamily="2" charset="-127"/>
              </a:rPr>
              <a:t>When a new word is first brought into the cache, the tag bits are stored alongside the data bits.</a:t>
            </a:r>
          </a:p>
          <a:p>
            <a:pPr algn="just">
              <a:lnSpc>
                <a:spcPct val="100000"/>
              </a:lnSpc>
            </a:pPr>
            <a:r>
              <a:rPr lang="en-US" sz="2000" b="1" dirty="0">
                <a:solidFill>
                  <a:srgbClr val="002060"/>
                </a:solidFill>
                <a:latin typeface="AppleMyungjo" pitchFamily="2" charset="-127"/>
                <a:ea typeface="AppleMyungjo" pitchFamily="2" charset="-127"/>
              </a:rPr>
              <a:t>When CPU generates a memory request, index field is used to access the cache.</a:t>
            </a:r>
          </a:p>
          <a:p>
            <a:pPr algn="just">
              <a:lnSpc>
                <a:spcPct val="100000"/>
              </a:lnSpc>
            </a:pPr>
            <a:r>
              <a:rPr lang="en-US" sz="2000" b="1" dirty="0">
                <a:solidFill>
                  <a:srgbClr val="002060"/>
                </a:solidFill>
                <a:latin typeface="AppleMyungjo" pitchFamily="2" charset="-127"/>
                <a:ea typeface="AppleMyungjo" pitchFamily="2" charset="-127"/>
              </a:rPr>
              <a:t>The tag field of CPU address is compared with tag in the word read from the cache.</a:t>
            </a:r>
          </a:p>
          <a:p>
            <a:pPr algn="just">
              <a:lnSpc>
                <a:spcPct val="100000"/>
              </a:lnSpc>
            </a:pPr>
            <a:r>
              <a:rPr lang="en-US" sz="2000" b="1" dirty="0">
                <a:solidFill>
                  <a:srgbClr val="002060"/>
                </a:solidFill>
                <a:latin typeface="AppleMyungjo" pitchFamily="2" charset="-127"/>
                <a:ea typeface="AppleMyungjo" pitchFamily="2" charset="-127"/>
              </a:rPr>
              <a:t>If two tags </a:t>
            </a:r>
            <a:r>
              <a:rPr lang="en-US" sz="2000" b="1" dirty="0">
                <a:solidFill>
                  <a:srgbClr val="FF0000"/>
                </a:solidFill>
                <a:latin typeface="AppleMyungjo" pitchFamily="2" charset="-127"/>
                <a:ea typeface="AppleMyungjo" pitchFamily="2" charset="-127"/>
              </a:rPr>
              <a:t>match, there is a hit</a:t>
            </a:r>
            <a:r>
              <a:rPr lang="en-US" sz="2000" b="1" dirty="0">
                <a:solidFill>
                  <a:srgbClr val="002060"/>
                </a:solidFill>
                <a:latin typeface="AppleMyungjo" pitchFamily="2" charset="-127"/>
                <a:ea typeface="AppleMyungjo" pitchFamily="2" charset="-127"/>
              </a:rPr>
              <a:t> and the desired data word is in cache.</a:t>
            </a:r>
          </a:p>
          <a:p>
            <a:pPr algn="just">
              <a:lnSpc>
                <a:spcPct val="100000"/>
              </a:lnSpc>
            </a:pPr>
            <a:r>
              <a:rPr lang="en-US" sz="2000" b="1" dirty="0">
                <a:solidFill>
                  <a:srgbClr val="002060"/>
                </a:solidFill>
                <a:latin typeface="AppleMyungjo" pitchFamily="2" charset="-127"/>
                <a:ea typeface="AppleMyungjo" pitchFamily="2" charset="-127"/>
              </a:rPr>
              <a:t>If there is </a:t>
            </a:r>
            <a:r>
              <a:rPr lang="en-US" sz="2000" b="1" dirty="0">
                <a:solidFill>
                  <a:srgbClr val="FF0000"/>
                </a:solidFill>
                <a:latin typeface="AppleMyungjo" pitchFamily="2" charset="-127"/>
                <a:ea typeface="AppleMyungjo" pitchFamily="2" charset="-127"/>
              </a:rPr>
              <a:t>no match, there is a miss</a:t>
            </a:r>
            <a:r>
              <a:rPr lang="en-US" sz="2000" b="1" dirty="0">
                <a:solidFill>
                  <a:srgbClr val="002060"/>
                </a:solidFill>
                <a:latin typeface="AppleMyungjo" pitchFamily="2" charset="-127"/>
                <a:ea typeface="AppleMyungjo" pitchFamily="2" charset="-127"/>
              </a:rPr>
              <a:t> and the required word is read from main memory.</a:t>
            </a:r>
          </a:p>
          <a:p>
            <a:pPr algn="just">
              <a:lnSpc>
                <a:spcPct val="100000"/>
              </a:lnSpc>
            </a:pPr>
            <a:r>
              <a:rPr lang="en-US" sz="2000" b="1" dirty="0">
                <a:solidFill>
                  <a:srgbClr val="002060"/>
                </a:solidFill>
                <a:latin typeface="AppleMyungjo" pitchFamily="2" charset="-127"/>
                <a:ea typeface="AppleMyungjo" pitchFamily="2" charset="-127"/>
              </a:rPr>
              <a:t>It is then stored in the cache together with the new tag, replacing the previous value.</a:t>
            </a:r>
          </a:p>
          <a:p>
            <a:pPr algn="just">
              <a:lnSpc>
                <a:spcPct val="100000"/>
              </a:lnSpc>
            </a:pPr>
            <a:r>
              <a:rPr lang="en-US" sz="2000" b="1" dirty="0">
                <a:solidFill>
                  <a:srgbClr val="002060"/>
                </a:solidFill>
                <a:latin typeface="AppleMyungjo" pitchFamily="2" charset="-127"/>
                <a:ea typeface="AppleMyungjo" pitchFamily="2" charset="-127"/>
              </a:rPr>
              <a:t>Disadvantage: </a:t>
            </a:r>
            <a:r>
              <a:rPr lang="en-IN" altLang="ko-KR" sz="2000" b="1" dirty="0">
                <a:solidFill>
                  <a:srgbClr val="002060"/>
                </a:solidFill>
                <a:latin typeface="AppleMyungjo" pitchFamily="2" charset="-127"/>
                <a:ea typeface="AppleMyungjo" pitchFamily="2" charset="-127"/>
              </a:rPr>
              <a:t>If you frequently read different tags with same Index, the speed(hit ratio) will decrease </a:t>
            </a:r>
            <a:endParaRPr lang="en-US" sz="2000" b="1" dirty="0">
              <a:solidFill>
                <a:srgbClr val="002060"/>
              </a:solidFill>
              <a:latin typeface="AppleMyungjo" pitchFamily="2" charset="-127"/>
              <a:ea typeface="AppleMyungjo" pitchFamily="2" charset="-127"/>
            </a:endParaRPr>
          </a:p>
          <a:p>
            <a:pPr algn="just">
              <a:lnSpc>
                <a:spcPct val="100000"/>
              </a:lnSpc>
            </a:pPr>
            <a:endParaRPr lang="en-US" sz="2000" dirty="0"/>
          </a:p>
        </p:txBody>
      </p:sp>
    </p:spTree>
    <p:extLst>
      <p:ext uri="{BB962C8B-B14F-4D97-AF65-F5344CB8AC3E}">
        <p14:creationId xmlns:p14="http://schemas.microsoft.com/office/powerpoint/2010/main" val="3753102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7372E0-DF1F-A663-B61F-CA9D628ED1C3}"/>
              </a:ext>
            </a:extLst>
          </p:cNvPr>
          <p:cNvSpPr>
            <a:spLocks noGrp="1"/>
          </p:cNvSpPr>
          <p:nvPr>
            <p:ph idx="1"/>
          </p:nvPr>
        </p:nvSpPr>
        <p:spPr>
          <a:xfrm>
            <a:off x="695459" y="618186"/>
            <a:ext cx="10818253" cy="5558777"/>
          </a:xfrm>
        </p:spPr>
        <p:txBody>
          <a:bodyPr>
            <a:normAutofit/>
          </a:bodyPr>
          <a:lstStyle/>
          <a:p>
            <a:pPr algn="just"/>
            <a:r>
              <a:rPr lang="en-US" sz="2000" b="1" dirty="0">
                <a:solidFill>
                  <a:srgbClr val="002060"/>
                </a:solidFill>
                <a:latin typeface="AppleMyungjo" pitchFamily="2" charset="-127"/>
                <a:ea typeface="AppleMyungjo" pitchFamily="2" charset="-127"/>
              </a:rPr>
              <a:t>Suppose, CPU now wants to access the word at address 00000.</a:t>
            </a:r>
          </a:p>
          <a:p>
            <a:pPr algn="just"/>
            <a:r>
              <a:rPr lang="en-US" sz="2000" b="1" dirty="0">
                <a:solidFill>
                  <a:srgbClr val="002060"/>
                </a:solidFill>
                <a:latin typeface="AppleMyungjo" pitchFamily="2" charset="-127"/>
                <a:ea typeface="AppleMyungjo" pitchFamily="2" charset="-127"/>
              </a:rPr>
              <a:t>The index address is 000, so it is used to access the cache. The two tags are then compared.</a:t>
            </a:r>
          </a:p>
          <a:p>
            <a:pPr algn="just"/>
            <a:r>
              <a:rPr lang="en-US" sz="2000" b="1" dirty="0">
                <a:solidFill>
                  <a:srgbClr val="002060"/>
                </a:solidFill>
                <a:latin typeface="AppleMyungjo" pitchFamily="2" charset="-127"/>
                <a:ea typeface="AppleMyungjo" pitchFamily="2" charset="-127"/>
              </a:rPr>
              <a:t>The cache tag is 00 and address tag is 00(Hit) and the data word is read.</a:t>
            </a:r>
          </a:p>
          <a:p>
            <a:pPr algn="just"/>
            <a:r>
              <a:rPr lang="en-US" sz="2000" b="1" dirty="0">
                <a:solidFill>
                  <a:srgbClr val="002060"/>
                </a:solidFill>
                <a:latin typeface="AppleMyungjo" pitchFamily="2" charset="-127"/>
                <a:ea typeface="AppleMyungjo" pitchFamily="2" charset="-127"/>
              </a:rPr>
              <a:t>If there is a miss, the main memory is accessed and the data word is transferred from MM to cache.</a:t>
            </a:r>
          </a:p>
        </p:txBody>
      </p:sp>
      <p:graphicFrame>
        <p:nvGraphicFramePr>
          <p:cNvPr id="5" name="Object 5">
            <a:extLst>
              <a:ext uri="{FF2B5EF4-FFF2-40B4-BE49-F238E27FC236}">
                <a16:creationId xmlns:a16="http://schemas.microsoft.com/office/drawing/2014/main" id="{525427F3-FEB5-2E49-85EA-4C700D36B56F}"/>
              </a:ext>
            </a:extLst>
          </p:cNvPr>
          <p:cNvGraphicFramePr>
            <a:graphicFrameLocks noChangeAspect="1"/>
          </p:cNvGraphicFramePr>
          <p:nvPr>
            <p:extLst>
              <p:ext uri="{D42A27DB-BD31-4B8C-83A1-F6EECF244321}">
                <p14:modId xmlns:p14="http://schemas.microsoft.com/office/powerpoint/2010/main" val="1237377060"/>
              </p:ext>
            </p:extLst>
          </p:nvPr>
        </p:nvGraphicFramePr>
        <p:xfrm>
          <a:off x="5821251" y="2980387"/>
          <a:ext cx="5303949" cy="3173413"/>
        </p:xfrm>
        <a:graphic>
          <a:graphicData uri="http://schemas.openxmlformats.org/presentationml/2006/ole">
            <mc:AlternateContent xmlns:mc="http://schemas.openxmlformats.org/markup-compatibility/2006">
              <mc:Choice xmlns:v="urn:schemas-microsoft-com:vml" Requires="v">
                <p:oleObj name="VISIO" r:id="rId2" imgW="5651500" imgH="4902200" progId="Visio.Drawing.5">
                  <p:embed/>
                </p:oleObj>
              </mc:Choice>
              <mc:Fallback>
                <p:oleObj name="VISIO" r:id="rId2" imgW="5651500" imgH="4902200" progId="Visio.Drawing.5">
                  <p:embed/>
                  <p:pic>
                    <p:nvPicPr>
                      <p:cNvPr id="10244" name="Object 5">
                        <a:extLst>
                          <a:ext uri="{FF2B5EF4-FFF2-40B4-BE49-F238E27FC236}">
                            <a16:creationId xmlns:a16="http://schemas.microsoft.com/office/drawing/2014/main" id="{E46D9CB3-EC5F-3B6C-FAAD-A5393619B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1251" y="2980387"/>
                        <a:ext cx="5303949" cy="3173413"/>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21144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29DB1-6F3E-3160-4E78-90AB11FCDE6B}"/>
              </a:ext>
            </a:extLst>
          </p:cNvPr>
          <p:cNvSpPr>
            <a:spLocks noGrp="1"/>
          </p:cNvSpPr>
          <p:nvPr>
            <p:ph type="title"/>
          </p:nvPr>
        </p:nvSpPr>
        <p:spPr>
          <a:xfrm>
            <a:off x="928353" y="171942"/>
            <a:ext cx="10515600" cy="1325563"/>
          </a:xfrm>
        </p:spPr>
        <p:txBody>
          <a:bodyPr>
            <a:normAutofit/>
          </a:bodyPr>
          <a:lstStyle/>
          <a:p>
            <a:pPr algn="ctr"/>
            <a:r>
              <a:rPr lang="en-IN" sz="2800" dirty="0">
                <a:latin typeface="AppleMyungjo" pitchFamily="2" charset="-127"/>
                <a:ea typeface="AppleMyungjo" pitchFamily="2" charset="-127"/>
              </a:rPr>
              <a:t>Direct mapping cache with block size of 8 words </a:t>
            </a:r>
            <a:endParaRPr lang="en-US" sz="2800" dirty="0"/>
          </a:p>
        </p:txBody>
      </p:sp>
      <p:sp>
        <p:nvSpPr>
          <p:cNvPr id="9" name="Content Placeholder 8">
            <a:extLst>
              <a:ext uri="{FF2B5EF4-FFF2-40B4-BE49-F238E27FC236}">
                <a16:creationId xmlns:a16="http://schemas.microsoft.com/office/drawing/2014/main" id="{F7DF2E42-1F41-E7AB-CEEA-1DD62FF45353}"/>
              </a:ext>
            </a:extLst>
          </p:cNvPr>
          <p:cNvSpPr>
            <a:spLocks noGrp="1"/>
          </p:cNvSpPr>
          <p:nvPr>
            <p:ph idx="1"/>
          </p:nvPr>
        </p:nvSpPr>
        <p:spPr>
          <a:xfrm>
            <a:off x="580624" y="1497505"/>
            <a:ext cx="5201990" cy="4351338"/>
          </a:xfrm>
        </p:spPr>
        <p:txBody>
          <a:bodyPr/>
          <a:lstStyle/>
          <a:p>
            <a:pPr>
              <a:lnSpc>
                <a:spcPct val="100000"/>
              </a:lnSpc>
            </a:pPr>
            <a:r>
              <a:rPr lang="en-US" altLang="ko-KR" sz="1800" b="1" dirty="0">
                <a:solidFill>
                  <a:srgbClr val="002060"/>
                </a:solidFill>
                <a:latin typeface="AppleMyungjo" pitchFamily="2" charset="-127"/>
                <a:ea typeface="AppleMyungjo" pitchFamily="2" charset="-127"/>
              </a:rPr>
              <a:t>Block size = 8 words</a:t>
            </a:r>
          </a:p>
          <a:p>
            <a:pPr>
              <a:lnSpc>
                <a:spcPct val="100000"/>
              </a:lnSpc>
            </a:pPr>
            <a:r>
              <a:rPr lang="en-US" altLang="ko-KR" sz="1800" b="1" dirty="0">
                <a:solidFill>
                  <a:srgbClr val="002060"/>
                </a:solidFill>
                <a:latin typeface="AppleMyungjo" pitchFamily="2" charset="-127"/>
                <a:ea typeface="AppleMyungjo" pitchFamily="2" charset="-127"/>
              </a:rPr>
              <a:t>Index field : block + word </a:t>
            </a:r>
          </a:p>
          <a:p>
            <a:pPr>
              <a:lnSpc>
                <a:spcPct val="100000"/>
              </a:lnSpc>
            </a:pPr>
            <a:r>
              <a:rPr lang="en-US" altLang="ko-KR" sz="1800" b="1" dirty="0">
                <a:solidFill>
                  <a:srgbClr val="002060"/>
                </a:solidFill>
                <a:latin typeface="AppleMyungjo" pitchFamily="2" charset="-127"/>
                <a:ea typeface="AppleMyungjo" pitchFamily="2" charset="-127"/>
              </a:rPr>
              <a:t>64 blocks  x 8 word  = 512 cache words size</a:t>
            </a:r>
          </a:p>
          <a:p>
            <a:pPr>
              <a:lnSpc>
                <a:spcPct val="100000"/>
              </a:lnSpc>
            </a:pPr>
            <a:r>
              <a:rPr lang="en-US" altLang="ko-KR" sz="1800" b="1" dirty="0">
                <a:solidFill>
                  <a:srgbClr val="002060"/>
                </a:solidFill>
                <a:latin typeface="AppleMyungjo" pitchFamily="2" charset="-127"/>
                <a:ea typeface="AppleMyungjo" pitchFamily="2" charset="-127"/>
              </a:rPr>
              <a:t>Block field = 6 bits,  word field = 3-bits</a:t>
            </a:r>
          </a:p>
          <a:p>
            <a:pPr>
              <a:lnSpc>
                <a:spcPct val="100000"/>
              </a:lnSpc>
            </a:pPr>
            <a:r>
              <a:rPr lang="en-US" altLang="ko-KR" sz="1800" b="1" dirty="0">
                <a:solidFill>
                  <a:srgbClr val="002060"/>
                </a:solidFill>
                <a:latin typeface="AppleMyungjo" pitchFamily="2" charset="-127"/>
                <a:ea typeface="AppleMyungjo" pitchFamily="2" charset="-127"/>
              </a:rPr>
              <a:t>Tag stored in cache is common to all 8-words in each block.</a:t>
            </a:r>
          </a:p>
          <a:p>
            <a:pPr>
              <a:lnSpc>
                <a:spcPct val="100000"/>
              </a:lnSpc>
            </a:pPr>
            <a:r>
              <a:rPr lang="en-US" altLang="ko-KR" sz="1800" b="1" dirty="0">
                <a:solidFill>
                  <a:srgbClr val="002060"/>
                </a:solidFill>
                <a:latin typeface="AppleMyungjo" pitchFamily="2" charset="-127"/>
                <a:ea typeface="AppleMyungjo" pitchFamily="2" charset="-127"/>
              </a:rPr>
              <a:t>In case of miss, block of 8-words must be transferred from MM to cache.</a:t>
            </a:r>
          </a:p>
          <a:p>
            <a:pPr>
              <a:lnSpc>
                <a:spcPct val="100000"/>
              </a:lnSpc>
            </a:pPr>
            <a:r>
              <a:rPr lang="en-US" altLang="ko-KR" sz="1800" b="1" dirty="0">
                <a:solidFill>
                  <a:srgbClr val="002060"/>
                </a:solidFill>
                <a:latin typeface="AppleMyungjo" pitchFamily="2" charset="-127"/>
                <a:ea typeface="AppleMyungjo" pitchFamily="2" charset="-127"/>
              </a:rPr>
              <a:t>Though it takes extra time, hit ratio can be improved because of sequential access in computer programs.</a:t>
            </a:r>
          </a:p>
        </p:txBody>
      </p:sp>
      <p:graphicFrame>
        <p:nvGraphicFramePr>
          <p:cNvPr id="10" name="Object 4">
            <a:extLst>
              <a:ext uri="{FF2B5EF4-FFF2-40B4-BE49-F238E27FC236}">
                <a16:creationId xmlns:a16="http://schemas.microsoft.com/office/drawing/2014/main" id="{F5EB9A9F-C71F-4623-2260-1D4934FCAF64}"/>
              </a:ext>
            </a:extLst>
          </p:cNvPr>
          <p:cNvGraphicFramePr>
            <a:graphicFrameLocks noChangeAspect="1"/>
          </p:cNvGraphicFramePr>
          <p:nvPr>
            <p:extLst>
              <p:ext uri="{D42A27DB-BD31-4B8C-83A1-F6EECF244321}">
                <p14:modId xmlns:p14="http://schemas.microsoft.com/office/powerpoint/2010/main" val="3124472481"/>
              </p:ext>
            </p:extLst>
          </p:nvPr>
        </p:nvGraphicFramePr>
        <p:xfrm>
          <a:off x="5937160" y="1497505"/>
          <a:ext cx="5515377" cy="3997716"/>
        </p:xfrm>
        <a:graphic>
          <a:graphicData uri="http://schemas.openxmlformats.org/presentationml/2006/ole">
            <mc:AlternateContent xmlns:mc="http://schemas.openxmlformats.org/markup-compatibility/2006">
              <mc:Choice xmlns:v="urn:schemas-microsoft-com:vml" Requires="v">
                <p:oleObj name="VISIO" r:id="rId2" imgW="6248400" imgH="4165600" progId="Visio.Drawing.5">
                  <p:embed/>
                </p:oleObj>
              </mc:Choice>
              <mc:Fallback>
                <p:oleObj name="VISIO" r:id="rId2" imgW="6248400" imgH="4165600" progId="Visio.Drawing.5">
                  <p:embed/>
                  <p:pic>
                    <p:nvPicPr>
                      <p:cNvPr id="4" name="Object 4">
                        <a:extLst>
                          <a:ext uri="{FF2B5EF4-FFF2-40B4-BE49-F238E27FC236}">
                            <a16:creationId xmlns:a16="http://schemas.microsoft.com/office/drawing/2014/main" id="{735C7671-B689-FC04-3065-80EBF40A63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160" y="1497505"/>
                        <a:ext cx="5515377" cy="3997716"/>
                      </a:xfrm>
                      <a:prstGeom prst="rect">
                        <a:avLst/>
                      </a:prstGeom>
                      <a:solidFill>
                        <a:srgbClr val="FFFF99"/>
                      </a:solidFill>
                      <a:ln>
                        <a:noFill/>
                      </a:ln>
                      <a:effectLst/>
                    </p:spPr>
                  </p:pic>
                </p:oleObj>
              </mc:Fallback>
            </mc:AlternateContent>
          </a:graphicData>
        </a:graphic>
      </p:graphicFrame>
    </p:spTree>
    <p:extLst>
      <p:ext uri="{BB962C8B-B14F-4D97-AF65-F5344CB8AC3E}">
        <p14:creationId xmlns:p14="http://schemas.microsoft.com/office/powerpoint/2010/main" val="3198289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25049-0C5A-CF87-01A6-25FE548B21B4}"/>
              </a:ext>
            </a:extLst>
          </p:cNvPr>
          <p:cNvSpPr>
            <a:spLocks noGrp="1"/>
          </p:cNvSpPr>
          <p:nvPr>
            <p:ph type="title"/>
          </p:nvPr>
        </p:nvSpPr>
        <p:spPr>
          <a:xfrm>
            <a:off x="838200" y="500062"/>
            <a:ext cx="10515600" cy="1325563"/>
          </a:xfrm>
        </p:spPr>
        <p:txBody>
          <a:bodyPr/>
          <a:lstStyle/>
          <a:p>
            <a:pPr algn="ctr"/>
            <a:r>
              <a:rPr lang="en-IN" sz="3200" dirty="0">
                <a:latin typeface="AppleMyungjo" pitchFamily="2" charset="-127"/>
                <a:ea typeface="AppleMyungjo" pitchFamily="2" charset="-127"/>
                <a:cs typeface="+mn-cs"/>
              </a:rPr>
              <a:t>Set Associative</a:t>
            </a:r>
            <a:br>
              <a:rPr lang="en-IN" b="1" i="0" dirty="0">
                <a:solidFill>
                  <a:srgbClr val="000000"/>
                </a:solidFill>
                <a:effectLst/>
                <a:latin typeface="PT Serif" panose="020A0603040505020204" pitchFamily="18" charset="77"/>
              </a:rPr>
            </a:br>
            <a:endParaRPr lang="en-US" dirty="0"/>
          </a:p>
        </p:txBody>
      </p:sp>
      <p:sp>
        <p:nvSpPr>
          <p:cNvPr id="3" name="Content Placeholder 2">
            <a:extLst>
              <a:ext uri="{FF2B5EF4-FFF2-40B4-BE49-F238E27FC236}">
                <a16:creationId xmlns:a16="http://schemas.microsoft.com/office/drawing/2014/main" id="{3797E9CC-F201-DFF2-0C83-0427F7070EC6}"/>
              </a:ext>
            </a:extLst>
          </p:cNvPr>
          <p:cNvSpPr>
            <a:spLocks noGrp="1"/>
          </p:cNvSpPr>
          <p:nvPr>
            <p:ph idx="1"/>
          </p:nvPr>
        </p:nvSpPr>
        <p:spPr>
          <a:xfrm>
            <a:off x="838200" y="1253330"/>
            <a:ext cx="10515600" cy="5272729"/>
          </a:xfrm>
        </p:spPr>
        <p:txBody>
          <a:bodyPr>
            <a:normAutofit/>
          </a:bodyPr>
          <a:lstStyle/>
          <a:p>
            <a:pPr algn="just">
              <a:lnSpc>
                <a:spcPct val="100000"/>
              </a:lnSpc>
            </a:pPr>
            <a:r>
              <a:rPr lang="en-IN" sz="2000" b="1" dirty="0">
                <a:solidFill>
                  <a:srgbClr val="002060"/>
                </a:solidFill>
                <a:latin typeface="AppleMyungjo" pitchFamily="2" charset="-127"/>
                <a:ea typeface="AppleMyungjo" pitchFamily="2" charset="-127"/>
              </a:rPr>
              <a:t>Set associative mapping is an improvement over direct mapping in that each word of cache can store two or more words of memory under same index address.</a:t>
            </a:r>
          </a:p>
          <a:p>
            <a:pPr algn="just">
              <a:lnSpc>
                <a:spcPct val="100000"/>
              </a:lnSpc>
            </a:pPr>
            <a:r>
              <a:rPr lang="en-IN" sz="2000" b="1" dirty="0">
                <a:solidFill>
                  <a:srgbClr val="002060"/>
                </a:solidFill>
                <a:latin typeface="AppleMyungjo" pitchFamily="2" charset="-127"/>
                <a:ea typeface="AppleMyungjo" pitchFamily="2" charset="-127"/>
              </a:rPr>
              <a:t>Each data word is stored together with its tag and no. of tag-data items in one word of cache is said to form a set.</a:t>
            </a:r>
          </a:p>
          <a:p>
            <a:pPr algn="just">
              <a:lnSpc>
                <a:spcPct val="100000"/>
              </a:lnSpc>
            </a:pPr>
            <a:r>
              <a:rPr lang="en-IN" sz="2000" b="1" dirty="0">
                <a:solidFill>
                  <a:srgbClr val="002060"/>
                </a:solidFill>
                <a:latin typeface="AppleMyungjo" pitchFamily="2" charset="-127"/>
                <a:ea typeface="AppleMyungjo" pitchFamily="2" charset="-127"/>
              </a:rPr>
              <a:t>An example of set-associative cache for a </a:t>
            </a:r>
            <a:r>
              <a:rPr lang="en-IN" sz="2000" b="1" dirty="0">
                <a:solidFill>
                  <a:srgbClr val="0070C0"/>
                </a:solidFill>
                <a:latin typeface="AppleMyungjo" pitchFamily="2" charset="-127"/>
                <a:ea typeface="AppleMyungjo" pitchFamily="2" charset="-127"/>
              </a:rPr>
              <a:t>set size of two </a:t>
            </a:r>
            <a:r>
              <a:rPr lang="en-IN" sz="2000" b="1" dirty="0">
                <a:solidFill>
                  <a:srgbClr val="002060"/>
                </a:solidFill>
                <a:latin typeface="AppleMyungjo" pitchFamily="2" charset="-127"/>
                <a:ea typeface="AppleMyungjo" pitchFamily="2" charset="-127"/>
              </a:rPr>
              <a:t>is shown.</a:t>
            </a:r>
          </a:p>
          <a:p>
            <a:pPr algn="just">
              <a:lnSpc>
                <a:spcPct val="100000"/>
              </a:lnSpc>
            </a:pPr>
            <a:r>
              <a:rPr lang="en-IN" sz="2000" b="1" dirty="0">
                <a:solidFill>
                  <a:srgbClr val="002060"/>
                </a:solidFill>
                <a:latin typeface="AppleMyungjo" pitchFamily="2" charset="-127"/>
                <a:ea typeface="AppleMyungjo" pitchFamily="2" charset="-127"/>
              </a:rPr>
              <a:t>Each index address refers to two data words and their associated tags.</a:t>
            </a:r>
          </a:p>
          <a:p>
            <a:pPr algn="just">
              <a:lnSpc>
                <a:spcPct val="100000"/>
              </a:lnSpc>
            </a:pPr>
            <a:r>
              <a:rPr lang="en-IN" sz="2000" b="1" dirty="0">
                <a:solidFill>
                  <a:srgbClr val="002060"/>
                </a:solidFill>
                <a:latin typeface="AppleMyungjo" pitchFamily="2" charset="-127"/>
                <a:ea typeface="AppleMyungjo" pitchFamily="2" charset="-127"/>
              </a:rPr>
              <a:t>A set associative cache of set size ‘</a:t>
            </a:r>
            <a:r>
              <a:rPr lang="en-IN" sz="2000" b="1" dirty="0">
                <a:solidFill>
                  <a:srgbClr val="0070C0"/>
                </a:solidFill>
                <a:latin typeface="AppleMyungjo" pitchFamily="2" charset="-127"/>
                <a:ea typeface="AppleMyungjo" pitchFamily="2" charset="-127"/>
              </a:rPr>
              <a:t>k</a:t>
            </a:r>
            <a:r>
              <a:rPr lang="en-IN" sz="2000" b="1" dirty="0">
                <a:latin typeface="AppleMyungjo" pitchFamily="2" charset="-127"/>
                <a:ea typeface="AppleMyungjo" pitchFamily="2" charset="-127"/>
              </a:rPr>
              <a:t>’</a:t>
            </a:r>
            <a:r>
              <a:rPr lang="en-IN" sz="2000" b="1" dirty="0">
                <a:solidFill>
                  <a:srgbClr val="002060"/>
                </a:solidFill>
                <a:latin typeface="AppleMyungjo" pitchFamily="2" charset="-127"/>
                <a:ea typeface="AppleMyungjo" pitchFamily="2" charset="-127"/>
              </a:rPr>
              <a:t> will accommodate </a:t>
            </a:r>
            <a:r>
              <a:rPr lang="en-IN" sz="2000" b="1" dirty="0">
                <a:solidFill>
                  <a:srgbClr val="0070C0"/>
                </a:solidFill>
                <a:latin typeface="AppleMyungjo" pitchFamily="2" charset="-127"/>
                <a:ea typeface="AppleMyungjo" pitchFamily="2" charset="-127"/>
              </a:rPr>
              <a:t>k</a:t>
            </a:r>
            <a:r>
              <a:rPr lang="en-IN" sz="2000" b="1" dirty="0">
                <a:solidFill>
                  <a:srgbClr val="002060"/>
                </a:solidFill>
                <a:latin typeface="AppleMyungjo" pitchFamily="2" charset="-127"/>
                <a:ea typeface="AppleMyungjo" pitchFamily="2" charset="-127"/>
              </a:rPr>
              <a:t> words of main memory in cache.</a:t>
            </a:r>
          </a:p>
          <a:p>
            <a:pPr algn="just">
              <a:lnSpc>
                <a:spcPct val="100000"/>
              </a:lnSpc>
            </a:pPr>
            <a:r>
              <a:rPr lang="en-IN" sz="2000" b="1" dirty="0">
                <a:solidFill>
                  <a:srgbClr val="002060"/>
                </a:solidFill>
                <a:latin typeface="AppleMyungjo" pitchFamily="2" charset="-127"/>
                <a:ea typeface="AppleMyungjo" pitchFamily="2" charset="-127"/>
              </a:rPr>
              <a:t>When CPU generates a memory request, index of address is used to access cache.</a:t>
            </a:r>
          </a:p>
          <a:p>
            <a:pPr algn="just">
              <a:lnSpc>
                <a:spcPct val="100000"/>
              </a:lnSpc>
            </a:pPr>
            <a:r>
              <a:rPr lang="en-IN" sz="2000" b="1" dirty="0">
                <a:solidFill>
                  <a:srgbClr val="002060"/>
                </a:solidFill>
                <a:latin typeface="AppleMyungjo" pitchFamily="2" charset="-127"/>
                <a:ea typeface="AppleMyungjo" pitchFamily="2" charset="-127"/>
              </a:rPr>
              <a:t>Tag field of CPU address is compared with both tags in the cache to determine if a match occurs.</a:t>
            </a:r>
          </a:p>
          <a:p>
            <a:pPr algn="just">
              <a:lnSpc>
                <a:spcPct val="100000"/>
              </a:lnSpc>
            </a:pPr>
            <a:endParaRPr lang="en-US" sz="2000" b="1" dirty="0">
              <a:solidFill>
                <a:srgbClr val="002060"/>
              </a:solidFill>
              <a:latin typeface="AppleMyungjo" pitchFamily="2" charset="-127"/>
              <a:ea typeface="AppleMyungjo" pitchFamily="2" charset="-127"/>
            </a:endParaRPr>
          </a:p>
        </p:txBody>
      </p:sp>
    </p:spTree>
    <p:extLst>
      <p:ext uri="{BB962C8B-B14F-4D97-AF65-F5344CB8AC3E}">
        <p14:creationId xmlns:p14="http://schemas.microsoft.com/office/powerpoint/2010/main" val="2430520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F29859-7C95-673B-8845-4B1A552B8E05}"/>
              </a:ext>
            </a:extLst>
          </p:cNvPr>
          <p:cNvSpPr>
            <a:spLocks noGrp="1"/>
          </p:cNvSpPr>
          <p:nvPr>
            <p:ph idx="1"/>
          </p:nvPr>
        </p:nvSpPr>
        <p:spPr>
          <a:xfrm>
            <a:off x="709410" y="769558"/>
            <a:ext cx="5897451" cy="5090330"/>
          </a:xfrm>
        </p:spPr>
        <p:txBody>
          <a:bodyPr>
            <a:normAutofit/>
          </a:bodyPr>
          <a:lstStyle/>
          <a:p>
            <a:pPr algn="just">
              <a:lnSpc>
                <a:spcPct val="110000"/>
              </a:lnSpc>
            </a:pPr>
            <a:r>
              <a:rPr lang="en-IN" sz="2000" b="1" dirty="0">
                <a:solidFill>
                  <a:srgbClr val="002060"/>
                </a:solidFill>
                <a:latin typeface="AppleMyungjo" pitchFamily="2" charset="-127"/>
                <a:ea typeface="AppleMyungjo" pitchFamily="2" charset="-127"/>
              </a:rPr>
              <a:t>The comparison logic is done by an associative search of the tags in the set similar to an associative memory search “ thus the name set-associative”</a:t>
            </a:r>
          </a:p>
          <a:p>
            <a:pPr algn="just">
              <a:lnSpc>
                <a:spcPct val="110000"/>
              </a:lnSpc>
            </a:pPr>
            <a:r>
              <a:rPr lang="en-IN" sz="2000" b="1" dirty="0">
                <a:solidFill>
                  <a:srgbClr val="002060"/>
                </a:solidFill>
                <a:latin typeface="AppleMyungjo" pitchFamily="2" charset="-127"/>
                <a:ea typeface="AppleMyungjo" pitchFamily="2" charset="-127"/>
              </a:rPr>
              <a:t>Hit ratio improves with increase in set size as more words with same index but different tags can reside in cache.</a:t>
            </a:r>
          </a:p>
          <a:p>
            <a:pPr algn="just">
              <a:lnSpc>
                <a:spcPct val="110000"/>
              </a:lnSpc>
            </a:pPr>
            <a:r>
              <a:rPr lang="en-IN" sz="2000" b="1" dirty="0">
                <a:solidFill>
                  <a:srgbClr val="002060"/>
                </a:solidFill>
                <a:latin typeface="AppleMyungjo" pitchFamily="2" charset="-127"/>
                <a:ea typeface="AppleMyungjo" pitchFamily="2" charset="-127"/>
              </a:rPr>
              <a:t>In case of a miss and the Set is full, it is necessary to replace one of the tag-data with a new value.</a:t>
            </a:r>
          </a:p>
          <a:p>
            <a:pPr algn="just">
              <a:lnSpc>
                <a:spcPct val="110000"/>
              </a:lnSpc>
            </a:pPr>
            <a:r>
              <a:rPr lang="en-IN" sz="2000" b="1" dirty="0">
                <a:solidFill>
                  <a:srgbClr val="002060"/>
                </a:solidFill>
                <a:latin typeface="AppleMyungjo" pitchFamily="2" charset="-127"/>
                <a:ea typeface="AppleMyungjo" pitchFamily="2" charset="-127"/>
              </a:rPr>
              <a:t>Commonly used replacement algorithms : Random, FIFO and LRU(Least Recently Used)</a:t>
            </a:r>
          </a:p>
          <a:p>
            <a:pPr>
              <a:lnSpc>
                <a:spcPct val="110000"/>
              </a:lnSpc>
            </a:pPr>
            <a:endParaRPr lang="en-US" sz="2000" dirty="0"/>
          </a:p>
        </p:txBody>
      </p:sp>
      <p:graphicFrame>
        <p:nvGraphicFramePr>
          <p:cNvPr id="4" name="Object 5">
            <a:extLst>
              <a:ext uri="{FF2B5EF4-FFF2-40B4-BE49-F238E27FC236}">
                <a16:creationId xmlns:a16="http://schemas.microsoft.com/office/drawing/2014/main" id="{6EC604A9-0106-308A-C479-71F8213BD4C1}"/>
              </a:ext>
            </a:extLst>
          </p:cNvPr>
          <p:cNvGraphicFramePr>
            <a:graphicFrameLocks noChangeAspect="1"/>
          </p:cNvGraphicFramePr>
          <p:nvPr>
            <p:extLst>
              <p:ext uri="{D42A27DB-BD31-4B8C-83A1-F6EECF244321}">
                <p14:modId xmlns:p14="http://schemas.microsoft.com/office/powerpoint/2010/main" val="2358040296"/>
              </p:ext>
            </p:extLst>
          </p:nvPr>
        </p:nvGraphicFramePr>
        <p:xfrm>
          <a:off x="6781800" y="1193163"/>
          <a:ext cx="4572000" cy="3581400"/>
        </p:xfrm>
        <a:graphic>
          <a:graphicData uri="http://schemas.openxmlformats.org/presentationml/2006/ole">
            <mc:AlternateContent xmlns:mc="http://schemas.openxmlformats.org/markup-compatibility/2006">
              <mc:Choice xmlns:v="urn:schemas-microsoft-com:vml" Requires="v">
                <p:oleObj name="VISIO" r:id="rId2" imgW="4572000" imgH="3581400" progId="Visio.Drawing.5">
                  <p:embed/>
                </p:oleObj>
              </mc:Choice>
              <mc:Fallback>
                <p:oleObj name="VISIO" r:id="rId2" imgW="4572000" imgH="3581400" progId="Visio.Drawing.5">
                  <p:embed/>
                  <p:pic>
                    <p:nvPicPr>
                      <p:cNvPr id="4" name="Object 5">
                        <a:extLst>
                          <a:ext uri="{FF2B5EF4-FFF2-40B4-BE49-F238E27FC236}">
                            <a16:creationId xmlns:a16="http://schemas.microsoft.com/office/drawing/2014/main" id="{ED6F710D-BA9F-3AA5-F2B2-702B579AA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193163"/>
                        <a:ext cx="4572000" cy="358140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08724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0E4E2-F962-4832-0D5C-030653A16969}"/>
              </a:ext>
            </a:extLst>
          </p:cNvPr>
          <p:cNvSpPr>
            <a:spLocks noGrp="1"/>
          </p:cNvSpPr>
          <p:nvPr>
            <p:ph type="title"/>
          </p:nvPr>
        </p:nvSpPr>
        <p:spPr>
          <a:xfrm>
            <a:off x="838200" y="87939"/>
            <a:ext cx="10515600" cy="1325563"/>
          </a:xfrm>
        </p:spPr>
        <p:txBody>
          <a:bodyPr/>
          <a:lstStyle/>
          <a:p>
            <a:pPr algn="ctr"/>
            <a:r>
              <a:rPr lang="en-US" sz="3200" dirty="0">
                <a:latin typeface="AppleMyungjo" pitchFamily="2" charset="-127"/>
                <a:ea typeface="AppleMyungjo" pitchFamily="2" charset="-127"/>
                <a:cs typeface="+mn-cs"/>
              </a:rPr>
              <a:t>Replacement Policy</a:t>
            </a:r>
          </a:p>
        </p:txBody>
      </p:sp>
      <p:sp>
        <p:nvSpPr>
          <p:cNvPr id="3" name="Content Placeholder 2">
            <a:extLst>
              <a:ext uri="{FF2B5EF4-FFF2-40B4-BE49-F238E27FC236}">
                <a16:creationId xmlns:a16="http://schemas.microsoft.com/office/drawing/2014/main" id="{9EC26887-3F92-6980-56B1-175077BB2C0F}"/>
              </a:ext>
            </a:extLst>
          </p:cNvPr>
          <p:cNvSpPr>
            <a:spLocks noGrp="1"/>
          </p:cNvSpPr>
          <p:nvPr>
            <p:ph idx="1"/>
          </p:nvPr>
        </p:nvSpPr>
        <p:spPr>
          <a:xfrm>
            <a:off x="838200" y="1124542"/>
            <a:ext cx="10515600" cy="5044439"/>
          </a:xfrm>
        </p:spPr>
        <p:txBody>
          <a:bodyPr>
            <a:normAutofit/>
          </a:bodyPr>
          <a:lstStyle/>
          <a:p>
            <a:pPr algn="just">
              <a:lnSpc>
                <a:spcPct val="150000"/>
              </a:lnSpc>
            </a:pPr>
            <a:r>
              <a:rPr lang="en-IN" sz="2000" b="1" dirty="0">
                <a:solidFill>
                  <a:srgbClr val="002060"/>
                </a:solidFill>
                <a:latin typeface="AppleMyungjo" pitchFamily="2" charset="-127"/>
                <a:ea typeface="AppleMyungjo" pitchFamily="2" charset="-127"/>
              </a:rPr>
              <a:t>Cache Replacement is implemented between Cache and Main Memory. </a:t>
            </a:r>
          </a:p>
          <a:p>
            <a:pPr algn="just">
              <a:lnSpc>
                <a:spcPct val="150000"/>
              </a:lnSpc>
            </a:pPr>
            <a:r>
              <a:rPr lang="en-IN" sz="2000" b="1" dirty="0">
                <a:solidFill>
                  <a:srgbClr val="002060"/>
                </a:solidFill>
                <a:latin typeface="AppleMyungjo" pitchFamily="2" charset="-127"/>
                <a:ea typeface="AppleMyungjo" pitchFamily="2" charset="-127"/>
              </a:rPr>
              <a:t>When the cache is full then we replace a block (line) of cache with the main memory block.</a:t>
            </a:r>
            <a:endParaRPr lang="en-US" altLang="en-US" sz="2000" b="1" dirty="0">
              <a:solidFill>
                <a:srgbClr val="002060"/>
              </a:solidFill>
              <a:latin typeface="AppleMyungjo" pitchFamily="2" charset="-127"/>
              <a:ea typeface="AppleMyungjo" pitchFamily="2" charset="-127"/>
            </a:endParaRPr>
          </a:p>
          <a:p>
            <a:pPr lvl="1" algn="just">
              <a:lnSpc>
                <a:spcPct val="150000"/>
              </a:lnSpc>
              <a:buFont typeface="System Font Regular"/>
              <a:buChar char="⁃"/>
            </a:pPr>
            <a:r>
              <a:rPr lang="en-US" altLang="en-US" sz="2000" b="1" dirty="0">
                <a:solidFill>
                  <a:srgbClr val="0070C0"/>
                </a:solidFill>
                <a:latin typeface="AppleMyungjo" pitchFamily="2" charset="-127"/>
                <a:ea typeface="AppleMyungjo" pitchFamily="2" charset="-127"/>
              </a:rPr>
              <a:t>First in first out (FIFO) </a:t>
            </a:r>
            <a:r>
              <a:rPr lang="en-US" altLang="en-US" sz="2000" b="1" dirty="0">
                <a:solidFill>
                  <a:srgbClr val="002060"/>
                </a:solidFill>
                <a:latin typeface="AppleMyungjo" pitchFamily="2" charset="-127"/>
                <a:ea typeface="AppleMyungjo" pitchFamily="2" charset="-127"/>
              </a:rPr>
              <a:t>– replace block that has been in the cache longest.</a:t>
            </a:r>
          </a:p>
          <a:p>
            <a:pPr lvl="1" algn="just">
              <a:lnSpc>
                <a:spcPct val="150000"/>
              </a:lnSpc>
              <a:buFont typeface="System Font Regular"/>
              <a:buChar char="⁃"/>
            </a:pPr>
            <a:r>
              <a:rPr lang="en-US" altLang="en-US" sz="2000" b="1" dirty="0">
                <a:solidFill>
                  <a:srgbClr val="0070C0"/>
                </a:solidFill>
                <a:latin typeface="AppleMyungjo" pitchFamily="2" charset="-127"/>
                <a:ea typeface="AppleMyungjo" pitchFamily="2" charset="-127"/>
              </a:rPr>
              <a:t>Least Recently used (LRU)</a:t>
            </a:r>
            <a:r>
              <a:rPr lang="en-US" altLang="en-US" sz="2000" b="1" dirty="0">
                <a:solidFill>
                  <a:srgbClr val="002060"/>
                </a:solidFill>
                <a:latin typeface="AppleMyungjo" pitchFamily="2" charset="-127"/>
                <a:ea typeface="AppleMyungjo" pitchFamily="2" charset="-127"/>
              </a:rPr>
              <a:t> - replace the block that hasn't been used in the longest period of time in the recent.</a:t>
            </a:r>
          </a:p>
          <a:p>
            <a:pPr lvl="1" algn="just">
              <a:lnSpc>
                <a:spcPct val="150000"/>
              </a:lnSpc>
              <a:buFont typeface="System Font Regular"/>
              <a:buChar char="⁃"/>
            </a:pPr>
            <a:r>
              <a:rPr lang="en-US" altLang="en-US" sz="2000" b="1" dirty="0">
                <a:solidFill>
                  <a:srgbClr val="0070C0"/>
                </a:solidFill>
                <a:latin typeface="AppleMyungjo" pitchFamily="2" charset="-127"/>
                <a:ea typeface="AppleMyungjo" pitchFamily="2" charset="-127"/>
              </a:rPr>
              <a:t>Random </a:t>
            </a:r>
            <a:r>
              <a:rPr lang="en-US" altLang="en-US" sz="2000" b="1" dirty="0">
                <a:solidFill>
                  <a:srgbClr val="002060"/>
                </a:solidFill>
                <a:latin typeface="AppleMyungjo" pitchFamily="2" charset="-127"/>
                <a:ea typeface="AppleMyungjo" pitchFamily="2" charset="-127"/>
              </a:rPr>
              <a:t>– randomly selects a block and discards it to make space when necessary. Lower performance than LRU, FIFO.</a:t>
            </a:r>
          </a:p>
          <a:p>
            <a:pPr marL="230188" lvl="1" indent="-217488" algn="just">
              <a:lnSpc>
                <a:spcPct val="150000"/>
              </a:lnSpc>
            </a:pPr>
            <a:r>
              <a:rPr lang="en-IN" sz="2000" b="1" dirty="0">
                <a:solidFill>
                  <a:srgbClr val="002060"/>
                </a:solidFill>
                <a:latin typeface="AppleMyungjo" pitchFamily="2" charset="-127"/>
                <a:ea typeface="AppleMyungjo" pitchFamily="2" charset="-127"/>
              </a:rPr>
              <a:t>Not Applicable on Direct mapping because we fix for each block to come in a particular cache line.</a:t>
            </a:r>
            <a:endParaRPr lang="en-US" sz="2000" b="1" dirty="0">
              <a:solidFill>
                <a:srgbClr val="002060"/>
              </a:solidFill>
              <a:latin typeface="AppleMyungjo" pitchFamily="2" charset="-127"/>
              <a:ea typeface="AppleMyungjo" pitchFamily="2" charset="-127"/>
            </a:endParaRPr>
          </a:p>
        </p:txBody>
      </p:sp>
    </p:spTree>
    <p:extLst>
      <p:ext uri="{BB962C8B-B14F-4D97-AF65-F5344CB8AC3E}">
        <p14:creationId xmlns:p14="http://schemas.microsoft.com/office/powerpoint/2010/main" val="3043179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361C3-B9A2-A894-4315-3B840A075FE3}"/>
              </a:ext>
            </a:extLst>
          </p:cNvPr>
          <p:cNvSpPr>
            <a:spLocks noGrp="1"/>
          </p:cNvSpPr>
          <p:nvPr>
            <p:ph type="title"/>
          </p:nvPr>
        </p:nvSpPr>
        <p:spPr>
          <a:xfrm>
            <a:off x="838200" y="133306"/>
            <a:ext cx="10515600" cy="1325563"/>
          </a:xfrm>
        </p:spPr>
        <p:txBody>
          <a:bodyPr/>
          <a:lstStyle/>
          <a:p>
            <a:pPr algn="ctr"/>
            <a:r>
              <a:rPr lang="en-US" sz="3200" dirty="0">
                <a:latin typeface="AppleMyungjo" pitchFamily="2" charset="-127"/>
                <a:ea typeface="AppleMyungjo" pitchFamily="2" charset="-127"/>
                <a:cs typeface="+mn-cs"/>
              </a:rPr>
              <a:t>Writing into Cache - </a:t>
            </a:r>
            <a:r>
              <a:rPr lang="en-IN" sz="3200" dirty="0">
                <a:latin typeface="AppleMyungjo" pitchFamily="2" charset="-127"/>
                <a:ea typeface="AppleMyungjo" pitchFamily="2" charset="-127"/>
                <a:cs typeface="+mn-cs"/>
              </a:rPr>
              <a:t>write-through method.</a:t>
            </a:r>
            <a:endParaRPr lang="en-US" sz="3200" dirty="0">
              <a:latin typeface="AppleMyungjo" pitchFamily="2" charset="-127"/>
              <a:ea typeface="AppleMyungjo" pitchFamily="2" charset="-127"/>
              <a:cs typeface="+mn-cs"/>
            </a:endParaRPr>
          </a:p>
        </p:txBody>
      </p:sp>
      <p:sp>
        <p:nvSpPr>
          <p:cNvPr id="3" name="Content Placeholder 2">
            <a:extLst>
              <a:ext uri="{FF2B5EF4-FFF2-40B4-BE49-F238E27FC236}">
                <a16:creationId xmlns:a16="http://schemas.microsoft.com/office/drawing/2014/main" id="{2DB638AA-E9DE-A075-2BA4-AFE5FB0D4910}"/>
              </a:ext>
            </a:extLst>
          </p:cNvPr>
          <p:cNvSpPr>
            <a:spLocks noGrp="1"/>
          </p:cNvSpPr>
          <p:nvPr>
            <p:ph idx="1"/>
          </p:nvPr>
        </p:nvSpPr>
        <p:spPr>
          <a:xfrm>
            <a:off x="784001" y="1289810"/>
            <a:ext cx="10623997" cy="5434884"/>
          </a:xfrm>
        </p:spPr>
        <p:txBody>
          <a:bodyPr>
            <a:normAutofit/>
          </a:bodyPr>
          <a:lstStyle/>
          <a:p>
            <a:pPr algn="just">
              <a:lnSpc>
                <a:spcPct val="150000"/>
              </a:lnSpc>
            </a:pPr>
            <a:r>
              <a:rPr lang="en-IN" sz="2000" b="1" dirty="0">
                <a:solidFill>
                  <a:srgbClr val="002060"/>
                </a:solidFill>
                <a:latin typeface="AppleMyungjo" pitchFamily="2" charset="-127"/>
                <a:ea typeface="AppleMyungjo" pitchFamily="2" charset="-127"/>
              </a:rPr>
              <a:t>The simplest and most commonly used procedure is to update main memory with every memory write operation with cache being updated in parallel if it contains the word at the specified address. This is called the </a:t>
            </a:r>
            <a:r>
              <a:rPr lang="en-IN" sz="2000" b="1" dirty="0">
                <a:solidFill>
                  <a:srgbClr val="C00000"/>
                </a:solidFill>
                <a:latin typeface="AppleMyungjo" pitchFamily="2" charset="-127"/>
                <a:ea typeface="AppleMyungjo" pitchFamily="2" charset="-127"/>
              </a:rPr>
              <a:t>write-through method.</a:t>
            </a:r>
          </a:p>
          <a:p>
            <a:pPr lvl="1" algn="just">
              <a:lnSpc>
                <a:spcPct val="150000"/>
              </a:lnSpc>
              <a:buFont typeface="System Font Regular"/>
              <a:buChar char="⁃"/>
            </a:pPr>
            <a:r>
              <a:rPr lang="en-IN" sz="2000" b="1" dirty="0">
                <a:solidFill>
                  <a:srgbClr val="002060"/>
                </a:solidFill>
                <a:latin typeface="AppleMyungjo" pitchFamily="2" charset="-127"/>
                <a:ea typeface="AppleMyungjo" pitchFamily="2" charset="-127"/>
              </a:rPr>
              <a:t>Advantage: main memory always contains the same data as the cache.</a:t>
            </a:r>
          </a:p>
          <a:p>
            <a:pPr lvl="1" algn="just">
              <a:lnSpc>
                <a:spcPct val="150000"/>
              </a:lnSpc>
              <a:buFont typeface="System Font Regular"/>
              <a:buChar char="⁃"/>
            </a:pPr>
            <a:r>
              <a:rPr lang="en-IN" sz="2000" b="1" dirty="0">
                <a:solidFill>
                  <a:srgbClr val="002060"/>
                </a:solidFill>
                <a:latin typeface="AppleMyungjo" pitchFamily="2" charset="-127"/>
                <a:ea typeface="AppleMyungjo" pitchFamily="2" charset="-127"/>
              </a:rPr>
              <a:t>This characteristic is important in systems with DMA transfers.</a:t>
            </a:r>
          </a:p>
          <a:p>
            <a:pPr lvl="1" algn="just">
              <a:lnSpc>
                <a:spcPct val="150000"/>
              </a:lnSpc>
              <a:buFont typeface="System Font Regular"/>
              <a:buChar char="⁃"/>
            </a:pPr>
            <a:r>
              <a:rPr lang="en-IN" sz="2000" b="1" dirty="0">
                <a:solidFill>
                  <a:srgbClr val="002060"/>
                </a:solidFill>
                <a:latin typeface="AppleMyungjo" pitchFamily="2" charset="-127"/>
                <a:ea typeface="AppleMyungjo" pitchFamily="2" charset="-127"/>
              </a:rPr>
              <a:t>It ensures that the data residing in main memory are valid at all times so that an I/O device communicating through DMA would receive the most recently updated data.</a:t>
            </a:r>
          </a:p>
          <a:p>
            <a:pPr algn="just"/>
            <a:endParaRPr lang="en-US" sz="2000" dirty="0"/>
          </a:p>
        </p:txBody>
      </p:sp>
    </p:spTree>
    <p:extLst>
      <p:ext uri="{BB962C8B-B14F-4D97-AF65-F5344CB8AC3E}">
        <p14:creationId xmlns:p14="http://schemas.microsoft.com/office/powerpoint/2010/main" val="3106383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68DD2-12DC-FF7B-6B8E-7CE7C7CD3AA4}"/>
              </a:ext>
            </a:extLst>
          </p:cNvPr>
          <p:cNvSpPr>
            <a:spLocks noGrp="1"/>
          </p:cNvSpPr>
          <p:nvPr>
            <p:ph type="title"/>
          </p:nvPr>
        </p:nvSpPr>
        <p:spPr/>
        <p:txBody>
          <a:bodyPr/>
          <a:lstStyle/>
          <a:p>
            <a:pPr algn="ctr"/>
            <a:r>
              <a:rPr lang="en-US" sz="3200" dirty="0">
                <a:latin typeface="AppleMyungjo" pitchFamily="2" charset="-127"/>
                <a:ea typeface="AppleMyungjo" pitchFamily="2" charset="-127"/>
                <a:cs typeface="+mn-cs"/>
              </a:rPr>
              <a:t>Writing into cache - Write-back method</a:t>
            </a:r>
          </a:p>
        </p:txBody>
      </p:sp>
      <p:sp>
        <p:nvSpPr>
          <p:cNvPr id="3" name="Content Placeholder 2">
            <a:extLst>
              <a:ext uri="{FF2B5EF4-FFF2-40B4-BE49-F238E27FC236}">
                <a16:creationId xmlns:a16="http://schemas.microsoft.com/office/drawing/2014/main" id="{8F4A5B8F-6C98-8A99-5E1B-77A1DB6221D6}"/>
              </a:ext>
            </a:extLst>
          </p:cNvPr>
          <p:cNvSpPr>
            <a:spLocks noGrp="1"/>
          </p:cNvSpPr>
          <p:nvPr>
            <p:ph idx="1"/>
          </p:nvPr>
        </p:nvSpPr>
        <p:spPr>
          <a:xfrm>
            <a:off x="838200" y="1555168"/>
            <a:ext cx="10515600" cy="4819873"/>
          </a:xfrm>
        </p:spPr>
        <p:txBody>
          <a:bodyPr>
            <a:normAutofit/>
          </a:bodyPr>
          <a:lstStyle/>
          <a:p>
            <a:pPr marL="358775" lvl="1" indent="-346075" algn="just">
              <a:lnSpc>
                <a:spcPct val="150000"/>
              </a:lnSpc>
            </a:pPr>
            <a:r>
              <a:rPr lang="en-US" sz="2000" b="1" dirty="0">
                <a:solidFill>
                  <a:srgbClr val="002060"/>
                </a:solidFill>
                <a:latin typeface="AppleMyungjo" pitchFamily="2" charset="-127"/>
                <a:ea typeface="AppleMyungjo" pitchFamily="2" charset="-127"/>
              </a:rPr>
              <a:t>In this method only the cache location is updated during a write operation.</a:t>
            </a:r>
          </a:p>
          <a:p>
            <a:pPr marL="358775" lvl="1" indent="-346075" algn="just">
              <a:lnSpc>
                <a:spcPct val="150000"/>
              </a:lnSpc>
            </a:pPr>
            <a:r>
              <a:rPr lang="en-US" sz="2000" b="1" dirty="0">
                <a:solidFill>
                  <a:srgbClr val="002060"/>
                </a:solidFill>
                <a:latin typeface="AppleMyungjo" pitchFamily="2" charset="-127"/>
                <a:ea typeface="AppleMyungjo" pitchFamily="2" charset="-127"/>
              </a:rPr>
              <a:t>The </a:t>
            </a:r>
            <a:r>
              <a:rPr lang="en-US" sz="2000" b="1" dirty="0">
                <a:solidFill>
                  <a:srgbClr val="FF0000"/>
                </a:solidFill>
                <a:latin typeface="AppleMyungjo" pitchFamily="2" charset="-127"/>
                <a:ea typeface="AppleMyungjo" pitchFamily="2" charset="-127"/>
              </a:rPr>
              <a:t>location is then marked by a flag </a:t>
            </a:r>
            <a:r>
              <a:rPr lang="en-US" sz="2000" b="1" dirty="0">
                <a:solidFill>
                  <a:srgbClr val="002060"/>
                </a:solidFill>
                <a:latin typeface="AppleMyungjo" pitchFamily="2" charset="-127"/>
                <a:ea typeface="AppleMyungjo" pitchFamily="2" charset="-127"/>
              </a:rPr>
              <a:t>so that later when the word is removed from the cache it is copied into main memory.</a:t>
            </a:r>
          </a:p>
          <a:p>
            <a:pPr marL="358775" lvl="1" indent="-346075" algn="just">
              <a:lnSpc>
                <a:spcPct val="150000"/>
              </a:lnSpc>
            </a:pPr>
            <a:r>
              <a:rPr lang="en-US" sz="2000" b="1" dirty="0">
                <a:solidFill>
                  <a:srgbClr val="002060"/>
                </a:solidFill>
                <a:latin typeface="AppleMyungjo" pitchFamily="2" charset="-127"/>
                <a:ea typeface="AppleMyungjo" pitchFamily="2" charset="-127"/>
              </a:rPr>
              <a:t>The reason for the write-back method is that during the time a word resides in the cache, it may be updated several times.</a:t>
            </a:r>
          </a:p>
          <a:p>
            <a:pPr marL="358775" lvl="1" indent="-346075" algn="just">
              <a:lnSpc>
                <a:spcPct val="150000"/>
              </a:lnSpc>
            </a:pPr>
            <a:r>
              <a:rPr lang="en-US" sz="2000" b="1" dirty="0">
                <a:solidFill>
                  <a:srgbClr val="002060"/>
                </a:solidFill>
                <a:latin typeface="AppleMyungjo" pitchFamily="2" charset="-127"/>
                <a:ea typeface="AppleMyungjo" pitchFamily="2" charset="-127"/>
              </a:rPr>
              <a:t>As long as the word remains in the cache, it does not matter whether the copy in main memory is out of date, since requests from the word are filled from the cache.</a:t>
            </a:r>
          </a:p>
          <a:p>
            <a:pPr marL="358775" lvl="1" indent="-346075" algn="just">
              <a:lnSpc>
                <a:spcPct val="150000"/>
              </a:lnSpc>
            </a:pPr>
            <a:r>
              <a:rPr lang="en-US" sz="2000" b="1" dirty="0">
                <a:solidFill>
                  <a:srgbClr val="002060"/>
                </a:solidFill>
                <a:latin typeface="AppleMyungjo" pitchFamily="2" charset="-127"/>
                <a:ea typeface="AppleMyungjo" pitchFamily="2" charset="-127"/>
              </a:rPr>
              <a:t>It is only when the word is displaced from the cache that an accurate copy need be rewritten into main memory.</a:t>
            </a:r>
          </a:p>
          <a:p>
            <a:pPr>
              <a:lnSpc>
                <a:spcPct val="100000"/>
              </a:lnSpc>
            </a:pPr>
            <a:endParaRPr lang="en-US" sz="3200" dirty="0"/>
          </a:p>
        </p:txBody>
      </p:sp>
    </p:spTree>
    <p:extLst>
      <p:ext uri="{BB962C8B-B14F-4D97-AF65-F5344CB8AC3E}">
        <p14:creationId xmlns:p14="http://schemas.microsoft.com/office/powerpoint/2010/main" val="3745301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F8EEF-DDD9-24AB-A489-1C4121DF5E58}"/>
              </a:ext>
            </a:extLst>
          </p:cNvPr>
          <p:cNvSpPr>
            <a:spLocks noGrp="1"/>
          </p:cNvSpPr>
          <p:nvPr>
            <p:ph type="title"/>
          </p:nvPr>
        </p:nvSpPr>
        <p:spPr>
          <a:xfrm>
            <a:off x="838200" y="87826"/>
            <a:ext cx="10515600" cy="1325563"/>
          </a:xfrm>
        </p:spPr>
        <p:txBody>
          <a:bodyPr/>
          <a:lstStyle/>
          <a:p>
            <a:pPr algn="ctr"/>
            <a:r>
              <a:rPr lang="en-US" sz="3200" dirty="0">
                <a:latin typeface="AppleMyungjo" pitchFamily="2" charset="-127"/>
                <a:ea typeface="AppleMyungjo" pitchFamily="2" charset="-127"/>
                <a:cs typeface="+mn-cs"/>
              </a:rPr>
              <a:t>Virtual Memory</a:t>
            </a:r>
          </a:p>
        </p:txBody>
      </p:sp>
      <p:sp>
        <p:nvSpPr>
          <p:cNvPr id="3" name="Content Placeholder 2">
            <a:extLst>
              <a:ext uri="{FF2B5EF4-FFF2-40B4-BE49-F238E27FC236}">
                <a16:creationId xmlns:a16="http://schemas.microsoft.com/office/drawing/2014/main" id="{DE2DE747-6B8C-E404-7681-2FBAF63E683E}"/>
              </a:ext>
            </a:extLst>
          </p:cNvPr>
          <p:cNvSpPr>
            <a:spLocks noGrp="1"/>
          </p:cNvSpPr>
          <p:nvPr>
            <p:ph idx="1"/>
          </p:nvPr>
        </p:nvSpPr>
        <p:spPr>
          <a:xfrm>
            <a:off x="685800" y="1133341"/>
            <a:ext cx="10840792" cy="4471328"/>
          </a:xfrm>
        </p:spPr>
        <p:txBody>
          <a:bodyPr>
            <a:noAutofit/>
          </a:bodyPr>
          <a:lstStyle/>
          <a:p>
            <a:pPr algn="just">
              <a:lnSpc>
                <a:spcPct val="150000"/>
              </a:lnSpc>
            </a:pPr>
            <a:r>
              <a:rPr lang="en-IN" sz="2000" b="1" dirty="0">
                <a:solidFill>
                  <a:srgbClr val="002060"/>
                </a:solidFill>
                <a:latin typeface="AppleMyungjo" pitchFamily="2" charset="-127"/>
                <a:ea typeface="AppleMyungjo" pitchFamily="2" charset="-127"/>
              </a:rPr>
              <a:t>A program needs to be available in main memory for the processor to execute it.  However, the amount of main memory is not enough to run all of the programs to run at once. </a:t>
            </a:r>
          </a:p>
          <a:p>
            <a:pPr algn="just">
              <a:lnSpc>
                <a:spcPct val="150000"/>
              </a:lnSpc>
            </a:pPr>
            <a:r>
              <a:rPr lang="en-IN" sz="2000" b="1" dirty="0">
                <a:solidFill>
                  <a:srgbClr val="002060"/>
                </a:solidFill>
                <a:latin typeface="AppleMyungjo" pitchFamily="2" charset="-127"/>
                <a:ea typeface="AppleMyungjo" pitchFamily="2" charset="-127"/>
              </a:rPr>
              <a:t>Virtual memory deals with the main memory size limitations.</a:t>
            </a:r>
          </a:p>
          <a:p>
            <a:pPr marL="409575" lvl="1" indent="-179388" algn="just">
              <a:lnSpc>
                <a:spcPct val="150000"/>
              </a:lnSpc>
              <a:buFont typeface="System Font Regular"/>
              <a:buChar char="⁃"/>
            </a:pPr>
            <a:r>
              <a:rPr lang="en-IN" sz="2000" b="1" dirty="0">
                <a:solidFill>
                  <a:srgbClr val="002060"/>
                </a:solidFill>
                <a:latin typeface="AppleMyungjo" pitchFamily="2" charset="-127"/>
                <a:ea typeface="AppleMyungjo" pitchFamily="2" charset="-127"/>
              </a:rPr>
              <a:t>Provides an illusion of having more memory while having a small physical memory </a:t>
            </a:r>
          </a:p>
          <a:p>
            <a:pPr algn="just">
              <a:lnSpc>
                <a:spcPct val="150000"/>
              </a:lnSpc>
            </a:pPr>
            <a:r>
              <a:rPr lang="en-IN" sz="2000" b="1" dirty="0">
                <a:solidFill>
                  <a:srgbClr val="002060"/>
                </a:solidFill>
                <a:latin typeface="AppleMyungjo" pitchFamily="2" charset="-127"/>
                <a:ea typeface="AppleMyungjo" pitchFamily="2" charset="-127"/>
              </a:rPr>
              <a:t>With virtual memory, the program is not seen as single part, instead divided into several parts. The entire program is available in the Auxiliary Memory and the only part that is currently being referenced by the processor need to be available in main memory. </a:t>
            </a:r>
          </a:p>
        </p:txBody>
      </p:sp>
    </p:spTree>
    <p:extLst>
      <p:ext uri="{BB962C8B-B14F-4D97-AF65-F5344CB8AC3E}">
        <p14:creationId xmlns:p14="http://schemas.microsoft.com/office/powerpoint/2010/main" val="2025806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4CB6E-3ADD-70E2-2705-164A407F7995}"/>
              </a:ext>
            </a:extLst>
          </p:cNvPr>
          <p:cNvSpPr>
            <a:spLocks noGrp="1"/>
          </p:cNvSpPr>
          <p:nvPr>
            <p:ph type="title"/>
          </p:nvPr>
        </p:nvSpPr>
        <p:spPr>
          <a:xfrm>
            <a:off x="838200" y="133305"/>
            <a:ext cx="10515600" cy="1325563"/>
          </a:xfrm>
        </p:spPr>
        <p:txBody>
          <a:bodyPr>
            <a:normAutofit/>
          </a:bodyPr>
          <a:lstStyle/>
          <a:p>
            <a:pPr algn="ctr"/>
            <a:r>
              <a:rPr lang="en-US" sz="3200" dirty="0">
                <a:latin typeface="AppleMyungjo" pitchFamily="2" charset="-127"/>
                <a:ea typeface="AppleMyungjo" pitchFamily="2" charset="-127"/>
                <a:cs typeface="+mn-cs"/>
              </a:rPr>
              <a:t>Virtual Memory</a:t>
            </a:r>
            <a:endParaRPr lang="en-US" sz="3200" dirty="0"/>
          </a:p>
        </p:txBody>
      </p:sp>
      <p:sp>
        <p:nvSpPr>
          <p:cNvPr id="3" name="Content Placeholder 2">
            <a:extLst>
              <a:ext uri="{FF2B5EF4-FFF2-40B4-BE49-F238E27FC236}">
                <a16:creationId xmlns:a16="http://schemas.microsoft.com/office/drawing/2014/main" id="{4DE96C91-E1B2-6F0B-2102-DBDE6115C33A}"/>
              </a:ext>
            </a:extLst>
          </p:cNvPr>
          <p:cNvSpPr>
            <a:spLocks noGrp="1"/>
          </p:cNvSpPr>
          <p:nvPr>
            <p:ph idx="1"/>
          </p:nvPr>
        </p:nvSpPr>
        <p:spPr>
          <a:xfrm>
            <a:off x="838200" y="1078650"/>
            <a:ext cx="10515600" cy="4351338"/>
          </a:xfrm>
        </p:spPr>
        <p:txBody>
          <a:bodyPr>
            <a:normAutofit lnSpcReduction="10000"/>
          </a:bodyPr>
          <a:lstStyle/>
          <a:p>
            <a:pPr algn="just">
              <a:lnSpc>
                <a:spcPct val="150000"/>
              </a:lnSpc>
            </a:pPr>
            <a:r>
              <a:rPr lang="en-IN" sz="2000" b="1" dirty="0">
                <a:solidFill>
                  <a:srgbClr val="002060"/>
                </a:solidFill>
                <a:latin typeface="AppleMyungjo" pitchFamily="2" charset="-127"/>
                <a:ea typeface="AppleMyungjo" pitchFamily="2" charset="-127"/>
              </a:rPr>
              <a:t>Two types of addresses in virtual memory systems </a:t>
            </a:r>
          </a:p>
          <a:p>
            <a:pPr marL="409575" lvl="1" indent="-179388" algn="just">
              <a:lnSpc>
                <a:spcPct val="150000"/>
              </a:lnSpc>
              <a:buFont typeface="System Font Regular"/>
              <a:buChar char="⁃"/>
            </a:pPr>
            <a:r>
              <a:rPr lang="en-IN" sz="2000" b="1" dirty="0">
                <a:solidFill>
                  <a:srgbClr val="002060"/>
                </a:solidFill>
                <a:latin typeface="AppleMyungjo" pitchFamily="2" charset="-127"/>
                <a:ea typeface="AppleMyungjo" pitchFamily="2" charset="-127"/>
              </a:rPr>
              <a:t>Virtual addresses–referenced by processes(used by programmer) and set of such addresses the </a:t>
            </a:r>
            <a:r>
              <a:rPr lang="en-IN" sz="2000" b="1" dirty="0">
                <a:solidFill>
                  <a:srgbClr val="0070C0"/>
                </a:solidFill>
                <a:latin typeface="AppleMyungjo" pitchFamily="2" charset="-127"/>
                <a:ea typeface="AppleMyungjo" pitchFamily="2" charset="-127"/>
              </a:rPr>
              <a:t>Address Space. </a:t>
            </a:r>
          </a:p>
          <a:p>
            <a:pPr marL="409575" lvl="1" indent="-179388" algn="just">
              <a:lnSpc>
                <a:spcPct val="150000"/>
              </a:lnSpc>
              <a:buFont typeface="System Font Regular"/>
              <a:buChar char="⁃"/>
            </a:pPr>
            <a:r>
              <a:rPr lang="en-IN" sz="2000" b="1" dirty="0">
                <a:solidFill>
                  <a:srgbClr val="002060"/>
                </a:solidFill>
                <a:latin typeface="AppleMyungjo" pitchFamily="2" charset="-127"/>
                <a:ea typeface="AppleMyungjo" pitchFamily="2" charset="-127"/>
              </a:rPr>
              <a:t>Physical addresses–describes locations in main memory, set of such locations is called the </a:t>
            </a:r>
            <a:r>
              <a:rPr lang="en-IN" sz="2000" b="1" dirty="0">
                <a:solidFill>
                  <a:srgbClr val="0070C0"/>
                </a:solidFill>
                <a:latin typeface="AppleMyungjo" pitchFamily="2" charset="-127"/>
                <a:ea typeface="AppleMyungjo" pitchFamily="2" charset="-127"/>
              </a:rPr>
              <a:t>Memory Space.</a:t>
            </a:r>
          </a:p>
          <a:p>
            <a:pPr marL="409575" lvl="1" indent="-179388" algn="just">
              <a:lnSpc>
                <a:spcPct val="150000"/>
              </a:lnSpc>
              <a:buFont typeface="System Font Regular"/>
              <a:buChar char="⁃"/>
            </a:pPr>
            <a:r>
              <a:rPr lang="en-IN" sz="2000" b="1" dirty="0">
                <a:solidFill>
                  <a:srgbClr val="002060"/>
                </a:solidFill>
                <a:latin typeface="AppleMyungjo" pitchFamily="2" charset="-127"/>
                <a:ea typeface="AppleMyungjo" pitchFamily="2" charset="-127"/>
              </a:rPr>
              <a:t>Memory management unit(MMU) - translates virtual address to physical address dynamically via OS managed page table</a:t>
            </a:r>
          </a:p>
          <a:p>
            <a:pPr>
              <a:lnSpc>
                <a:spcPct val="150000"/>
              </a:lnSpc>
            </a:pPr>
            <a:r>
              <a:rPr lang="en-US" sz="2000" b="1" dirty="0">
                <a:solidFill>
                  <a:srgbClr val="002060"/>
                </a:solidFill>
                <a:latin typeface="AppleMyungjo" pitchFamily="2" charset="-127"/>
                <a:ea typeface="AppleMyungjo" pitchFamily="2" charset="-127"/>
              </a:rPr>
              <a:t>A virtual memory system provides a mechanism for translating program-generated addresses into correct main memory locations.</a:t>
            </a:r>
          </a:p>
          <a:p>
            <a:pPr>
              <a:lnSpc>
                <a:spcPct val="150000"/>
              </a:lnSpc>
            </a:pPr>
            <a:endParaRPr lang="en-US" sz="3200" dirty="0"/>
          </a:p>
        </p:txBody>
      </p:sp>
    </p:spTree>
    <p:extLst>
      <p:ext uri="{BB962C8B-B14F-4D97-AF65-F5344CB8AC3E}">
        <p14:creationId xmlns:p14="http://schemas.microsoft.com/office/powerpoint/2010/main" val="845570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2EDF119-91D4-1A7E-7315-0700E2027CDA}"/>
              </a:ext>
            </a:extLst>
          </p:cNvPr>
          <p:cNvSpPr>
            <a:spLocks noGrp="1"/>
          </p:cNvSpPr>
          <p:nvPr>
            <p:ph idx="1"/>
          </p:nvPr>
        </p:nvSpPr>
        <p:spPr>
          <a:xfrm>
            <a:off x="705118" y="679403"/>
            <a:ext cx="5077495" cy="5476697"/>
          </a:xfrm>
        </p:spPr>
        <p:txBody>
          <a:bodyPr>
            <a:normAutofit lnSpcReduction="10000"/>
          </a:bodyPr>
          <a:lstStyle/>
          <a:p>
            <a:pPr algn="just">
              <a:lnSpc>
                <a:spcPct val="110000"/>
              </a:lnSpc>
            </a:pPr>
            <a:r>
              <a:rPr lang="en-IN" sz="2000" b="1" dirty="0">
                <a:solidFill>
                  <a:srgbClr val="002060"/>
                </a:solidFill>
                <a:latin typeface="AppleMyungjo" pitchFamily="2" charset="-127"/>
                <a:ea typeface="AppleMyungjo" pitchFamily="2" charset="-127"/>
              </a:rPr>
              <a:t>Consider a computer with a main-memory capacity of 32K words (K =1024). </a:t>
            </a:r>
          </a:p>
          <a:p>
            <a:pPr algn="just">
              <a:lnSpc>
                <a:spcPct val="110000"/>
              </a:lnSpc>
            </a:pPr>
            <a:r>
              <a:rPr lang="en-IN" sz="2000" b="1" dirty="0">
                <a:solidFill>
                  <a:srgbClr val="002060"/>
                </a:solidFill>
                <a:latin typeface="AppleMyungjo" pitchFamily="2" charset="-127"/>
                <a:ea typeface="AppleMyungjo" pitchFamily="2" charset="-127"/>
              </a:rPr>
              <a:t>15-bits are needed to specify a physical address in memory, since 32K = 2</a:t>
            </a:r>
            <a:r>
              <a:rPr lang="en-IN" sz="2000" b="1" baseline="30000" dirty="0">
                <a:solidFill>
                  <a:srgbClr val="002060"/>
                </a:solidFill>
                <a:latin typeface="AppleMyungjo" pitchFamily="2" charset="-127"/>
                <a:ea typeface="AppleMyungjo" pitchFamily="2" charset="-127"/>
              </a:rPr>
              <a:t>15</a:t>
            </a:r>
            <a:r>
              <a:rPr lang="en-IN" sz="2000" b="1" dirty="0">
                <a:solidFill>
                  <a:srgbClr val="002060"/>
                </a:solidFill>
                <a:latin typeface="AppleMyungjo" pitchFamily="2" charset="-127"/>
                <a:ea typeface="AppleMyungjo" pitchFamily="2" charset="-127"/>
              </a:rPr>
              <a:t>.</a:t>
            </a:r>
          </a:p>
          <a:p>
            <a:pPr algn="just">
              <a:lnSpc>
                <a:spcPct val="110000"/>
              </a:lnSpc>
            </a:pPr>
            <a:r>
              <a:rPr lang="en-IN" sz="2000" b="1" dirty="0">
                <a:solidFill>
                  <a:srgbClr val="002060"/>
                </a:solidFill>
                <a:latin typeface="AppleMyungjo" pitchFamily="2" charset="-127"/>
                <a:ea typeface="AppleMyungjo" pitchFamily="2" charset="-127"/>
              </a:rPr>
              <a:t>Suppose that the computer has available auxiliary memory for storing 2</a:t>
            </a:r>
            <a:r>
              <a:rPr lang="en-IN" sz="2000" b="1" baseline="30000" dirty="0">
                <a:solidFill>
                  <a:srgbClr val="002060"/>
                </a:solidFill>
                <a:latin typeface="AppleMyungjo" pitchFamily="2" charset="-127"/>
                <a:ea typeface="AppleMyungjo" pitchFamily="2" charset="-127"/>
              </a:rPr>
              <a:t>20 </a:t>
            </a:r>
            <a:r>
              <a:rPr lang="en-IN" sz="2000" b="1" dirty="0">
                <a:solidFill>
                  <a:srgbClr val="002060"/>
                </a:solidFill>
                <a:latin typeface="AppleMyungjo" pitchFamily="2" charset="-127"/>
                <a:ea typeface="AppleMyungjo" pitchFamily="2" charset="-127"/>
              </a:rPr>
              <a:t>= 1024K words.</a:t>
            </a:r>
          </a:p>
          <a:p>
            <a:pPr algn="just">
              <a:lnSpc>
                <a:spcPct val="110000"/>
              </a:lnSpc>
            </a:pPr>
            <a:r>
              <a:rPr lang="en-IN" sz="2000" b="1" dirty="0">
                <a:solidFill>
                  <a:srgbClr val="002060"/>
                </a:solidFill>
                <a:latin typeface="AppleMyungjo" pitchFamily="2" charset="-127"/>
                <a:ea typeface="AppleMyungjo" pitchFamily="2" charset="-127"/>
              </a:rPr>
              <a:t>Thus auxiliary memory has a capacity for storing information equivalent to the capacity of 32 main memories. </a:t>
            </a:r>
          </a:p>
          <a:p>
            <a:pPr algn="just">
              <a:lnSpc>
                <a:spcPct val="110000"/>
              </a:lnSpc>
            </a:pPr>
            <a:r>
              <a:rPr lang="en-IN" sz="2000" b="1" dirty="0">
                <a:solidFill>
                  <a:srgbClr val="002060"/>
                </a:solidFill>
                <a:latin typeface="AppleMyungjo" pitchFamily="2" charset="-127"/>
                <a:ea typeface="AppleMyungjo" pitchFamily="2" charset="-127"/>
              </a:rPr>
              <a:t>Denoting the address space by N and the memory space by M, we then have for this example N = 1024K and M = 32K.</a:t>
            </a:r>
          </a:p>
          <a:p>
            <a:pPr algn="just">
              <a:lnSpc>
                <a:spcPct val="110000"/>
              </a:lnSpc>
            </a:pPr>
            <a:endParaRPr lang="en-US" sz="2000" dirty="0"/>
          </a:p>
        </p:txBody>
      </p:sp>
      <p:pic>
        <p:nvPicPr>
          <p:cNvPr id="3" name="Picture 2">
            <a:extLst>
              <a:ext uri="{FF2B5EF4-FFF2-40B4-BE49-F238E27FC236}">
                <a16:creationId xmlns:a16="http://schemas.microsoft.com/office/drawing/2014/main" id="{B00803F7-3546-E41F-FFA9-56B75E2F9D89}"/>
              </a:ext>
            </a:extLst>
          </p:cNvPr>
          <p:cNvPicPr>
            <a:picLocks noChangeAspect="1"/>
          </p:cNvPicPr>
          <p:nvPr/>
        </p:nvPicPr>
        <p:blipFill>
          <a:blip r:embed="rId2"/>
          <a:stretch>
            <a:fillRect/>
          </a:stretch>
        </p:blipFill>
        <p:spPr>
          <a:xfrm>
            <a:off x="6313868" y="798490"/>
            <a:ext cx="5173014" cy="4819918"/>
          </a:xfrm>
          <a:prstGeom prst="rect">
            <a:avLst/>
          </a:prstGeom>
        </p:spPr>
      </p:pic>
      <p:sp>
        <p:nvSpPr>
          <p:cNvPr id="6" name="TextBox 5">
            <a:extLst>
              <a:ext uri="{FF2B5EF4-FFF2-40B4-BE49-F238E27FC236}">
                <a16:creationId xmlns:a16="http://schemas.microsoft.com/office/drawing/2014/main" id="{8BD77853-6718-812B-3C68-FFCD6E91C89D}"/>
              </a:ext>
            </a:extLst>
          </p:cNvPr>
          <p:cNvSpPr txBox="1"/>
          <p:nvPr/>
        </p:nvSpPr>
        <p:spPr>
          <a:xfrm>
            <a:off x="6409389" y="5847008"/>
            <a:ext cx="4885383" cy="369332"/>
          </a:xfrm>
          <a:prstGeom prst="rect">
            <a:avLst/>
          </a:prstGeom>
          <a:noFill/>
        </p:spPr>
        <p:txBody>
          <a:bodyPr wrap="square" rtlCol="0">
            <a:spAutoFit/>
          </a:bodyPr>
          <a:lstStyle/>
          <a:p>
            <a:pPr algn="ctr"/>
            <a:r>
              <a:rPr lang="en-US" dirty="0"/>
              <a:t>Fig: Relation between address and memory space</a:t>
            </a:r>
          </a:p>
        </p:txBody>
      </p:sp>
    </p:spTree>
    <p:extLst>
      <p:ext uri="{BB962C8B-B14F-4D97-AF65-F5344CB8AC3E}">
        <p14:creationId xmlns:p14="http://schemas.microsoft.com/office/powerpoint/2010/main" val="2366664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595CA2-5246-22A8-5E79-AF0C192218E0}"/>
              </a:ext>
            </a:extLst>
          </p:cNvPr>
          <p:cNvSpPr>
            <a:spLocks noGrp="1"/>
          </p:cNvSpPr>
          <p:nvPr>
            <p:ph idx="1"/>
          </p:nvPr>
        </p:nvSpPr>
        <p:spPr>
          <a:xfrm>
            <a:off x="838200" y="705163"/>
            <a:ext cx="10515600" cy="4351338"/>
          </a:xfrm>
        </p:spPr>
        <p:txBody>
          <a:bodyPr>
            <a:normAutofit/>
          </a:bodyPr>
          <a:lstStyle/>
          <a:p>
            <a:pPr algn="just"/>
            <a:r>
              <a:rPr lang="en-IN" sz="2000" b="1" dirty="0">
                <a:solidFill>
                  <a:srgbClr val="002060"/>
                </a:solidFill>
                <a:latin typeface="AppleMyungjo" pitchFamily="2" charset="-127"/>
                <a:ea typeface="AppleMyungjo" pitchFamily="2" charset="-127"/>
              </a:rPr>
              <a:t>In a multiprogramming computer system, programs and data are transferred to and from AM and MM based on demands imposed by the CPU.</a:t>
            </a:r>
          </a:p>
          <a:p>
            <a:pPr algn="just"/>
            <a:r>
              <a:rPr lang="en-IN" sz="2000" b="1" dirty="0">
                <a:solidFill>
                  <a:srgbClr val="002060"/>
                </a:solidFill>
                <a:latin typeface="AppleMyungjo" pitchFamily="2" charset="-127"/>
                <a:ea typeface="AppleMyungjo" pitchFamily="2" charset="-127"/>
              </a:rPr>
              <a:t>Suppose that program 1 is currently being executed in the CPU. Program 1 and a portion of its associated data are moved from auxiliary memory into main memory as shown in Fig.</a:t>
            </a:r>
          </a:p>
          <a:p>
            <a:pPr algn="just"/>
            <a:r>
              <a:rPr lang="en-IN" sz="2000" b="1" dirty="0">
                <a:solidFill>
                  <a:srgbClr val="002060"/>
                </a:solidFill>
                <a:latin typeface="AppleMyungjo" pitchFamily="2" charset="-127"/>
                <a:ea typeface="AppleMyungjo" pitchFamily="2" charset="-127"/>
              </a:rPr>
              <a:t>Portions of programs and data need not be in contiguous locations in memory since information is being moved in and out, and empty spaces may be available in scattered locations in memory.</a:t>
            </a:r>
          </a:p>
          <a:p>
            <a:pPr algn="just"/>
            <a:r>
              <a:rPr lang="en-IN" sz="2000" b="1" dirty="0">
                <a:solidFill>
                  <a:srgbClr val="002060"/>
                </a:solidFill>
                <a:latin typeface="AppleMyungjo" pitchFamily="2" charset="-127"/>
                <a:ea typeface="AppleMyungjo" pitchFamily="2" charset="-127"/>
              </a:rPr>
              <a:t>In our example, the address field of an instruction consists of 20 bits but physical addresses must be specified with only 15 bits.</a:t>
            </a:r>
          </a:p>
          <a:p>
            <a:pPr algn="just"/>
            <a:r>
              <a:rPr lang="en-IN" sz="2000" b="1" dirty="0">
                <a:solidFill>
                  <a:srgbClr val="002060"/>
                </a:solidFill>
                <a:latin typeface="AppleMyungjo" pitchFamily="2" charset="-127"/>
                <a:ea typeface="AppleMyungjo" pitchFamily="2" charset="-127"/>
              </a:rPr>
              <a:t>Thus, CPU will reference instructions and data with a 20-bit address, but the information at this address must be taken from physical memory because access to auxiliary storage for individual words will be too long.</a:t>
            </a:r>
          </a:p>
          <a:p>
            <a:endParaRPr lang="en-US" dirty="0"/>
          </a:p>
        </p:txBody>
      </p:sp>
    </p:spTree>
    <p:extLst>
      <p:ext uri="{BB962C8B-B14F-4D97-AF65-F5344CB8AC3E}">
        <p14:creationId xmlns:p14="http://schemas.microsoft.com/office/powerpoint/2010/main" val="2668904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691501-04D1-D8A8-C750-9059F859CA00}"/>
              </a:ext>
            </a:extLst>
          </p:cNvPr>
          <p:cNvSpPr>
            <a:spLocks noGrp="1"/>
          </p:cNvSpPr>
          <p:nvPr>
            <p:ph idx="1"/>
          </p:nvPr>
        </p:nvSpPr>
        <p:spPr>
          <a:xfrm>
            <a:off x="589633" y="511979"/>
            <a:ext cx="10764167" cy="4351338"/>
          </a:xfrm>
        </p:spPr>
        <p:txBody>
          <a:bodyPr>
            <a:normAutofit/>
          </a:bodyPr>
          <a:lstStyle/>
          <a:p>
            <a:pPr indent="-207963" algn="just">
              <a:lnSpc>
                <a:spcPct val="100000"/>
              </a:lnSpc>
            </a:pPr>
            <a:r>
              <a:rPr lang="en-IN" sz="2000" b="1" dirty="0">
                <a:solidFill>
                  <a:srgbClr val="002060"/>
                </a:solidFill>
                <a:latin typeface="AppleMyungjo" pitchFamily="2" charset="-127"/>
                <a:ea typeface="AppleMyungjo" pitchFamily="2" charset="-127"/>
              </a:rPr>
              <a:t>The mapping between the pages and the page frames is called </a:t>
            </a:r>
            <a:r>
              <a:rPr lang="en-IN" sz="2000" b="1" dirty="0">
                <a:solidFill>
                  <a:srgbClr val="0070C0"/>
                </a:solidFill>
                <a:latin typeface="AppleMyungjo" pitchFamily="2" charset="-127"/>
                <a:ea typeface="AppleMyungjo" pitchFamily="2" charset="-127"/>
              </a:rPr>
              <a:t>Address Translation </a:t>
            </a:r>
            <a:r>
              <a:rPr lang="en-IN" sz="2000" b="1" dirty="0">
                <a:solidFill>
                  <a:srgbClr val="002060"/>
                </a:solidFill>
                <a:latin typeface="AppleMyungjo" pitchFamily="2" charset="-127"/>
                <a:ea typeface="AppleMyungjo" pitchFamily="2" charset="-127"/>
              </a:rPr>
              <a:t>and this information is available in a </a:t>
            </a:r>
            <a:r>
              <a:rPr lang="en-IN" sz="2000" b="1" dirty="0">
                <a:solidFill>
                  <a:srgbClr val="0070C0"/>
                </a:solidFill>
                <a:latin typeface="AppleMyungjo" pitchFamily="2" charset="-127"/>
                <a:ea typeface="AppleMyungjo" pitchFamily="2" charset="-127"/>
              </a:rPr>
              <a:t>Page Table.</a:t>
            </a:r>
          </a:p>
          <a:p>
            <a:pPr indent="-207963" algn="just">
              <a:lnSpc>
                <a:spcPct val="100000"/>
              </a:lnSpc>
            </a:pPr>
            <a:r>
              <a:rPr lang="en-IN" sz="2000" b="1" dirty="0">
                <a:solidFill>
                  <a:srgbClr val="002060"/>
                </a:solidFill>
                <a:latin typeface="AppleMyungjo" pitchFamily="2" charset="-127"/>
                <a:ea typeface="AppleMyungjo" pitchFamily="2" charset="-127"/>
              </a:rPr>
              <a:t>The table implementation of address mapping is simplified if the information in the address space and the memory space are each </a:t>
            </a:r>
            <a:r>
              <a:rPr lang="en-IN" sz="2000" b="1" dirty="0">
                <a:solidFill>
                  <a:srgbClr val="0070C0"/>
                </a:solidFill>
                <a:latin typeface="AppleMyungjo" pitchFamily="2" charset="-127"/>
                <a:ea typeface="AppleMyungjo" pitchFamily="2" charset="-127"/>
              </a:rPr>
              <a:t>divided into groups of fixed size. </a:t>
            </a:r>
          </a:p>
          <a:p>
            <a:pPr indent="-207963" algn="just">
              <a:lnSpc>
                <a:spcPct val="100000"/>
              </a:lnSpc>
            </a:pPr>
            <a:r>
              <a:rPr lang="en-IN" sz="2000" b="1" dirty="0">
                <a:solidFill>
                  <a:srgbClr val="002060"/>
                </a:solidFill>
                <a:latin typeface="AppleMyungjo" pitchFamily="2" charset="-127"/>
                <a:ea typeface="AppleMyungjo" pitchFamily="2" charset="-127"/>
              </a:rPr>
              <a:t>Virtual address space divided into </a:t>
            </a:r>
            <a:r>
              <a:rPr lang="en-IN" sz="2000" b="1" dirty="0">
                <a:solidFill>
                  <a:srgbClr val="0070C0"/>
                </a:solidFill>
                <a:latin typeface="AppleMyungjo" pitchFamily="2" charset="-127"/>
                <a:ea typeface="AppleMyungjo" pitchFamily="2" charset="-127"/>
              </a:rPr>
              <a:t>Pages</a:t>
            </a:r>
            <a:r>
              <a:rPr lang="en-IN" sz="2000" b="1" dirty="0">
                <a:solidFill>
                  <a:srgbClr val="002060"/>
                </a:solidFill>
                <a:latin typeface="AppleMyungjo" pitchFamily="2" charset="-127"/>
                <a:ea typeface="AppleMyungjo" pitchFamily="2" charset="-127"/>
              </a:rPr>
              <a:t> of fixed size.</a:t>
            </a:r>
          </a:p>
          <a:p>
            <a:pPr lvl="1" indent="-207963" algn="just">
              <a:lnSpc>
                <a:spcPct val="100000"/>
              </a:lnSpc>
            </a:pPr>
            <a:r>
              <a:rPr lang="en-IN" sz="1800" b="1" dirty="0">
                <a:solidFill>
                  <a:srgbClr val="002060"/>
                </a:solidFill>
                <a:latin typeface="AppleMyungjo" pitchFamily="2" charset="-127"/>
                <a:ea typeface="AppleMyungjo" pitchFamily="2" charset="-127"/>
              </a:rPr>
              <a:t>The page number, which is part of the virtual address, is used to index into the appropriate page table entry. </a:t>
            </a:r>
          </a:p>
          <a:p>
            <a:pPr indent="-207963" algn="just">
              <a:lnSpc>
                <a:spcPct val="100000"/>
              </a:lnSpc>
            </a:pPr>
            <a:r>
              <a:rPr lang="en-IN" sz="2000" b="1" dirty="0">
                <a:solidFill>
                  <a:srgbClr val="002060"/>
                </a:solidFill>
                <a:latin typeface="AppleMyungjo" pitchFamily="2" charset="-127"/>
                <a:ea typeface="AppleMyungjo" pitchFamily="2" charset="-127"/>
              </a:rPr>
              <a:t>Physical address space divided into </a:t>
            </a:r>
            <a:r>
              <a:rPr lang="en-IN" sz="2000" b="1" dirty="0">
                <a:solidFill>
                  <a:srgbClr val="0070C0"/>
                </a:solidFill>
                <a:latin typeface="AppleMyungjo" pitchFamily="2" charset="-127"/>
                <a:ea typeface="AppleMyungjo" pitchFamily="2" charset="-127"/>
              </a:rPr>
              <a:t>Blocks</a:t>
            </a:r>
            <a:r>
              <a:rPr lang="en-IN" sz="2000" b="1" dirty="0">
                <a:solidFill>
                  <a:srgbClr val="002060"/>
                </a:solidFill>
                <a:latin typeface="AppleMyungjo" pitchFamily="2" charset="-127"/>
                <a:ea typeface="AppleMyungjo" pitchFamily="2" charset="-127"/>
              </a:rPr>
              <a:t> of fixed size also called as </a:t>
            </a:r>
            <a:r>
              <a:rPr lang="en-IN" sz="2000" b="1" dirty="0">
                <a:solidFill>
                  <a:srgbClr val="0070C0"/>
                </a:solidFill>
                <a:latin typeface="AppleMyungjo" pitchFamily="2" charset="-127"/>
                <a:ea typeface="AppleMyungjo" pitchFamily="2" charset="-127"/>
              </a:rPr>
              <a:t>Page Frames.</a:t>
            </a:r>
          </a:p>
          <a:p>
            <a:pPr>
              <a:lnSpc>
                <a:spcPct val="100000"/>
              </a:lnSpc>
            </a:pPr>
            <a:endParaRPr lang="en-US" sz="2000" dirty="0"/>
          </a:p>
        </p:txBody>
      </p:sp>
      <p:pic>
        <p:nvPicPr>
          <p:cNvPr id="4" name="Picture 3">
            <a:extLst>
              <a:ext uri="{FF2B5EF4-FFF2-40B4-BE49-F238E27FC236}">
                <a16:creationId xmlns:a16="http://schemas.microsoft.com/office/drawing/2014/main" id="{5A1F6300-874E-1FC0-0217-C05600746468}"/>
              </a:ext>
            </a:extLst>
          </p:cNvPr>
          <p:cNvPicPr>
            <a:picLocks noChangeAspect="1"/>
          </p:cNvPicPr>
          <p:nvPr/>
        </p:nvPicPr>
        <p:blipFill>
          <a:blip r:embed="rId2"/>
          <a:stretch>
            <a:fillRect/>
          </a:stretch>
        </p:blipFill>
        <p:spPr>
          <a:xfrm>
            <a:off x="5475016" y="3398919"/>
            <a:ext cx="5878784" cy="2698458"/>
          </a:xfrm>
          <a:prstGeom prst="rect">
            <a:avLst/>
          </a:prstGeom>
        </p:spPr>
      </p:pic>
      <p:sp>
        <p:nvSpPr>
          <p:cNvPr id="5" name="TextBox 4">
            <a:extLst>
              <a:ext uri="{FF2B5EF4-FFF2-40B4-BE49-F238E27FC236}">
                <a16:creationId xmlns:a16="http://schemas.microsoft.com/office/drawing/2014/main" id="{D81050E5-47A9-6AA5-8E93-402E277634F7}"/>
              </a:ext>
            </a:extLst>
          </p:cNvPr>
          <p:cNvSpPr txBox="1"/>
          <p:nvPr/>
        </p:nvSpPr>
        <p:spPr>
          <a:xfrm>
            <a:off x="5971716" y="6080342"/>
            <a:ext cx="4885383" cy="369332"/>
          </a:xfrm>
          <a:prstGeom prst="rect">
            <a:avLst/>
          </a:prstGeom>
          <a:noFill/>
        </p:spPr>
        <p:txBody>
          <a:bodyPr wrap="square" rtlCol="0">
            <a:spAutoFit/>
          </a:bodyPr>
          <a:lstStyle/>
          <a:p>
            <a:pPr algn="ctr"/>
            <a:r>
              <a:rPr lang="en-US" dirty="0"/>
              <a:t>Fig: Memory table for mapping virtual address</a:t>
            </a:r>
          </a:p>
        </p:txBody>
      </p:sp>
    </p:spTree>
    <p:extLst>
      <p:ext uri="{BB962C8B-B14F-4D97-AF65-F5344CB8AC3E}">
        <p14:creationId xmlns:p14="http://schemas.microsoft.com/office/powerpoint/2010/main" val="1370898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AEEBDE-998A-E1F8-26B3-51A129099E33}"/>
              </a:ext>
            </a:extLst>
          </p:cNvPr>
          <p:cNvSpPr>
            <a:spLocks noGrp="1"/>
          </p:cNvSpPr>
          <p:nvPr>
            <p:ph idx="1"/>
          </p:nvPr>
        </p:nvSpPr>
        <p:spPr>
          <a:xfrm>
            <a:off x="553791" y="647451"/>
            <a:ext cx="6310835" cy="5911403"/>
          </a:xfrm>
        </p:spPr>
        <p:txBody>
          <a:bodyPr>
            <a:normAutofit/>
          </a:bodyPr>
          <a:lstStyle/>
          <a:p>
            <a:pPr algn="just">
              <a:lnSpc>
                <a:spcPct val="150000"/>
              </a:lnSpc>
            </a:pPr>
            <a:r>
              <a:rPr lang="en-IN" sz="2000" b="1" dirty="0">
                <a:solidFill>
                  <a:srgbClr val="002060"/>
                </a:solidFill>
                <a:latin typeface="AppleMyungjo" pitchFamily="2" charset="-127"/>
                <a:ea typeface="AppleMyungjo" pitchFamily="2" charset="-127"/>
              </a:rPr>
              <a:t>Consider a computer system with Address space = 8K, Memory space = 4K.</a:t>
            </a:r>
          </a:p>
          <a:p>
            <a:pPr algn="just">
              <a:lnSpc>
                <a:spcPct val="150000"/>
              </a:lnSpc>
            </a:pPr>
            <a:r>
              <a:rPr lang="en-IN" sz="2000" b="1" dirty="0">
                <a:solidFill>
                  <a:srgbClr val="002060"/>
                </a:solidFill>
                <a:latin typeface="AppleMyungjo" pitchFamily="2" charset="-127"/>
                <a:ea typeface="AppleMyungjo" pitchFamily="2" charset="-127"/>
              </a:rPr>
              <a:t>If we split each into groups of 1K words we obtain eight pages and four blocks as shown in figure.</a:t>
            </a:r>
          </a:p>
          <a:p>
            <a:pPr algn="just">
              <a:lnSpc>
                <a:spcPct val="150000"/>
              </a:lnSpc>
            </a:pPr>
            <a:r>
              <a:rPr lang="en-IN" sz="2000" b="1" dirty="0">
                <a:solidFill>
                  <a:srgbClr val="002060"/>
                </a:solidFill>
                <a:latin typeface="AppleMyungjo" pitchFamily="2" charset="-127"/>
                <a:ea typeface="AppleMyungjo" pitchFamily="2" charset="-127"/>
              </a:rPr>
              <a:t>At any given time, up to four pages of address space may reside in main memory in any one of the four blocks.</a:t>
            </a:r>
          </a:p>
          <a:p>
            <a:pPr marL="447675" indent="-217488" algn="just">
              <a:lnSpc>
                <a:spcPct val="150000"/>
              </a:lnSpc>
              <a:buFont typeface="System Font Regular"/>
              <a:buChar char="⁃"/>
            </a:pPr>
            <a:endParaRPr lang="en-IN" sz="2000" b="1" dirty="0">
              <a:solidFill>
                <a:srgbClr val="002060"/>
              </a:solidFill>
              <a:latin typeface="AppleMyungjo" pitchFamily="2" charset="-127"/>
              <a:ea typeface="AppleMyungjo" pitchFamily="2" charset="-127"/>
            </a:endParaRPr>
          </a:p>
        </p:txBody>
      </p:sp>
      <p:pic>
        <p:nvPicPr>
          <p:cNvPr id="4" name="Picture 3">
            <a:extLst>
              <a:ext uri="{FF2B5EF4-FFF2-40B4-BE49-F238E27FC236}">
                <a16:creationId xmlns:a16="http://schemas.microsoft.com/office/drawing/2014/main" id="{4F74A822-9167-DD60-6C3F-C2C1ABF9EE47}"/>
              </a:ext>
            </a:extLst>
          </p:cNvPr>
          <p:cNvPicPr>
            <a:picLocks noChangeAspect="1"/>
          </p:cNvPicPr>
          <p:nvPr/>
        </p:nvPicPr>
        <p:blipFill>
          <a:blip r:embed="rId2"/>
          <a:stretch>
            <a:fillRect/>
          </a:stretch>
        </p:blipFill>
        <p:spPr>
          <a:xfrm>
            <a:off x="7248939" y="647451"/>
            <a:ext cx="4286236" cy="4504097"/>
          </a:xfrm>
          <a:prstGeom prst="rect">
            <a:avLst/>
          </a:prstGeom>
        </p:spPr>
      </p:pic>
      <p:sp>
        <p:nvSpPr>
          <p:cNvPr id="5" name="TextBox 4">
            <a:extLst>
              <a:ext uri="{FF2B5EF4-FFF2-40B4-BE49-F238E27FC236}">
                <a16:creationId xmlns:a16="http://schemas.microsoft.com/office/drawing/2014/main" id="{2EC28F6D-9F90-3A12-93A3-5A9BB4AD4120}"/>
              </a:ext>
            </a:extLst>
          </p:cNvPr>
          <p:cNvSpPr txBox="1"/>
          <p:nvPr/>
        </p:nvSpPr>
        <p:spPr>
          <a:xfrm>
            <a:off x="7598534" y="5333367"/>
            <a:ext cx="4116946" cy="646331"/>
          </a:xfrm>
          <a:prstGeom prst="rect">
            <a:avLst/>
          </a:prstGeom>
          <a:noFill/>
        </p:spPr>
        <p:txBody>
          <a:bodyPr wrap="square" rtlCol="0">
            <a:spAutoFit/>
          </a:bodyPr>
          <a:lstStyle/>
          <a:p>
            <a:pPr algn="ctr"/>
            <a:r>
              <a:rPr lang="en-US" dirty="0"/>
              <a:t>Fig: Address &amp; Memory space split into group of 1K words </a:t>
            </a:r>
          </a:p>
        </p:txBody>
      </p:sp>
    </p:spTree>
    <p:extLst>
      <p:ext uri="{BB962C8B-B14F-4D97-AF65-F5344CB8AC3E}">
        <p14:creationId xmlns:p14="http://schemas.microsoft.com/office/powerpoint/2010/main" val="421874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F8BAF00F-9AFE-127C-E7CD-72F3A665FE8F}"/>
              </a:ext>
            </a:extLst>
          </p:cNvPr>
          <p:cNvSpPr/>
          <p:nvPr/>
        </p:nvSpPr>
        <p:spPr>
          <a:xfrm>
            <a:off x="7096259" y="850006"/>
            <a:ext cx="592428" cy="2318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4C04656-3A92-84DF-3FD8-6EA649474FB9}"/>
              </a:ext>
            </a:extLst>
          </p:cNvPr>
          <p:cNvSpPr>
            <a:spLocks noGrp="1"/>
          </p:cNvSpPr>
          <p:nvPr>
            <p:ph idx="1"/>
          </p:nvPr>
        </p:nvSpPr>
        <p:spPr>
          <a:xfrm>
            <a:off x="640929" y="640767"/>
            <a:ext cx="5455071" cy="5548425"/>
          </a:xfrm>
        </p:spPr>
        <p:txBody>
          <a:bodyPr>
            <a:normAutofit/>
          </a:bodyPr>
          <a:lstStyle/>
          <a:p>
            <a:pPr algn="just">
              <a:lnSpc>
                <a:spcPct val="110000"/>
              </a:lnSpc>
            </a:pPr>
            <a:r>
              <a:rPr lang="en-IN" sz="1900" b="1" dirty="0">
                <a:solidFill>
                  <a:srgbClr val="002060"/>
                </a:solidFill>
                <a:latin typeface="AppleMyungjo" pitchFamily="2" charset="-127"/>
                <a:ea typeface="AppleMyungjo" pitchFamily="2" charset="-127"/>
              </a:rPr>
              <a:t>The memory-page table has eight words, one for each page. </a:t>
            </a:r>
          </a:p>
          <a:p>
            <a:pPr algn="just">
              <a:lnSpc>
                <a:spcPct val="110000"/>
              </a:lnSpc>
            </a:pPr>
            <a:r>
              <a:rPr lang="en-IN" sz="1900" b="1" dirty="0">
                <a:solidFill>
                  <a:srgbClr val="002060"/>
                </a:solidFill>
                <a:latin typeface="AppleMyungjo" pitchFamily="2" charset="-127"/>
                <a:ea typeface="AppleMyungjo" pitchFamily="2" charset="-127"/>
              </a:rPr>
              <a:t>The </a:t>
            </a:r>
            <a:r>
              <a:rPr lang="en-IN" sz="1900" b="1" dirty="0">
                <a:solidFill>
                  <a:schemeClr val="accent2">
                    <a:lumMod val="75000"/>
                  </a:schemeClr>
                </a:solidFill>
                <a:latin typeface="AppleMyungjo" pitchFamily="2" charset="-127"/>
                <a:ea typeface="AppleMyungjo" pitchFamily="2" charset="-127"/>
              </a:rPr>
              <a:t>address in the page table </a:t>
            </a:r>
            <a:r>
              <a:rPr lang="en-IN" sz="1900" b="1" dirty="0">
                <a:solidFill>
                  <a:srgbClr val="002060"/>
                </a:solidFill>
                <a:latin typeface="AppleMyungjo" pitchFamily="2" charset="-127"/>
                <a:ea typeface="AppleMyungjo" pitchFamily="2" charset="-127"/>
              </a:rPr>
              <a:t>denotes the </a:t>
            </a:r>
            <a:r>
              <a:rPr lang="en-IN" sz="1900" b="1" dirty="0">
                <a:solidFill>
                  <a:schemeClr val="accent2">
                    <a:lumMod val="75000"/>
                  </a:schemeClr>
                </a:solidFill>
                <a:latin typeface="AppleMyungjo" pitchFamily="2" charset="-127"/>
                <a:ea typeface="AppleMyungjo" pitchFamily="2" charset="-127"/>
              </a:rPr>
              <a:t>page number </a:t>
            </a:r>
            <a:r>
              <a:rPr lang="en-IN" sz="1900" b="1" dirty="0">
                <a:solidFill>
                  <a:srgbClr val="002060"/>
                </a:solidFill>
                <a:latin typeface="AppleMyungjo" pitchFamily="2" charset="-127"/>
                <a:ea typeface="AppleMyungjo" pitchFamily="2" charset="-127"/>
              </a:rPr>
              <a:t>and the content of the word gives the block number where that page is stored in main memory. </a:t>
            </a:r>
          </a:p>
          <a:p>
            <a:pPr algn="just">
              <a:lnSpc>
                <a:spcPct val="110000"/>
              </a:lnSpc>
            </a:pPr>
            <a:r>
              <a:rPr lang="en-IN" sz="1900" b="1" dirty="0">
                <a:solidFill>
                  <a:srgbClr val="002060"/>
                </a:solidFill>
                <a:latin typeface="AppleMyungjo" pitchFamily="2" charset="-127"/>
                <a:ea typeface="AppleMyungjo" pitchFamily="2" charset="-127"/>
              </a:rPr>
              <a:t>The table shows that pages 1, 2, 5, and 6 are now available in main memory in blocks 3, 0, 1, and 2, respectively. </a:t>
            </a:r>
          </a:p>
          <a:p>
            <a:pPr algn="just">
              <a:lnSpc>
                <a:spcPct val="110000"/>
              </a:lnSpc>
            </a:pPr>
            <a:r>
              <a:rPr lang="en-IN" sz="1900" b="1" dirty="0">
                <a:solidFill>
                  <a:srgbClr val="002060"/>
                </a:solidFill>
                <a:latin typeface="AppleMyungjo" pitchFamily="2" charset="-127"/>
                <a:ea typeface="AppleMyungjo" pitchFamily="2" charset="-127"/>
              </a:rPr>
              <a:t>A presence bit in each location indicates whether the page has been transferred from auxiliary memory into main memory. </a:t>
            </a:r>
          </a:p>
          <a:p>
            <a:pPr algn="just">
              <a:lnSpc>
                <a:spcPct val="110000"/>
              </a:lnSpc>
            </a:pPr>
            <a:r>
              <a:rPr lang="en-IN" sz="1900" b="1" dirty="0">
                <a:solidFill>
                  <a:srgbClr val="002060"/>
                </a:solidFill>
                <a:latin typeface="AppleMyungjo" pitchFamily="2" charset="-127"/>
                <a:ea typeface="AppleMyungjo" pitchFamily="2" charset="-127"/>
              </a:rPr>
              <a:t>‘ 0 ’ in the presence bit – page not available in main memory.</a:t>
            </a:r>
          </a:p>
          <a:p>
            <a:pPr algn="just">
              <a:lnSpc>
                <a:spcPct val="110000"/>
              </a:lnSpc>
            </a:pPr>
            <a:endParaRPr lang="en-US" dirty="0"/>
          </a:p>
        </p:txBody>
      </p:sp>
      <p:pic>
        <p:nvPicPr>
          <p:cNvPr id="4" name="Picture 3">
            <a:extLst>
              <a:ext uri="{FF2B5EF4-FFF2-40B4-BE49-F238E27FC236}">
                <a16:creationId xmlns:a16="http://schemas.microsoft.com/office/drawing/2014/main" id="{55411637-6AE9-E520-AE20-12AC8DA7D390}"/>
              </a:ext>
            </a:extLst>
          </p:cNvPr>
          <p:cNvPicPr>
            <a:picLocks noChangeAspect="1"/>
          </p:cNvPicPr>
          <p:nvPr/>
        </p:nvPicPr>
        <p:blipFill>
          <a:blip r:embed="rId3"/>
          <a:stretch>
            <a:fillRect/>
          </a:stretch>
        </p:blipFill>
        <p:spPr>
          <a:xfrm>
            <a:off x="6152447" y="476517"/>
            <a:ext cx="5455072" cy="5548425"/>
          </a:xfrm>
          <a:prstGeom prst="rect">
            <a:avLst/>
          </a:prstGeom>
        </p:spPr>
      </p:pic>
      <p:sp>
        <p:nvSpPr>
          <p:cNvPr id="5" name="TextBox 4">
            <a:extLst>
              <a:ext uri="{FF2B5EF4-FFF2-40B4-BE49-F238E27FC236}">
                <a16:creationId xmlns:a16="http://schemas.microsoft.com/office/drawing/2014/main" id="{7882A07F-F1C7-0BB9-043E-B6240DEA7364}"/>
              </a:ext>
            </a:extLst>
          </p:cNvPr>
          <p:cNvSpPr txBox="1"/>
          <p:nvPr/>
        </p:nvSpPr>
        <p:spPr>
          <a:xfrm>
            <a:off x="6340699" y="6024942"/>
            <a:ext cx="5567966" cy="369332"/>
          </a:xfrm>
          <a:prstGeom prst="rect">
            <a:avLst/>
          </a:prstGeom>
          <a:noFill/>
        </p:spPr>
        <p:txBody>
          <a:bodyPr wrap="square" rtlCol="0">
            <a:spAutoFit/>
          </a:bodyPr>
          <a:lstStyle/>
          <a:p>
            <a:pPr algn="ctr"/>
            <a:r>
              <a:rPr lang="en-US" dirty="0"/>
              <a:t>Fig: Memory table in a paged system</a:t>
            </a:r>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BD88BA8B-CCAE-A77A-792B-4E2BEE62A9BB}"/>
                  </a:ext>
                </a:extLst>
              </p14:cNvPr>
              <p14:cNvContentPartPr/>
              <p14:nvPr/>
            </p14:nvContentPartPr>
            <p14:xfrm>
              <a:off x="7012668" y="831783"/>
              <a:ext cx="731880" cy="263520"/>
            </p14:xfrm>
          </p:contentPart>
        </mc:Choice>
        <mc:Fallback xmlns="">
          <p:pic>
            <p:nvPicPr>
              <p:cNvPr id="7" name="Ink 6">
                <a:extLst>
                  <a:ext uri="{FF2B5EF4-FFF2-40B4-BE49-F238E27FC236}">
                    <a16:creationId xmlns:a16="http://schemas.microsoft.com/office/drawing/2014/main" id="{BD88BA8B-CCAE-A77A-792B-4E2BEE62A9BB}"/>
                  </a:ext>
                </a:extLst>
              </p:cNvPr>
              <p:cNvPicPr/>
              <p:nvPr/>
            </p:nvPicPr>
            <p:blipFill>
              <a:blip r:embed="rId5"/>
              <a:stretch>
                <a:fillRect/>
              </a:stretch>
            </p:blipFill>
            <p:spPr>
              <a:xfrm>
                <a:off x="7003668" y="822783"/>
                <a:ext cx="74952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B36EC938-D305-D991-4F53-FA67ACB3A4CF}"/>
                  </a:ext>
                </a:extLst>
              </p14:cNvPr>
              <p14:cNvContentPartPr/>
              <p14:nvPr/>
            </p14:nvContentPartPr>
            <p14:xfrm>
              <a:off x="6581388" y="3525303"/>
              <a:ext cx="268560" cy="255960"/>
            </p14:xfrm>
          </p:contentPart>
        </mc:Choice>
        <mc:Fallback xmlns="">
          <p:pic>
            <p:nvPicPr>
              <p:cNvPr id="8" name="Ink 7">
                <a:extLst>
                  <a:ext uri="{FF2B5EF4-FFF2-40B4-BE49-F238E27FC236}">
                    <a16:creationId xmlns:a16="http://schemas.microsoft.com/office/drawing/2014/main" id="{B36EC938-D305-D991-4F53-FA67ACB3A4CF}"/>
                  </a:ext>
                </a:extLst>
              </p:cNvPr>
              <p:cNvPicPr/>
              <p:nvPr/>
            </p:nvPicPr>
            <p:blipFill>
              <a:blip r:embed="rId7"/>
              <a:stretch>
                <a:fillRect/>
              </a:stretch>
            </p:blipFill>
            <p:spPr>
              <a:xfrm>
                <a:off x="6572748" y="3516663"/>
                <a:ext cx="28620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30CE6BBC-D088-3823-01D0-4B40AD2EB3C7}"/>
                  </a:ext>
                </a:extLst>
              </p14:cNvPr>
              <p14:cNvContentPartPr/>
              <p14:nvPr/>
            </p14:nvContentPartPr>
            <p14:xfrm>
              <a:off x="7270428" y="3517743"/>
              <a:ext cx="287640" cy="253440"/>
            </p14:xfrm>
          </p:contentPart>
        </mc:Choice>
        <mc:Fallback xmlns="">
          <p:pic>
            <p:nvPicPr>
              <p:cNvPr id="9" name="Ink 8">
                <a:extLst>
                  <a:ext uri="{FF2B5EF4-FFF2-40B4-BE49-F238E27FC236}">
                    <a16:creationId xmlns:a16="http://schemas.microsoft.com/office/drawing/2014/main" id="{30CE6BBC-D088-3823-01D0-4B40AD2EB3C7}"/>
                  </a:ext>
                </a:extLst>
              </p:cNvPr>
              <p:cNvPicPr/>
              <p:nvPr/>
            </p:nvPicPr>
            <p:blipFill>
              <a:blip r:embed="rId9"/>
              <a:stretch>
                <a:fillRect/>
              </a:stretch>
            </p:blipFill>
            <p:spPr>
              <a:xfrm>
                <a:off x="7261428" y="3508743"/>
                <a:ext cx="3052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685970DB-9B24-5B91-B8EC-3B80885B8C66}"/>
                  </a:ext>
                </a:extLst>
              </p14:cNvPr>
              <p14:cNvContentPartPr/>
              <p14:nvPr/>
            </p14:nvContentPartPr>
            <p14:xfrm>
              <a:off x="10733268" y="2278983"/>
              <a:ext cx="457200" cy="259560"/>
            </p14:xfrm>
          </p:contentPart>
        </mc:Choice>
        <mc:Fallback xmlns="">
          <p:pic>
            <p:nvPicPr>
              <p:cNvPr id="10" name="Ink 9">
                <a:extLst>
                  <a:ext uri="{FF2B5EF4-FFF2-40B4-BE49-F238E27FC236}">
                    <a16:creationId xmlns:a16="http://schemas.microsoft.com/office/drawing/2014/main" id="{685970DB-9B24-5B91-B8EC-3B80885B8C66}"/>
                  </a:ext>
                </a:extLst>
              </p:cNvPr>
              <p:cNvPicPr/>
              <p:nvPr/>
            </p:nvPicPr>
            <p:blipFill>
              <a:blip r:embed="rId11"/>
              <a:stretch>
                <a:fillRect/>
              </a:stretch>
            </p:blipFill>
            <p:spPr>
              <a:xfrm>
                <a:off x="10724628" y="2269983"/>
                <a:ext cx="474840" cy="277200"/>
              </a:xfrm>
              <a:prstGeom prst="rect">
                <a:avLst/>
              </a:prstGeom>
            </p:spPr>
          </p:pic>
        </mc:Fallback>
      </mc:AlternateContent>
    </p:spTree>
    <p:extLst>
      <p:ext uri="{BB962C8B-B14F-4D97-AF65-F5344CB8AC3E}">
        <p14:creationId xmlns:p14="http://schemas.microsoft.com/office/powerpoint/2010/main" val="153753789"/>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C56BEC-5936-307B-FC9D-A90B0A20BEB2}"/>
              </a:ext>
            </a:extLst>
          </p:cNvPr>
          <p:cNvSpPr>
            <a:spLocks noGrp="1"/>
          </p:cNvSpPr>
          <p:nvPr>
            <p:ph idx="1"/>
          </p:nvPr>
        </p:nvSpPr>
        <p:spPr>
          <a:xfrm>
            <a:off x="722289" y="769557"/>
            <a:ext cx="10765665" cy="5347908"/>
          </a:xfrm>
        </p:spPr>
        <p:txBody>
          <a:bodyPr>
            <a:normAutofit/>
          </a:bodyPr>
          <a:lstStyle/>
          <a:p>
            <a:pPr algn="just">
              <a:lnSpc>
                <a:spcPct val="100000"/>
              </a:lnSpc>
            </a:pPr>
            <a:r>
              <a:rPr lang="en-IN" sz="2000" b="1" dirty="0">
                <a:solidFill>
                  <a:srgbClr val="002060"/>
                </a:solidFill>
                <a:latin typeface="AppleMyungjo" pitchFamily="2" charset="-127"/>
                <a:ea typeface="AppleMyungjo" pitchFamily="2" charset="-127"/>
              </a:rPr>
              <a:t>The CPU references a word in memory with a virtual address of 13 bits.</a:t>
            </a:r>
          </a:p>
          <a:p>
            <a:pPr algn="just">
              <a:lnSpc>
                <a:spcPct val="100000"/>
              </a:lnSpc>
            </a:pPr>
            <a:r>
              <a:rPr lang="en-IN" sz="2000" b="1" dirty="0">
                <a:solidFill>
                  <a:srgbClr val="0070C0"/>
                </a:solidFill>
                <a:latin typeface="AppleMyungjo" pitchFamily="2" charset="-127"/>
                <a:ea typeface="AppleMyungjo" pitchFamily="2" charset="-127"/>
              </a:rPr>
              <a:t>3 high-order bits </a:t>
            </a:r>
            <a:r>
              <a:rPr lang="en-IN" sz="2000" b="1" dirty="0">
                <a:solidFill>
                  <a:srgbClr val="002060"/>
                </a:solidFill>
                <a:latin typeface="AppleMyungjo" pitchFamily="2" charset="-127"/>
                <a:ea typeface="AppleMyungjo" pitchFamily="2" charset="-127"/>
              </a:rPr>
              <a:t>of virtual address specify </a:t>
            </a:r>
            <a:r>
              <a:rPr lang="en-IN" sz="2000" b="1" dirty="0">
                <a:solidFill>
                  <a:srgbClr val="0070C0"/>
                </a:solidFill>
                <a:latin typeface="AppleMyungjo" pitchFamily="2" charset="-127"/>
                <a:ea typeface="AppleMyungjo" pitchFamily="2" charset="-127"/>
              </a:rPr>
              <a:t>page number and also an address for the memory-page table.</a:t>
            </a:r>
          </a:p>
          <a:p>
            <a:pPr algn="just">
              <a:lnSpc>
                <a:spcPct val="100000"/>
              </a:lnSpc>
            </a:pPr>
            <a:r>
              <a:rPr lang="en-IN" sz="2000" b="1" dirty="0">
                <a:solidFill>
                  <a:srgbClr val="002060"/>
                </a:solidFill>
                <a:latin typeface="AppleMyungjo" pitchFamily="2" charset="-127"/>
                <a:ea typeface="AppleMyungjo" pitchFamily="2" charset="-127"/>
              </a:rPr>
              <a:t>The </a:t>
            </a:r>
            <a:r>
              <a:rPr lang="en-IN" sz="2000" b="1" dirty="0">
                <a:solidFill>
                  <a:srgbClr val="0070C0"/>
                </a:solidFill>
                <a:latin typeface="AppleMyungjo" pitchFamily="2" charset="-127"/>
                <a:ea typeface="AppleMyungjo" pitchFamily="2" charset="-127"/>
              </a:rPr>
              <a:t>content of the word </a:t>
            </a:r>
            <a:r>
              <a:rPr lang="en-IN" sz="2000" b="1" dirty="0">
                <a:solidFill>
                  <a:srgbClr val="002060"/>
                </a:solidFill>
                <a:latin typeface="AppleMyungjo" pitchFamily="2" charset="-127"/>
                <a:ea typeface="AppleMyungjo" pitchFamily="2" charset="-127"/>
              </a:rPr>
              <a:t>in the memory page table at the page number address(block number) is read out into the </a:t>
            </a:r>
            <a:r>
              <a:rPr lang="en-IN" sz="2000" b="1" dirty="0">
                <a:solidFill>
                  <a:srgbClr val="0070C0"/>
                </a:solidFill>
                <a:latin typeface="AppleMyungjo" pitchFamily="2" charset="-127"/>
                <a:ea typeface="AppleMyungjo" pitchFamily="2" charset="-127"/>
              </a:rPr>
              <a:t>memory table buffer register.</a:t>
            </a:r>
          </a:p>
          <a:p>
            <a:pPr algn="just">
              <a:lnSpc>
                <a:spcPct val="100000"/>
              </a:lnSpc>
            </a:pPr>
            <a:r>
              <a:rPr lang="en-IN" sz="2000" b="1" dirty="0">
                <a:solidFill>
                  <a:srgbClr val="002060"/>
                </a:solidFill>
                <a:latin typeface="AppleMyungjo" pitchFamily="2" charset="-127"/>
                <a:ea typeface="AppleMyungjo" pitchFamily="2" charset="-127"/>
              </a:rPr>
              <a:t>If the presence bit is a 1, the </a:t>
            </a:r>
            <a:r>
              <a:rPr lang="en-IN" sz="2000" b="1" dirty="0">
                <a:solidFill>
                  <a:srgbClr val="0070C0"/>
                </a:solidFill>
                <a:latin typeface="AppleMyungjo" pitchFamily="2" charset="-127"/>
                <a:ea typeface="AppleMyungjo" pitchFamily="2" charset="-127"/>
              </a:rPr>
              <a:t>block number </a:t>
            </a:r>
            <a:r>
              <a:rPr lang="en-IN" sz="2000" b="1" dirty="0">
                <a:solidFill>
                  <a:srgbClr val="002060"/>
                </a:solidFill>
                <a:latin typeface="AppleMyungjo" pitchFamily="2" charset="-127"/>
                <a:ea typeface="AppleMyungjo" pitchFamily="2" charset="-127"/>
              </a:rPr>
              <a:t>thus read is transferred to the two high-order bits of the </a:t>
            </a:r>
            <a:r>
              <a:rPr lang="en-IN" sz="2000" b="1" dirty="0">
                <a:solidFill>
                  <a:srgbClr val="0070C0"/>
                </a:solidFill>
                <a:latin typeface="AppleMyungjo" pitchFamily="2" charset="-127"/>
                <a:ea typeface="AppleMyungjo" pitchFamily="2" charset="-127"/>
              </a:rPr>
              <a:t>main memory address register.</a:t>
            </a:r>
          </a:p>
          <a:p>
            <a:pPr algn="just">
              <a:lnSpc>
                <a:spcPct val="100000"/>
              </a:lnSpc>
            </a:pPr>
            <a:r>
              <a:rPr lang="en-IN" sz="2000" b="1" dirty="0">
                <a:solidFill>
                  <a:srgbClr val="002060"/>
                </a:solidFill>
                <a:latin typeface="AppleMyungjo" pitchFamily="2" charset="-127"/>
                <a:ea typeface="AppleMyungjo" pitchFamily="2" charset="-127"/>
              </a:rPr>
              <a:t>The </a:t>
            </a:r>
            <a:r>
              <a:rPr lang="en-IN" sz="2000" b="1" dirty="0">
                <a:solidFill>
                  <a:srgbClr val="0070C0"/>
                </a:solidFill>
                <a:latin typeface="AppleMyungjo" pitchFamily="2" charset="-127"/>
                <a:ea typeface="AppleMyungjo" pitchFamily="2" charset="-127"/>
              </a:rPr>
              <a:t>line number </a:t>
            </a:r>
            <a:r>
              <a:rPr lang="en-IN" sz="2000" b="1" dirty="0">
                <a:solidFill>
                  <a:srgbClr val="002060"/>
                </a:solidFill>
                <a:latin typeface="AppleMyungjo" pitchFamily="2" charset="-127"/>
                <a:ea typeface="AppleMyungjo" pitchFamily="2" charset="-127"/>
              </a:rPr>
              <a:t>from the virtual address is transferred into the </a:t>
            </a:r>
            <a:r>
              <a:rPr lang="en-IN" sz="2000" b="1" dirty="0">
                <a:solidFill>
                  <a:srgbClr val="0070C0"/>
                </a:solidFill>
                <a:latin typeface="AppleMyungjo" pitchFamily="2" charset="-127"/>
                <a:ea typeface="AppleMyungjo" pitchFamily="2" charset="-127"/>
              </a:rPr>
              <a:t>10 low-order bits of the memory address register.</a:t>
            </a:r>
          </a:p>
          <a:p>
            <a:pPr algn="just">
              <a:lnSpc>
                <a:spcPct val="100000"/>
              </a:lnSpc>
            </a:pPr>
            <a:r>
              <a:rPr lang="en-IN" sz="2000" b="1" dirty="0">
                <a:solidFill>
                  <a:srgbClr val="002060"/>
                </a:solidFill>
                <a:latin typeface="AppleMyungjo" pitchFamily="2" charset="-127"/>
                <a:ea typeface="AppleMyungjo" pitchFamily="2" charset="-127"/>
              </a:rPr>
              <a:t>A read signal to main memory transfers the content of the word to the </a:t>
            </a:r>
            <a:r>
              <a:rPr lang="en-IN" sz="2000" b="1" dirty="0">
                <a:solidFill>
                  <a:srgbClr val="0070C0"/>
                </a:solidFill>
                <a:latin typeface="AppleMyungjo" pitchFamily="2" charset="-127"/>
                <a:ea typeface="AppleMyungjo" pitchFamily="2" charset="-127"/>
              </a:rPr>
              <a:t>main memory buffer register </a:t>
            </a:r>
            <a:r>
              <a:rPr lang="en-IN" sz="2000" b="1" dirty="0">
                <a:solidFill>
                  <a:srgbClr val="002060"/>
                </a:solidFill>
                <a:latin typeface="AppleMyungjo" pitchFamily="2" charset="-127"/>
                <a:ea typeface="AppleMyungjo" pitchFamily="2" charset="-127"/>
              </a:rPr>
              <a:t>ready to be used by the CPU.</a:t>
            </a:r>
          </a:p>
          <a:p>
            <a:pPr algn="just">
              <a:lnSpc>
                <a:spcPct val="100000"/>
              </a:lnSpc>
            </a:pPr>
            <a:r>
              <a:rPr lang="en-IN" sz="2000" b="1" dirty="0">
                <a:solidFill>
                  <a:srgbClr val="002060"/>
                </a:solidFill>
                <a:latin typeface="AppleMyungjo" pitchFamily="2" charset="-127"/>
                <a:ea typeface="AppleMyungjo" pitchFamily="2" charset="-127"/>
              </a:rPr>
              <a:t>If the presence bit in the word read from the page table is 0, it signifies that the content of the word referenced by the virtual address does not reside in main memory.</a:t>
            </a:r>
          </a:p>
          <a:p>
            <a:pPr>
              <a:lnSpc>
                <a:spcPct val="100000"/>
              </a:lnSpc>
            </a:pPr>
            <a:endParaRPr lang="en-US" sz="2400" dirty="0"/>
          </a:p>
        </p:txBody>
      </p:sp>
    </p:spTree>
    <p:extLst>
      <p:ext uri="{BB962C8B-B14F-4D97-AF65-F5344CB8AC3E}">
        <p14:creationId xmlns:p14="http://schemas.microsoft.com/office/powerpoint/2010/main" val="18433286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BD048B-2F22-6FC2-C842-DAB2333E3B05}"/>
              </a:ext>
            </a:extLst>
          </p:cNvPr>
          <p:cNvSpPr>
            <a:spLocks noGrp="1"/>
          </p:cNvSpPr>
          <p:nvPr>
            <p:ph idx="1"/>
          </p:nvPr>
        </p:nvSpPr>
        <p:spPr>
          <a:xfrm>
            <a:off x="618186" y="682580"/>
            <a:ext cx="10735614" cy="5494383"/>
          </a:xfrm>
        </p:spPr>
        <p:txBody>
          <a:bodyPr>
            <a:normAutofit/>
          </a:bodyPr>
          <a:lstStyle/>
          <a:p>
            <a:pPr algn="just"/>
            <a:r>
              <a:rPr lang="en-IN" sz="2000" b="1" dirty="0">
                <a:solidFill>
                  <a:srgbClr val="002060"/>
                </a:solidFill>
                <a:latin typeface="AppleMyungjo" pitchFamily="2" charset="-127"/>
                <a:ea typeface="AppleMyungjo" pitchFamily="2" charset="-127"/>
              </a:rPr>
              <a:t>Page fault occurs when the CPU generates an address for a page that is not in physical memory. OS takes control and brings the requested page from secondary storage to main storage.</a:t>
            </a:r>
          </a:p>
          <a:p>
            <a:pPr algn="just"/>
            <a:r>
              <a:rPr lang="en-IN" sz="2000" b="1" dirty="0">
                <a:solidFill>
                  <a:srgbClr val="002060"/>
                </a:solidFill>
                <a:latin typeface="AppleMyungjo" pitchFamily="2" charset="-127"/>
                <a:ea typeface="AppleMyungjo" pitchFamily="2" charset="-127"/>
              </a:rPr>
              <a:t>A page replacement algorithm is used when the memory is full to decide which page needs to be replaced when a new page comes in. </a:t>
            </a:r>
          </a:p>
          <a:p>
            <a:pPr algn="just"/>
            <a:r>
              <a:rPr lang="en-IN" sz="2000" b="1" dirty="0">
                <a:solidFill>
                  <a:srgbClr val="002060"/>
                </a:solidFill>
                <a:latin typeface="AppleMyungjo" pitchFamily="2" charset="-127"/>
                <a:ea typeface="AppleMyungjo" pitchFamily="2" charset="-127"/>
              </a:rPr>
              <a:t>The replacement policies are again FIFO and LRU. </a:t>
            </a:r>
          </a:p>
          <a:p>
            <a:pPr algn="just"/>
            <a:endParaRPr lang="en-IN" sz="2000" b="1" dirty="0">
              <a:solidFill>
                <a:srgbClr val="002060"/>
              </a:solidFill>
              <a:latin typeface="AppleMyungjo" pitchFamily="2" charset="-127"/>
              <a:ea typeface="AppleMyungjo" pitchFamily="2" charset="-127"/>
            </a:endParaRPr>
          </a:p>
        </p:txBody>
      </p:sp>
    </p:spTree>
    <p:extLst>
      <p:ext uri="{BB962C8B-B14F-4D97-AF65-F5344CB8AC3E}">
        <p14:creationId xmlns:p14="http://schemas.microsoft.com/office/powerpoint/2010/main" val="13130085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C6A55-6F67-A3B4-8BC7-D345614D5DD6}"/>
              </a:ext>
            </a:extLst>
          </p:cNvPr>
          <p:cNvSpPr>
            <a:spLocks noGrp="1"/>
          </p:cNvSpPr>
          <p:nvPr>
            <p:ph type="title"/>
          </p:nvPr>
        </p:nvSpPr>
        <p:spPr>
          <a:xfrm>
            <a:off x="838200" y="142704"/>
            <a:ext cx="10515600" cy="1325563"/>
          </a:xfrm>
        </p:spPr>
        <p:txBody>
          <a:bodyPr/>
          <a:lstStyle/>
          <a:p>
            <a:pPr algn="ctr"/>
            <a:r>
              <a:rPr lang="en-IN" sz="3200" dirty="0">
                <a:latin typeface="AppleMyungjo" pitchFamily="2" charset="-127"/>
                <a:ea typeface="AppleMyungjo" pitchFamily="2" charset="-127"/>
                <a:cs typeface="+mn-cs"/>
              </a:rPr>
              <a:t>Memory Interleaving</a:t>
            </a:r>
            <a:endParaRPr lang="en-US" sz="3200" dirty="0">
              <a:latin typeface="AppleMyungjo" pitchFamily="2" charset="-127"/>
              <a:ea typeface="AppleMyungjo" pitchFamily="2" charset="-127"/>
              <a:cs typeface="+mn-cs"/>
            </a:endParaRPr>
          </a:p>
        </p:txBody>
      </p:sp>
      <p:sp>
        <p:nvSpPr>
          <p:cNvPr id="3" name="Content Placeholder 2">
            <a:extLst>
              <a:ext uri="{FF2B5EF4-FFF2-40B4-BE49-F238E27FC236}">
                <a16:creationId xmlns:a16="http://schemas.microsoft.com/office/drawing/2014/main" id="{296D742A-E0EF-1685-AD1B-FFAA57E389A5}"/>
              </a:ext>
            </a:extLst>
          </p:cNvPr>
          <p:cNvSpPr>
            <a:spLocks noGrp="1"/>
          </p:cNvSpPr>
          <p:nvPr>
            <p:ph idx="1"/>
          </p:nvPr>
        </p:nvSpPr>
        <p:spPr>
          <a:xfrm>
            <a:off x="838200" y="1356068"/>
            <a:ext cx="10515600" cy="4847023"/>
          </a:xfrm>
        </p:spPr>
        <p:txBody>
          <a:bodyPr>
            <a:normAutofit/>
          </a:bodyPr>
          <a:lstStyle/>
          <a:p>
            <a:pPr algn="just"/>
            <a:r>
              <a:rPr lang="en-IN" sz="2100" b="1" dirty="0">
                <a:solidFill>
                  <a:srgbClr val="002060"/>
                </a:solidFill>
                <a:latin typeface="AppleMyungjo" pitchFamily="2" charset="-127"/>
                <a:ea typeface="AppleMyungjo" pitchFamily="2" charset="-127"/>
              </a:rPr>
              <a:t>Problem: a single monolithic memory array takes long to access and does not enable multiple accesses in parallel </a:t>
            </a:r>
          </a:p>
          <a:p>
            <a:pPr algn="just"/>
            <a:r>
              <a:rPr lang="en-IN" sz="2100" b="1" dirty="0">
                <a:solidFill>
                  <a:srgbClr val="002060"/>
                </a:solidFill>
                <a:latin typeface="AppleMyungjo" pitchFamily="2" charset="-127"/>
                <a:ea typeface="AppleMyungjo" pitchFamily="2" charset="-127"/>
              </a:rPr>
              <a:t>Goal: Reduce the latency of memory array access and enable multiple accesses in parallel </a:t>
            </a:r>
          </a:p>
          <a:p>
            <a:pPr algn="just"/>
            <a:r>
              <a:rPr lang="en-IN" sz="2100" b="1" dirty="0">
                <a:solidFill>
                  <a:srgbClr val="002060"/>
                </a:solidFill>
                <a:latin typeface="AppleMyungjo" pitchFamily="2" charset="-127"/>
                <a:ea typeface="AppleMyungjo" pitchFamily="2" charset="-127"/>
              </a:rPr>
              <a:t>Idea: Divide the array into multiple banks that can be accessed independently (in the same cycle or in consecutive cycles) </a:t>
            </a:r>
          </a:p>
          <a:p>
            <a:pPr lvl="1" algn="just"/>
            <a:r>
              <a:rPr lang="en-IN" sz="2100" b="1" dirty="0">
                <a:solidFill>
                  <a:srgbClr val="002060"/>
                </a:solidFill>
                <a:latin typeface="AppleMyungjo" pitchFamily="2" charset="-127"/>
                <a:ea typeface="AppleMyungjo" pitchFamily="2" charset="-127"/>
              </a:rPr>
              <a:t>Each bank is smaller than the entire memory storage</a:t>
            </a:r>
          </a:p>
          <a:p>
            <a:pPr lvl="1" algn="just"/>
            <a:r>
              <a:rPr lang="en-IN" sz="2100" b="1" dirty="0">
                <a:solidFill>
                  <a:srgbClr val="002060"/>
                </a:solidFill>
                <a:latin typeface="AppleMyungjo" pitchFamily="2" charset="-127"/>
                <a:ea typeface="AppleMyungjo" pitchFamily="2" charset="-127"/>
              </a:rPr>
              <a:t>Accesses to different banks can be overlapped </a:t>
            </a:r>
            <a:endParaRPr lang="en-US" sz="2100" b="1" dirty="0">
              <a:solidFill>
                <a:srgbClr val="002060"/>
              </a:solidFill>
              <a:latin typeface="AppleMyungjo" pitchFamily="2" charset="-127"/>
              <a:ea typeface="AppleMyungjo" pitchFamily="2" charset="-127"/>
            </a:endParaRPr>
          </a:p>
          <a:p>
            <a:pPr algn="just"/>
            <a:r>
              <a:rPr lang="en-IN" sz="2100" b="1" dirty="0">
                <a:solidFill>
                  <a:srgbClr val="002060"/>
                </a:solidFill>
                <a:latin typeface="AppleMyungjo" pitchFamily="2" charset="-127"/>
                <a:ea typeface="AppleMyungjo" pitchFamily="2" charset="-127"/>
              </a:rPr>
              <a:t>Memory interleaving(Banking) is used to improve the performance of computer systems by increasing memory bandwidth. </a:t>
            </a:r>
          </a:p>
          <a:p>
            <a:pPr algn="just"/>
            <a:r>
              <a:rPr lang="en-IN" sz="2100" b="1" dirty="0">
                <a:solidFill>
                  <a:srgbClr val="002060"/>
                </a:solidFill>
                <a:latin typeface="AppleMyungjo" pitchFamily="2" charset="-127"/>
                <a:ea typeface="AppleMyungjo" pitchFamily="2" charset="-127"/>
              </a:rPr>
              <a:t>It involves dividing memory into multiple banks and accessing them in a round-robin fashion, which allows for simultaneous access to multiple memory locations and reduces the time required to access data.</a:t>
            </a:r>
            <a:endParaRPr lang="en-US" sz="2100" b="1" dirty="0">
              <a:solidFill>
                <a:srgbClr val="002060"/>
              </a:solidFill>
              <a:latin typeface="AppleMyungjo" pitchFamily="2" charset="-127"/>
              <a:ea typeface="AppleMyungjo" pitchFamily="2" charset="-127"/>
            </a:endParaRPr>
          </a:p>
        </p:txBody>
      </p:sp>
    </p:spTree>
    <p:extLst>
      <p:ext uri="{BB962C8B-B14F-4D97-AF65-F5344CB8AC3E}">
        <p14:creationId xmlns:p14="http://schemas.microsoft.com/office/powerpoint/2010/main" val="2877985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5389</TotalTime>
  <Words>3951</Words>
  <Application>Microsoft Office PowerPoint</Application>
  <PresentationFormat>Widescreen</PresentationFormat>
  <Paragraphs>280</Paragraphs>
  <Slides>38</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6" baseType="lpstr">
      <vt:lpstr>AppleMyungjo</vt:lpstr>
      <vt:lpstr>Arial</vt:lpstr>
      <vt:lpstr>Calibri</vt:lpstr>
      <vt:lpstr>Calibri Light</vt:lpstr>
      <vt:lpstr>PT Serif</vt:lpstr>
      <vt:lpstr>System Font Regular</vt:lpstr>
      <vt:lpstr>Office Theme</vt:lpstr>
      <vt:lpstr>VISIO</vt:lpstr>
      <vt:lpstr>PowerPoint Presentation</vt:lpstr>
      <vt:lpstr>Memory</vt:lpstr>
      <vt:lpstr>PowerPoint Presentation</vt:lpstr>
      <vt:lpstr>Memory – Characteristics</vt:lpstr>
      <vt:lpstr>Computer Memory</vt:lpstr>
      <vt:lpstr>    Memory Hierarchy  </vt:lpstr>
      <vt:lpstr>Memory Hierarchy </vt:lpstr>
      <vt:lpstr>Memory Hierarchy </vt:lpstr>
      <vt:lpstr>Semiconductor Main memory</vt:lpstr>
      <vt:lpstr>Main memory</vt:lpstr>
      <vt:lpstr>Main memory</vt:lpstr>
      <vt:lpstr>PowerPoint Presentation</vt:lpstr>
      <vt:lpstr>PowerPoint Presentation</vt:lpstr>
      <vt:lpstr>SRAM vs. DRAM</vt:lpstr>
      <vt:lpstr>Cache Memory  </vt:lpstr>
      <vt:lpstr>Locality of Reference</vt:lpstr>
      <vt:lpstr>Cache Mapping</vt:lpstr>
      <vt:lpstr>Associative mapping</vt:lpstr>
      <vt:lpstr>Associative mapping cache</vt:lpstr>
      <vt:lpstr>Direct-Mapped </vt:lpstr>
      <vt:lpstr>Direct mapping cache organization </vt:lpstr>
      <vt:lpstr>PowerPoint Presentation</vt:lpstr>
      <vt:lpstr>Direct mapping cache with block size of 8 words </vt:lpstr>
      <vt:lpstr>Set Associative </vt:lpstr>
      <vt:lpstr>PowerPoint Presentation</vt:lpstr>
      <vt:lpstr>Replacement Policy</vt:lpstr>
      <vt:lpstr>Writing into Cache - write-through method.</vt:lpstr>
      <vt:lpstr>Writing into cache - Write-back method</vt:lpstr>
      <vt:lpstr>Virtual Memory</vt:lpstr>
      <vt:lpstr>Virtual Memory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Memory Interleaving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dhanalakshmi_n@vnrvjiet.org</cp:lastModifiedBy>
  <cp:revision>64</cp:revision>
  <dcterms:created xsi:type="dcterms:W3CDTF">2023-06-26T03:59:14Z</dcterms:created>
  <dcterms:modified xsi:type="dcterms:W3CDTF">2024-01-03T05:45:27Z</dcterms:modified>
</cp:coreProperties>
</file>